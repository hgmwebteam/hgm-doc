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Lst>
  <p:sldSz cy="6858000" cx="12191675"/>
  <p:notesSz cx="6858000" cy="12191675"/>
  <p:embeddedFontLst>
    <p:embeddedFont>
      <p:font typeface="Inter"/>
      <p:regular r:id="rId51"/>
      <p:bold r:id="rId52"/>
      <p:italic r:id="rId53"/>
      <p:boldItalic r:id="rId54"/>
    </p:embeddedFont>
    <p:embeddedFont>
      <p:font typeface="Roboto Mono"/>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Inter-regular.fntdata"/><Relationship Id="rId50" Type="http://schemas.openxmlformats.org/officeDocument/2006/relationships/slide" Target="slides/slide46.xml"/><Relationship Id="rId53" Type="http://schemas.openxmlformats.org/officeDocument/2006/relationships/font" Target="fonts/Inter-italic.fntdata"/><Relationship Id="rId52" Type="http://schemas.openxmlformats.org/officeDocument/2006/relationships/font" Target="fonts/Inter-bold.fntdata"/><Relationship Id="rId11" Type="http://schemas.openxmlformats.org/officeDocument/2006/relationships/slide" Target="slides/slide7.xml"/><Relationship Id="rId55" Type="http://schemas.openxmlformats.org/officeDocument/2006/relationships/font" Target="fonts/RobotoMono-regular.fntdata"/><Relationship Id="rId10" Type="http://schemas.openxmlformats.org/officeDocument/2006/relationships/slide" Target="slides/slide6.xml"/><Relationship Id="rId54" Type="http://schemas.openxmlformats.org/officeDocument/2006/relationships/font" Target="fonts/Inter-boldItalic.fntdata"/><Relationship Id="rId13" Type="http://schemas.openxmlformats.org/officeDocument/2006/relationships/slide" Target="slides/slide9.xml"/><Relationship Id="rId57" Type="http://schemas.openxmlformats.org/officeDocument/2006/relationships/font" Target="fonts/RobotoMono-italic.fntdata"/><Relationship Id="rId12" Type="http://schemas.openxmlformats.org/officeDocument/2006/relationships/slide" Target="slides/slide8.xml"/><Relationship Id="rId56" Type="http://schemas.openxmlformats.org/officeDocument/2006/relationships/font" Target="fonts/RobotoMono-bold.fntdata"/><Relationship Id="rId15" Type="http://schemas.openxmlformats.org/officeDocument/2006/relationships/slide" Target="slides/slide11.xml"/><Relationship Id="rId14" Type="http://schemas.openxmlformats.org/officeDocument/2006/relationships/slide" Target="slides/slide10.xml"/><Relationship Id="rId58" Type="http://schemas.openxmlformats.org/officeDocument/2006/relationships/font" Target="fonts/RobotoMono-boldItalic.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booking.com"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sz="1400"/>
              <a:t>NICOLE</a:t>
            </a:r>
            <a:br>
              <a:rPr lang="en-US" sz="1400"/>
            </a:br>
            <a:r>
              <a:rPr lang="en-US" sz="1400"/>
              <a:t>Okay, is everybody settled in? Welcome back, everybody in the room and everybody on the call.</a:t>
            </a:r>
            <a:br>
              <a:rPr lang="en-US" sz="1400"/>
            </a:br>
            <a:br>
              <a:rPr lang="en-US" sz="1400"/>
            </a:br>
            <a:r>
              <a:rPr lang="en-US" sz="1400"/>
              <a:t>Last week you met five owners. They're back. Marisol has a buyer on the line, Walt's promo code is doing suspiciously well, and Theo has decided guest emails are one less thing to manage.</a:t>
            </a:r>
            <a:br>
              <a:rPr lang="en-US" sz="1400"/>
            </a:br>
            <a:br>
              <a:rPr lang="en-US" sz="1400"/>
            </a:br>
            <a:r>
              <a:rPr lang="en-US" sz="1400"/>
              <a:t>Session 1 was the owner's side of the business: what a room goes for, what the place keeps, and when guests book. Session 2 is our side of it. Why a direct booking is worth more than its price. Whether the marketing is actually working. And the tools a property runs on, which you'll be sorting on your own phone.</a:t>
            </a:r>
            <a:br>
              <a:rPr lang="en-US" sz="1400"/>
            </a:br>
            <a:br>
              <a:rPr lang="en-US" sz="1400"/>
            </a:br>
            <a:r>
              <a:rPr lang="en-US" sz="1400"/>
              <a:t>Fourteen terms, two rounds of practice and a sort. Same deal as last time: nobody's behind, Kyle and I are learning this alongside you, and if a term doesn't click, stop us. Let's go.</a:t>
            </a:r>
            <a:br>
              <a:rPr lang="en-US" sz="1400"/>
            </a:br>
            <a:br>
              <a:rPr lang="en-US" sz="1400"/>
            </a:br>
            <a:r>
              <a:rPr lang="en-US" sz="1400"/>
              <a:t>--------</a:t>
            </a:r>
            <a:br>
              <a:rPr lang="en-US" sz="1400"/>
            </a:br>
            <a:r>
              <a:rPr lang="en-US" sz="1400"/>
              <a:t>REFERENCE</a:t>
            </a:r>
            <a:br>
              <a:rPr lang="en-US" sz="1400"/>
            </a:br>
            <a:r>
              <a:rPr lang="en-US" sz="1400"/>
              <a:t>SAY THIS: “Last week you met five owners. They're back.”</a:t>
            </a:r>
            <a:br>
              <a:rPr lang="en-US" sz="1400"/>
            </a:br>
            <a:r>
              <a:rPr lang="en-US" sz="1400"/>
              <a:t>Nicole opens session 2 (Kyle's split, 5 Oct: Nicole has slides 1 to 17, 33 to 39, 44, 45 and 49; Kyle has 18 to 32, 40 to 43 and 46 to 48; the deck's notes carry the names). Looser voice than the rest of the deck, as on session 1's slides 1 and 65. The callback line "Last week you met five owners. They're back." is the one line to keep if the rest is reworded (handoff, 1 Oct); the three cues after it are the owners who appear in the two practice rounds. No agenda slide: slide 2 recaps and slide 3 shows the shape. "On the call": the room is mixed (decisions log, 25 Sep). Nothing here is a correction; session 1 went well and this is the second half of a proactive training (decisions log, 27 Sep).</a:t>
            </a:r>
            <a:br>
              <a:rPr lang="en-US" sz="1400"/>
            </a:br>
            <a:br>
              <a:rPr lang="en-US" sz="1400"/>
            </a:br>
            <a:r>
              <a:rPr lang="en-US" sz="1400"/>
              <a:t>— slide 1 of 49</a:t>
            </a:r>
            <a:endParaRPr sz="1400"/>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sz="1400"/>
              <a:t>KYLE</a:t>
            </a:r>
            <a:br>
              <a:rPr lang="en-US" sz="1400"/>
            </a:br>
            <a:br>
              <a:rPr lang="en-US" sz="1400"/>
            </a:br>
            <a:r>
              <a:rPr lang="en-US" sz="1400"/>
              <a:t>Before the new terms, here's session 1 in four lines, because today leans on every one of them.</a:t>
            </a:r>
            <a:br>
              <a:rPr lang="en-US" sz="1400"/>
            </a:br>
            <a:br>
              <a:rPr lang="en-US" sz="1400"/>
            </a:br>
            <a:r>
              <a:rPr b="1" lang="en-US" sz="1400"/>
              <a:t>One</a:t>
            </a:r>
            <a:r>
              <a:rPr lang="en-US" sz="1400"/>
              <a:t>: the profit ladder. Total revenue is everything guests spend. Take off the cost of running the place and you get GOP, gross operating profit. Take off the owner's fixed costs and you get NOI, net operating income. NOI is the bottom rung, and it's the number a buyer prices. Hold onto that one: Lakeside Lodge's buyer comes back today.</a:t>
            </a:r>
            <a:br>
              <a:rPr lang="en-US" sz="1400"/>
            </a:br>
            <a:br>
              <a:rPr lang="en-US" sz="1400"/>
            </a:br>
            <a:r>
              <a:rPr b="1" lang="en-US" sz="1400"/>
              <a:t>Two</a:t>
            </a:r>
            <a:r>
              <a:rPr lang="en-US" sz="1400"/>
              <a:t>: sold, or available? ADR, average daily rate, is what a sold room actually went for. RevPAR, revenue per available room, counts the empty rooms too. Same month, two different numbers.</a:t>
            </a:r>
            <a:br>
              <a:rPr lang="en-US" sz="1400"/>
            </a:br>
            <a:br>
              <a:rPr lang="en-US" sz="1400"/>
            </a:br>
            <a:r>
              <a:rPr b="1" lang="en-US" sz="1400"/>
              <a:t>Three</a:t>
            </a:r>
            <a:r>
              <a:rPr lang="en-US" sz="1400"/>
              <a:t>: what did they leave out? "Basically full." "Best summer yet." The qualifier is usually where the real question is.</a:t>
            </a:r>
            <a:br>
              <a:rPr lang="en-US" sz="1400"/>
            </a:br>
            <a:br>
              <a:rPr lang="en-US" sz="1400"/>
            </a:br>
            <a:r>
              <a:rPr b="1" lang="en-US" sz="1400"/>
              <a:t>And four</a:t>
            </a:r>
            <a:r>
              <a:rPr lang="en-US" sz="1400"/>
              <a:t>, the habit underneath all of it: when an owner quotes a number, ask which number it is before you react to it.</a:t>
            </a:r>
            <a:br>
              <a:rPr lang="en-US" sz="1400"/>
            </a:br>
            <a:br>
              <a:rPr lang="en-US" sz="1400"/>
            </a:br>
            <a:r>
              <a:rPr lang="en-US" sz="1400"/>
              <a:t>If any of those are fuzzy, the dictionary is live on the portal now, and we'll show you where at the end. For today, that's all you need.</a:t>
            </a:r>
            <a:endParaRPr sz="1400"/>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sz="1400"/>
              <a:t>KYLE</a:t>
            </a:r>
            <a:br>
              <a:rPr b="1" lang="en-US" sz="1400"/>
            </a:br>
            <a:br>
              <a:rPr lang="en-US" sz="1400"/>
            </a:br>
            <a:r>
              <a:rPr lang="en-US" sz="1400"/>
              <a:t>Here's how today is laid out. Three blocks again, each a handful of terms and then practice on exactly those terms.</a:t>
            </a:r>
            <a:br>
              <a:rPr lang="en-US" sz="1400"/>
            </a:br>
            <a:br>
              <a:rPr lang="en-US" sz="1400"/>
            </a:br>
            <a:r>
              <a:rPr b="1" lang="en-US" sz="1400"/>
              <a:t>First</a:t>
            </a:r>
            <a:r>
              <a:rPr lang="en-US" sz="1400"/>
              <a:t>, why direct pays: what a direct booking is really worth, and what it costs to win one. </a:t>
            </a:r>
            <a:br>
              <a:rPr lang="en-US" sz="1400"/>
            </a:br>
            <a:br>
              <a:rPr lang="en-US" sz="1400"/>
            </a:br>
            <a:r>
              <a:rPr b="1" lang="en-US" sz="1400"/>
              <a:t>Second</a:t>
            </a:r>
            <a:r>
              <a:rPr lang="en-US" sz="1400"/>
              <a:t>, is the marketing working: the ad numbers an owner will quote at you. </a:t>
            </a:r>
            <a:br>
              <a:rPr lang="en-US" sz="1400"/>
            </a:br>
            <a:br>
              <a:rPr lang="en-US" sz="1400"/>
            </a:br>
            <a:r>
              <a:rPr b="1" lang="en-US" sz="1400"/>
              <a:t>Third</a:t>
            </a:r>
            <a:r>
              <a:rPr lang="en-US" sz="1400"/>
              <a:t>, the stack: the systems a property runs on, which you'll sort on your own phone at the end.</a:t>
            </a:r>
            <a:br>
              <a:rPr lang="en-US"/>
            </a:br>
            <a:endParaRPr/>
          </a:p>
        </p:txBody>
      </p:sp>
      <p:sp>
        <p:nvSpPr>
          <p:cNvPr id="60" name="Google Shape;6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NICOLE</a:t>
            </a:r>
            <a:br>
              <a:rPr lang="en-US"/>
            </a:br>
            <a:r>
              <a:rPr lang="en-US"/>
              <a:t>Block 4: why direct pays. Four terms. Metasearch, where a guest sees your price next to the OTAs'. Cap rate, what a buyer pays for your profit. First-party data, what you own when the guest books with you. Effective commission, what it really cost to win them.</a:t>
            </a:r>
            <a:br>
              <a:rPr lang="en-US"/>
            </a:br>
            <a:br>
              <a:rPr lang="en-US"/>
            </a:br>
            <a:r>
              <a:rPr lang="en-US"/>
              <a:t>Same client as last week, Lakeside Lodge, 50 rooms. Its owner and every number here are made up.</a:t>
            </a:r>
            <a:br>
              <a:rPr lang="en-US"/>
            </a:br>
            <a:br>
              <a:rPr lang="en-US"/>
            </a:br>
            <a:r>
              <a:rPr lang="en-US"/>
              <a:t>--------</a:t>
            </a:r>
            <a:br>
              <a:rPr lang="en-US"/>
            </a:br>
            <a:r>
              <a:rPr lang="en-US"/>
              <a:t>REFERENCE</a:t>
            </a:r>
            <a:br>
              <a:rPr lang="en-US"/>
            </a:br>
            <a:r>
              <a:rPr lang="en-US"/>
              <a:t>SAY THIS: “Lakeside Lodge, its owner and every number in this block are made up.”</a:t>
            </a:r>
            <a:br>
              <a:rPr lang="en-US"/>
            </a:br>
            <a:r>
              <a:rPr lang="en-US"/>
              <a:t>Block-intro shape: the terms in one breath, then practice is coming (said at the end of slide 8 instead, so the intro stays short). OTA glossed here, first spoken use in this deck. Dictionary, OTA: "A third-party marketplace selling the room for a cut." Reference term; one breath. The made-up line is said on every block intro and rules slide (house rule, 28 Sep). The four icons are Untitled UI line icons rasterised with `make_icons.py`; if a glyph is missing from the 70 already in the project, add it the same way (search, percent, user-check, receipt).</a:t>
            </a:r>
            <a:br>
              <a:rPr lang="en-US"/>
            </a:br>
            <a:br>
              <a:rPr lang="en-US"/>
            </a:br>
            <a:r>
              <a:rPr lang="en-US"/>
              <a:t>### The four term slides (8 min, slides 5 to 8)</a:t>
            </a:r>
            <a:br>
              <a:rPr lang="en-US"/>
            </a:br>
            <a:br>
              <a:rPr lang="en-US"/>
            </a:br>
            <a:r>
              <a:rPr lang="en-US"/>
              <a:t>— slide 4 of 49</a:t>
            </a:r>
            <a:endParaRPr/>
          </a:p>
        </p:txBody>
      </p:sp>
      <p:sp>
        <p:nvSpPr>
          <p:cNvPr id="120" name="Google Shape;12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NICOLE</a:t>
            </a:r>
            <a:br>
              <a:rPr lang="en-US"/>
            </a:br>
            <a:r>
              <a:rPr lang="en-US"/>
              <a:t>Metasearch. Say a guest types "Lakeside Lodge" into Google and a panel comes up with the lodge's dates and prices from several places: Expedia, Booking.com, a hotel programme, the lodge's own website, trivago. That panel is metasearch. Google Hotel Ads, Tripadvisor, Trivago: sites that compare prices and then pass the guest on to wherever they click. They don't take the booking. The OTAs do.</a:t>
            </a:r>
            <a:br>
              <a:rPr lang="en-US"/>
            </a:br>
            <a:br>
              <a:rPr lang="en-US"/>
            </a:br>
            <a:r>
              <a:rPr lang="en-US"/>
              <a:t>[Point to the panel.] This is what the guest sees. Every line says $200, because of rate parity from last week: the public rate stays level everywhere. So the direct listing doesn't win on price. It wins on where the click lands. [Point to the green line.] That one says "Official Site". Click it and the booking lands on Marisol's site, and she keeps it. Click Expedia, and Expedia takes its cut.</a:t>
            </a:r>
            <a:br>
              <a:rPr lang="en-US"/>
            </a:br>
            <a:br>
              <a:rPr lang="en-US"/>
            </a:br>
            <a:r>
              <a:rPr lang="en-US"/>
              <a:t>Why the owner cares: this is the one place their own price and the OTAs' price sit on the same screen. If the lodge isn't listed there, the guest only sees the OTAs, and the booking goes to Expedia with Expedia's cut on it. Two ways to be there: Google's free booking links, which cost nothing, and Google Hotel Ads, which are paid.</a:t>
            </a:r>
            <a:br>
              <a:rPr lang="en-US"/>
            </a:br>
            <a:br>
              <a:rPr lang="en-US"/>
            </a:br>
            <a:r>
              <a:rPr lang="en-US"/>
              <a:t>On a call: "Guests comparing prices on Google or Tripadvisor are on metasearch. Are you showing up there with your direct rate?"</a:t>
            </a:r>
            <a:br>
              <a:rPr lang="en-US"/>
            </a:br>
            <a:br>
              <a:rPr lang="en-US"/>
            </a:br>
            <a:r>
              <a:rPr lang="en-US"/>
              <a:t>The so-what for you: when an owner says "we're on Google now", ask whether it's the free listing or the paid one. Next: what a buyer pays for the place.</a:t>
            </a:r>
            <a:endParaRPr/>
          </a:p>
        </p:txBody>
      </p:sp>
      <p:sp>
        <p:nvSpPr>
          <p:cNvPr id="154" name="Google Shape;15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NICOLE</a:t>
            </a:r>
            <a:br>
              <a:rPr lang="en-US"/>
            </a:br>
            <a:r>
              <a:rPr lang="en-US"/>
              <a:t>Cap rate. A capitalization rate is the expected annual rate of return on a commercial real estate property, calculated by dividing its net operating income by its current market value or purchase price.</a:t>
            </a:r>
            <a:br>
              <a:rPr lang="en-US"/>
            </a:br>
            <a:br>
              <a:rPr lang="en-US"/>
            </a:br>
            <a:r>
              <a:rPr lang="en-US"/>
              <a:t>Last week Marisol's buyer asked for her NOI. This week the buyer came back with a price. Cap rate is how the two connect. The formula is NOI divided by the price, and it's the return the buyer wants on their money. [Point to the card.] Over the last twelve months, Lakeside Lodge made $900,000 of NOI. The buyer offered $12 million. $900,000 divided by $12 million is 7.5%.</a:t>
            </a:r>
            <a:br>
              <a:rPr lang="en-US"/>
            </a:br>
            <a:br>
              <a:rPr lang="en-US"/>
            </a:br>
            <a:r>
              <a:rPr lang="en-US"/>
              <a:t>But here's the part the formula hides: in real life the buyer doesn't start from the price. They start from the cap rate, and the price falls out of it. [Point to the list.] How do they pick 7.5%? Two things. Comparable sales: what similar lodges sold for lately, as a share of their NOI. And the return they need: a riskier property, or money that's more expensive to borrow, means they want a higher return, so a higher cap rate, and a lower price. Then they turn the formula around: price equals NOI divided by cap rate. $900,000 divided by 7.5% is $12 million. You'll also hear it as a multiple: $12 million is about thirteen times the NOI. Same deal, said the other way up.</a:t>
            </a:r>
            <a:br>
              <a:rPr lang="en-US"/>
            </a:br>
            <a:br>
              <a:rPr lang="en-US"/>
            </a:br>
            <a:r>
              <a:rPr lang="en-US"/>
              <a:t>Why the owner cares: at 7.5%, every extra $75,000 of NOI is worth about a million dollars more at sale. So every booking we move direct, every spa package, lifts the number a buyer would pay.</a:t>
            </a:r>
            <a:br>
              <a:rPr lang="en-US"/>
            </a:br>
            <a:br>
              <a:rPr lang="en-US"/>
            </a:br>
            <a:r>
              <a:rPr lang="en-US"/>
              <a:t>One caution: A buyer prices a full year, not a month</a:t>
            </a:r>
            <a:br>
              <a:rPr lang="en-US"/>
            </a:br>
            <a:br>
              <a:rPr lang="en-US"/>
            </a:br>
            <a:r>
              <a:rPr lang="en-US"/>
              <a:t>On a call: "A higher NOI at the same cap rate means the property is worth more. That's the long game."</a:t>
            </a:r>
            <a:endParaRPr/>
          </a:p>
        </p:txBody>
      </p:sp>
      <p:sp>
        <p:nvSpPr>
          <p:cNvPr id="179" name="Google Shape;17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NICOLE</a:t>
            </a:r>
            <a:br>
              <a:rPr lang="en-US"/>
            </a:br>
            <a:r>
              <a:rPr lang="en-US"/>
              <a:t>First-party data. Plain words: guest data the property owns outright. Who stayed, when, their email, what they spent. "First-party" just means it's theirs, collected by them, not borrowed from a platform.</a:t>
            </a:r>
            <a:br>
              <a:rPr lang="en-US"/>
            </a:br>
            <a:br>
              <a:rPr lang="en-US"/>
            </a:br>
            <a:r>
              <a:rPr lang="en-US"/>
              <a:t>[Left, then right.] Two guests at Lakeside Lodge. The first booked through Booking.com. Booking.com has their email, sends the confirmation, sends the reminders, and when that guest wants to come back next summer, Booking.com will happily help them, for another cut. The lodge can see a name on a booking, but the relationship isn't theirs. The second guest booked direct. The lodge has the email, the dates, the spa booking.</a:t>
            </a:r>
            <a:br>
              <a:rPr lang="en-US"/>
            </a:br>
            <a:br>
              <a:rPr lang="en-US"/>
            </a:br>
            <a:r>
              <a:rPr lang="en-US"/>
              <a:t>Now look at everything that comes with that second booking, beyond the price. The next stay is one email away, with no commission on it. That guest's details seed the retargeting audience and the lookalike audience, so the ads find more people like them. The week before arrival, the lodge can offer dinner, the spa, a better room. The review and the referral land with the lodge, not on an OTA's page. And direct bookings tend to cancel less than OTA ones. A $1,500 direct booking isn't worth $1,500. It's worth that plus every one of those.</a:t>
            </a:r>
            <a:br>
              <a:rPr lang="en-US"/>
            </a:br>
            <a:br>
              <a:rPr lang="en-US"/>
            </a:br>
            <a:r>
              <a:rPr lang="en-US"/>
              <a:t>Why the owner cares: this is most of why direct matters, and it's what our funnel is built to do. The welcome offer, the landing page, the email list: every one of those is building the owner's own list.</a:t>
            </a:r>
            <a:br>
              <a:rPr lang="en-US"/>
            </a:br>
            <a:br>
              <a:rPr lang="en-US"/>
            </a:br>
            <a:r>
              <a:rPr lang="en-US"/>
              <a:t>On a call: "Every direct booking gives you first-party data. The guest's email is yours, not the OTA's."</a:t>
            </a:r>
            <a:br>
              <a:rPr lang="en-US"/>
            </a:br>
            <a:br>
              <a:rPr lang="en-US"/>
            </a:br>
            <a:r>
              <a:rPr lang="en-US"/>
              <a:t>The so-what for you: when an owner says the OTA handles all the guest emails and that's one less thing to manage, you've just heard them give away the most valuable thing a booking produces.</a:t>
            </a:r>
            <a:endParaRPr/>
          </a:p>
        </p:txBody>
      </p:sp>
      <p:sp>
        <p:nvSpPr>
          <p:cNvPr id="223" name="Google Shape;22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 name="Google Shape;25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NICOLE</a:t>
            </a:r>
            <a:br>
              <a:rPr lang="en-US"/>
            </a:br>
            <a:r>
              <a:rPr lang="en-US"/>
              <a:t>Effective commission. It asks: what did it cost to win this booking, as a percentage of what the booking was worth? Total cost of winning it, divided by the value of the stay.</a:t>
            </a:r>
            <a:br>
              <a:rPr lang="en-US"/>
            </a:br>
            <a:br>
              <a:rPr lang="en-US"/>
            </a:br>
            <a:r>
              <a:rPr lang="en-US"/>
              <a:t>Why a percentage? Because that's how an OTA charges: a share of the stay, not a flat fee. Put our ad cost on the same footing and the owner can compare the two on one line.</a:t>
            </a:r>
            <a:br>
              <a:rPr lang="en-US"/>
            </a:br>
            <a:br>
              <a:rPr lang="en-US"/>
            </a:br>
            <a:r>
              <a:rPr lang="en-US"/>
              <a:t>[Point to the card.] Five nights at Lakeside Lodge, a $1,500 stay, booked direct. The Meta ads that brought that guest cost $150. $150 divided by $1,500 is 10%. Through Booking.com, the same stay would have carried a $225 commission, which is 15%. [Bars.] Ten cents on the dollar, against fifteen.</a:t>
            </a:r>
            <a:br>
              <a:rPr lang="en-US"/>
            </a:br>
            <a:br>
              <a:rPr lang="en-US"/>
            </a:br>
            <a:r>
              <a:rPr lang="en-US"/>
              <a:t>Why the owner cares: this is the comparison they're already making in their head. And there's a difference between the two costs. Booking.com's cut is in a contract. Ours can come down, as the ads get better and as more guests come back on their own.</a:t>
            </a:r>
            <a:br>
              <a:rPr lang="en-US"/>
            </a:br>
            <a:br>
              <a:rPr lang="en-US"/>
            </a:br>
            <a:r>
              <a:rPr lang="en-US"/>
              <a:t>You might also hear CPB, cost per booking, in dollars. Same idea, but a dollar figure breaks the moment the owner raises their rates; a percentage survives that, which is why HiddenGem Brain governs ad spend on it. *** clarify this. </a:t>
            </a:r>
            <a:br>
              <a:rPr lang="en-US"/>
            </a:br>
            <a:br>
              <a:rPr lang="en-US"/>
            </a:br>
            <a:r>
              <a:rPr lang="en-US"/>
              <a:t>On a call: "Once we count ad spend and discounts too, what's your effective commission on a direct booking compared with </a:t>
            </a:r>
            <a:r>
              <a:rPr lang="en-US" u="sng">
                <a:solidFill>
                  <a:schemeClr val="hlink"/>
                </a:solidFill>
                <a:hlinkClick r:id="rId2"/>
              </a:rPr>
              <a:t>Booking.com</a:t>
            </a:r>
            <a:r>
              <a:rPr lang="en-US"/>
              <a:t>?" ** </a:t>
            </a:r>
            <a:br>
              <a:rPr lang="en-US"/>
            </a:br>
            <a:br>
              <a:rPr lang="en-US"/>
            </a:br>
            <a:r>
              <a:rPr lang="en-US"/>
              <a:t>So that's the block: compare, value, own, and what it cost. Now four odd ones out.</a:t>
            </a:r>
            <a:endParaRPr/>
          </a:p>
        </p:txBody>
      </p:sp>
      <p:sp>
        <p:nvSpPr>
          <p:cNvPr id="254" name="Google Shape;25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NICOLE</a:t>
            </a:r>
            <a:br>
              <a:rPr lang="en-US"/>
            </a:br>
            <a:r>
              <a:rPr lang="en-US"/>
              <a:t>Practice. Four terms from this block, one at a time. For each one you'll see four statements. Three of them are true. One is the mistake people actually make with that term. Find the odd one out and hold up its number.</a:t>
            </a:r>
            <a:br>
              <a:rPr lang="en-US"/>
            </a:br>
            <a:br>
              <a:rPr lang="en-US"/>
            </a:br>
            <a:r>
              <a:rPr lang="en-US"/>
              <a:t>In the room, fingers up; on the call, fingers up on camera. We count down, everyone commits at once, and then the answer slide. Three, two, one, vote. First one.</a:t>
            </a:r>
            <a:endParaRPr/>
          </a:p>
        </p:txBody>
      </p:sp>
      <p:sp>
        <p:nvSpPr>
          <p:cNvPr id="294" name="Google Shape;29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NICOLE</a:t>
            </a:r>
            <a:br>
              <a:rPr lang="en-US"/>
            </a:br>
            <a:r>
              <a:rPr lang="en-US"/>
              <a:t>Metasearch. Priya's hotel has just shown up on Google beside Booking.com and Expedia, and she's asked what that is. [Read the four.] Three are true. Which one is the mistake? Three, two, one, vote.</a:t>
            </a:r>
            <a:br>
              <a:rPr lang="en-US"/>
            </a:br>
            <a:endParaRPr/>
          </a:p>
        </p:txBody>
      </p:sp>
      <p:sp>
        <p:nvSpPr>
          <p:cNvPr id="312" name="Google Shape;31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NICOLE</a:t>
            </a:r>
            <a:br>
              <a:rPr lang="en-US"/>
            </a:br>
            <a:r>
              <a:rPr lang="en-US"/>
              <a:t>Number three. Metasearch doesn't take the booking. It compares prices and passes the guest on to whoever they click, and the OTAs are the ones that take the booking. That's the whole point of being listed there with your own price: click Priya's line and the booking lands on her site. On a call: "Guests comparing prices on Google or Tripadvisor are on metasearch. Are you showing up there with your direct rate?"</a:t>
            </a:r>
            <a:endParaRPr/>
          </a:p>
        </p:txBody>
      </p:sp>
      <p:sp>
        <p:nvSpPr>
          <p:cNvPr id="364" name="Google Shape;36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5" name="Google Shape;41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NICOLE</a:t>
            </a:r>
            <a:br>
              <a:rPr lang="en-US"/>
            </a:br>
            <a:r>
              <a:rPr lang="en-US"/>
              <a:t>First-party data. Theo's pleased that Booking.com handles the guest emails for his OTA bookings: one less thing to manage. [Read the four.] Three of these are first-party data. Which one isn't? Three, two, one, vote.</a:t>
            </a:r>
            <a:endParaRPr/>
          </a:p>
        </p:txBody>
      </p:sp>
      <p:sp>
        <p:nvSpPr>
          <p:cNvPr id="416" name="Google Shape;41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 name="Google Shape;46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NICOLE</a:t>
            </a:r>
            <a:br>
              <a:rPr lang="en-US"/>
            </a:br>
            <a:r>
              <a:rPr lang="en-US"/>
              <a:t>Number one. What Theo can see on the Booking.com extranet is Booking.com's data about his guests, not his. First-party means collected by the property, owned by the property: the email his own site took, his booking history, the spa booking in his PMS. The extranet guest is Booking.com's to email next year, for another cut. On a call: "Every direct booking gives you first-party data. The guest's email is yours, not the OTA's."</a:t>
            </a:r>
            <a:endParaRPr/>
          </a:p>
        </p:txBody>
      </p:sp>
      <p:sp>
        <p:nvSpPr>
          <p:cNvPr id="468" name="Google Shape;46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9" name="Google Shape;51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NICOLE</a:t>
            </a:r>
            <a:br>
              <a:rPr lang="en-US"/>
            </a:br>
            <a:r>
              <a:rPr lang="en-US"/>
              <a:t>Effective commission. Marisol's business partner thinks the ads are expensive. [Read the four.] Three of these are true. Which one is the mistake? Three, two, one, vote.</a:t>
            </a:r>
            <a:endParaRPr/>
          </a:p>
        </p:txBody>
      </p:sp>
      <p:sp>
        <p:nvSpPr>
          <p:cNvPr id="520" name="Google Shape;520;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1" name="Google Shape;57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NICOLE</a:t>
            </a:r>
            <a:br>
              <a:rPr lang="en-US"/>
            </a:br>
            <a:r>
              <a:rPr lang="en-US"/>
              <a:t>Number four. Effective commission is the full cost of winning a booking as a share of what it was worth, and it's a comparison, not a promise. Usually direct wins, as on slide 8, 10% against 15%. But a direct booking won with expensive ads and a big discount can cost more than the OTA's cut, and the number exists so you can see that on one line. On a call: "Once we count ad spend and discounts too, what's your effective commission on a direct booking compared with Booking.com?"</a:t>
            </a:r>
            <a:endParaRPr/>
          </a:p>
        </p:txBody>
      </p:sp>
      <p:sp>
        <p:nvSpPr>
          <p:cNvPr id="572" name="Google Shape;572;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3" name="Google Shape;62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NICOLE</a:t>
            </a:r>
            <a:br>
              <a:rPr lang="en-US"/>
            </a:br>
            <a:r>
              <a:rPr lang="en-US"/>
              <a:t>Cap rate, and Marisol's buyer is back. [Read the four.] Three true, one mistake. This one catches people. Three, two, one, vote.</a:t>
            </a:r>
            <a:endParaRPr/>
          </a:p>
        </p:txBody>
      </p:sp>
      <p:sp>
        <p:nvSpPr>
          <p:cNvPr id="624" name="Google Shape;62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5" name="Google Shape;67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NICOLE</a:t>
            </a:r>
            <a:br>
              <a:rPr lang="en-US"/>
            </a:br>
            <a:r>
              <a:rPr lang="en-US"/>
              <a:t>Number two, and it's backwards in a way that matters. At the same NOI, a higher cap rate means a lower price. The cap rate is the return the buyer wants; the more they demand per dollar, the less they'll pay for the same NOI. Price is NOI divided by cap rate, and dividing by a bigger number gives you less. The other three are true. On a call: "A higher NOI at the same cap rate means the property is worth more. That's the long game."</a:t>
            </a:r>
            <a:br>
              <a:rPr lang="en-US"/>
            </a:br>
            <a:br>
              <a:rPr lang="en-US"/>
            </a:br>
            <a:r>
              <a:rPr lang="en-US"/>
              <a:t>That's block 4. Kyle has block 5.</a:t>
            </a:r>
            <a:endParaRPr/>
          </a:p>
        </p:txBody>
      </p:sp>
      <p:sp>
        <p:nvSpPr>
          <p:cNvPr id="676" name="Google Shape;67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7" name="Google Shape;727;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sz="1400"/>
              <a:t>KYLE</a:t>
            </a:r>
            <a:br>
              <a:rPr b="1" lang="en-US" sz="1400"/>
            </a:br>
            <a:br>
              <a:rPr lang="en-US" sz="1400"/>
            </a:br>
            <a:r>
              <a:rPr b="1" lang="en-US" sz="1400"/>
              <a:t>Block 5</a:t>
            </a:r>
            <a:r>
              <a:rPr lang="en-US" sz="1400"/>
              <a:t>: is the marketing working? Our home turf, and where an owner quotes our own numbers back at us. </a:t>
            </a:r>
            <a:br>
              <a:rPr lang="en-US" sz="1400"/>
            </a:br>
            <a:br>
              <a:rPr lang="en-US" sz="1400"/>
            </a:br>
            <a:r>
              <a:rPr b="1" lang="en-US" sz="1400"/>
              <a:t>Five terms</a:t>
            </a:r>
            <a:r>
              <a:rPr lang="en-US" sz="1400"/>
              <a:t>. </a:t>
            </a:r>
            <a:r>
              <a:rPr b="1" lang="en-US" sz="1400"/>
              <a:t>CPM</a:t>
            </a:r>
            <a:r>
              <a:rPr lang="en-US" sz="1400"/>
              <a:t>, what attention costs. </a:t>
            </a:r>
            <a:r>
              <a:rPr b="1" lang="en-US" sz="1400"/>
              <a:t>UTM</a:t>
            </a:r>
            <a:r>
              <a:rPr lang="en-US" sz="1400"/>
              <a:t>, how a booking gets traced. </a:t>
            </a:r>
            <a:r>
              <a:rPr b="1" lang="en-US" sz="1400"/>
              <a:t>CAPI</a:t>
            </a:r>
            <a:r>
              <a:rPr lang="en-US" sz="1400"/>
              <a:t>, how it gets counted when the browser won't cooperate. </a:t>
            </a:r>
            <a:r>
              <a:rPr b="1" lang="en-US" sz="1400"/>
              <a:t>Incrementality</a:t>
            </a:r>
            <a:r>
              <a:rPr lang="en-US" sz="1400"/>
              <a:t>, whether the ads created it or took the credit. </a:t>
            </a:r>
            <a:r>
              <a:rPr b="1" lang="en-US" sz="1400"/>
              <a:t>Cannibalization</a:t>
            </a:r>
            <a:r>
              <a:rPr lang="en-US" sz="1400"/>
              <a:t>, when a promotion moves revenue instead of adding it.</a:t>
            </a:r>
            <a:br>
              <a:rPr lang="en-US" sz="1400"/>
            </a:br>
            <a:endParaRPr sz="1400"/>
          </a:p>
        </p:txBody>
      </p:sp>
      <p:sp>
        <p:nvSpPr>
          <p:cNvPr id="728" name="Google Shape;728;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7" name="Google Shape;76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sz="1400"/>
              <a:t>KYLE</a:t>
            </a:r>
            <a:br>
              <a:rPr b="1" lang="en-US" sz="1400"/>
            </a:br>
            <a:br>
              <a:rPr lang="en-US" sz="1400"/>
            </a:br>
            <a:r>
              <a:rPr b="1" lang="en-US" sz="1400"/>
              <a:t>CPM</a:t>
            </a:r>
            <a:r>
              <a:rPr lang="en-US" sz="1400"/>
              <a:t>. Cost per mille, mille being Latin for a thousand: the cost of showing an ad a thousand times. An impression is one showing, and it counts repeats to the same person, so impressions aren't people.</a:t>
            </a:r>
            <a:br>
              <a:rPr lang="en-US" sz="1400"/>
            </a:br>
            <a:br>
              <a:rPr lang="en-US" sz="1400"/>
            </a:br>
            <a:r>
              <a:rPr lang="en-US" sz="1400"/>
              <a:t>Lakeside Lodge's ads spent $4,500 last month and were shown 500,000 times. $4,500 divided by 500,000, times a thousand, is $9. Nine dollars per thousand impressions.</a:t>
            </a:r>
            <a:br>
              <a:rPr lang="en-US" sz="1400"/>
            </a:br>
            <a:br>
              <a:rPr lang="en-US" sz="1400"/>
            </a:br>
            <a:r>
              <a:rPr lang="en-US" sz="1400"/>
              <a:t>Here's the thing to understand about that number. </a:t>
            </a:r>
            <a:br>
              <a:rPr lang="en-US" sz="1400"/>
            </a:br>
            <a:br>
              <a:rPr lang="en-US" sz="1400"/>
            </a:br>
            <a:r>
              <a:rPr lang="en-US" sz="1400"/>
              <a:t>Meta is an auction, running every second of every day. Every time there's a slot in someone's feed, every advertiser who wants that person bids for it, and the price is whatever it takes to win. We don't set it. When more advertisers want the same people, in the run-up to the holidays, or when a big brand launches nearby, the same dollars buy fewer impressions. When it's quiet, they buy more. We have no control over who else is in the ring. What we do control is the creative, who we aim it at, and when.</a:t>
            </a:r>
            <a:br>
              <a:rPr lang="en-US" sz="1400"/>
            </a:br>
            <a:br>
              <a:rPr lang="en-US" sz="1400"/>
            </a:br>
            <a:r>
              <a:rPr lang="en-US" sz="1400"/>
              <a:t>So a rising CPM on its own isn't a sign anything's wrong.</a:t>
            </a:r>
            <a:br>
              <a:rPr lang="en-US" sz="1400"/>
            </a:br>
            <a:br>
              <a:rPr lang="en-US" sz="1400"/>
            </a:br>
            <a:r>
              <a:rPr b="1" lang="en-US" sz="1400"/>
              <a:t>Why the owner cares</a:t>
            </a:r>
            <a:r>
              <a:rPr lang="en-US" sz="1400"/>
              <a:t>: CPM is a price, and it's the one every report leads with. What it can't tell you is whether anyone booked.</a:t>
            </a:r>
            <a:br>
              <a:rPr lang="en-US" sz="1400"/>
            </a:br>
            <a:br>
              <a:rPr lang="en-US" sz="1400"/>
            </a:br>
            <a:r>
              <a:rPr b="1" lang="en-US" sz="1400"/>
              <a:t>On a call</a:t>
            </a:r>
            <a:r>
              <a:rPr lang="en-US" sz="1400"/>
              <a:t>: "Your CPM went up this month, which usually means we're competing with more advertisers for the same people."</a:t>
            </a:r>
            <a:br>
              <a:rPr lang="en-US" sz="1400"/>
            </a:br>
            <a:br>
              <a:rPr lang="en-US" sz="1400"/>
            </a:br>
            <a:r>
              <a:rPr lang="en-US" sz="1400"/>
              <a:t>When anyone leads with CPM, the next question is always what those impressions turned into. That's the next three terms.</a:t>
            </a:r>
            <a:br>
              <a:rPr lang="en-US"/>
            </a:br>
            <a:endParaRPr/>
          </a:p>
        </p:txBody>
      </p:sp>
      <p:sp>
        <p:nvSpPr>
          <p:cNvPr id="768" name="Google Shape;768;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1" name="Google Shape;81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sz="1400"/>
              <a:t>KYLE</a:t>
            </a:r>
            <a:br>
              <a:rPr b="1" lang="en-US" sz="1400"/>
            </a:br>
            <a:br>
              <a:rPr lang="en-US" sz="1400"/>
            </a:br>
            <a:r>
              <a:rPr b="1" lang="en-US" sz="1400"/>
              <a:t>UTM</a:t>
            </a:r>
            <a:r>
              <a:rPr lang="en-US" sz="1400"/>
              <a:t>. It stands for Urchin Tracking Module, after the company that invented it before Google bought them, and nobody says the long version; everyone says UTM. </a:t>
            </a:r>
            <a:br>
              <a:rPr lang="en-US" sz="1400"/>
            </a:br>
            <a:br>
              <a:rPr lang="en-US" sz="1400"/>
            </a:br>
            <a:r>
              <a:rPr b="1" lang="en-US" sz="1400"/>
              <a:t>What it is:</a:t>
            </a:r>
            <a:r>
              <a:rPr lang="en-US" sz="1400"/>
              <a:t> a set of tags on the end of a link that says where the link lived. </a:t>
            </a:r>
            <a:br>
              <a:rPr lang="en-US" sz="1400"/>
            </a:br>
            <a:br>
              <a:rPr lang="en-US" sz="1400"/>
            </a:br>
            <a:r>
              <a:rPr lang="en-US" sz="1400"/>
              <a:t>Five tags exist; these three do most of the work.</a:t>
            </a:r>
            <a:br>
              <a:rPr lang="en-US" sz="1400"/>
            </a:br>
            <a:br>
              <a:rPr lang="en-US" sz="1400"/>
            </a:br>
            <a:r>
              <a:rPr b="1" lang="en-US" sz="1400"/>
              <a:t>Source</a:t>
            </a:r>
            <a:r>
              <a:rPr lang="en-US" sz="1400"/>
              <a:t>: where it came from, email or Facebook. </a:t>
            </a:r>
            <a:br>
              <a:rPr lang="en-US" sz="1400"/>
            </a:br>
            <a:r>
              <a:rPr b="1" lang="en-US" sz="1400"/>
              <a:t>Medium</a:t>
            </a:r>
            <a:r>
              <a:rPr lang="en-US" sz="1400"/>
              <a:t>: what kind of thing it was, a Welcome Flow Email or a paid ad. </a:t>
            </a:r>
            <a:br>
              <a:rPr lang="en-US" sz="1400"/>
            </a:br>
            <a:r>
              <a:rPr b="1" lang="en-US" sz="1400"/>
              <a:t>Campaign</a:t>
            </a:r>
            <a:r>
              <a:rPr lang="en-US" sz="1400"/>
              <a:t>: which one, the Welcome Flow email 1, 2 or 3? or, the retargeting campaign</a:t>
            </a:r>
            <a:br>
              <a:rPr lang="en-US" sz="1400"/>
            </a:br>
            <a:br>
              <a:rPr lang="en-US" sz="1400"/>
            </a:br>
            <a:r>
              <a:rPr lang="en-US" sz="1400"/>
              <a:t>Here's how we use them. Every email we send from GoHighLevel has its links tagged, so when a guest clicks "check availability" in the Welcome Flow email, the report reads email, Welcome Flow, Email 3, Every Meta ad's link is tagged the same way, so a booking from a retargeting ad reads Facebook, paid, retargeting. </a:t>
            </a:r>
            <a:br>
              <a:rPr lang="en-US" sz="1400"/>
            </a:br>
            <a:br>
              <a:rPr lang="en-US" sz="1400"/>
            </a:br>
            <a:r>
              <a:rPr b="1" lang="en-US" sz="1400"/>
              <a:t>Why the owner cares</a:t>
            </a:r>
            <a:r>
              <a:rPr lang="en-US" sz="1400"/>
              <a:t>: "we can't track social" is one of the most common things a top resort might tell us. Tags are how we prove which bookings the emails and the ads brought, instead of asking them to trust us.</a:t>
            </a:r>
            <a:br>
              <a:rPr lang="en-US" sz="1400"/>
            </a:br>
            <a:br>
              <a:rPr lang="en-US" sz="1400"/>
            </a:br>
            <a:r>
              <a:rPr b="1" lang="en-US" sz="1400"/>
              <a:t>On a call</a:t>
            </a:r>
            <a:r>
              <a:rPr lang="en-US" sz="1400"/>
              <a:t>: "We tag every link with a UTM so we can see exactly which post or email brought each booking."</a:t>
            </a:r>
            <a:endParaRPr sz="1400"/>
          </a:p>
        </p:txBody>
      </p:sp>
      <p:sp>
        <p:nvSpPr>
          <p:cNvPr id="812" name="Google Shape;812;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2" name="Google Shape;842;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sz="1400"/>
              <a:t>KYLE</a:t>
            </a:r>
            <a:br>
              <a:rPr lang="en-US" sz="1400"/>
            </a:br>
            <a:endParaRPr sz="1400"/>
          </a:p>
          <a:p>
            <a:pPr indent="0" lvl="0" marL="0" rtl="0" algn="l">
              <a:lnSpc>
                <a:spcPct val="100000"/>
              </a:lnSpc>
              <a:spcBef>
                <a:spcPts val="0"/>
              </a:spcBef>
              <a:spcAft>
                <a:spcPts val="0"/>
              </a:spcAft>
              <a:buSzPts val="1400"/>
              <a:buNone/>
            </a:pPr>
            <a:r>
              <a:rPr b="1" lang="en-US" sz="1400"/>
              <a:t>CAPI - </a:t>
            </a:r>
            <a:r>
              <a:rPr lang="en-US" sz="1400"/>
              <a:t>Conversions API. First the pixel, because CAPI only makes sense next to it. The pixel is a bit of code on the booking page that tells Meta "a booking just happened", so Meta learns which ads lead to bookings. </a:t>
            </a:r>
            <a:br>
              <a:rPr lang="en-US" sz="1400"/>
            </a:br>
            <a:br>
              <a:rPr lang="en-US" sz="1400"/>
            </a:br>
            <a:r>
              <a:rPr b="1" lang="en-US" sz="1400"/>
              <a:t>The catch</a:t>
            </a:r>
            <a:r>
              <a:rPr lang="en-US" sz="1400"/>
              <a:t>: it runs in the guest's browser, and browsers block things. Ad blockers, the privacy settings on an iPhone. Then the booking happens and Meta never hears about it.</a:t>
            </a:r>
            <a:br>
              <a:rPr lang="en-US" sz="1400"/>
            </a:br>
            <a:br>
              <a:rPr lang="en-US" sz="1400"/>
            </a:br>
            <a:r>
              <a:rPr lang="en-US" sz="1400"/>
              <a:t>That's the browser route. CAPI is the server route. The booking engine itself tells Meta about the booking, computer to computer, with nothing in the guest's browser to get in the way. The two run together, and they share an ID for each event so a booking that gets through both ways is counted once, not twice.</a:t>
            </a:r>
            <a:br>
              <a:rPr lang="en-US" sz="1400"/>
            </a:br>
            <a:br>
              <a:rPr lang="en-US" sz="1400"/>
            </a:br>
            <a:r>
              <a:rPr b="1" lang="en-US" sz="1400"/>
              <a:t>Why the owner cares</a:t>
            </a:r>
            <a:r>
              <a:rPr lang="en-US" sz="1400"/>
              <a:t>: Meta decides who sees the next ad based on what it saw work. If it only sees half the bookings, the owner's budget is being steered on half the picture. With CAPI connected, the campaigns are judged on real results.</a:t>
            </a:r>
            <a:br>
              <a:rPr lang="en-US" sz="1400"/>
            </a:br>
            <a:br>
              <a:rPr lang="en-US" sz="1400"/>
            </a:br>
            <a:r>
              <a:rPr b="1" lang="en-US" sz="1400"/>
              <a:t>On a call</a:t>
            </a:r>
            <a:r>
              <a:rPr lang="en-US" sz="1400"/>
              <a:t>: "With CAPI connected, bookings still get reported even when a guest's browser blocks the pixel."</a:t>
            </a:r>
            <a:br>
              <a:rPr lang="en-US" sz="1400"/>
            </a:br>
            <a:br>
              <a:rPr lang="en-US" sz="1400"/>
            </a:br>
            <a:r>
              <a:rPr b="1" lang="en-US" sz="1400"/>
              <a:t>The so-what</a:t>
            </a:r>
            <a:r>
              <a:rPr lang="en-US" sz="1400"/>
              <a:t>: when an owner says their developer set up CAPI, that's good news. The one thing to check is that the pixel and the API share an event ID.</a:t>
            </a:r>
            <a:endParaRPr sz="1400"/>
          </a:p>
        </p:txBody>
      </p:sp>
      <p:sp>
        <p:nvSpPr>
          <p:cNvPr id="843" name="Google Shape;843;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3" name="Google Shape;873;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sz="1400"/>
              <a:t>KYLE</a:t>
            </a:r>
            <a:br>
              <a:rPr lang="en-US" sz="1400"/>
            </a:br>
            <a:r>
              <a:rPr b="1" lang="en-US" sz="1400"/>
              <a:t>Incrementality</a:t>
            </a:r>
            <a:r>
              <a:rPr lang="en-US" sz="1400"/>
              <a:t> - The word is ugly; the idea is simple. Attribution tells you which ad a booking followed. Incrementality tells you whether the ad caused it.</a:t>
            </a:r>
            <a:br>
              <a:rPr lang="en-US" sz="1400"/>
            </a:br>
            <a:br>
              <a:rPr lang="en-US" sz="1400"/>
            </a:br>
            <a:r>
              <a:rPr lang="en-US" sz="1400"/>
              <a:t>Start with how Meta counts. If someone sees or clicks an ad and books inside the window, Meta credits that booking to the ad. That's attribution, and it's honest as far as it goes. But some of those people were already coming: they'd stayed before, a friend had told them, and the ad was just the last thing they saw.</a:t>
            </a:r>
            <a:br>
              <a:rPr lang="en-US" sz="1400"/>
            </a:br>
            <a:br>
              <a:rPr lang="en-US" sz="1400"/>
            </a:br>
            <a:r>
              <a:rPr lang="en-US" sz="1400"/>
              <a:t>How do you measure that? You compare two groups. One group sees the campaign. A controlled group, the holdout, is kept out of it. Whatever the first group does beyond the control is the lift the ads caused.</a:t>
            </a:r>
            <a:br>
              <a:rPr lang="en-US" sz="1400"/>
            </a:br>
            <a:br>
              <a:rPr lang="en-US" sz="1400"/>
            </a:br>
            <a:r>
              <a:rPr lang="en-US" sz="1400"/>
              <a:t>Say Lakeside Lodge runs ads in two similar areas and switches one off for a month. The area with ads books 50. The holdout, or control group, books 15. The lift is 35. Meta's report would have claimed all 50; the honest number is 35.</a:t>
            </a:r>
            <a:br>
              <a:rPr lang="en-US" sz="1400"/>
            </a:br>
            <a:br>
              <a:rPr lang="en-US" sz="1400"/>
            </a:br>
            <a:r>
              <a:rPr b="1" lang="en-US" sz="1400"/>
              <a:t>Why the owner cares</a:t>
            </a:r>
            <a:r>
              <a:rPr lang="en-US" sz="1400"/>
              <a:t>: they paid for 50 and got 35. The gap is the fear every owner has about advertising, and this is the only way to put a number on it. They want to know how much of their advertising dollars brought in new business that they otherwise wouldn’t have had.</a:t>
            </a:r>
            <a:br>
              <a:rPr lang="en-US" sz="1400"/>
            </a:br>
            <a:br>
              <a:rPr lang="en-US" sz="1400"/>
            </a:br>
            <a:r>
              <a:rPr b="1" lang="en-US" sz="1400"/>
              <a:t>On a call</a:t>
            </a:r>
            <a:r>
              <a:rPr lang="en-US" sz="1400"/>
              <a:t>: "The real question is incrementality. Did the ads bring in bookings that wouldn't have happened anyway?"</a:t>
            </a:r>
            <a:br>
              <a:rPr lang="en-US" sz="1400"/>
            </a:br>
            <a:br>
              <a:rPr lang="en-US" sz="1400"/>
            </a:br>
            <a:r>
              <a:rPr lang="en-US" sz="1400"/>
              <a:t>On a call say "attributed", not "caused", when you quote Meta's number.</a:t>
            </a:r>
            <a:endParaRPr sz="1400"/>
          </a:p>
        </p:txBody>
      </p:sp>
      <p:sp>
        <p:nvSpPr>
          <p:cNvPr id="874" name="Google Shape;874;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6" name="Google Shape;906;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sz="1400"/>
              <a:t>KYLE</a:t>
            </a:r>
            <a:br>
              <a:rPr lang="en-US" sz="1400"/>
            </a:br>
            <a:r>
              <a:rPr b="1" lang="en-US" sz="1400"/>
              <a:t>Cannibalization</a:t>
            </a:r>
            <a:r>
              <a:rPr lang="en-US" sz="1400"/>
              <a:t> - The last term in the block, and it's incrementality's twin. Incrementality is the question: did the ad create the booking? Cannibalization is what it's called when the answer is no. A promotion, an ad or a channel takes bookings the property would have got anyway. The report shows growth; the revenue has only moved around, and usually it cost something to move it.</a:t>
            </a:r>
            <a:br>
              <a:rPr lang="en-US" sz="1400"/>
            </a:br>
            <a:br>
              <a:rPr lang="en-US" sz="1400"/>
            </a:br>
            <a:r>
              <a:rPr lang="en-US" sz="1400"/>
              <a:t>Say Lakeside Lodge runs a 10% book-direct code, open to everyone, and the report says 120 bookings used it. Look where they landed. Ninety were peak Saturdays, the nights that sell out every single year at full price. Those guests were coming anyway, and the code handed them 10% off for nothing. Thirty landed on soft dates, dates that were pacing behind and needed help. Those thirty are real. So the offer won thirty bookings and gave away 10% on ninety to do it.</a:t>
            </a:r>
            <a:br>
              <a:rPr lang="en-US" sz="1400"/>
            </a:br>
            <a:br>
              <a:rPr lang="en-US" sz="1400"/>
            </a:br>
            <a:r>
              <a:rPr lang="en-US" sz="1400"/>
              <a:t>How do you stop that? You put a fence around the discount. </a:t>
            </a:r>
            <a:br>
              <a:rPr lang="en-US" sz="1400"/>
            </a:br>
            <a:br>
              <a:rPr lang="en-US" sz="1400"/>
            </a:br>
            <a:r>
              <a:rPr b="1" lang="en-US" sz="1400"/>
              <a:t>Conditions</a:t>
            </a:r>
            <a:r>
              <a:rPr lang="en-US" sz="1400"/>
              <a:t>. </a:t>
            </a:r>
            <a:br>
              <a:rPr lang="en-US" sz="1400"/>
            </a:br>
            <a:r>
              <a:rPr b="1" lang="en-US" sz="1400"/>
              <a:t>Blackout dates</a:t>
            </a:r>
            <a:r>
              <a:rPr lang="en-US" sz="1400"/>
              <a:t>, so it never applies on a weekend or a holiday. </a:t>
            </a:r>
            <a:br>
              <a:rPr lang="en-US" sz="1400"/>
            </a:br>
            <a:r>
              <a:rPr b="1" lang="en-US" sz="1400"/>
              <a:t>Soft dates</a:t>
            </a:r>
            <a:r>
              <a:rPr lang="en-US" sz="1400"/>
              <a:t> only, the dates that actually need help. </a:t>
            </a:r>
            <a:br>
              <a:rPr lang="en-US" sz="1400"/>
            </a:br>
            <a:r>
              <a:rPr b="1" lang="en-US" sz="1400"/>
              <a:t>Owned channels</a:t>
            </a:r>
            <a:r>
              <a:rPr lang="en-US" sz="1400"/>
              <a:t> only, email and SMS and DMs, never the public rate. </a:t>
            </a:r>
            <a:br>
              <a:rPr lang="en-US" sz="1400"/>
            </a:br>
            <a:r>
              <a:rPr b="1" lang="en-US" sz="1400"/>
              <a:t>A real deadline</a:t>
            </a:r>
            <a:r>
              <a:rPr lang="en-US" sz="1400"/>
              <a:t>. And you reset the fence each season, because the dates that need help in March aren't the ones that need help in July.</a:t>
            </a:r>
            <a:br>
              <a:rPr lang="en-US" sz="1400"/>
            </a:br>
            <a:br>
              <a:rPr lang="en-US" sz="1400"/>
            </a:br>
            <a:r>
              <a:rPr b="1" lang="en-US" sz="1400"/>
              <a:t>Why the owner cares</a:t>
            </a:r>
            <a:r>
              <a:rPr lang="en-US" sz="1400"/>
              <a:t>: this is what they're quietly afraid of every time they discount: paying for guests they'd have had anyway. A fence is how you discount without teaching your best weekends to wait for a deal.</a:t>
            </a:r>
            <a:br>
              <a:rPr lang="en-US" sz="1400"/>
            </a:br>
            <a:br>
              <a:rPr lang="en-US" sz="1400"/>
            </a:br>
            <a:r>
              <a:rPr b="1" lang="en-US" sz="1400"/>
              <a:t>On a call</a:t>
            </a:r>
            <a:r>
              <a:rPr lang="en-US" sz="1400"/>
              <a:t>: "Before we celebrate the promo, let's check for cannibalization. Were those guests going to book anyway?"</a:t>
            </a:r>
            <a:endParaRPr sz="1400"/>
          </a:p>
        </p:txBody>
      </p:sp>
      <p:sp>
        <p:nvSpPr>
          <p:cNvPr id="907" name="Google Shape;907;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9" name="Google Shape;939;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KYLE</a:t>
            </a:r>
            <a:br>
              <a:rPr lang="en-US"/>
            </a:br>
            <a:endParaRPr/>
          </a:p>
        </p:txBody>
      </p:sp>
      <p:sp>
        <p:nvSpPr>
          <p:cNvPr id="940" name="Google Shape;940;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7" name="Google Shape;957;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KYLE</a:t>
            </a:r>
            <a:br>
              <a:rPr lang="en-US"/>
            </a:br>
            <a:endParaRPr/>
          </a:p>
        </p:txBody>
      </p:sp>
      <p:sp>
        <p:nvSpPr>
          <p:cNvPr id="958" name="Google Shape;958;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2" name="Google Shape;99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KYLE</a:t>
            </a:r>
            <a:br>
              <a:rPr lang="en-US"/>
            </a:br>
            <a:br>
              <a:rPr lang="en-US"/>
            </a:br>
            <a:r>
              <a:rPr b="1" lang="en-US"/>
              <a:t>Number two</a:t>
            </a:r>
            <a:r>
              <a:rPr lang="en-US"/>
              <a:t>: we're competing with more advertisers for the same people. CPM is the price of attention in an auction, so when it rises the usual reason is more bidders: Q4, the holidays, a big launch nearby. Not "the ads stopped working", because CPM doesn't measure that; CPB and the holdout do. Not Meta's fees, because there's no fee to raise. And a broken pixel changes what gets reported, not what an impression costs. The full line: "Your CPM went up this month, which usually means we're competing with more advertisers for the same people."</a:t>
            </a:r>
            <a:endParaRPr/>
          </a:p>
        </p:txBody>
      </p:sp>
      <p:sp>
        <p:nvSpPr>
          <p:cNvPr id="993" name="Google Shape;993;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7" name="Google Shape;1027;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KYLE</a:t>
            </a:r>
            <a:br>
              <a:rPr lang="en-US"/>
            </a:br>
            <a:endParaRPr/>
          </a:p>
        </p:txBody>
      </p:sp>
      <p:sp>
        <p:nvSpPr>
          <p:cNvPr id="1028" name="Google Shape;1028;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2" name="Google Shape;1062;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KYLE</a:t>
            </a:r>
            <a:br>
              <a:rPr lang="en-US"/>
            </a:br>
            <a:br>
              <a:rPr lang="en-US"/>
            </a:br>
            <a:r>
              <a:rPr b="1" lang="en-US"/>
              <a:t>Number one</a:t>
            </a:r>
            <a:r>
              <a:rPr lang="en-US"/>
              <a:t>: exactly which post or email brought each booking. The tag rides on the link, the booking engine records it, and the booking comes back labelled with its source. Not impressions, which Meta counts before anyone clicks. Not the pixel, which is CAPI's job. Not the OTAs' prices, which is a rate shopping tool. The full line: "We tag every link with a UTM so we can see exactly which post or email brought each booking."</a:t>
            </a:r>
            <a:br>
              <a:rPr lang="en-US"/>
            </a:br>
            <a:endParaRPr/>
          </a:p>
        </p:txBody>
      </p:sp>
      <p:sp>
        <p:nvSpPr>
          <p:cNvPr id="1063" name="Google Shape;1063;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5" name="Shape 1095"/>
        <p:cNvGrpSpPr/>
        <p:nvPr/>
      </p:nvGrpSpPr>
      <p:grpSpPr>
        <a:xfrm>
          <a:off x="0" y="0"/>
          <a:ext cx="0" cy="0"/>
          <a:chOff x="0" y="0"/>
          <a:chExt cx="0" cy="0"/>
        </a:xfrm>
      </p:grpSpPr>
      <p:sp>
        <p:nvSpPr>
          <p:cNvPr id="1096" name="Google Shape;1096;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7" name="Google Shape;1097;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KYLE</a:t>
            </a:r>
            <a:br>
              <a:rPr lang="en-US"/>
            </a:br>
            <a:endParaRPr/>
          </a:p>
        </p:txBody>
      </p:sp>
      <p:sp>
        <p:nvSpPr>
          <p:cNvPr id="1098" name="Google Shape;1098;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0" name="Shape 1130"/>
        <p:cNvGrpSpPr/>
        <p:nvPr/>
      </p:nvGrpSpPr>
      <p:grpSpPr>
        <a:xfrm>
          <a:off x="0" y="0"/>
          <a:ext cx="0" cy="0"/>
          <a:chOff x="0" y="0"/>
          <a:chExt cx="0" cy="0"/>
        </a:xfrm>
      </p:grpSpPr>
      <p:sp>
        <p:nvSpPr>
          <p:cNvPr id="1131" name="Google Shape;1131;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2" name="Google Shape;1132;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KYLE</a:t>
            </a:r>
            <a:br>
              <a:rPr lang="en-US"/>
            </a:br>
            <a:br>
              <a:rPr lang="en-US"/>
            </a:br>
            <a:r>
              <a:rPr b="1" lang="en-US"/>
              <a:t>Number three</a:t>
            </a:r>
            <a:r>
              <a:rPr lang="en-US"/>
              <a:t>: even when a guest's browser blocks the pixel. The pixel lives in the browser and the browser can say no; CAPI sends the same booking from the server, so it gets through anyway. It doesn't help when the engine is down, because there's no booking to send, and a phone booking never touched the engine in the first place. The full line: "With CAPI connected, bookings still get reported even when a guest's browser blocks the pixel."</a:t>
            </a:r>
            <a:endParaRPr/>
          </a:p>
        </p:txBody>
      </p:sp>
      <p:sp>
        <p:nvSpPr>
          <p:cNvPr id="1133" name="Google Shape;1133;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5" name="Shape 1165"/>
        <p:cNvGrpSpPr/>
        <p:nvPr/>
      </p:nvGrpSpPr>
      <p:grpSpPr>
        <a:xfrm>
          <a:off x="0" y="0"/>
          <a:ext cx="0" cy="0"/>
          <a:chOff x="0" y="0"/>
          <a:chExt cx="0" cy="0"/>
        </a:xfrm>
      </p:grpSpPr>
      <p:sp>
        <p:nvSpPr>
          <p:cNvPr id="1166" name="Google Shape;1166;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7" name="Google Shape;1167;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KYLE</a:t>
            </a:r>
            <a:br>
              <a:rPr lang="en-US"/>
            </a:br>
            <a:endParaRPr/>
          </a:p>
        </p:txBody>
      </p:sp>
      <p:sp>
        <p:nvSpPr>
          <p:cNvPr id="1168" name="Google Shape;1168;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0" name="Shape 1200"/>
        <p:cNvGrpSpPr/>
        <p:nvPr/>
      </p:nvGrpSpPr>
      <p:grpSpPr>
        <a:xfrm>
          <a:off x="0" y="0"/>
          <a:ext cx="0" cy="0"/>
          <a:chOff x="0" y="0"/>
          <a:chExt cx="0" cy="0"/>
        </a:xfrm>
      </p:grpSpPr>
      <p:sp>
        <p:nvSpPr>
          <p:cNvPr id="1201" name="Google Shape;1201;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2" name="Google Shape;1202;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KYLE</a:t>
            </a:r>
            <a:br>
              <a:rPr lang="en-US"/>
            </a:br>
            <a:br>
              <a:rPr lang="en-US"/>
            </a:br>
            <a:r>
              <a:rPr b="1" lang="en-US"/>
              <a:t>Number four</a:t>
            </a:r>
            <a:r>
              <a:rPr lang="en-US"/>
              <a:t>: bookings that wouldn't have happened anyway. That's the whole idea. The other three are all things a booking can be, cheaper than the OTA, on a promo code, visible to the pixel, and none of them tells you whether the ad caused it. The holdout does: ads on for one group, off for the matched group, and the gap is what the ads added. The full line: "The real question is incrementality: did the ads bring in bookings that wouldn't have happened anyway?"</a:t>
            </a:r>
            <a:br>
              <a:rPr lang="en-US"/>
            </a:br>
            <a:endParaRPr/>
          </a:p>
        </p:txBody>
      </p:sp>
      <p:sp>
        <p:nvSpPr>
          <p:cNvPr id="1203" name="Google Shape;1203;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5" name="Shape 1235"/>
        <p:cNvGrpSpPr/>
        <p:nvPr/>
      </p:nvGrpSpPr>
      <p:grpSpPr>
        <a:xfrm>
          <a:off x="0" y="0"/>
          <a:ext cx="0" cy="0"/>
          <a:chOff x="0" y="0"/>
          <a:chExt cx="0" cy="0"/>
        </a:xfrm>
      </p:grpSpPr>
      <p:sp>
        <p:nvSpPr>
          <p:cNvPr id="1236" name="Google Shape;1236;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7" name="Google Shape;1237;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KYLE</a:t>
            </a:r>
            <a:br>
              <a:rPr lang="en-US"/>
            </a:br>
            <a:endParaRPr/>
          </a:p>
        </p:txBody>
      </p:sp>
      <p:sp>
        <p:nvSpPr>
          <p:cNvPr id="1238" name="Google Shape;1238;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0" name="Shape 1270"/>
        <p:cNvGrpSpPr/>
        <p:nvPr/>
      </p:nvGrpSpPr>
      <p:grpSpPr>
        <a:xfrm>
          <a:off x="0" y="0"/>
          <a:ext cx="0" cy="0"/>
          <a:chOff x="0" y="0"/>
          <a:chExt cx="0" cy="0"/>
        </a:xfrm>
      </p:grpSpPr>
      <p:sp>
        <p:nvSpPr>
          <p:cNvPr id="1271" name="Google Shape;1271;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2" name="Google Shape;1272;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KYLE</a:t>
            </a:r>
            <a:br>
              <a:rPr lang="en-US"/>
            </a:br>
            <a:br>
              <a:rPr lang="en-US"/>
            </a:br>
            <a:r>
              <a:rPr b="1" lang="en-US"/>
              <a:t>Number one</a:t>
            </a:r>
            <a:r>
              <a:rPr lang="en-US"/>
              <a:t>: were those guests going to book anyway. Walt's Saturdays sell out at full rate, so a 15% code on those nights doesn't create a booking, it discounts one he already had. Sixty redemptions looks like growth; most of it is revenue moved. "New to the property" sounds right but isn't the question; a new guest who'd have paid full rate is still cannibalized. The fix is the fence: point the code at the soft dates. The full line: "Before we celebrate the promo, let's check for cannibalization: were those guests going to book anyway?"</a:t>
            </a:r>
            <a:endParaRPr/>
          </a:p>
        </p:txBody>
      </p:sp>
      <p:sp>
        <p:nvSpPr>
          <p:cNvPr id="1273" name="Google Shape;1273;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5" name="Shape 1305"/>
        <p:cNvGrpSpPr/>
        <p:nvPr/>
      </p:nvGrpSpPr>
      <p:grpSpPr>
        <a:xfrm>
          <a:off x="0" y="0"/>
          <a:ext cx="0" cy="0"/>
          <a:chOff x="0" y="0"/>
          <a:chExt cx="0" cy="0"/>
        </a:xfrm>
      </p:grpSpPr>
      <p:sp>
        <p:nvSpPr>
          <p:cNvPr id="1306" name="Google Shape;1306;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7" name="Google Shape;1307;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NICOLE</a:t>
            </a:r>
            <a:br>
              <a:rPr lang="en-US"/>
            </a:br>
            <a:r>
              <a:rPr lang="en-US"/>
              <a:t>Block 6: the stack. The software a property runs on, and the block where an owner says "we're on Mews" and waits to see if you know what that means.</a:t>
            </a:r>
            <a:br>
              <a:rPr lang="en-US"/>
            </a:br>
            <a:br>
              <a:rPr lang="en-US"/>
            </a:br>
            <a:r>
              <a:rPr lang="en-US"/>
              <a:t>Five terms, eight slides. The tools map is the four systems that take and price a booking: the PMS, the channel manager, the booking engine and dynamic pricing. The kinds of tools our ICP uses to manage their guests and the changing market: rate shopping and market intelligence, CRM, guest messaging and upsells. </a:t>
            </a:r>
            <a:br>
              <a:rPr lang="en-US"/>
            </a:br>
            <a:br>
              <a:rPr lang="en-US"/>
            </a:br>
            <a:r>
              <a:rPr lang="en-US"/>
              <a:t>At the end you'll sort those names on your own phone, so this block is about recognising them, not memorising them.</a:t>
            </a:r>
            <a:br>
              <a:rPr lang="en-US"/>
            </a:br>
            <a:endParaRPr/>
          </a:p>
        </p:txBody>
      </p:sp>
      <p:sp>
        <p:nvSpPr>
          <p:cNvPr id="1308" name="Google Shape;1308;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5" name="Shape 1345"/>
        <p:cNvGrpSpPr/>
        <p:nvPr/>
      </p:nvGrpSpPr>
      <p:grpSpPr>
        <a:xfrm>
          <a:off x="0" y="0"/>
          <a:ext cx="0" cy="0"/>
          <a:chOff x="0" y="0"/>
          <a:chExt cx="0" cy="0"/>
        </a:xfrm>
      </p:grpSpPr>
      <p:sp>
        <p:nvSpPr>
          <p:cNvPr id="1346" name="Google Shape;1346;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7" name="Google Shape;1347;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NICOLE</a:t>
            </a:r>
            <a:br>
              <a:rPr lang="en-US"/>
            </a:br>
            <a:r>
              <a:rPr lang="en-US"/>
              <a:t>The first system: the PMS, property management system. The front desk's computer. Every reservation lives in it, guests get checked in from it, and the night's numbers come out of it. Whatever else a property runs, it plugs into the PMS, so this is the name to get first on a call.</a:t>
            </a:r>
            <a:br>
              <a:rPr lang="en-US"/>
            </a:br>
            <a:br>
              <a:rPr lang="en-US"/>
            </a:br>
            <a:r>
              <a:rPr lang="en-US"/>
              <a:t>[Left to right.] Mews is the one you'll hear most from independent hotels and resorts. Oracle OPERA Cloud is the big-brand system; Hyatt chose it and IHG approves it, so a resort that came from a chain may be on it. Cloudbeds is sold as one suite that does the PMS, the channel manager and the booking engine, which is why it comes up again in two slides' time. Newbook comes from the campground and holiday-park world, where a lot of glamping stacks start. WebRezPro and RMS Cloud are both independent-property systems. Little Hotelier is SiteMinder's all-in-one for small places. And Guesty, with Hostaway, is the vacation-rental side; you'll hear those from an owner who started with a few cabins.</a:t>
            </a:r>
            <a:br>
              <a:rPr lang="en-US"/>
            </a:br>
            <a:br>
              <a:rPr lang="en-US"/>
            </a:br>
            <a:r>
              <a:rPr lang="en-US"/>
              <a:t>On a call: "Which PMS are you on? That tells us what we can connect to."</a:t>
            </a:r>
            <a:br>
              <a:rPr lang="en-US"/>
            </a:br>
            <a:br>
              <a:rPr lang="en-US"/>
            </a:br>
            <a:r>
              <a:rPr lang="en-US"/>
              <a:t>The habit: hear the name, place it in the box. If it's a name you don't know, "which system is that?" is a perfectly good question.</a:t>
            </a:r>
            <a:br>
              <a:rPr lang="en-US"/>
            </a:br>
            <a:endParaRPr/>
          </a:p>
        </p:txBody>
      </p:sp>
      <p:sp>
        <p:nvSpPr>
          <p:cNvPr id="1348" name="Google Shape;1348;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8" name="Shape 1388"/>
        <p:cNvGrpSpPr/>
        <p:nvPr/>
      </p:nvGrpSpPr>
      <p:grpSpPr>
        <a:xfrm>
          <a:off x="0" y="0"/>
          <a:ext cx="0" cy="0"/>
          <a:chOff x="0" y="0"/>
          <a:chExt cx="0" cy="0"/>
        </a:xfrm>
      </p:grpSpPr>
      <p:sp>
        <p:nvSpPr>
          <p:cNvPr id="1389" name="Google Shape;1389;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0" name="Google Shape;1390;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NICOLE</a:t>
            </a:r>
            <a:br>
              <a:rPr lang="en-US"/>
            </a:br>
            <a:r>
              <a:rPr lang="en-US"/>
              <a:t>The second system: the channel manager. Think of it as the switchboard between the property and the OTAs. It pushes the property's rates and availability out to Booking.com, Expedia, Airbnb and the rest, all at once, and pulls their bookings back in. So when a room sells on Booking.com, it disappears from Expedia before anyone can sell it twice.</a:t>
            </a:r>
            <a:br>
              <a:rPr lang="en-US"/>
            </a:br>
            <a:br>
              <a:rPr lang="en-US"/>
            </a:br>
            <a:r>
              <a:rPr lang="en-US"/>
              <a:t>[Left to right.] SiteMinder is the name you'll hear most; it also sells a booking engine. Cloudbeds again, inside its suite. STAAH is aimed at independent properties. DerbySoft is connectivity for bigger hotels and chains, so you'll hear it less from our ICP. RateGain sells distribution tools alongside its rate tools, which is why it turns up again in the market-intelligence box. And the vacation-rental side: Guesty and Hostaway are all-in-ones, a PMS first with the channel manager built in, and Lodgify is a website with the engine built in that also feeds the OTAs.</a:t>
            </a:r>
            <a:br>
              <a:rPr lang="en-US"/>
            </a:br>
            <a:br>
              <a:rPr lang="en-US"/>
            </a:br>
            <a:r>
              <a:rPr lang="en-US"/>
              <a:t>Why the owner cares: without a channel manager, somebody updates every OTA by hand, and the first double booking is the day they go looking for one.</a:t>
            </a:r>
            <a:br>
              <a:rPr lang="en-US"/>
            </a:br>
            <a:br>
              <a:rPr lang="en-US"/>
            </a:br>
            <a:r>
              <a:rPr lang="en-US"/>
              <a:t>On a call: "Which channel manager sends your rates to the OTAs? When we move a rate, that's what has to carry it everywhere within the hour."</a:t>
            </a:r>
            <a:endParaRPr/>
          </a:p>
        </p:txBody>
      </p:sp>
      <p:sp>
        <p:nvSpPr>
          <p:cNvPr id="1391" name="Google Shape;1391;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1" name="Shape 1431"/>
        <p:cNvGrpSpPr/>
        <p:nvPr/>
      </p:nvGrpSpPr>
      <p:grpSpPr>
        <a:xfrm>
          <a:off x="0" y="0"/>
          <a:ext cx="0" cy="0"/>
          <a:chOff x="0" y="0"/>
          <a:chExt cx="0" cy="0"/>
        </a:xfrm>
      </p:grpSpPr>
      <p:sp>
        <p:nvSpPr>
          <p:cNvPr id="1432" name="Google Shape;1432;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3" name="Google Shape;1433;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NICOLE</a:t>
            </a:r>
            <a:br>
              <a:rPr lang="en-US"/>
            </a:br>
            <a:r>
              <a:rPr lang="en-US"/>
              <a:t>The third system: the booking engine. The "Book now" page on the property's own website. It shows the dates and prices, takes the credit card, and writes the reservation into the PMS. This is the one we care about most, because every direct booking, every piece of first-party data, and every bit of tracking we talked about in block 5 runs through it.</a:t>
            </a:r>
            <a:br>
              <a:rPr lang="en-US"/>
            </a:br>
            <a:br>
              <a:rPr lang="en-US"/>
            </a:br>
            <a:r>
              <a:rPr lang="en-US"/>
              <a:t>[Left to right.] SynXis is the engine that Sabre sold until 2025, sitting on the SynXis central reservation system, which is a CRS, the rate-and-inventory brain that bigger hotel groups run above the PMS. iHotelier is the Amadeus(Ah-Mah-Day-Us)  equivalent. Almost every PMS and channel-manager vendor sells an engine too: SiteMinder, Cloudbeds, Mews, STAAH, WebRezPro, and Lodgify, on the vacation-rental side, is a website with the engine built in.</a:t>
            </a:r>
            <a:br>
              <a:rPr lang="en-US"/>
            </a:br>
            <a:br>
              <a:rPr lang="en-US"/>
            </a:br>
            <a:r>
              <a:rPr lang="en-US"/>
              <a:t>Why the owner cares: this is where the guest either books direct or gives up and goes back to Expedia. A slow or clunky engine is regret, from last week, made of software.</a:t>
            </a:r>
            <a:br>
              <a:rPr lang="en-US"/>
            </a:br>
            <a:br>
              <a:rPr lang="en-US"/>
            </a:br>
            <a:r>
              <a:rPr lang="en-US"/>
              <a:t>On a call: "Which booking engine is on your site? That's where our tracking has to live."</a:t>
            </a:r>
            <a:endParaRPr/>
          </a:p>
        </p:txBody>
      </p:sp>
      <p:sp>
        <p:nvSpPr>
          <p:cNvPr id="1434" name="Google Shape;1434;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4" name="Shape 1474"/>
        <p:cNvGrpSpPr/>
        <p:nvPr/>
      </p:nvGrpSpPr>
      <p:grpSpPr>
        <a:xfrm>
          <a:off x="0" y="0"/>
          <a:ext cx="0" cy="0"/>
          <a:chOff x="0" y="0"/>
          <a:chExt cx="0" cy="0"/>
        </a:xfrm>
      </p:grpSpPr>
      <p:sp>
        <p:nvSpPr>
          <p:cNvPr id="1475" name="Google Shape;1475;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6" name="Google Shape;1476;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NICOLE</a:t>
            </a:r>
            <a:br>
              <a:rPr lang="en-US"/>
            </a:br>
            <a:r>
              <a:rPr lang="en-US"/>
              <a:t>The fourth system: dynamic pricing. Software that moves tonight's price up and down with demand, automatically, instead of the owner doing it on Sunday nights. Remember Ines from last week.</a:t>
            </a:r>
            <a:br>
              <a:rPr lang="en-US"/>
            </a:br>
            <a:br>
              <a:rPr lang="en-US"/>
            </a:br>
            <a:r>
              <a:rPr lang="en-US"/>
              <a:t>[Left to right.] PriceLabs and Wheelhouse grew up in short-term rentals and are the names you'll hear from an owner who started with cabins; Beyond is the third one in that world. IDeaS and Duetto are from the big-hotel space, sold as revenue-management systems rather than pricing tools; Atomize sits with them, and is now sold as Mews RMS. RoomPriceGenie is built for smaller hotels. And Cloudbeds has a pricing tool inside its suite, so an owner on Cloudbeds may be using that. Different labels, same box: all of them set prices from demand.</a:t>
            </a:r>
            <a:br>
              <a:rPr lang="en-US"/>
            </a:br>
            <a:br>
              <a:rPr lang="en-US"/>
            </a:br>
            <a:r>
              <a:rPr lang="en-US"/>
              <a:t>Why the owner cares: it takes day-to-day rate-setting off their plate. </a:t>
            </a:r>
            <a:br>
              <a:rPr lang="en-US"/>
            </a:br>
            <a:br>
              <a:rPr lang="en-US"/>
            </a:br>
            <a:r>
              <a:rPr lang="en-US"/>
              <a:t>The catch is these tools price against demand that already exists. They don't create any. HiddenGem Brain prices from the property's own bookings and the demand our marketing sends, so when an owner says "PriceLabs handles our rates", the question is what it's reacting to.</a:t>
            </a:r>
            <a:br>
              <a:rPr lang="en-US"/>
            </a:br>
            <a:br>
              <a:rPr lang="en-US"/>
            </a:br>
            <a:r>
              <a:rPr lang="en-US"/>
              <a:t>On a call: "Are you using dynamic pricing, or setting rates by hand each season?"</a:t>
            </a:r>
            <a:endParaRPr/>
          </a:p>
        </p:txBody>
      </p:sp>
      <p:sp>
        <p:nvSpPr>
          <p:cNvPr id="1477" name="Google Shape;1477;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7" name="Shape 1517"/>
        <p:cNvGrpSpPr/>
        <p:nvPr/>
      </p:nvGrpSpPr>
      <p:grpSpPr>
        <a:xfrm>
          <a:off x="0" y="0"/>
          <a:ext cx="0" cy="0"/>
          <a:chOff x="0" y="0"/>
          <a:chExt cx="0" cy="0"/>
        </a:xfrm>
      </p:grpSpPr>
      <p:sp>
        <p:nvSpPr>
          <p:cNvPr id="1518" name="Google Shape;1518;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9" name="Google Shape;1519;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KYLE</a:t>
            </a:r>
            <a:br>
              <a:rPr b="1" lang="en-US"/>
            </a:br>
            <a:br>
              <a:rPr lang="en-US"/>
            </a:br>
            <a:r>
              <a:rPr lang="en-US"/>
              <a:t>Now the tools around the guest and the market. </a:t>
            </a:r>
            <a:br>
              <a:rPr lang="en-US"/>
            </a:br>
            <a:br>
              <a:rPr lang="en-US"/>
            </a:br>
            <a:r>
              <a:rPr lang="en-US"/>
              <a:t>First, </a:t>
            </a:r>
            <a:r>
              <a:rPr b="1" lang="en-US"/>
              <a:t>rate shopping and market intelligence tools</a:t>
            </a:r>
            <a:r>
              <a:rPr lang="en-US"/>
              <a:t>. A rate shopping tool watches what the comp set is charging, night by night, automatically. Market intelligence is the wider family: what the neighbours charge, and how they performed.</a:t>
            </a:r>
            <a:br>
              <a:rPr lang="en-US"/>
            </a:br>
            <a:br>
              <a:rPr lang="en-US"/>
            </a:br>
            <a:r>
              <a:rPr b="1" lang="en-US"/>
              <a:t>Lighthouse</a:t>
            </a:r>
            <a:r>
              <a:rPr lang="en-US"/>
              <a:t> is the name you'll hear most; it used to be OTA Insight, so some owners still say that. </a:t>
            </a:r>
            <a:br>
              <a:rPr lang="en-US"/>
            </a:br>
            <a:r>
              <a:rPr b="1" lang="en-US"/>
              <a:t>RateGain</a:t>
            </a:r>
            <a:r>
              <a:rPr lang="en-US"/>
              <a:t> sells rate intelligence too. </a:t>
            </a:r>
            <a:br>
              <a:rPr lang="en-US"/>
            </a:br>
            <a:br>
              <a:rPr lang="en-US"/>
            </a:br>
            <a:r>
              <a:rPr lang="en-US"/>
              <a:t>Then the benchmarking side: </a:t>
            </a:r>
            <a:br>
              <a:rPr lang="en-US"/>
            </a:br>
            <a:br>
              <a:rPr lang="en-US"/>
            </a:br>
            <a:r>
              <a:rPr b="1" lang="en-US"/>
              <a:t>STR, part of CoStar</a:t>
            </a:r>
            <a:r>
              <a:rPr lang="en-US"/>
              <a:t>, is the industry's standard report on how a comp set performed. </a:t>
            </a:r>
            <a:br>
              <a:rPr lang="en-US"/>
            </a:br>
            <a:r>
              <a:rPr b="1" lang="en-US"/>
              <a:t>KeyData</a:t>
            </a:r>
            <a:r>
              <a:rPr lang="en-US"/>
              <a:t> does the same for short-term rentals, </a:t>
            </a:r>
            <a:br>
              <a:rPr lang="en-US"/>
            </a:br>
            <a:r>
              <a:rPr b="1" lang="en-US"/>
              <a:t>AirDNA</a:t>
            </a:r>
            <a:r>
              <a:rPr lang="en-US"/>
              <a:t> is vacation-rental market data, and </a:t>
            </a:r>
            <a:br>
              <a:rPr lang="en-US"/>
            </a:br>
            <a:r>
              <a:rPr b="1" lang="en-US"/>
              <a:t>Amadeus Demand360</a:t>
            </a:r>
            <a:r>
              <a:rPr lang="en-US"/>
              <a:t> looks forward at market demand. </a:t>
            </a:r>
            <a:br>
              <a:rPr lang="en-US"/>
            </a:br>
            <a:br>
              <a:rPr lang="en-US"/>
            </a:br>
            <a:r>
              <a:rPr b="1" lang="en-US"/>
              <a:t>Cloudbeds</a:t>
            </a:r>
            <a:r>
              <a:rPr lang="en-US"/>
              <a:t> has one inside its suite. </a:t>
            </a:r>
            <a:br>
              <a:rPr lang="en-US"/>
            </a:br>
            <a:br>
              <a:rPr lang="en-US"/>
            </a:br>
            <a:r>
              <a:rPr lang="en-US"/>
              <a:t>And PriceLabs, from the pricing slide: its market data and rate shopping come with the pricing tool.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b="1" lang="en-US"/>
              <a:t>Two questions, one box</a:t>
            </a:r>
            <a:r>
              <a:rPr lang="en-US"/>
              <a:t>: "what are they charging tonight?" and "how did they do last month?"</a:t>
            </a:r>
            <a:br>
              <a:rPr lang="en-US"/>
            </a:br>
            <a:br>
              <a:rPr lang="en-US"/>
            </a:br>
            <a:r>
              <a:rPr b="1" lang="en-US"/>
              <a:t>Why the owner cares</a:t>
            </a:r>
            <a:r>
              <a:rPr lang="en-US"/>
              <a:t>: they want to know they're not out of line with the lodge across the lake, and that's fair. </a:t>
            </a:r>
            <a:br>
              <a:rPr lang="en-US"/>
            </a:br>
            <a:br>
              <a:rPr lang="en-US"/>
            </a:br>
            <a:r>
              <a:rPr b="1" lang="en-US"/>
              <a:t>On a call</a:t>
            </a:r>
            <a:r>
              <a:rPr lang="en-US"/>
              <a:t>: "A rate shopping tool would show you what the resorts around you are charging each night."</a:t>
            </a:r>
            <a:endParaRPr/>
          </a:p>
        </p:txBody>
      </p:sp>
      <p:sp>
        <p:nvSpPr>
          <p:cNvPr id="1520" name="Google Shape;1520;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0" name="Shape 1560"/>
        <p:cNvGrpSpPr/>
        <p:nvPr/>
      </p:nvGrpSpPr>
      <p:grpSpPr>
        <a:xfrm>
          <a:off x="0" y="0"/>
          <a:ext cx="0" cy="0"/>
          <a:chOff x="0" y="0"/>
          <a:chExt cx="0" cy="0"/>
        </a:xfrm>
      </p:grpSpPr>
      <p:sp>
        <p:nvSpPr>
          <p:cNvPr id="1561" name="Google Shape;1561;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2" name="Google Shape;1562;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sz="1400"/>
              <a:t>KYLE</a:t>
            </a:r>
            <a:br>
              <a:rPr b="1" lang="en-US" sz="1400"/>
            </a:br>
            <a:br>
              <a:rPr lang="en-US" sz="1400"/>
            </a:br>
            <a:r>
              <a:rPr b="1" lang="en-US" sz="1400"/>
              <a:t>CRM tools - </a:t>
            </a:r>
            <a:r>
              <a:rPr lang="en-US" sz="1400"/>
              <a:t>CRM is customer relationship management, which in a hotel means one thing: the system that holds the guest list. Who stayed, how often, what they spent, what they like. </a:t>
            </a:r>
            <a:br>
              <a:rPr lang="en-US" sz="1400"/>
            </a:br>
            <a:br>
              <a:rPr lang="en-US" sz="1400"/>
            </a:br>
            <a:r>
              <a:rPr lang="en-US" sz="1400"/>
              <a:t>A hotel CRM takes those records from the PMS and sorts them so you can market to them: past guests who came in winter, guests who used the spa.</a:t>
            </a:r>
            <a:br>
              <a:rPr lang="en-US" sz="1400"/>
            </a:br>
            <a:br>
              <a:rPr lang="en-US" sz="1400"/>
            </a:br>
            <a:r>
              <a:rPr b="1" lang="en-US" sz="1400"/>
              <a:t>Revinate and Cendyn</a:t>
            </a:r>
            <a:r>
              <a:rPr lang="en-US" sz="1400"/>
              <a:t> are the hotel-specific names</a:t>
            </a:r>
            <a:br>
              <a:rPr lang="en-US" sz="1400"/>
            </a:br>
            <a:r>
              <a:rPr lang="en-US" sz="1400"/>
              <a:t>Then ours: </a:t>
            </a:r>
            <a:r>
              <a:rPr b="1" lang="en-US" sz="1400"/>
              <a:t>GoHighLevel</a:t>
            </a:r>
            <a:r>
              <a:rPr lang="en-US" sz="1400"/>
              <a:t>, which holds the leads and the email list our funnel builds, sends the emails, and has texting and chat built in. </a:t>
            </a:r>
            <a:br>
              <a:rPr lang="en-US" sz="1400"/>
            </a:br>
            <a:br>
              <a:rPr lang="en-US" sz="1400"/>
            </a:br>
            <a:r>
              <a:rPr lang="en-US" sz="1400"/>
              <a:t>Then the general tools an owner may already have: </a:t>
            </a:r>
            <a:r>
              <a:rPr b="1" lang="en-US" sz="1400"/>
              <a:t>HubSpot</a:t>
            </a:r>
            <a:r>
              <a:rPr lang="en-US" sz="1400"/>
              <a:t>, a general CRM; </a:t>
            </a:r>
            <a:r>
              <a:rPr b="1" lang="en-US" sz="1400"/>
              <a:t>Mailchimp</a:t>
            </a:r>
            <a:r>
              <a:rPr lang="en-US" sz="1400"/>
              <a:t>, which a small owner often calls their CRM even though it's an email tool; and </a:t>
            </a:r>
            <a:r>
              <a:rPr b="1" lang="en-US" sz="1400"/>
              <a:t>Klaviyo</a:t>
            </a:r>
            <a:r>
              <a:rPr lang="en-US" sz="1400"/>
              <a:t>, the same role with more automation. </a:t>
            </a:r>
            <a:br>
              <a:rPr lang="en-US" sz="1400"/>
            </a:br>
            <a:br>
              <a:rPr lang="en-US" sz="1400"/>
            </a:br>
            <a:r>
              <a:rPr lang="en-US" sz="1400"/>
              <a:t>Then </a:t>
            </a:r>
            <a:r>
              <a:rPr b="1" lang="en-US" sz="1400"/>
              <a:t>Enso Connect</a:t>
            </a:r>
            <a:r>
              <a:rPr lang="en-US" sz="1400"/>
              <a:t> and </a:t>
            </a:r>
            <a:r>
              <a:rPr b="1" lang="en-US" sz="1400"/>
              <a:t>Cloudbeds</a:t>
            </a:r>
            <a:r>
              <a:rPr lang="en-US" sz="1400"/>
              <a:t>, which both sell segments and campaigns. When an owner says CRM, ask what they mean.</a:t>
            </a:r>
            <a:br>
              <a:rPr lang="en-US" sz="1400"/>
            </a:br>
            <a:br>
              <a:rPr lang="en-US" sz="1400"/>
            </a:br>
            <a:r>
              <a:rPr b="1" lang="en-US" sz="1400"/>
              <a:t>Why the owner cares</a:t>
            </a:r>
            <a:r>
              <a:rPr lang="en-US" sz="1400"/>
              <a:t>: this is first-party data with a home. A guest in the CRM is a relationship; a guest who only exists on a Booking.com confirmation is a one-time sale.</a:t>
            </a:r>
            <a:br>
              <a:rPr lang="en-US" sz="1400"/>
            </a:br>
            <a:br>
              <a:rPr lang="en-US" sz="1400"/>
            </a:br>
            <a:r>
              <a:rPr b="1" lang="en-US" sz="1400"/>
              <a:t>On a call</a:t>
            </a:r>
            <a:r>
              <a:rPr lang="en-US" sz="1400"/>
              <a:t>: "Which CRM tool holds your guest list? We could use it to invite past guests back."</a:t>
            </a:r>
            <a:endParaRPr sz="1400"/>
          </a:p>
        </p:txBody>
      </p:sp>
      <p:sp>
        <p:nvSpPr>
          <p:cNvPr id="1563" name="Google Shape;1563;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3" name="Shape 1603"/>
        <p:cNvGrpSpPr/>
        <p:nvPr/>
      </p:nvGrpSpPr>
      <p:grpSpPr>
        <a:xfrm>
          <a:off x="0" y="0"/>
          <a:ext cx="0" cy="0"/>
          <a:chOff x="0" y="0"/>
          <a:chExt cx="0" cy="0"/>
        </a:xfrm>
      </p:grpSpPr>
      <p:sp>
        <p:nvSpPr>
          <p:cNvPr id="1604" name="Google Shape;1604;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5" name="Google Shape;1605;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sz="1400"/>
              <a:t>KYLE</a:t>
            </a:r>
            <a:br>
              <a:rPr b="1" lang="en-US" sz="1400"/>
            </a:br>
            <a:br>
              <a:rPr lang="en-US" sz="1400"/>
            </a:br>
            <a:r>
              <a:rPr b="1" lang="en-US" sz="1400"/>
              <a:t>Guest messaging tools</a:t>
            </a:r>
            <a:r>
              <a:rPr lang="en-US" sz="1400"/>
              <a:t> - Tools that text or chat with the guest, one to one, around the stay. </a:t>
            </a:r>
            <a:br>
              <a:rPr lang="en-US" sz="1400"/>
            </a:br>
            <a:br>
              <a:rPr lang="en-US" sz="1400"/>
            </a:br>
            <a:r>
              <a:rPr lang="en-US" sz="1400"/>
              <a:t>This is "your room's ready", "here's the gate code", "would you like to add dinner on Friday?" </a:t>
            </a:r>
            <a:br>
              <a:rPr lang="en-US" sz="1400"/>
            </a:br>
            <a:br>
              <a:rPr lang="en-US" sz="1400"/>
            </a:br>
            <a:r>
              <a:rPr b="1" lang="en-US" sz="1400"/>
              <a:t>Three windows</a:t>
            </a:r>
            <a:r>
              <a:rPr lang="en-US" sz="1400"/>
              <a:t>: before arrival, during the stay, and after checkout, when the review gets asked for.</a:t>
            </a:r>
            <a:br>
              <a:rPr lang="en-US" sz="1400"/>
            </a:br>
            <a:br>
              <a:rPr lang="en-US" sz="1400"/>
            </a:br>
            <a:r>
              <a:rPr b="1" lang="en-US" sz="1400"/>
              <a:t>Duve</a:t>
            </a:r>
            <a:r>
              <a:rPr lang="en-US" sz="1400"/>
              <a:t> is a guest communication hub, hotels and rentals both. </a:t>
            </a:r>
            <a:r>
              <a:rPr b="1" lang="en-US" sz="1400"/>
              <a:t>Canary</a:t>
            </a:r>
            <a:r>
              <a:rPr lang="en-US" sz="1400"/>
              <a:t> is hotel guest messaging, and it sells upsells too. </a:t>
            </a:r>
            <a:r>
              <a:rPr b="1" lang="en-US" sz="1400"/>
              <a:t>Whistle</a:t>
            </a:r>
            <a:r>
              <a:rPr lang="en-US" sz="1400"/>
              <a:t> is now part of Cloudbeds, so an owner on Cloudbeds may have it without knowing the name. </a:t>
            </a:r>
            <a:br>
              <a:rPr lang="en-US" sz="1400"/>
            </a:br>
            <a:br>
              <a:rPr lang="en-US" sz="1400"/>
            </a:br>
            <a:r>
              <a:rPr b="1" lang="en-US" sz="1400"/>
              <a:t>Akia</a:t>
            </a:r>
            <a:r>
              <a:rPr lang="en-US" sz="1400"/>
              <a:t>, </a:t>
            </a:r>
            <a:r>
              <a:rPr b="1" lang="en-US" sz="1400"/>
              <a:t>Enso Connect</a:t>
            </a:r>
            <a:r>
              <a:rPr lang="en-US" sz="1400"/>
              <a:t> and </a:t>
            </a:r>
            <a:r>
              <a:rPr b="1" lang="en-US" sz="1400"/>
              <a:t>Kipsu</a:t>
            </a:r>
            <a:r>
              <a:rPr lang="en-US" sz="1400"/>
              <a:t> are the other three specialists you'll hear: </a:t>
            </a:r>
            <a:r>
              <a:rPr b="1" lang="en-US" sz="1400"/>
              <a:t>Enso</a:t>
            </a:r>
            <a:r>
              <a:rPr lang="en-US" sz="1400"/>
              <a:t> on the vacation-rental and boutique side, </a:t>
            </a:r>
            <a:r>
              <a:rPr b="1" lang="en-US" sz="1400"/>
              <a:t>Kipsu</a:t>
            </a:r>
            <a:r>
              <a:rPr lang="en-US" sz="1400"/>
              <a:t> with hotels. </a:t>
            </a:r>
            <a:br>
              <a:rPr lang="en-US" sz="1400"/>
            </a:br>
            <a:br>
              <a:rPr lang="en-US" sz="1400"/>
            </a:br>
            <a:r>
              <a:rPr b="1" lang="en-US" sz="1400"/>
              <a:t>And two suites that have messaging built in</a:t>
            </a:r>
            <a:r>
              <a:rPr lang="en-US" sz="1400"/>
              <a:t>, Mews and Guesty, so an owner on either may never buy a separate tool.</a:t>
            </a:r>
            <a:br>
              <a:rPr lang="en-US" sz="1400"/>
            </a:br>
            <a:br>
              <a:rPr lang="en-US" sz="1400"/>
            </a:br>
            <a:r>
              <a:rPr b="1" lang="en-US" sz="1400"/>
              <a:t>Why the owner cares</a:t>
            </a:r>
            <a:r>
              <a:rPr lang="en-US" sz="1400"/>
              <a:t>: at fifty rooms you can't personally text every guest, and this is how the place keeps feeling personal as it grows. And that first window, before arrival, is the moment a guest is most excited and most open to adding something.</a:t>
            </a:r>
            <a:br>
              <a:rPr lang="en-US" sz="1400"/>
            </a:br>
            <a:br>
              <a:rPr lang="en-US" sz="1400"/>
            </a:br>
            <a:r>
              <a:rPr b="1" lang="en-US" sz="1400"/>
              <a:t>On a call</a:t>
            </a:r>
            <a:r>
              <a:rPr lang="en-US" sz="1400"/>
              <a:t>: "Your guest messaging tool is a good place to offer upgrades before arrival."</a:t>
            </a:r>
            <a:endParaRPr sz="1400"/>
          </a:p>
        </p:txBody>
      </p:sp>
      <p:sp>
        <p:nvSpPr>
          <p:cNvPr id="1606" name="Google Shape;1606;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6" name="Shape 1646"/>
        <p:cNvGrpSpPr/>
        <p:nvPr/>
      </p:nvGrpSpPr>
      <p:grpSpPr>
        <a:xfrm>
          <a:off x="0" y="0"/>
          <a:ext cx="0" cy="0"/>
          <a:chOff x="0" y="0"/>
          <a:chExt cx="0" cy="0"/>
        </a:xfrm>
      </p:grpSpPr>
      <p:sp>
        <p:nvSpPr>
          <p:cNvPr id="1647" name="Google Shape;1647;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8" name="Google Shape;1648;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sz="1400"/>
              <a:t>KYLE</a:t>
            </a:r>
            <a:br>
              <a:rPr b="1" lang="en-US" sz="1400"/>
            </a:br>
            <a:br>
              <a:rPr lang="en-US" sz="1400"/>
            </a:br>
            <a:r>
              <a:rPr b="1" lang="en-US" sz="1400"/>
              <a:t>Last category: upsell tools - </a:t>
            </a:r>
            <a:r>
              <a:rPr lang="en-US" sz="1400"/>
              <a:t>An upsell is an extra sold alongside the stay: breakfast, a late checkout, a better room. </a:t>
            </a:r>
            <a:br>
              <a:rPr lang="en-US" sz="1400"/>
            </a:br>
            <a:br>
              <a:rPr lang="en-US" sz="1400"/>
            </a:br>
            <a:r>
              <a:rPr lang="en-US" sz="1400"/>
              <a:t>An upsell tool sells it automatically. A few days before check-in it emails or texts the guest: "upgrade to the lake view for $40 a night?" </a:t>
            </a:r>
            <a:br>
              <a:rPr lang="en-US" sz="1400"/>
            </a:br>
            <a:br>
              <a:rPr lang="en-US" sz="1400"/>
            </a:br>
            <a:r>
              <a:rPr lang="en-US" sz="1400"/>
              <a:t>At arrival, it offers a late checkout. The guest taps yes, the charge goes on their bill, and nobody at the front desk had to sell anything.</a:t>
            </a:r>
            <a:br>
              <a:rPr lang="en-US" sz="1400"/>
            </a:br>
            <a:br>
              <a:rPr lang="en-US" sz="1400"/>
            </a:br>
            <a:r>
              <a:rPr b="1" lang="en-US" sz="1400"/>
              <a:t>Oaky</a:t>
            </a:r>
            <a:r>
              <a:rPr lang="en-US" sz="1400"/>
              <a:t> is the name you'll hear most; it's part of Plusgrade now, and </a:t>
            </a:r>
            <a:r>
              <a:rPr b="1" lang="en-US" sz="1400"/>
              <a:t>Plusgrade</a:t>
            </a:r>
            <a:r>
              <a:rPr lang="en-US" sz="1400"/>
              <a:t> itself does upgrades for and hotels. </a:t>
            </a:r>
            <a:r>
              <a:rPr b="1" lang="en-US" sz="1400"/>
              <a:t>Nor1</a:t>
            </a:r>
            <a:r>
              <a:rPr lang="en-US" sz="1400"/>
              <a:t> is Oracle's, so it travels with OPERA. </a:t>
            </a:r>
            <a:r>
              <a:rPr b="1" lang="en-US" sz="1400"/>
              <a:t>UpsellGuru</a:t>
            </a:r>
            <a:r>
              <a:rPr lang="en-US" sz="1400"/>
              <a:t> is the other specialist. </a:t>
            </a:r>
            <a:br>
              <a:rPr lang="en-US" sz="1400"/>
            </a:br>
            <a:br>
              <a:rPr lang="en-US" sz="1400"/>
            </a:br>
            <a:r>
              <a:rPr b="1" lang="en-US" sz="1400"/>
              <a:t>And three names from the last slide, Canary, Duve and Enso Connect</a:t>
            </a:r>
            <a:r>
              <a:rPr lang="en-US" sz="1400"/>
              <a:t>, because messaging tools sell upsells too; some platforms do both jobs.</a:t>
            </a:r>
            <a:br>
              <a:rPr lang="en-US" sz="1400"/>
            </a:br>
            <a:br>
              <a:rPr lang="en-US" sz="1400"/>
            </a:br>
            <a:r>
              <a:rPr b="1" lang="en-US" sz="1400"/>
              <a:t>Why the owner cares</a:t>
            </a:r>
            <a:r>
              <a:rPr lang="en-US" sz="1400"/>
              <a:t>: this is ancillary revenue from session 1, on autopilot. Guests who've already chosen the place are the easiest people in the world to sell to, and the tool asks every one of them, politely, at the right moment.</a:t>
            </a:r>
            <a:br>
              <a:rPr lang="en-US" sz="1400"/>
            </a:br>
            <a:br>
              <a:rPr lang="en-US" sz="1400"/>
            </a:br>
            <a:r>
              <a:rPr b="1" lang="en-US" sz="1400"/>
              <a:t>On a call</a:t>
            </a:r>
            <a:r>
              <a:rPr lang="en-US" sz="1400"/>
              <a:t>: "An upsell tool can offer a room upgrade automatically a few days before check-in."</a:t>
            </a:r>
            <a:endParaRPr sz="1400"/>
          </a:p>
        </p:txBody>
      </p:sp>
      <p:sp>
        <p:nvSpPr>
          <p:cNvPr id="1649" name="Google Shape;1649;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9" name="Shape 1689"/>
        <p:cNvGrpSpPr/>
        <p:nvPr/>
      </p:nvGrpSpPr>
      <p:grpSpPr>
        <a:xfrm>
          <a:off x="0" y="0"/>
          <a:ext cx="0" cy="0"/>
          <a:chOff x="0" y="0"/>
          <a:chExt cx="0" cy="0"/>
        </a:xfrm>
      </p:grpSpPr>
      <p:sp>
        <p:nvSpPr>
          <p:cNvPr id="1690" name="Google Shape;1690;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1" name="Google Shape;1691;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NICOLE</a:t>
            </a:r>
            <a:br>
              <a:rPr lang="en-US"/>
            </a:br>
            <a:r>
              <a:rPr lang="en-US"/>
              <a:t>Here's the code. Point your phone's camera at it and tap the link that pops up. If it asks you to sign in, use your HGM Google account. On the call, the same link is in the meeting chat.</a:t>
            </a:r>
            <a:br>
              <a:rPr lang="en-US"/>
            </a:br>
            <a:br>
              <a:rPr lang="en-US"/>
            </a:br>
            <a:r>
              <a:rPr lang="en-US"/>
              <a:t>I'll leave this up while everyone gets in. Hands up when you can see round one on your screen, and we'll start the clock.</a:t>
            </a:r>
            <a:endParaRPr/>
          </a:p>
        </p:txBody>
      </p:sp>
      <p:sp>
        <p:nvSpPr>
          <p:cNvPr id="1692" name="Google Shape;1692;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8" name="Shape 1708"/>
        <p:cNvGrpSpPr/>
        <p:nvPr/>
      </p:nvGrpSpPr>
      <p:grpSpPr>
        <a:xfrm>
          <a:off x="0" y="0"/>
          <a:ext cx="0" cy="0"/>
          <a:chOff x="0" y="0"/>
          <a:chExt cx="0" cy="0"/>
        </a:xfrm>
      </p:grpSpPr>
      <p:sp>
        <p:nvSpPr>
          <p:cNvPr id="1709" name="Google Shape;1709;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0" name="Google Shape;1710;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sz="1400"/>
              <a:t>KYLE</a:t>
            </a:r>
            <a:br>
              <a:rPr lang="en-US" sz="1400"/>
            </a:br>
            <a:r>
              <a:rPr lang="en-US" sz="1400"/>
              <a:t>Here's what you have, and where it lives. One address for all of it: hgmportal.com, with your HGM Google account.</a:t>
            </a:r>
            <a:br>
              <a:rPr lang="en-US" sz="1400"/>
            </a:br>
            <a:br>
              <a:rPr lang="en-US" sz="1400"/>
            </a:br>
            <a:r>
              <a:rPr b="1" lang="en-US" sz="1400"/>
              <a:t>The dictionary</a:t>
            </a:r>
            <a:r>
              <a:rPr lang="en-US" sz="1400"/>
              <a:t>: Start typing and the term opens in full. </a:t>
            </a:r>
            <a:br>
              <a:rPr lang="en-US" sz="1400"/>
            </a:br>
            <a:br>
              <a:rPr lang="en-US" sz="1400"/>
            </a:br>
            <a:r>
              <a:rPr b="1" lang="en-US" sz="1400"/>
              <a:t>The term check</a:t>
            </a:r>
            <a:r>
              <a:rPr lang="en-US" sz="1400"/>
              <a:t> </a:t>
            </a:r>
            <a:r>
              <a:rPr b="1" lang="en-US" sz="1400"/>
              <a:t>and term practice</a:t>
            </a:r>
            <a:br>
              <a:rPr lang="en-US" sz="1400"/>
            </a:br>
            <a:br>
              <a:rPr lang="en-US" sz="1400"/>
            </a:br>
            <a:r>
              <a:rPr lang="en-US" sz="1400"/>
              <a:t>Here's how it works. You do the check, closed book, on your own. When you finish, you get a score; you get a list: the terms you need another look at. Each one links to its entry on the portal, and to the practice mode, so you can practise just those. Then you retake just those terms, with fresh questions. The aim is to shrink the list to zero. An empty list means you're ready for the call.</a:t>
            </a:r>
            <a:br>
              <a:rPr lang="en-US" sz="1400"/>
            </a:br>
            <a:br>
              <a:rPr lang="en-US" sz="1400"/>
            </a:br>
            <a:r>
              <a:rPr b="1" lang="en-US" sz="1400"/>
              <a:t>The</a:t>
            </a:r>
            <a:r>
              <a:rPr b="1" lang="en-US" sz="1400"/>
              <a:t> tool check and a tool practice</a:t>
            </a:r>
            <a:br>
              <a:rPr lang="en-US" sz="1400"/>
            </a:br>
            <a:br>
              <a:rPr lang="en-US" sz="1400"/>
            </a:br>
            <a:r>
              <a:rPr b="1" lang="en-US" sz="1400"/>
              <a:t>Then the PDFs</a:t>
            </a:r>
            <a:r>
              <a:rPr lang="en-US" sz="1400"/>
              <a:t>: the call cheat sheet, one page, thirty terms, what it is, why the owner cares, what to say, what to ask; </a:t>
            </a:r>
            <a:endParaRPr sz="1400"/>
          </a:p>
          <a:p>
            <a:pPr indent="0" lvl="0" marL="0" rtl="0" algn="l">
              <a:lnSpc>
                <a:spcPct val="100000"/>
              </a:lnSpc>
              <a:spcBef>
                <a:spcPts val="0"/>
              </a:spcBef>
              <a:spcAft>
                <a:spcPts val="0"/>
              </a:spcAft>
              <a:buSzPts val="1400"/>
              <a:buNone/>
            </a:pPr>
            <a:r>
              <a:rPr lang="en-US" sz="1400"/>
              <a:t>The Client Tech Stack Guide, every name from today by box, with a question to ask about each one. You'll be able to read them in the portal.</a:t>
            </a:r>
            <a:br>
              <a:rPr lang="en-US" sz="1400"/>
            </a:br>
            <a:r>
              <a:rPr lang="en-US" sz="1400"/>
              <a:t>And of course the PDF version of the dictionary</a:t>
            </a:r>
            <a:br>
              <a:rPr lang="en-US" sz="1400"/>
            </a:br>
            <a:br>
              <a:rPr lang="en-US" sz="1400"/>
            </a:br>
            <a:r>
              <a:rPr b="1" lang="en-US" sz="1400"/>
              <a:t>One ask</a:t>
            </a:r>
            <a:r>
              <a:rPr lang="en-US" sz="1400"/>
              <a:t>: bookmark the dictionary page where you take calls, so it's one click away.</a:t>
            </a:r>
            <a:endParaRPr sz="1400"/>
          </a:p>
        </p:txBody>
      </p:sp>
      <p:sp>
        <p:nvSpPr>
          <p:cNvPr id="1711" name="Google Shape;1711;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2" name="Shape 1742"/>
        <p:cNvGrpSpPr/>
        <p:nvPr/>
      </p:nvGrpSpPr>
      <p:grpSpPr>
        <a:xfrm>
          <a:off x="0" y="0"/>
          <a:ext cx="0" cy="0"/>
          <a:chOff x="0" y="0"/>
          <a:chExt cx="0" cy="0"/>
        </a:xfrm>
      </p:grpSpPr>
      <p:sp>
        <p:nvSpPr>
          <p:cNvPr id="1743" name="Google Shape;1743;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4" name="Google Shape;1744;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NICOLE</a:t>
            </a:r>
            <a:br>
              <a:rPr lang="en-US"/>
            </a:br>
            <a:r>
              <a:rPr lang="en-US"/>
              <a:t>Okay, and that brings us to the end of session two, and of Industry Acumen, Hotel and Resort Terminology. Thirty terms over two Wednesdays.</a:t>
            </a:r>
            <a:br>
              <a:rPr lang="en-US"/>
            </a:br>
            <a:br>
              <a:rPr lang="en-US"/>
            </a:br>
            <a:r>
              <a:rPr b="1" lang="en-US"/>
              <a:t>Three things to take with you. One:</a:t>
            </a:r>
            <a:r>
              <a:rPr lang="en-US"/>
              <a:t> don't know a term? Ask which they mean, then open the dictionary page. </a:t>
            </a:r>
            <a:endParaRPr/>
          </a:p>
          <a:p>
            <a:pPr indent="0" lvl="0" marL="0" rtl="0" algn="l">
              <a:lnSpc>
                <a:spcPct val="100000"/>
              </a:lnSpc>
              <a:spcBef>
                <a:spcPts val="0"/>
              </a:spcBef>
              <a:spcAft>
                <a:spcPts val="0"/>
              </a:spcAft>
              <a:buSzPts val="1400"/>
              <a:buNone/>
            </a:pPr>
            <a:r>
              <a:rPr b="1" lang="en-US"/>
              <a:t>Two</a:t>
            </a:r>
            <a:r>
              <a:rPr lang="en-US"/>
              <a:t>: ask one question from these two sessions on your next owner call. "Which PMS are you on?" Any one.</a:t>
            </a:r>
            <a:br>
              <a:rPr lang="en-US"/>
            </a:b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b="1" lang="en-US" sz="1400"/>
              <a:t>KYLE</a:t>
            </a:r>
            <a:br>
              <a:rPr b="1" lang="en-US" sz="1400"/>
            </a:br>
            <a:br>
              <a:rPr b="1" lang="en-US" sz="1400"/>
            </a:br>
            <a:r>
              <a:rPr b="1" lang="en-US" sz="1400"/>
              <a:t>Three</a:t>
            </a:r>
            <a:r>
              <a:rPr lang="en-US" sz="1400"/>
              <a:t>:  I'm adding a term a day to my daily update, for the foreseeable future. It's small, it's near the end, and it will keep these terms fresh in your mind. </a:t>
            </a:r>
            <a:endParaRPr sz="1400"/>
          </a:p>
          <a:p>
            <a:pPr indent="0" lvl="0" marL="0" rtl="0" algn="l">
              <a:lnSpc>
                <a:spcPct val="100000"/>
              </a:lnSpc>
              <a:spcBef>
                <a:spcPts val="0"/>
              </a:spcBef>
              <a:spcAft>
                <a:spcPts val="0"/>
              </a:spcAft>
              <a:buSzPts val="1400"/>
              <a:buNone/>
            </a:pPr>
            <a:br>
              <a:rPr lang="en-US"/>
            </a:br>
            <a:endParaRPr/>
          </a:p>
          <a:p>
            <a:pPr indent="0" lvl="0" marL="0" rtl="0" algn="l">
              <a:lnSpc>
                <a:spcPct val="100000"/>
              </a:lnSpc>
              <a:spcBef>
                <a:spcPts val="0"/>
              </a:spcBef>
              <a:spcAft>
                <a:spcPts val="0"/>
              </a:spcAft>
              <a:buSzPts val="1400"/>
              <a:buNone/>
            </a:pPr>
            <a:r>
              <a:rPr b="1" lang="en-US"/>
              <a:t>NICOLE</a:t>
            </a:r>
            <a:br>
              <a:rPr b="1" lang="en-US"/>
            </a:br>
            <a:br>
              <a:rPr lang="en-US"/>
            </a:br>
            <a:r>
              <a:rPr lang="en-US"/>
              <a:t>Two Wednesdays ago most of us couldn't have told you what RevPAR was. Now we can ask an owner how October's pacing, and mean it. We're ready for the calls before they start.</a:t>
            </a:r>
            <a:br>
              <a:rPr lang="en-US"/>
            </a:br>
            <a:br>
              <a:rPr lang="en-US"/>
            </a:br>
            <a:r>
              <a:rPr lang="en-US"/>
              <a:t>The say-this lines are suggestions, not scripts, and nothing here is a new requirement. Thank you, everybody. Questions, while Nicole and I are both up here.</a:t>
            </a:r>
            <a:endParaRPr/>
          </a:p>
        </p:txBody>
      </p:sp>
      <p:sp>
        <p:nvSpPr>
          <p:cNvPr id="1745" name="Google Shape;1745;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5.png"/><Relationship Id="rId6" Type="http://schemas.openxmlformats.org/officeDocument/2006/relationships/image" Target="../media/image12.png"/><Relationship Id="rId7"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9.png"/><Relationship Id="rId6"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10.png"/><Relationship Id="rId6" Type="http://schemas.openxmlformats.org/officeDocument/2006/relationships/image" Target="../media/image13.png"/><Relationship Id="rId7"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19.png"/><Relationship Id="rId6" Type="http://schemas.openxmlformats.org/officeDocument/2006/relationships/image" Target="../media/image14.png"/><Relationship Id="rId7"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19.png"/><Relationship Id="rId6" Type="http://schemas.openxmlformats.org/officeDocument/2006/relationships/image" Target="../media/image14.png"/><Relationship Id="rId7" Type="http://schemas.openxmlformats.org/officeDocument/2006/relationships/image" Target="../media/image23.png"/><Relationship Id="rId8"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19.png"/><Relationship Id="rId6" Type="http://schemas.openxmlformats.org/officeDocument/2006/relationships/image" Target="../media/image14.png"/><Relationship Id="rId7" Type="http://schemas.openxmlformats.org/officeDocument/2006/relationships/image" Target="../media/image25.png"/><Relationship Id="rId8"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19.png"/><Relationship Id="rId6" Type="http://schemas.openxmlformats.org/officeDocument/2006/relationships/image" Target="../media/image14.png"/><Relationship Id="rId7" Type="http://schemas.openxmlformats.org/officeDocument/2006/relationships/image" Target="../media/image23.png"/><Relationship Id="rId8"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4.png"/><Relationship Id="rId4" Type="http://schemas.openxmlformats.org/officeDocument/2006/relationships/image" Target="../media/image22.png"/><Relationship Id="rId5"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1.png"/><Relationship Id="rId5"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1.png"/><Relationship Id="rId5"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1.png"/><Relationship Id="rId5"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1.png"/><Relationship Id="rId5"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8.png"/><Relationship Id="rId5" Type="http://schemas.openxmlformats.org/officeDocument/2006/relationships/image" Target="../media/image37.png"/><Relationship Id="rId6" Type="http://schemas.openxmlformats.org/officeDocument/2006/relationships/image" Target="../media/image26.png"/><Relationship Id="rId7" Type="http://schemas.openxmlformats.org/officeDocument/2006/relationships/image" Target="../media/image30.png"/><Relationship Id="rId8"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19.png"/><Relationship Id="rId6" Type="http://schemas.openxmlformats.org/officeDocument/2006/relationships/image" Target="../media/image14.png"/><Relationship Id="rId7" Type="http://schemas.openxmlformats.org/officeDocument/2006/relationships/image" Target="../media/image23.png"/><Relationship Id="rId8"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19.png"/><Relationship Id="rId6" Type="http://schemas.openxmlformats.org/officeDocument/2006/relationships/image" Target="../media/image14.png"/><Relationship Id="rId7" Type="http://schemas.openxmlformats.org/officeDocument/2006/relationships/image" Target="../media/image31.png"/><Relationship Id="rId8" Type="http://schemas.openxmlformats.org/officeDocument/2006/relationships/image" Target="../media/image3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19.png"/><Relationship Id="rId6" Type="http://schemas.openxmlformats.org/officeDocument/2006/relationships/image" Target="../media/image14.png"/><Relationship Id="rId7" Type="http://schemas.openxmlformats.org/officeDocument/2006/relationships/image" Target="../media/image33.png"/><Relationship Id="rId8" Type="http://schemas.openxmlformats.org/officeDocument/2006/relationships/image" Target="../media/image2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19.png"/><Relationship Id="rId6"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19.png"/><Relationship Id="rId6"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9.png"/><Relationship Id="rId4" Type="http://schemas.openxmlformats.org/officeDocument/2006/relationships/image" Target="../media/image22.png"/><Relationship Id="rId5"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3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38.png"/><Relationship Id="rId5"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38.png"/><Relationship Id="rId5"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 Id="rId4" Type="http://schemas.openxmlformats.org/officeDocument/2006/relationships/image" Target="../media/image38.png"/><Relationship Id="rId5"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image" Target="../media/image3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 Id="rId4" Type="http://schemas.openxmlformats.org/officeDocument/2006/relationships/image" Target="../media/image38.png"/><Relationship Id="rId5"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png"/><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image" Target="../media/image38.png"/><Relationship Id="rId5"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png"/><Relationship Id="rId4" Type="http://schemas.openxmlformats.org/officeDocument/2006/relationships/image" Target="../media/image35.png"/><Relationship Id="rId5" Type="http://schemas.openxmlformats.org/officeDocument/2006/relationships/image" Target="../media/image40.png"/><Relationship Id="rId6" Type="http://schemas.openxmlformats.org/officeDocument/2006/relationships/image" Target="../media/image34.png"/><Relationship Id="rId7" Type="http://schemas.openxmlformats.org/officeDocument/2006/relationships/image" Target="../media/image36.png"/><Relationship Id="rId8" Type="http://schemas.openxmlformats.org/officeDocument/2006/relationships/image" Target="../media/image4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png"/><Relationship Id="rId4" Type="http://schemas.openxmlformats.org/officeDocument/2006/relationships/image" Target="../media/image41.png"/><Relationship Id="rId11" Type="http://schemas.openxmlformats.org/officeDocument/2006/relationships/image" Target="../media/image53.png"/><Relationship Id="rId10" Type="http://schemas.openxmlformats.org/officeDocument/2006/relationships/image" Target="../media/image57.png"/><Relationship Id="rId9" Type="http://schemas.openxmlformats.org/officeDocument/2006/relationships/image" Target="../media/image56.png"/><Relationship Id="rId5" Type="http://schemas.openxmlformats.org/officeDocument/2006/relationships/image" Target="../media/image43.png"/><Relationship Id="rId6" Type="http://schemas.openxmlformats.org/officeDocument/2006/relationships/image" Target="../media/image46.png"/><Relationship Id="rId7" Type="http://schemas.openxmlformats.org/officeDocument/2006/relationships/image" Target="../media/image45.png"/><Relationship Id="rId8" Type="http://schemas.openxmlformats.org/officeDocument/2006/relationships/image" Target="../media/image5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png"/><Relationship Id="rId4" Type="http://schemas.openxmlformats.org/officeDocument/2006/relationships/image" Target="../media/image44.png"/><Relationship Id="rId11" Type="http://schemas.openxmlformats.org/officeDocument/2006/relationships/image" Target="../media/image47.png"/><Relationship Id="rId10" Type="http://schemas.openxmlformats.org/officeDocument/2006/relationships/image" Target="../media/image51.png"/><Relationship Id="rId9" Type="http://schemas.openxmlformats.org/officeDocument/2006/relationships/image" Target="../media/image53.png"/><Relationship Id="rId5" Type="http://schemas.openxmlformats.org/officeDocument/2006/relationships/image" Target="../media/image46.png"/><Relationship Id="rId6" Type="http://schemas.openxmlformats.org/officeDocument/2006/relationships/image" Target="../media/image55.png"/><Relationship Id="rId7" Type="http://schemas.openxmlformats.org/officeDocument/2006/relationships/image" Target="../media/image52.png"/><Relationship Id="rId8" Type="http://schemas.openxmlformats.org/officeDocument/2006/relationships/image" Target="../media/image4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png"/><Relationship Id="rId4" Type="http://schemas.openxmlformats.org/officeDocument/2006/relationships/image" Target="../media/image54.png"/><Relationship Id="rId11" Type="http://schemas.openxmlformats.org/officeDocument/2006/relationships/image" Target="../media/image50.png"/><Relationship Id="rId10" Type="http://schemas.openxmlformats.org/officeDocument/2006/relationships/image" Target="../media/image47.png"/><Relationship Id="rId9" Type="http://schemas.openxmlformats.org/officeDocument/2006/relationships/image" Target="../media/image55.png"/><Relationship Id="rId5" Type="http://schemas.openxmlformats.org/officeDocument/2006/relationships/image" Target="../media/image49.png"/><Relationship Id="rId6" Type="http://schemas.openxmlformats.org/officeDocument/2006/relationships/image" Target="../media/image44.png"/><Relationship Id="rId7" Type="http://schemas.openxmlformats.org/officeDocument/2006/relationships/image" Target="../media/image46.png"/><Relationship Id="rId8" Type="http://schemas.openxmlformats.org/officeDocument/2006/relationships/image" Target="../media/image4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png"/><Relationship Id="rId4" Type="http://schemas.openxmlformats.org/officeDocument/2006/relationships/image" Target="../media/image59.png"/><Relationship Id="rId11" Type="http://schemas.openxmlformats.org/officeDocument/2006/relationships/image" Target="../media/image46.png"/><Relationship Id="rId10" Type="http://schemas.openxmlformats.org/officeDocument/2006/relationships/image" Target="../media/image64.png"/><Relationship Id="rId9" Type="http://schemas.openxmlformats.org/officeDocument/2006/relationships/image" Target="../media/image65.png"/><Relationship Id="rId5" Type="http://schemas.openxmlformats.org/officeDocument/2006/relationships/image" Target="../media/image63.png"/><Relationship Id="rId6" Type="http://schemas.openxmlformats.org/officeDocument/2006/relationships/image" Target="../media/image62.png"/><Relationship Id="rId7" Type="http://schemas.openxmlformats.org/officeDocument/2006/relationships/image" Target="../media/image58.png"/><Relationship Id="rId8" Type="http://schemas.openxmlformats.org/officeDocument/2006/relationships/image" Target="../media/image6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png"/><Relationship Id="rId4" Type="http://schemas.openxmlformats.org/officeDocument/2006/relationships/image" Target="../media/image72.png"/><Relationship Id="rId11" Type="http://schemas.openxmlformats.org/officeDocument/2006/relationships/image" Target="../media/image59.png"/><Relationship Id="rId10" Type="http://schemas.openxmlformats.org/officeDocument/2006/relationships/image" Target="../media/image46.png"/><Relationship Id="rId9" Type="http://schemas.openxmlformats.org/officeDocument/2006/relationships/image" Target="../media/image49.png"/><Relationship Id="rId5" Type="http://schemas.openxmlformats.org/officeDocument/2006/relationships/image" Target="../media/image48.png"/><Relationship Id="rId6" Type="http://schemas.openxmlformats.org/officeDocument/2006/relationships/image" Target="../media/image74.png"/><Relationship Id="rId7" Type="http://schemas.openxmlformats.org/officeDocument/2006/relationships/image" Target="../media/image66.png"/><Relationship Id="rId8" Type="http://schemas.openxmlformats.org/officeDocument/2006/relationships/image" Target="../media/image7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png"/><Relationship Id="rId4" Type="http://schemas.openxmlformats.org/officeDocument/2006/relationships/image" Target="../media/image68.png"/><Relationship Id="rId11" Type="http://schemas.openxmlformats.org/officeDocument/2006/relationships/image" Target="../media/image46.png"/><Relationship Id="rId10" Type="http://schemas.openxmlformats.org/officeDocument/2006/relationships/image" Target="../media/image71.png"/><Relationship Id="rId9" Type="http://schemas.openxmlformats.org/officeDocument/2006/relationships/image" Target="../media/image83.png"/><Relationship Id="rId5" Type="http://schemas.openxmlformats.org/officeDocument/2006/relationships/image" Target="../media/image69.png"/><Relationship Id="rId6" Type="http://schemas.openxmlformats.org/officeDocument/2006/relationships/image" Target="../media/image61.png"/><Relationship Id="rId7" Type="http://schemas.openxmlformats.org/officeDocument/2006/relationships/image" Target="../media/image67.png"/><Relationship Id="rId8" Type="http://schemas.openxmlformats.org/officeDocument/2006/relationships/image" Target="../media/image7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png"/><Relationship Id="rId4" Type="http://schemas.openxmlformats.org/officeDocument/2006/relationships/image" Target="../media/image77.png"/><Relationship Id="rId11" Type="http://schemas.openxmlformats.org/officeDocument/2006/relationships/image" Target="../media/image53.png"/><Relationship Id="rId10" Type="http://schemas.openxmlformats.org/officeDocument/2006/relationships/image" Target="../media/image41.png"/><Relationship Id="rId9" Type="http://schemas.openxmlformats.org/officeDocument/2006/relationships/image" Target="../media/image76.png"/><Relationship Id="rId5" Type="http://schemas.openxmlformats.org/officeDocument/2006/relationships/image" Target="../media/image89.png"/><Relationship Id="rId6" Type="http://schemas.openxmlformats.org/officeDocument/2006/relationships/image" Target="../media/image82.png"/><Relationship Id="rId7" Type="http://schemas.openxmlformats.org/officeDocument/2006/relationships/image" Target="../media/image75.png"/><Relationship Id="rId8" Type="http://schemas.openxmlformats.org/officeDocument/2006/relationships/image" Target="../media/image7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png"/><Relationship Id="rId4" Type="http://schemas.openxmlformats.org/officeDocument/2006/relationships/image" Target="../media/image84.png"/><Relationship Id="rId11" Type="http://schemas.openxmlformats.org/officeDocument/2006/relationships/image" Target="../media/image41.png"/><Relationship Id="rId10" Type="http://schemas.openxmlformats.org/officeDocument/2006/relationships/image" Target="../media/image71.png"/><Relationship Id="rId9" Type="http://schemas.openxmlformats.org/officeDocument/2006/relationships/image" Target="../media/image77.png"/><Relationship Id="rId5" Type="http://schemas.openxmlformats.org/officeDocument/2006/relationships/image" Target="../media/image80.png"/><Relationship Id="rId6" Type="http://schemas.openxmlformats.org/officeDocument/2006/relationships/image" Target="../media/image81.png"/><Relationship Id="rId7" Type="http://schemas.openxmlformats.org/officeDocument/2006/relationships/image" Target="../media/image86.png"/><Relationship Id="rId8" Type="http://schemas.openxmlformats.org/officeDocument/2006/relationships/image" Target="../media/image8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79.png"/><Relationship Id="rId4" Type="http://schemas.openxmlformats.org/officeDocument/2006/relationships/image" Target="../media/image90.png"/><Relationship Id="rId5" Type="http://schemas.openxmlformats.org/officeDocument/2006/relationships/image" Target="../media/image88.png"/><Relationship Id="rId6" Type="http://schemas.openxmlformats.org/officeDocument/2006/relationships/image" Target="../media/image8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png"/><Relationship Id="rId4" Type="http://schemas.openxmlformats.org/officeDocument/2006/relationships/image" Target="../media/image33.png"/><Relationship Id="rId5" Type="http://schemas.openxmlformats.org/officeDocument/2006/relationships/image" Target="../media/image11.png"/><Relationship Id="rId6" Type="http://schemas.openxmlformats.org/officeDocument/2006/relationships/image" Target="../media/image78.png"/><Relationship Id="rId7" Type="http://schemas.openxmlformats.org/officeDocument/2006/relationships/image" Target="../media/image35.png"/><Relationship Id="rId8" Type="http://schemas.openxmlformats.org/officeDocument/2006/relationships/image" Target="../media/image8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5" name="Shape 15"/>
        <p:cNvGrpSpPr/>
        <p:nvPr/>
      </p:nvGrpSpPr>
      <p:grpSpPr>
        <a:xfrm>
          <a:off x="0" y="0"/>
          <a:ext cx="0" cy="0"/>
          <a:chOff x="0" y="0"/>
          <a:chExt cx="0" cy="0"/>
        </a:xfrm>
      </p:grpSpPr>
      <p:pic>
        <p:nvPicPr>
          <p:cNvPr descr="/home/claude/work/renderer/brand/mark.png" id="16" name="Google Shape;16;p3"/>
          <p:cNvPicPr preferRelativeResize="0"/>
          <p:nvPr/>
        </p:nvPicPr>
        <p:blipFill rotWithShape="1">
          <a:blip r:embed="rId3">
            <a:alphaModFix/>
          </a:blip>
          <a:srcRect b="0" l="0" r="0" t="0"/>
          <a:stretch/>
        </p:blipFill>
        <p:spPr>
          <a:xfrm>
            <a:off x="548640" y="530352"/>
            <a:ext cx="454457" cy="420624"/>
          </a:xfrm>
          <a:prstGeom prst="rect">
            <a:avLst/>
          </a:prstGeom>
          <a:noFill/>
          <a:ln>
            <a:noFill/>
          </a:ln>
        </p:spPr>
      </p:pic>
      <p:sp>
        <p:nvSpPr>
          <p:cNvPr id="17" name="Google Shape;17;p3"/>
          <p:cNvSpPr txBox="1"/>
          <p:nvPr/>
        </p:nvSpPr>
        <p:spPr>
          <a:xfrm>
            <a:off x="1097280" y="530352"/>
            <a:ext cx="3200400" cy="42062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HiddenGem Media</a:t>
            </a:r>
            <a:endParaRPr b="0" i="0" sz="1400" u="none" cap="none" strike="noStrike">
              <a:solidFill>
                <a:schemeClr val="dk1"/>
              </a:solidFill>
              <a:latin typeface="Calibri"/>
              <a:ea typeface="Calibri"/>
              <a:cs typeface="Calibri"/>
              <a:sym typeface="Calibri"/>
            </a:endParaRPr>
          </a:p>
        </p:txBody>
      </p:sp>
      <p:sp>
        <p:nvSpPr>
          <p:cNvPr id="18" name="Google Shape;18;p3"/>
          <p:cNvSpPr txBox="1"/>
          <p:nvPr/>
        </p:nvSpPr>
        <p:spPr>
          <a:xfrm>
            <a:off x="7498080" y="530352"/>
            <a:ext cx="4142232" cy="420624"/>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737373"/>
              </a:buClr>
              <a:buSzPts val="1000"/>
              <a:buFont typeface="Roboto Mono"/>
              <a:buNone/>
            </a:pPr>
            <a:r>
              <a:rPr b="0" i="0" lang="en-US" sz="1000" u="none" cap="none" strike="noStrike">
                <a:solidFill>
                  <a:srgbClr val="737373"/>
                </a:solidFill>
                <a:latin typeface="Roboto Mono"/>
                <a:ea typeface="Roboto Mono"/>
                <a:cs typeface="Roboto Mono"/>
                <a:sym typeface="Roboto Mono"/>
              </a:rPr>
              <a:t>HOW TO SPEAK OUR ICP'S LANGUAGE</a:t>
            </a:r>
            <a:endParaRPr b="0" i="0" sz="1000" u="none" cap="none" strike="noStrike">
              <a:solidFill>
                <a:schemeClr val="dk1"/>
              </a:solidFill>
              <a:latin typeface="Calibri"/>
              <a:ea typeface="Calibri"/>
              <a:cs typeface="Calibri"/>
              <a:sym typeface="Calibri"/>
            </a:endParaRPr>
          </a:p>
        </p:txBody>
      </p:sp>
      <p:pic>
        <p:nvPicPr>
          <p:cNvPr descr="/home/claude/work/renderer/assets/hero-message-chat.png" id="19" name="Google Shape;19;p3"/>
          <p:cNvPicPr preferRelativeResize="0"/>
          <p:nvPr/>
        </p:nvPicPr>
        <p:blipFill rotWithShape="1">
          <a:blip r:embed="rId4">
            <a:alphaModFix/>
          </a:blip>
          <a:srcRect b="0" l="0" r="0" t="0"/>
          <a:stretch/>
        </p:blipFill>
        <p:spPr>
          <a:xfrm>
            <a:off x="8321040" y="1920240"/>
            <a:ext cx="3291840" cy="3291840"/>
          </a:xfrm>
          <a:prstGeom prst="rect">
            <a:avLst/>
          </a:prstGeom>
          <a:noFill/>
          <a:ln>
            <a:noFill/>
          </a:ln>
        </p:spPr>
      </p:pic>
      <p:sp>
        <p:nvSpPr>
          <p:cNvPr id="20" name="Google Shape;20;p3"/>
          <p:cNvSpPr txBox="1"/>
          <p:nvPr/>
        </p:nvSpPr>
        <p:spPr>
          <a:xfrm>
            <a:off x="548640" y="2148840"/>
            <a:ext cx="7863840" cy="2103120"/>
          </a:xfrm>
          <a:prstGeom prst="rect">
            <a:avLst/>
          </a:prstGeom>
          <a:noFill/>
          <a:ln>
            <a:noFill/>
          </a:ln>
        </p:spPr>
        <p:txBody>
          <a:bodyPr anchorCtr="0" anchor="ctr" bIns="0" lIns="0" spcFirstLastPara="1" rIns="0" wrap="square" tIns="0">
            <a:noAutofit/>
          </a:bodyPr>
          <a:lstStyle/>
          <a:p>
            <a:pPr indent="0" lvl="0" marL="0" marR="0" rtl="0" algn="l">
              <a:lnSpc>
                <a:spcPct val="117999"/>
              </a:lnSpc>
              <a:spcBef>
                <a:spcPts val="0"/>
              </a:spcBef>
              <a:spcAft>
                <a:spcPts val="0"/>
              </a:spcAft>
              <a:buClr>
                <a:srgbClr val="FFFFFF"/>
              </a:buClr>
              <a:buSzPts val="4400"/>
              <a:buFont typeface="Inter"/>
              <a:buNone/>
            </a:pPr>
            <a:r>
              <a:rPr b="1" i="0" lang="en-US" sz="4400" u="none" cap="none" strike="noStrike">
                <a:solidFill>
                  <a:srgbClr val="FFFFFF"/>
                </a:solidFill>
                <a:latin typeface="Inter"/>
                <a:ea typeface="Inter"/>
                <a:cs typeface="Inter"/>
                <a:sym typeface="Inter"/>
              </a:rPr>
              <a:t>Industry Acumen – Hotel &amp; Resort Terminology</a:t>
            </a:r>
            <a:endParaRPr b="0" i="0" sz="4400" u="none" cap="none" strike="noStrike">
              <a:solidFill>
                <a:schemeClr val="dk1"/>
              </a:solidFill>
              <a:latin typeface="Calibri"/>
              <a:ea typeface="Calibri"/>
              <a:cs typeface="Calibri"/>
              <a:sym typeface="Calibri"/>
            </a:endParaRPr>
          </a:p>
        </p:txBody>
      </p:sp>
      <p:sp>
        <p:nvSpPr>
          <p:cNvPr id="21" name="Google Shape;21;p3"/>
          <p:cNvSpPr txBox="1"/>
          <p:nvPr/>
        </p:nvSpPr>
        <p:spPr>
          <a:xfrm>
            <a:off x="548640" y="4343400"/>
            <a:ext cx="6949440" cy="73152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A3A3A3"/>
              </a:buClr>
              <a:buSzPts val="1700"/>
              <a:buFont typeface="Inter"/>
              <a:buNone/>
            </a:pPr>
            <a:r>
              <a:rPr b="0" i="0" lang="en-US" sz="1700" u="none" cap="none" strike="noStrike">
                <a:solidFill>
                  <a:srgbClr val="A3A3A3"/>
                </a:solidFill>
                <a:latin typeface="Inter"/>
                <a:ea typeface="Inter"/>
                <a:cs typeface="Inter"/>
                <a:sym typeface="Inter"/>
              </a:rPr>
              <a:t>Session 2 of 2: fourteen terms in about 60 minutes</a:t>
            </a:r>
            <a:endParaRPr b="0" i="0" sz="1700" u="none" cap="none" strike="noStrike">
              <a:solidFill>
                <a:schemeClr val="dk1"/>
              </a:solidFill>
              <a:latin typeface="Calibri"/>
              <a:ea typeface="Calibri"/>
              <a:cs typeface="Calibri"/>
              <a:sym typeface="Calibri"/>
            </a:endParaRPr>
          </a:p>
        </p:txBody>
      </p:sp>
      <p:sp>
        <p:nvSpPr>
          <p:cNvPr id="22" name="Google Shape;22;p3"/>
          <p:cNvSpPr txBox="1"/>
          <p:nvPr/>
        </p:nvSpPr>
        <p:spPr>
          <a:xfrm>
            <a:off x="548640" y="5989320"/>
            <a:ext cx="9144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37373"/>
              </a:buClr>
              <a:buSzPts val="1050"/>
              <a:buFont typeface="Roboto Mono"/>
              <a:buNone/>
            </a:pPr>
            <a:r>
              <a:rPr b="0" i="0" lang="en-US" sz="1050" u="none" cap="none" strike="noStrike">
                <a:solidFill>
                  <a:srgbClr val="737373"/>
                </a:solidFill>
                <a:latin typeface="Roboto Mono"/>
                <a:ea typeface="Roboto Mono"/>
                <a:cs typeface="Roboto Mono"/>
                <a:sym typeface="Roboto Mono"/>
              </a:rPr>
              <a:t>why direct pays</a:t>
            </a:r>
            <a:r>
              <a:rPr b="0" i="0" lang="en-US" sz="1050" u="none" cap="none" strike="noStrike">
                <a:solidFill>
                  <a:srgbClr val="404040"/>
                </a:solidFill>
                <a:latin typeface="Roboto Mono"/>
                <a:ea typeface="Roboto Mono"/>
                <a:cs typeface="Roboto Mono"/>
                <a:sym typeface="Roboto Mono"/>
              </a:rPr>
              <a:t>   ·   </a:t>
            </a:r>
            <a:r>
              <a:rPr b="0" i="0" lang="en-US" sz="1050" u="none" cap="none" strike="noStrike">
                <a:solidFill>
                  <a:srgbClr val="737373"/>
                </a:solidFill>
                <a:latin typeface="Roboto Mono"/>
                <a:ea typeface="Roboto Mono"/>
                <a:cs typeface="Roboto Mono"/>
                <a:sym typeface="Roboto Mono"/>
              </a:rPr>
              <a:t>is the marketing working?</a:t>
            </a:r>
            <a:r>
              <a:rPr b="0" i="0" lang="en-US" sz="1050" u="none" cap="none" strike="noStrike">
                <a:solidFill>
                  <a:srgbClr val="404040"/>
                </a:solidFill>
                <a:latin typeface="Roboto Mono"/>
                <a:ea typeface="Roboto Mono"/>
                <a:cs typeface="Roboto Mono"/>
                <a:sym typeface="Roboto Mono"/>
              </a:rPr>
              <a:t>   ·   </a:t>
            </a:r>
            <a:r>
              <a:rPr b="0" i="0" lang="en-US" sz="1050" u="none" cap="none" strike="noStrike">
                <a:solidFill>
                  <a:srgbClr val="737373"/>
                </a:solidFill>
                <a:latin typeface="Roboto Mono"/>
                <a:ea typeface="Roboto Mono"/>
                <a:cs typeface="Roboto Mono"/>
                <a:sym typeface="Roboto Mono"/>
              </a:rPr>
              <a:t>the stack</a:t>
            </a:r>
            <a:r>
              <a:rPr b="0" i="0" lang="en-US" sz="1050" u="none" cap="none" strike="noStrike">
                <a:solidFill>
                  <a:srgbClr val="404040"/>
                </a:solidFill>
                <a:latin typeface="Roboto Mono"/>
                <a:ea typeface="Roboto Mono"/>
                <a:cs typeface="Roboto Mono"/>
                <a:sym typeface="Roboto Mono"/>
              </a:rPr>
              <a:t>   ·   </a:t>
            </a:r>
            <a:r>
              <a:rPr b="0" i="0" lang="en-US" sz="1050" u="none" cap="none" strike="noStrike">
                <a:solidFill>
                  <a:srgbClr val="737373"/>
                </a:solidFill>
                <a:latin typeface="Roboto Mono"/>
                <a:ea typeface="Roboto Mono"/>
                <a:cs typeface="Roboto Mono"/>
                <a:sym typeface="Roboto Mono"/>
              </a:rPr>
              <a:t>two rounds of practice and a sort</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27" name="Shape 27"/>
        <p:cNvGrpSpPr/>
        <p:nvPr/>
      </p:nvGrpSpPr>
      <p:grpSpPr>
        <a:xfrm>
          <a:off x="0" y="0"/>
          <a:ext cx="0" cy="0"/>
          <a:chOff x="0" y="0"/>
          <a:chExt cx="0" cy="0"/>
        </a:xfrm>
      </p:grpSpPr>
      <p:sp>
        <p:nvSpPr>
          <p:cNvPr id="28" name="Google Shape;28;p4"/>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01 · WHERE WE LEFT OFF</a:t>
            </a:r>
            <a:endParaRPr b="0" i="0" sz="1050" u="none" cap="none" strike="noStrike">
              <a:solidFill>
                <a:schemeClr val="dk1"/>
              </a:solidFill>
              <a:latin typeface="Calibri"/>
              <a:ea typeface="Calibri"/>
              <a:cs typeface="Calibri"/>
              <a:sym typeface="Calibri"/>
            </a:endParaRPr>
          </a:p>
        </p:txBody>
      </p:sp>
      <p:sp>
        <p:nvSpPr>
          <p:cNvPr id="29" name="Google Shape;29;p4"/>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Where we left off</a:t>
            </a:r>
            <a:endParaRPr b="0" i="0" sz="3000" u="none" cap="none" strike="noStrike">
              <a:solidFill>
                <a:schemeClr val="dk1"/>
              </a:solidFill>
              <a:latin typeface="Calibri"/>
              <a:ea typeface="Calibri"/>
              <a:cs typeface="Calibri"/>
              <a:sym typeface="Calibri"/>
            </a:endParaRPr>
          </a:p>
        </p:txBody>
      </p:sp>
      <p:sp>
        <p:nvSpPr>
          <p:cNvPr id="30" name="Google Shape;30;p4"/>
          <p:cNvSpPr txBox="1"/>
          <p:nvPr/>
        </p:nvSpPr>
        <p:spPr>
          <a:xfrm>
            <a:off x="548640" y="1426464"/>
            <a:ext cx="1106424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1400"/>
              <a:buFont typeface="Inter"/>
              <a:buNone/>
            </a:pPr>
            <a:r>
              <a:rPr b="0" i="0" lang="en-US" sz="1400" u="none" cap="none" strike="noStrike">
                <a:solidFill>
                  <a:srgbClr val="004FAA"/>
                </a:solidFill>
                <a:latin typeface="Inter"/>
                <a:ea typeface="Inter"/>
                <a:cs typeface="Inter"/>
                <a:sym typeface="Inter"/>
              </a:rPr>
              <a:t>Session 1 in four lines. Everything today builds on these.</a:t>
            </a:r>
            <a:endParaRPr b="0" i="0" sz="1400" u="none" cap="none" strike="noStrike">
              <a:solidFill>
                <a:schemeClr val="dk1"/>
              </a:solidFill>
              <a:latin typeface="Calibri"/>
              <a:ea typeface="Calibri"/>
              <a:cs typeface="Calibri"/>
              <a:sym typeface="Calibri"/>
            </a:endParaRPr>
          </a:p>
        </p:txBody>
      </p:sp>
      <p:pic>
        <p:nvPicPr>
          <p:cNvPr descr="/home/claude/work/renderer/brand/wordmark.png" id="31" name="Google Shape;31;p4"/>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32" name="Google Shape;32;p4"/>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2 / 48</a:t>
            </a:r>
            <a:endParaRPr b="0" i="0" sz="900" u="none" cap="none" strike="noStrike">
              <a:solidFill>
                <a:schemeClr val="dk1"/>
              </a:solidFill>
              <a:latin typeface="Calibri"/>
              <a:ea typeface="Calibri"/>
              <a:cs typeface="Calibri"/>
              <a:sym typeface="Calibri"/>
            </a:endParaRPr>
          </a:p>
        </p:txBody>
      </p:sp>
      <p:sp>
        <p:nvSpPr>
          <p:cNvPr id="33" name="Google Shape;33;p4"/>
          <p:cNvSpPr/>
          <p:nvPr/>
        </p:nvSpPr>
        <p:spPr>
          <a:xfrm>
            <a:off x="548640" y="1920240"/>
            <a:ext cx="11094415" cy="1010412"/>
          </a:xfrm>
          <a:prstGeom prst="roundRect">
            <a:avLst>
              <a:gd fmla="val 1086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4"/>
          <p:cNvSpPr txBox="1"/>
          <p:nvPr/>
        </p:nvSpPr>
        <p:spPr>
          <a:xfrm>
            <a:off x="804672" y="2151126"/>
            <a:ext cx="365760" cy="54864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1</a:t>
            </a:r>
            <a:endParaRPr b="0" i="0" sz="1600" u="none" cap="none" strike="noStrike">
              <a:solidFill>
                <a:schemeClr val="dk1"/>
              </a:solidFill>
              <a:latin typeface="Calibri"/>
              <a:ea typeface="Calibri"/>
              <a:cs typeface="Calibri"/>
              <a:sym typeface="Calibri"/>
            </a:endParaRPr>
          </a:p>
        </p:txBody>
      </p:sp>
      <p:sp>
        <p:nvSpPr>
          <p:cNvPr id="35" name="Google Shape;35;p4"/>
          <p:cNvSpPr/>
          <p:nvPr/>
        </p:nvSpPr>
        <p:spPr>
          <a:xfrm>
            <a:off x="1280160" y="2215134"/>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layers.png" id="36" name="Google Shape;36;p4"/>
          <p:cNvPicPr preferRelativeResize="0"/>
          <p:nvPr/>
        </p:nvPicPr>
        <p:blipFill rotWithShape="1">
          <a:blip r:embed="rId4">
            <a:alphaModFix/>
          </a:blip>
          <a:srcRect b="0" l="0" r="0" t="0"/>
          <a:stretch/>
        </p:blipFill>
        <p:spPr>
          <a:xfrm>
            <a:off x="1372697" y="2307671"/>
            <a:ext cx="235549" cy="235549"/>
          </a:xfrm>
          <a:prstGeom prst="rect">
            <a:avLst/>
          </a:prstGeom>
          <a:noFill/>
          <a:ln>
            <a:noFill/>
          </a:ln>
        </p:spPr>
      </p:pic>
      <p:sp>
        <p:nvSpPr>
          <p:cNvPr id="37" name="Google Shape;37;p4"/>
          <p:cNvSpPr txBox="1"/>
          <p:nvPr/>
        </p:nvSpPr>
        <p:spPr>
          <a:xfrm>
            <a:off x="1975104" y="2039112"/>
            <a:ext cx="3977640" cy="772668"/>
          </a:xfrm>
          <a:prstGeom prst="rect">
            <a:avLst/>
          </a:prstGeom>
          <a:noFill/>
          <a:ln>
            <a:noFill/>
          </a:ln>
        </p:spPr>
        <p:txBody>
          <a:bodyPr anchorCtr="0" anchor="ctr" bIns="0" lIns="0" spcFirstLastPara="1" rIns="0" wrap="square" tIns="0">
            <a:noAutofit/>
          </a:bodyPr>
          <a:lstStyle/>
          <a:p>
            <a:pPr indent="0" lvl="0" marL="0" marR="0" rtl="0" algn="l">
              <a:lnSpc>
                <a:spcPct val="135040"/>
              </a:lnSpc>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The profit ladder</a:t>
            </a:r>
            <a:endParaRPr b="0" i="0" sz="1250" u="none" cap="none" strike="noStrike">
              <a:solidFill>
                <a:schemeClr val="dk1"/>
              </a:solidFill>
              <a:latin typeface="Calibri"/>
              <a:ea typeface="Calibri"/>
              <a:cs typeface="Calibri"/>
              <a:sym typeface="Calibri"/>
            </a:endParaRPr>
          </a:p>
        </p:txBody>
      </p:sp>
      <p:sp>
        <p:nvSpPr>
          <p:cNvPr id="38" name="Google Shape;38;p4"/>
          <p:cNvSpPr txBox="1"/>
          <p:nvPr/>
        </p:nvSpPr>
        <p:spPr>
          <a:xfrm>
            <a:off x="6044184" y="2039112"/>
            <a:ext cx="5342839" cy="7726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525252"/>
              </a:buClr>
              <a:buSzPts val="1000"/>
              <a:buFont typeface="Inter"/>
              <a:buNone/>
            </a:pPr>
            <a:r>
              <a:rPr b="0" i="0" lang="en-US" sz="1000" u="none" cap="none" strike="noStrike">
                <a:solidFill>
                  <a:srgbClr val="525252"/>
                </a:solidFill>
                <a:latin typeface="Inter"/>
                <a:ea typeface="Inter"/>
                <a:cs typeface="Inter"/>
                <a:sym typeface="Inter"/>
              </a:rPr>
              <a:t>Total revenue, then GOP (gross operating profit), then NOI (net operating income). The buyer prices the bottom rung.</a:t>
            </a:r>
            <a:endParaRPr b="0" i="0" sz="1000" u="none" cap="none" strike="noStrike">
              <a:solidFill>
                <a:schemeClr val="dk1"/>
              </a:solidFill>
              <a:latin typeface="Calibri"/>
              <a:ea typeface="Calibri"/>
              <a:cs typeface="Calibri"/>
              <a:sym typeface="Calibri"/>
            </a:endParaRPr>
          </a:p>
        </p:txBody>
      </p:sp>
      <p:sp>
        <p:nvSpPr>
          <p:cNvPr id="39" name="Google Shape;39;p4"/>
          <p:cNvSpPr/>
          <p:nvPr/>
        </p:nvSpPr>
        <p:spPr>
          <a:xfrm>
            <a:off x="548640" y="3058668"/>
            <a:ext cx="11094415" cy="1010412"/>
          </a:xfrm>
          <a:prstGeom prst="roundRect">
            <a:avLst>
              <a:gd fmla="val 1086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4"/>
          <p:cNvSpPr txBox="1"/>
          <p:nvPr/>
        </p:nvSpPr>
        <p:spPr>
          <a:xfrm>
            <a:off x="804672" y="3289554"/>
            <a:ext cx="365760" cy="54864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2</a:t>
            </a:r>
            <a:endParaRPr b="0" i="0" sz="1600" u="none" cap="none" strike="noStrike">
              <a:solidFill>
                <a:schemeClr val="dk1"/>
              </a:solidFill>
              <a:latin typeface="Calibri"/>
              <a:ea typeface="Calibri"/>
              <a:cs typeface="Calibri"/>
              <a:sym typeface="Calibri"/>
            </a:endParaRPr>
          </a:p>
        </p:txBody>
      </p:sp>
      <p:sp>
        <p:nvSpPr>
          <p:cNvPr id="41" name="Google Shape;41;p4"/>
          <p:cNvSpPr/>
          <p:nvPr/>
        </p:nvSpPr>
        <p:spPr>
          <a:xfrm>
            <a:off x="1280160" y="3353562"/>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key.png" id="42" name="Google Shape;42;p4"/>
          <p:cNvPicPr preferRelativeResize="0"/>
          <p:nvPr/>
        </p:nvPicPr>
        <p:blipFill rotWithShape="1">
          <a:blip r:embed="rId5">
            <a:alphaModFix/>
          </a:blip>
          <a:srcRect b="0" l="0" r="0" t="0"/>
          <a:stretch/>
        </p:blipFill>
        <p:spPr>
          <a:xfrm>
            <a:off x="1372697" y="3446099"/>
            <a:ext cx="235549" cy="235549"/>
          </a:xfrm>
          <a:prstGeom prst="rect">
            <a:avLst/>
          </a:prstGeom>
          <a:noFill/>
          <a:ln>
            <a:noFill/>
          </a:ln>
        </p:spPr>
      </p:pic>
      <p:sp>
        <p:nvSpPr>
          <p:cNvPr id="43" name="Google Shape;43;p4"/>
          <p:cNvSpPr txBox="1"/>
          <p:nvPr/>
        </p:nvSpPr>
        <p:spPr>
          <a:xfrm>
            <a:off x="1975104" y="3177540"/>
            <a:ext cx="3977640" cy="772668"/>
          </a:xfrm>
          <a:prstGeom prst="rect">
            <a:avLst/>
          </a:prstGeom>
          <a:noFill/>
          <a:ln>
            <a:noFill/>
          </a:ln>
        </p:spPr>
        <p:txBody>
          <a:bodyPr anchorCtr="0" anchor="ctr" bIns="0" lIns="0" spcFirstLastPara="1" rIns="0" wrap="square" tIns="0">
            <a:noAutofit/>
          </a:bodyPr>
          <a:lstStyle/>
          <a:p>
            <a:pPr indent="0" lvl="0" marL="0" marR="0" rtl="0" algn="l">
              <a:lnSpc>
                <a:spcPct val="135040"/>
              </a:lnSpc>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Sold, or available?</a:t>
            </a:r>
            <a:endParaRPr b="0" i="0" sz="1250" u="none" cap="none" strike="noStrike">
              <a:solidFill>
                <a:schemeClr val="dk1"/>
              </a:solidFill>
              <a:latin typeface="Calibri"/>
              <a:ea typeface="Calibri"/>
              <a:cs typeface="Calibri"/>
              <a:sym typeface="Calibri"/>
            </a:endParaRPr>
          </a:p>
        </p:txBody>
      </p:sp>
      <p:sp>
        <p:nvSpPr>
          <p:cNvPr id="44" name="Google Shape;44;p4"/>
          <p:cNvSpPr txBox="1"/>
          <p:nvPr/>
        </p:nvSpPr>
        <p:spPr>
          <a:xfrm>
            <a:off x="6044184" y="3177540"/>
            <a:ext cx="5342839" cy="7726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525252"/>
              </a:buClr>
              <a:buSzPts val="1000"/>
              <a:buFont typeface="Inter"/>
              <a:buNone/>
            </a:pPr>
            <a:r>
              <a:rPr b="0" i="0" lang="en-US" sz="1000" u="none" cap="none" strike="noStrike">
                <a:solidFill>
                  <a:srgbClr val="525252"/>
                </a:solidFill>
                <a:latin typeface="Inter"/>
                <a:ea typeface="Inter"/>
                <a:cs typeface="Inter"/>
                <a:sym typeface="Inter"/>
              </a:rPr>
              <a:t>ADR (average daily rate) is what a sold room went for. RevPAR (revenue per available room) counts the empty ones too.</a:t>
            </a:r>
            <a:endParaRPr b="0" i="0" sz="1000" u="none" cap="none" strike="noStrike">
              <a:solidFill>
                <a:schemeClr val="dk1"/>
              </a:solidFill>
              <a:latin typeface="Calibri"/>
              <a:ea typeface="Calibri"/>
              <a:cs typeface="Calibri"/>
              <a:sym typeface="Calibri"/>
            </a:endParaRPr>
          </a:p>
        </p:txBody>
      </p:sp>
      <p:sp>
        <p:nvSpPr>
          <p:cNvPr id="45" name="Google Shape;45;p4"/>
          <p:cNvSpPr/>
          <p:nvPr/>
        </p:nvSpPr>
        <p:spPr>
          <a:xfrm>
            <a:off x="548640" y="4197096"/>
            <a:ext cx="11094415" cy="1010412"/>
          </a:xfrm>
          <a:prstGeom prst="roundRect">
            <a:avLst>
              <a:gd fmla="val 1086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4"/>
          <p:cNvSpPr txBox="1"/>
          <p:nvPr/>
        </p:nvSpPr>
        <p:spPr>
          <a:xfrm>
            <a:off x="804672" y="4427982"/>
            <a:ext cx="365760" cy="54864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3</a:t>
            </a:r>
            <a:endParaRPr b="0" i="0" sz="1600" u="none" cap="none" strike="noStrike">
              <a:solidFill>
                <a:schemeClr val="dk1"/>
              </a:solidFill>
              <a:latin typeface="Calibri"/>
              <a:ea typeface="Calibri"/>
              <a:cs typeface="Calibri"/>
              <a:sym typeface="Calibri"/>
            </a:endParaRPr>
          </a:p>
        </p:txBody>
      </p:sp>
      <p:sp>
        <p:nvSpPr>
          <p:cNvPr id="47" name="Google Shape;47;p4"/>
          <p:cNvSpPr/>
          <p:nvPr/>
        </p:nvSpPr>
        <p:spPr>
          <a:xfrm>
            <a:off x="1280160" y="4491990"/>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eye-off.png" id="48" name="Google Shape;48;p4"/>
          <p:cNvPicPr preferRelativeResize="0"/>
          <p:nvPr/>
        </p:nvPicPr>
        <p:blipFill rotWithShape="1">
          <a:blip r:embed="rId6">
            <a:alphaModFix/>
          </a:blip>
          <a:srcRect b="0" l="0" r="0" t="0"/>
          <a:stretch/>
        </p:blipFill>
        <p:spPr>
          <a:xfrm>
            <a:off x="1372697" y="4584527"/>
            <a:ext cx="235549" cy="235549"/>
          </a:xfrm>
          <a:prstGeom prst="rect">
            <a:avLst/>
          </a:prstGeom>
          <a:noFill/>
          <a:ln>
            <a:noFill/>
          </a:ln>
        </p:spPr>
      </p:pic>
      <p:sp>
        <p:nvSpPr>
          <p:cNvPr id="49" name="Google Shape;49;p4"/>
          <p:cNvSpPr txBox="1"/>
          <p:nvPr/>
        </p:nvSpPr>
        <p:spPr>
          <a:xfrm>
            <a:off x="1975104" y="4315968"/>
            <a:ext cx="3977640" cy="772668"/>
          </a:xfrm>
          <a:prstGeom prst="rect">
            <a:avLst/>
          </a:prstGeom>
          <a:noFill/>
          <a:ln>
            <a:noFill/>
          </a:ln>
        </p:spPr>
        <p:txBody>
          <a:bodyPr anchorCtr="0" anchor="ctr" bIns="0" lIns="0" spcFirstLastPara="1" rIns="0" wrap="square" tIns="0">
            <a:noAutofit/>
          </a:bodyPr>
          <a:lstStyle/>
          <a:p>
            <a:pPr indent="0" lvl="0" marL="0" marR="0" rtl="0" algn="l">
              <a:lnSpc>
                <a:spcPct val="135040"/>
              </a:lnSpc>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What did they leave out?</a:t>
            </a:r>
            <a:endParaRPr b="0" i="0" sz="1250" u="none" cap="none" strike="noStrike">
              <a:solidFill>
                <a:schemeClr val="dk1"/>
              </a:solidFill>
              <a:latin typeface="Calibri"/>
              <a:ea typeface="Calibri"/>
              <a:cs typeface="Calibri"/>
              <a:sym typeface="Calibri"/>
            </a:endParaRPr>
          </a:p>
        </p:txBody>
      </p:sp>
      <p:sp>
        <p:nvSpPr>
          <p:cNvPr id="50" name="Google Shape;50;p4"/>
          <p:cNvSpPr txBox="1"/>
          <p:nvPr/>
        </p:nvSpPr>
        <p:spPr>
          <a:xfrm>
            <a:off x="6044184" y="4315968"/>
            <a:ext cx="5342839" cy="7726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525252"/>
              </a:buClr>
              <a:buSzPts val="1000"/>
              <a:buFont typeface="Inter"/>
              <a:buNone/>
            </a:pPr>
            <a:r>
              <a:rPr b="0" i="0" lang="en-US" sz="1000" u="none" cap="none" strike="noStrike">
                <a:solidFill>
                  <a:srgbClr val="525252"/>
                </a:solidFill>
                <a:latin typeface="Inter"/>
                <a:ea typeface="Inter"/>
                <a:cs typeface="Inter"/>
                <a:sym typeface="Inter"/>
              </a:rPr>
              <a:t>The qualifier is the question: “basically full”, “best summer yet”.</a:t>
            </a:r>
            <a:endParaRPr b="0" i="0" sz="1000" u="none" cap="none" strike="noStrike">
              <a:solidFill>
                <a:schemeClr val="dk1"/>
              </a:solidFill>
              <a:latin typeface="Calibri"/>
              <a:ea typeface="Calibri"/>
              <a:cs typeface="Calibri"/>
              <a:sym typeface="Calibri"/>
            </a:endParaRPr>
          </a:p>
        </p:txBody>
      </p:sp>
      <p:sp>
        <p:nvSpPr>
          <p:cNvPr id="51" name="Google Shape;51;p4"/>
          <p:cNvSpPr/>
          <p:nvPr/>
        </p:nvSpPr>
        <p:spPr>
          <a:xfrm>
            <a:off x="548640" y="5335524"/>
            <a:ext cx="11094415" cy="1010412"/>
          </a:xfrm>
          <a:prstGeom prst="roundRect">
            <a:avLst>
              <a:gd fmla="val 1086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4"/>
          <p:cNvSpPr txBox="1"/>
          <p:nvPr/>
        </p:nvSpPr>
        <p:spPr>
          <a:xfrm>
            <a:off x="804672" y="5566410"/>
            <a:ext cx="365760" cy="54864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4</a:t>
            </a:r>
            <a:endParaRPr b="0" i="0" sz="1600" u="none" cap="none" strike="noStrike">
              <a:solidFill>
                <a:schemeClr val="dk1"/>
              </a:solidFill>
              <a:latin typeface="Calibri"/>
              <a:ea typeface="Calibri"/>
              <a:cs typeface="Calibri"/>
              <a:sym typeface="Calibri"/>
            </a:endParaRPr>
          </a:p>
        </p:txBody>
      </p:sp>
      <p:sp>
        <p:nvSpPr>
          <p:cNvPr id="53" name="Google Shape;53;p4"/>
          <p:cNvSpPr/>
          <p:nvPr/>
        </p:nvSpPr>
        <p:spPr>
          <a:xfrm>
            <a:off x="1280160" y="5630418"/>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message-question.png" id="54" name="Google Shape;54;p4"/>
          <p:cNvPicPr preferRelativeResize="0"/>
          <p:nvPr/>
        </p:nvPicPr>
        <p:blipFill rotWithShape="1">
          <a:blip r:embed="rId7">
            <a:alphaModFix/>
          </a:blip>
          <a:srcRect b="0" l="0" r="0" t="0"/>
          <a:stretch/>
        </p:blipFill>
        <p:spPr>
          <a:xfrm>
            <a:off x="1372697" y="5722955"/>
            <a:ext cx="235549" cy="235549"/>
          </a:xfrm>
          <a:prstGeom prst="rect">
            <a:avLst/>
          </a:prstGeom>
          <a:noFill/>
          <a:ln>
            <a:noFill/>
          </a:ln>
        </p:spPr>
      </p:pic>
      <p:sp>
        <p:nvSpPr>
          <p:cNvPr id="55" name="Google Shape;55;p4"/>
          <p:cNvSpPr txBox="1"/>
          <p:nvPr/>
        </p:nvSpPr>
        <p:spPr>
          <a:xfrm>
            <a:off x="1975104" y="5454396"/>
            <a:ext cx="3977640" cy="772668"/>
          </a:xfrm>
          <a:prstGeom prst="rect">
            <a:avLst/>
          </a:prstGeom>
          <a:noFill/>
          <a:ln>
            <a:noFill/>
          </a:ln>
        </p:spPr>
        <p:txBody>
          <a:bodyPr anchorCtr="0" anchor="ctr" bIns="0" lIns="0" spcFirstLastPara="1" rIns="0" wrap="square" tIns="0">
            <a:noAutofit/>
          </a:bodyPr>
          <a:lstStyle/>
          <a:p>
            <a:pPr indent="0" lvl="0" marL="0" marR="0" rtl="0" algn="l">
              <a:lnSpc>
                <a:spcPct val="135040"/>
              </a:lnSpc>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Ask which number it is before you react to it</a:t>
            </a:r>
            <a:endParaRPr b="0" i="0" sz="1250" u="none" cap="none" strike="noStrike">
              <a:solidFill>
                <a:schemeClr val="dk1"/>
              </a:solidFill>
              <a:latin typeface="Calibri"/>
              <a:ea typeface="Calibri"/>
              <a:cs typeface="Calibri"/>
              <a:sym typeface="Calibri"/>
            </a:endParaRPr>
          </a:p>
        </p:txBody>
      </p:sp>
      <p:sp>
        <p:nvSpPr>
          <p:cNvPr id="56" name="Google Shape;56;p4"/>
          <p:cNvSpPr txBox="1"/>
          <p:nvPr/>
        </p:nvSpPr>
        <p:spPr>
          <a:xfrm>
            <a:off x="6044184" y="5454396"/>
            <a:ext cx="5342839" cy="7726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525252"/>
              </a:buClr>
              <a:buSzPts val="1000"/>
              <a:buFont typeface="Inter"/>
              <a:buNone/>
            </a:pPr>
            <a:r>
              <a:rPr b="0" i="0" lang="en-US" sz="1000" u="none" cap="none" strike="noStrike">
                <a:solidFill>
                  <a:srgbClr val="525252"/>
                </a:solidFill>
                <a:latin typeface="Inter"/>
                <a:ea typeface="Inter"/>
                <a:cs typeface="Inter"/>
                <a:sym typeface="Inter"/>
              </a:rPr>
              <a:t>The habit that survives any trim.</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61" name="Shape 61"/>
        <p:cNvGrpSpPr/>
        <p:nvPr/>
      </p:nvGrpSpPr>
      <p:grpSpPr>
        <a:xfrm>
          <a:off x="0" y="0"/>
          <a:ext cx="0" cy="0"/>
          <a:chOff x="0" y="0"/>
          <a:chExt cx="0" cy="0"/>
        </a:xfrm>
      </p:grpSpPr>
      <p:sp>
        <p:nvSpPr>
          <p:cNvPr id="62" name="Google Shape;62;p5"/>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02 · WHAT WE'LL COVER</a:t>
            </a:r>
            <a:endParaRPr b="0" i="0" sz="1050" u="none" cap="none" strike="noStrike">
              <a:solidFill>
                <a:schemeClr val="dk1"/>
              </a:solidFill>
              <a:latin typeface="Calibri"/>
              <a:ea typeface="Calibri"/>
              <a:cs typeface="Calibri"/>
              <a:sym typeface="Calibri"/>
            </a:endParaRPr>
          </a:p>
        </p:txBody>
      </p:sp>
      <p:sp>
        <p:nvSpPr>
          <p:cNvPr id="63" name="Google Shape;63;p5"/>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Today in three blocks</a:t>
            </a:r>
            <a:endParaRPr b="0" i="0" sz="3000" u="none" cap="none" strike="noStrike">
              <a:solidFill>
                <a:schemeClr val="dk1"/>
              </a:solidFill>
              <a:latin typeface="Calibri"/>
              <a:ea typeface="Calibri"/>
              <a:cs typeface="Calibri"/>
              <a:sym typeface="Calibri"/>
            </a:endParaRPr>
          </a:p>
        </p:txBody>
      </p:sp>
      <p:pic>
        <p:nvPicPr>
          <p:cNvPr descr="/home/claude/work/renderer/brand/wordmark.png" id="64" name="Google Shape;64;p5"/>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65" name="Google Shape;65;p5"/>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3 / 48</a:t>
            </a:r>
            <a:endParaRPr b="0" i="0" sz="900" u="none" cap="none" strike="noStrike">
              <a:solidFill>
                <a:schemeClr val="dk1"/>
              </a:solidFill>
              <a:latin typeface="Calibri"/>
              <a:ea typeface="Calibri"/>
              <a:cs typeface="Calibri"/>
              <a:sym typeface="Calibri"/>
            </a:endParaRPr>
          </a:p>
        </p:txBody>
      </p:sp>
      <p:sp>
        <p:nvSpPr>
          <p:cNvPr id="66" name="Google Shape;66;p5"/>
          <p:cNvSpPr/>
          <p:nvPr/>
        </p:nvSpPr>
        <p:spPr>
          <a:xfrm>
            <a:off x="548640" y="1783080"/>
            <a:ext cx="3438144" cy="4526280"/>
          </a:xfrm>
          <a:prstGeom prst="roundRect">
            <a:avLst>
              <a:gd fmla="val 319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5"/>
          <p:cNvSpPr/>
          <p:nvPr/>
        </p:nvSpPr>
        <p:spPr>
          <a:xfrm>
            <a:off x="822960" y="209397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coins-hand.png" id="68" name="Google Shape;68;p5"/>
          <p:cNvPicPr preferRelativeResize="0"/>
          <p:nvPr/>
        </p:nvPicPr>
        <p:blipFill rotWithShape="1">
          <a:blip r:embed="rId4">
            <a:alphaModFix/>
          </a:blip>
          <a:srcRect b="0" l="0" r="0" t="0"/>
          <a:stretch/>
        </p:blipFill>
        <p:spPr>
          <a:xfrm>
            <a:off x="927567" y="2198583"/>
            <a:ext cx="266273" cy="266273"/>
          </a:xfrm>
          <a:prstGeom prst="rect">
            <a:avLst/>
          </a:prstGeom>
          <a:noFill/>
          <a:ln>
            <a:noFill/>
          </a:ln>
        </p:spPr>
      </p:pic>
      <p:sp>
        <p:nvSpPr>
          <p:cNvPr id="69" name="Google Shape;69;p5"/>
          <p:cNvSpPr txBox="1"/>
          <p:nvPr/>
        </p:nvSpPr>
        <p:spPr>
          <a:xfrm>
            <a:off x="822960" y="2715768"/>
            <a:ext cx="2889504" cy="566928"/>
          </a:xfrm>
          <a:prstGeom prst="rect">
            <a:avLst/>
          </a:prstGeom>
          <a:noFill/>
          <a:ln>
            <a:noFill/>
          </a:ln>
        </p:spPr>
        <p:txBody>
          <a:bodyPr anchorCtr="0" anchor="ctr" bIns="0" lIns="0" spcFirstLastPara="1" rIns="0" wrap="square" tIns="0">
            <a:noAutofit/>
          </a:bodyPr>
          <a:lstStyle/>
          <a:p>
            <a:pPr indent="0" lvl="0" marL="0" marR="0" rtl="0" algn="l">
              <a:lnSpc>
                <a:spcPct val="135032"/>
              </a:lnSpc>
              <a:spcBef>
                <a:spcPts val="0"/>
              </a:spcBef>
              <a:spcAft>
                <a:spcPts val="0"/>
              </a:spcAft>
              <a:buClr>
                <a:srgbClr val="171717"/>
              </a:buClr>
              <a:buSzPts val="1550"/>
              <a:buFont typeface="Inter"/>
              <a:buNone/>
            </a:pPr>
            <a:r>
              <a:rPr b="1" i="0" lang="en-US" sz="1550" u="none" cap="none" strike="noStrike">
                <a:solidFill>
                  <a:srgbClr val="171717"/>
                </a:solidFill>
                <a:latin typeface="Inter"/>
                <a:ea typeface="Inter"/>
                <a:cs typeface="Inter"/>
                <a:sym typeface="Inter"/>
              </a:rPr>
              <a:t>Block 4: why direct pays</a:t>
            </a:r>
            <a:endParaRPr b="0" i="0" sz="1550" u="none" cap="none" strike="noStrike">
              <a:solidFill>
                <a:schemeClr val="dk1"/>
              </a:solidFill>
              <a:latin typeface="Calibri"/>
              <a:ea typeface="Calibri"/>
              <a:cs typeface="Calibri"/>
              <a:sym typeface="Calibri"/>
            </a:endParaRPr>
          </a:p>
        </p:txBody>
      </p:sp>
      <p:sp>
        <p:nvSpPr>
          <p:cNvPr id="70" name="Google Shape;70;p5"/>
          <p:cNvSpPr txBox="1"/>
          <p:nvPr/>
        </p:nvSpPr>
        <p:spPr>
          <a:xfrm>
            <a:off x="822960" y="3374136"/>
            <a:ext cx="384048" cy="292608"/>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01</a:t>
            </a:r>
            <a:endParaRPr b="0" i="0" sz="1100" u="none" cap="none" strike="noStrike">
              <a:solidFill>
                <a:schemeClr val="dk1"/>
              </a:solidFill>
              <a:latin typeface="Calibri"/>
              <a:ea typeface="Calibri"/>
              <a:cs typeface="Calibri"/>
              <a:sym typeface="Calibri"/>
            </a:endParaRPr>
          </a:p>
        </p:txBody>
      </p:sp>
      <p:sp>
        <p:nvSpPr>
          <p:cNvPr id="71" name="Google Shape;71;p5"/>
          <p:cNvSpPr txBox="1"/>
          <p:nvPr/>
        </p:nvSpPr>
        <p:spPr>
          <a:xfrm>
            <a:off x="1280160" y="3355848"/>
            <a:ext cx="2432304" cy="329184"/>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Metasearch</a:t>
            </a:r>
            <a:endParaRPr b="0" i="0" sz="1150" u="none" cap="none" strike="noStrike">
              <a:solidFill>
                <a:schemeClr val="dk1"/>
              </a:solidFill>
              <a:latin typeface="Calibri"/>
              <a:ea typeface="Calibri"/>
              <a:cs typeface="Calibri"/>
              <a:sym typeface="Calibri"/>
            </a:endParaRPr>
          </a:p>
        </p:txBody>
      </p:sp>
      <p:cxnSp>
        <p:nvCxnSpPr>
          <p:cNvPr id="72" name="Google Shape;72;p5"/>
          <p:cNvCxnSpPr/>
          <p:nvPr/>
        </p:nvCxnSpPr>
        <p:spPr>
          <a:xfrm>
            <a:off x="822960" y="3721608"/>
            <a:ext cx="2889504" cy="0"/>
          </a:xfrm>
          <a:prstGeom prst="straightConnector1">
            <a:avLst/>
          </a:prstGeom>
          <a:noFill/>
          <a:ln cap="flat" cmpd="sng" w="9525">
            <a:solidFill>
              <a:srgbClr val="E5E5E5"/>
            </a:solidFill>
            <a:prstDash val="solid"/>
            <a:round/>
            <a:headEnd len="sm" w="sm" type="none"/>
            <a:tailEnd len="sm" w="sm" type="none"/>
          </a:ln>
        </p:spPr>
      </p:cxnSp>
      <p:sp>
        <p:nvSpPr>
          <p:cNvPr id="73" name="Google Shape;73;p5"/>
          <p:cNvSpPr txBox="1"/>
          <p:nvPr/>
        </p:nvSpPr>
        <p:spPr>
          <a:xfrm>
            <a:off x="822960" y="3776472"/>
            <a:ext cx="384048" cy="292608"/>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02</a:t>
            </a:r>
            <a:endParaRPr b="0" i="0" sz="1100" u="none" cap="none" strike="noStrike">
              <a:solidFill>
                <a:schemeClr val="dk1"/>
              </a:solidFill>
              <a:latin typeface="Calibri"/>
              <a:ea typeface="Calibri"/>
              <a:cs typeface="Calibri"/>
              <a:sym typeface="Calibri"/>
            </a:endParaRPr>
          </a:p>
        </p:txBody>
      </p:sp>
      <p:sp>
        <p:nvSpPr>
          <p:cNvPr id="74" name="Google Shape;74;p5"/>
          <p:cNvSpPr txBox="1"/>
          <p:nvPr/>
        </p:nvSpPr>
        <p:spPr>
          <a:xfrm>
            <a:off x="1280160" y="3758184"/>
            <a:ext cx="2432304" cy="329184"/>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Cap rate</a:t>
            </a:r>
            <a:endParaRPr b="0" i="0" sz="1150" u="none" cap="none" strike="noStrike">
              <a:solidFill>
                <a:schemeClr val="dk1"/>
              </a:solidFill>
              <a:latin typeface="Calibri"/>
              <a:ea typeface="Calibri"/>
              <a:cs typeface="Calibri"/>
              <a:sym typeface="Calibri"/>
            </a:endParaRPr>
          </a:p>
        </p:txBody>
      </p:sp>
      <p:cxnSp>
        <p:nvCxnSpPr>
          <p:cNvPr id="75" name="Google Shape;75;p5"/>
          <p:cNvCxnSpPr/>
          <p:nvPr/>
        </p:nvCxnSpPr>
        <p:spPr>
          <a:xfrm>
            <a:off x="822960" y="4123944"/>
            <a:ext cx="2889504" cy="0"/>
          </a:xfrm>
          <a:prstGeom prst="straightConnector1">
            <a:avLst/>
          </a:prstGeom>
          <a:noFill/>
          <a:ln cap="flat" cmpd="sng" w="9525">
            <a:solidFill>
              <a:srgbClr val="E5E5E5"/>
            </a:solidFill>
            <a:prstDash val="solid"/>
            <a:round/>
            <a:headEnd len="sm" w="sm" type="none"/>
            <a:tailEnd len="sm" w="sm" type="none"/>
          </a:ln>
        </p:spPr>
      </p:cxnSp>
      <p:sp>
        <p:nvSpPr>
          <p:cNvPr id="76" name="Google Shape;76;p5"/>
          <p:cNvSpPr txBox="1"/>
          <p:nvPr/>
        </p:nvSpPr>
        <p:spPr>
          <a:xfrm>
            <a:off x="822960" y="4178808"/>
            <a:ext cx="384048" cy="292608"/>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03</a:t>
            </a:r>
            <a:endParaRPr b="0" i="0" sz="1100" u="none" cap="none" strike="noStrike">
              <a:solidFill>
                <a:schemeClr val="dk1"/>
              </a:solidFill>
              <a:latin typeface="Calibri"/>
              <a:ea typeface="Calibri"/>
              <a:cs typeface="Calibri"/>
              <a:sym typeface="Calibri"/>
            </a:endParaRPr>
          </a:p>
        </p:txBody>
      </p:sp>
      <p:sp>
        <p:nvSpPr>
          <p:cNvPr id="77" name="Google Shape;77;p5"/>
          <p:cNvSpPr txBox="1"/>
          <p:nvPr/>
        </p:nvSpPr>
        <p:spPr>
          <a:xfrm>
            <a:off x="1280160" y="4160520"/>
            <a:ext cx="2432304" cy="329184"/>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First-party data</a:t>
            </a:r>
            <a:endParaRPr b="0" i="0" sz="1150" u="none" cap="none" strike="noStrike">
              <a:solidFill>
                <a:schemeClr val="dk1"/>
              </a:solidFill>
              <a:latin typeface="Calibri"/>
              <a:ea typeface="Calibri"/>
              <a:cs typeface="Calibri"/>
              <a:sym typeface="Calibri"/>
            </a:endParaRPr>
          </a:p>
        </p:txBody>
      </p:sp>
      <p:cxnSp>
        <p:nvCxnSpPr>
          <p:cNvPr id="78" name="Google Shape;78;p5"/>
          <p:cNvCxnSpPr/>
          <p:nvPr/>
        </p:nvCxnSpPr>
        <p:spPr>
          <a:xfrm>
            <a:off x="822960" y="4526280"/>
            <a:ext cx="2889504" cy="0"/>
          </a:xfrm>
          <a:prstGeom prst="straightConnector1">
            <a:avLst/>
          </a:prstGeom>
          <a:noFill/>
          <a:ln cap="flat" cmpd="sng" w="9525">
            <a:solidFill>
              <a:srgbClr val="E5E5E5"/>
            </a:solidFill>
            <a:prstDash val="solid"/>
            <a:round/>
            <a:headEnd len="sm" w="sm" type="none"/>
            <a:tailEnd len="sm" w="sm" type="none"/>
          </a:ln>
        </p:spPr>
      </p:cxnSp>
      <p:sp>
        <p:nvSpPr>
          <p:cNvPr id="79" name="Google Shape;79;p5"/>
          <p:cNvSpPr txBox="1"/>
          <p:nvPr/>
        </p:nvSpPr>
        <p:spPr>
          <a:xfrm>
            <a:off x="822960" y="4581144"/>
            <a:ext cx="384048" cy="292608"/>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04</a:t>
            </a:r>
            <a:endParaRPr b="0" i="0" sz="1100" u="none" cap="none" strike="noStrike">
              <a:solidFill>
                <a:schemeClr val="dk1"/>
              </a:solidFill>
              <a:latin typeface="Calibri"/>
              <a:ea typeface="Calibri"/>
              <a:cs typeface="Calibri"/>
              <a:sym typeface="Calibri"/>
            </a:endParaRPr>
          </a:p>
        </p:txBody>
      </p:sp>
      <p:sp>
        <p:nvSpPr>
          <p:cNvPr id="80" name="Google Shape;80;p5"/>
          <p:cNvSpPr txBox="1"/>
          <p:nvPr/>
        </p:nvSpPr>
        <p:spPr>
          <a:xfrm>
            <a:off x="1280160" y="4562856"/>
            <a:ext cx="2432304" cy="329184"/>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Effective commission</a:t>
            </a:r>
            <a:endParaRPr b="0" i="0" sz="1150" u="none" cap="none" strike="noStrike">
              <a:solidFill>
                <a:schemeClr val="dk1"/>
              </a:solidFill>
              <a:latin typeface="Calibri"/>
              <a:ea typeface="Calibri"/>
              <a:cs typeface="Calibri"/>
              <a:sym typeface="Calibri"/>
            </a:endParaRPr>
          </a:p>
        </p:txBody>
      </p:sp>
      <p:sp>
        <p:nvSpPr>
          <p:cNvPr id="81" name="Google Shape;81;p5"/>
          <p:cNvSpPr/>
          <p:nvPr/>
        </p:nvSpPr>
        <p:spPr>
          <a:xfrm>
            <a:off x="4375404" y="1783080"/>
            <a:ext cx="3438144" cy="4526280"/>
          </a:xfrm>
          <a:prstGeom prst="roundRect">
            <a:avLst>
              <a:gd fmla="val 319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5"/>
          <p:cNvSpPr/>
          <p:nvPr/>
        </p:nvSpPr>
        <p:spPr>
          <a:xfrm>
            <a:off x="4649724" y="209397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announcement.png" id="83" name="Google Shape;83;p5"/>
          <p:cNvPicPr preferRelativeResize="0"/>
          <p:nvPr/>
        </p:nvPicPr>
        <p:blipFill rotWithShape="1">
          <a:blip r:embed="rId5">
            <a:alphaModFix/>
          </a:blip>
          <a:srcRect b="0" l="0" r="0" t="0"/>
          <a:stretch/>
        </p:blipFill>
        <p:spPr>
          <a:xfrm>
            <a:off x="4754331" y="2198583"/>
            <a:ext cx="266273" cy="266273"/>
          </a:xfrm>
          <a:prstGeom prst="rect">
            <a:avLst/>
          </a:prstGeom>
          <a:noFill/>
          <a:ln>
            <a:noFill/>
          </a:ln>
        </p:spPr>
      </p:pic>
      <p:sp>
        <p:nvSpPr>
          <p:cNvPr id="84" name="Google Shape;84;p5"/>
          <p:cNvSpPr txBox="1"/>
          <p:nvPr/>
        </p:nvSpPr>
        <p:spPr>
          <a:xfrm>
            <a:off x="4649724" y="2715768"/>
            <a:ext cx="2889504" cy="566928"/>
          </a:xfrm>
          <a:prstGeom prst="rect">
            <a:avLst/>
          </a:prstGeom>
          <a:noFill/>
          <a:ln>
            <a:noFill/>
          </a:ln>
        </p:spPr>
        <p:txBody>
          <a:bodyPr anchorCtr="0" anchor="ctr" bIns="0" lIns="0" spcFirstLastPara="1" rIns="0" wrap="square" tIns="0">
            <a:noAutofit/>
          </a:bodyPr>
          <a:lstStyle/>
          <a:p>
            <a:pPr indent="0" lvl="0" marL="0" marR="0" rtl="0" algn="l">
              <a:lnSpc>
                <a:spcPct val="135032"/>
              </a:lnSpc>
              <a:spcBef>
                <a:spcPts val="0"/>
              </a:spcBef>
              <a:spcAft>
                <a:spcPts val="0"/>
              </a:spcAft>
              <a:buClr>
                <a:srgbClr val="171717"/>
              </a:buClr>
              <a:buSzPts val="1550"/>
              <a:buFont typeface="Inter"/>
              <a:buNone/>
            </a:pPr>
            <a:r>
              <a:rPr b="1" i="0" lang="en-US" sz="1550" u="none" cap="none" strike="noStrike">
                <a:solidFill>
                  <a:srgbClr val="171717"/>
                </a:solidFill>
                <a:latin typeface="Inter"/>
                <a:ea typeface="Inter"/>
                <a:cs typeface="Inter"/>
                <a:sym typeface="Inter"/>
              </a:rPr>
              <a:t>Block 5: is the marketing working?</a:t>
            </a:r>
            <a:endParaRPr b="0" i="0" sz="1550" u="none" cap="none" strike="noStrike">
              <a:solidFill>
                <a:schemeClr val="dk1"/>
              </a:solidFill>
              <a:latin typeface="Calibri"/>
              <a:ea typeface="Calibri"/>
              <a:cs typeface="Calibri"/>
              <a:sym typeface="Calibri"/>
            </a:endParaRPr>
          </a:p>
        </p:txBody>
      </p:sp>
      <p:sp>
        <p:nvSpPr>
          <p:cNvPr id="85" name="Google Shape;85;p5"/>
          <p:cNvSpPr txBox="1"/>
          <p:nvPr/>
        </p:nvSpPr>
        <p:spPr>
          <a:xfrm>
            <a:off x="4649724" y="3409061"/>
            <a:ext cx="384048" cy="292608"/>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01</a:t>
            </a:r>
            <a:endParaRPr b="0" i="0" sz="1100" u="none" cap="none" strike="noStrike">
              <a:solidFill>
                <a:schemeClr val="dk1"/>
              </a:solidFill>
              <a:latin typeface="Calibri"/>
              <a:ea typeface="Calibri"/>
              <a:cs typeface="Calibri"/>
              <a:sym typeface="Calibri"/>
            </a:endParaRPr>
          </a:p>
        </p:txBody>
      </p:sp>
      <p:sp>
        <p:nvSpPr>
          <p:cNvPr id="86" name="Google Shape;86;p5"/>
          <p:cNvSpPr txBox="1"/>
          <p:nvPr/>
        </p:nvSpPr>
        <p:spPr>
          <a:xfrm>
            <a:off x="5106924" y="3390773"/>
            <a:ext cx="2432304" cy="329184"/>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CPM</a:t>
            </a:r>
            <a:endParaRPr b="0" i="0" sz="1150" u="none" cap="none" strike="noStrike">
              <a:solidFill>
                <a:schemeClr val="dk1"/>
              </a:solidFill>
              <a:latin typeface="Calibri"/>
              <a:ea typeface="Calibri"/>
              <a:cs typeface="Calibri"/>
              <a:sym typeface="Calibri"/>
            </a:endParaRPr>
          </a:p>
        </p:txBody>
      </p:sp>
      <p:cxnSp>
        <p:nvCxnSpPr>
          <p:cNvPr id="87" name="Google Shape;87;p5"/>
          <p:cNvCxnSpPr/>
          <p:nvPr/>
        </p:nvCxnSpPr>
        <p:spPr>
          <a:xfrm>
            <a:off x="4649724" y="3756533"/>
            <a:ext cx="2889504" cy="0"/>
          </a:xfrm>
          <a:prstGeom prst="straightConnector1">
            <a:avLst/>
          </a:prstGeom>
          <a:noFill/>
          <a:ln cap="flat" cmpd="sng" w="9525">
            <a:solidFill>
              <a:srgbClr val="E5E5E5"/>
            </a:solidFill>
            <a:prstDash val="solid"/>
            <a:round/>
            <a:headEnd len="sm" w="sm" type="none"/>
            <a:tailEnd len="sm" w="sm" type="none"/>
          </a:ln>
        </p:spPr>
      </p:cxnSp>
      <p:sp>
        <p:nvSpPr>
          <p:cNvPr id="88" name="Google Shape;88;p5"/>
          <p:cNvSpPr txBox="1"/>
          <p:nvPr/>
        </p:nvSpPr>
        <p:spPr>
          <a:xfrm>
            <a:off x="4649724" y="3811397"/>
            <a:ext cx="384048" cy="292608"/>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02</a:t>
            </a:r>
            <a:endParaRPr b="0" i="0" sz="1100" u="none" cap="none" strike="noStrike">
              <a:solidFill>
                <a:schemeClr val="dk1"/>
              </a:solidFill>
              <a:latin typeface="Calibri"/>
              <a:ea typeface="Calibri"/>
              <a:cs typeface="Calibri"/>
              <a:sym typeface="Calibri"/>
            </a:endParaRPr>
          </a:p>
        </p:txBody>
      </p:sp>
      <p:sp>
        <p:nvSpPr>
          <p:cNvPr id="89" name="Google Shape;89;p5"/>
          <p:cNvSpPr txBox="1"/>
          <p:nvPr/>
        </p:nvSpPr>
        <p:spPr>
          <a:xfrm>
            <a:off x="5106924" y="3793109"/>
            <a:ext cx="2432304" cy="329184"/>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UTM</a:t>
            </a:r>
            <a:endParaRPr b="0" i="0" sz="1150" u="none" cap="none" strike="noStrike">
              <a:solidFill>
                <a:schemeClr val="dk1"/>
              </a:solidFill>
              <a:latin typeface="Calibri"/>
              <a:ea typeface="Calibri"/>
              <a:cs typeface="Calibri"/>
              <a:sym typeface="Calibri"/>
            </a:endParaRPr>
          </a:p>
        </p:txBody>
      </p:sp>
      <p:cxnSp>
        <p:nvCxnSpPr>
          <p:cNvPr id="90" name="Google Shape;90;p5"/>
          <p:cNvCxnSpPr/>
          <p:nvPr/>
        </p:nvCxnSpPr>
        <p:spPr>
          <a:xfrm>
            <a:off x="4649724" y="4158869"/>
            <a:ext cx="2889504" cy="0"/>
          </a:xfrm>
          <a:prstGeom prst="straightConnector1">
            <a:avLst/>
          </a:prstGeom>
          <a:noFill/>
          <a:ln cap="flat" cmpd="sng" w="9525">
            <a:solidFill>
              <a:srgbClr val="E5E5E5"/>
            </a:solidFill>
            <a:prstDash val="solid"/>
            <a:round/>
            <a:headEnd len="sm" w="sm" type="none"/>
            <a:tailEnd len="sm" w="sm" type="none"/>
          </a:ln>
        </p:spPr>
      </p:cxnSp>
      <p:sp>
        <p:nvSpPr>
          <p:cNvPr id="91" name="Google Shape;91;p5"/>
          <p:cNvSpPr txBox="1"/>
          <p:nvPr/>
        </p:nvSpPr>
        <p:spPr>
          <a:xfrm>
            <a:off x="4649724" y="4213733"/>
            <a:ext cx="384048" cy="292608"/>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03</a:t>
            </a:r>
            <a:endParaRPr b="0" i="0" sz="1100" u="none" cap="none" strike="noStrike">
              <a:solidFill>
                <a:schemeClr val="dk1"/>
              </a:solidFill>
              <a:latin typeface="Calibri"/>
              <a:ea typeface="Calibri"/>
              <a:cs typeface="Calibri"/>
              <a:sym typeface="Calibri"/>
            </a:endParaRPr>
          </a:p>
        </p:txBody>
      </p:sp>
      <p:sp>
        <p:nvSpPr>
          <p:cNvPr id="92" name="Google Shape;92;p5"/>
          <p:cNvSpPr txBox="1"/>
          <p:nvPr/>
        </p:nvSpPr>
        <p:spPr>
          <a:xfrm>
            <a:off x="5106924" y="4195445"/>
            <a:ext cx="2432304" cy="329184"/>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CAPI</a:t>
            </a:r>
            <a:endParaRPr b="0" i="0" sz="1150" u="none" cap="none" strike="noStrike">
              <a:solidFill>
                <a:schemeClr val="dk1"/>
              </a:solidFill>
              <a:latin typeface="Calibri"/>
              <a:ea typeface="Calibri"/>
              <a:cs typeface="Calibri"/>
              <a:sym typeface="Calibri"/>
            </a:endParaRPr>
          </a:p>
        </p:txBody>
      </p:sp>
      <p:cxnSp>
        <p:nvCxnSpPr>
          <p:cNvPr id="93" name="Google Shape;93;p5"/>
          <p:cNvCxnSpPr/>
          <p:nvPr/>
        </p:nvCxnSpPr>
        <p:spPr>
          <a:xfrm>
            <a:off x="4649724" y="4561205"/>
            <a:ext cx="2889504" cy="0"/>
          </a:xfrm>
          <a:prstGeom prst="straightConnector1">
            <a:avLst/>
          </a:prstGeom>
          <a:noFill/>
          <a:ln cap="flat" cmpd="sng" w="9525">
            <a:solidFill>
              <a:srgbClr val="E5E5E5"/>
            </a:solidFill>
            <a:prstDash val="solid"/>
            <a:round/>
            <a:headEnd len="sm" w="sm" type="none"/>
            <a:tailEnd len="sm" w="sm" type="none"/>
          </a:ln>
        </p:spPr>
      </p:cxnSp>
      <p:sp>
        <p:nvSpPr>
          <p:cNvPr id="94" name="Google Shape;94;p5"/>
          <p:cNvSpPr txBox="1"/>
          <p:nvPr/>
        </p:nvSpPr>
        <p:spPr>
          <a:xfrm>
            <a:off x="4649724" y="4616069"/>
            <a:ext cx="384048" cy="292608"/>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04</a:t>
            </a:r>
            <a:endParaRPr b="0" i="0" sz="1100" u="none" cap="none" strike="noStrike">
              <a:solidFill>
                <a:schemeClr val="dk1"/>
              </a:solidFill>
              <a:latin typeface="Calibri"/>
              <a:ea typeface="Calibri"/>
              <a:cs typeface="Calibri"/>
              <a:sym typeface="Calibri"/>
            </a:endParaRPr>
          </a:p>
        </p:txBody>
      </p:sp>
      <p:sp>
        <p:nvSpPr>
          <p:cNvPr id="95" name="Google Shape;95;p5"/>
          <p:cNvSpPr txBox="1"/>
          <p:nvPr/>
        </p:nvSpPr>
        <p:spPr>
          <a:xfrm>
            <a:off x="5106924" y="4597781"/>
            <a:ext cx="2432304" cy="329184"/>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Incrementality</a:t>
            </a:r>
            <a:endParaRPr b="0" i="0" sz="1150" u="none" cap="none" strike="noStrike">
              <a:solidFill>
                <a:schemeClr val="dk1"/>
              </a:solidFill>
              <a:latin typeface="Calibri"/>
              <a:ea typeface="Calibri"/>
              <a:cs typeface="Calibri"/>
              <a:sym typeface="Calibri"/>
            </a:endParaRPr>
          </a:p>
        </p:txBody>
      </p:sp>
      <p:cxnSp>
        <p:nvCxnSpPr>
          <p:cNvPr id="96" name="Google Shape;96;p5"/>
          <p:cNvCxnSpPr/>
          <p:nvPr/>
        </p:nvCxnSpPr>
        <p:spPr>
          <a:xfrm>
            <a:off x="4649724" y="4963541"/>
            <a:ext cx="2889504" cy="0"/>
          </a:xfrm>
          <a:prstGeom prst="straightConnector1">
            <a:avLst/>
          </a:prstGeom>
          <a:noFill/>
          <a:ln cap="flat" cmpd="sng" w="9525">
            <a:solidFill>
              <a:srgbClr val="E5E5E5"/>
            </a:solidFill>
            <a:prstDash val="solid"/>
            <a:round/>
            <a:headEnd len="sm" w="sm" type="none"/>
            <a:tailEnd len="sm" w="sm" type="none"/>
          </a:ln>
        </p:spPr>
      </p:cxnSp>
      <p:sp>
        <p:nvSpPr>
          <p:cNvPr id="97" name="Google Shape;97;p5"/>
          <p:cNvSpPr txBox="1"/>
          <p:nvPr/>
        </p:nvSpPr>
        <p:spPr>
          <a:xfrm>
            <a:off x="4649724" y="5018405"/>
            <a:ext cx="384048" cy="292608"/>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05</a:t>
            </a:r>
            <a:endParaRPr b="0" i="0" sz="1100" u="none" cap="none" strike="noStrike">
              <a:solidFill>
                <a:schemeClr val="dk1"/>
              </a:solidFill>
              <a:latin typeface="Calibri"/>
              <a:ea typeface="Calibri"/>
              <a:cs typeface="Calibri"/>
              <a:sym typeface="Calibri"/>
            </a:endParaRPr>
          </a:p>
        </p:txBody>
      </p:sp>
      <p:sp>
        <p:nvSpPr>
          <p:cNvPr id="98" name="Google Shape;98;p5"/>
          <p:cNvSpPr txBox="1"/>
          <p:nvPr/>
        </p:nvSpPr>
        <p:spPr>
          <a:xfrm>
            <a:off x="5106924" y="5000117"/>
            <a:ext cx="2432304" cy="329184"/>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Cannibalization</a:t>
            </a:r>
            <a:endParaRPr b="0" i="0" sz="1150" u="none" cap="none" strike="noStrike">
              <a:solidFill>
                <a:schemeClr val="dk1"/>
              </a:solidFill>
              <a:latin typeface="Calibri"/>
              <a:ea typeface="Calibri"/>
              <a:cs typeface="Calibri"/>
              <a:sym typeface="Calibri"/>
            </a:endParaRPr>
          </a:p>
        </p:txBody>
      </p:sp>
      <p:sp>
        <p:nvSpPr>
          <p:cNvPr id="99" name="Google Shape;99;p5"/>
          <p:cNvSpPr/>
          <p:nvPr/>
        </p:nvSpPr>
        <p:spPr>
          <a:xfrm>
            <a:off x="8202168" y="1783080"/>
            <a:ext cx="3438144" cy="4526280"/>
          </a:xfrm>
          <a:prstGeom prst="roundRect">
            <a:avLst>
              <a:gd fmla="val 319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5"/>
          <p:cNvSpPr/>
          <p:nvPr/>
        </p:nvSpPr>
        <p:spPr>
          <a:xfrm>
            <a:off x="8476488" y="209397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layers.png" id="101" name="Google Shape;101;p5"/>
          <p:cNvPicPr preferRelativeResize="0"/>
          <p:nvPr/>
        </p:nvPicPr>
        <p:blipFill rotWithShape="1">
          <a:blip r:embed="rId6">
            <a:alphaModFix/>
          </a:blip>
          <a:srcRect b="0" l="0" r="0" t="0"/>
          <a:stretch/>
        </p:blipFill>
        <p:spPr>
          <a:xfrm>
            <a:off x="8581095" y="2198583"/>
            <a:ext cx="266273" cy="266273"/>
          </a:xfrm>
          <a:prstGeom prst="rect">
            <a:avLst/>
          </a:prstGeom>
          <a:noFill/>
          <a:ln>
            <a:noFill/>
          </a:ln>
        </p:spPr>
      </p:pic>
      <p:sp>
        <p:nvSpPr>
          <p:cNvPr id="102" name="Google Shape;102;p5"/>
          <p:cNvSpPr txBox="1"/>
          <p:nvPr/>
        </p:nvSpPr>
        <p:spPr>
          <a:xfrm>
            <a:off x="8476488" y="2715768"/>
            <a:ext cx="2889504" cy="566928"/>
          </a:xfrm>
          <a:prstGeom prst="rect">
            <a:avLst/>
          </a:prstGeom>
          <a:noFill/>
          <a:ln>
            <a:noFill/>
          </a:ln>
        </p:spPr>
        <p:txBody>
          <a:bodyPr anchorCtr="0" anchor="ctr" bIns="0" lIns="0" spcFirstLastPara="1" rIns="0" wrap="square" tIns="0">
            <a:noAutofit/>
          </a:bodyPr>
          <a:lstStyle/>
          <a:p>
            <a:pPr indent="0" lvl="0" marL="0" marR="0" rtl="0" algn="l">
              <a:lnSpc>
                <a:spcPct val="135032"/>
              </a:lnSpc>
              <a:spcBef>
                <a:spcPts val="0"/>
              </a:spcBef>
              <a:spcAft>
                <a:spcPts val="0"/>
              </a:spcAft>
              <a:buClr>
                <a:srgbClr val="171717"/>
              </a:buClr>
              <a:buSzPts val="1550"/>
              <a:buFont typeface="Inter"/>
              <a:buNone/>
            </a:pPr>
            <a:r>
              <a:rPr b="1" i="0" lang="en-US" sz="1550" u="none" cap="none" strike="noStrike">
                <a:solidFill>
                  <a:srgbClr val="171717"/>
                </a:solidFill>
                <a:latin typeface="Inter"/>
                <a:ea typeface="Inter"/>
                <a:cs typeface="Inter"/>
                <a:sym typeface="Inter"/>
              </a:rPr>
              <a:t>Block 6: the stack</a:t>
            </a:r>
            <a:endParaRPr b="0" i="0" sz="1550" u="none" cap="none" strike="noStrike">
              <a:solidFill>
                <a:schemeClr val="dk1"/>
              </a:solidFill>
              <a:latin typeface="Calibri"/>
              <a:ea typeface="Calibri"/>
              <a:cs typeface="Calibri"/>
              <a:sym typeface="Calibri"/>
            </a:endParaRPr>
          </a:p>
        </p:txBody>
      </p:sp>
      <p:sp>
        <p:nvSpPr>
          <p:cNvPr id="103" name="Google Shape;103;p5"/>
          <p:cNvSpPr txBox="1"/>
          <p:nvPr/>
        </p:nvSpPr>
        <p:spPr>
          <a:xfrm>
            <a:off x="8476488" y="3374136"/>
            <a:ext cx="384048" cy="292608"/>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01</a:t>
            </a:r>
            <a:endParaRPr b="0" i="0" sz="1100" u="none" cap="none" strike="noStrike">
              <a:solidFill>
                <a:schemeClr val="dk1"/>
              </a:solidFill>
              <a:latin typeface="Calibri"/>
              <a:ea typeface="Calibri"/>
              <a:cs typeface="Calibri"/>
              <a:sym typeface="Calibri"/>
            </a:endParaRPr>
          </a:p>
        </p:txBody>
      </p:sp>
      <p:sp>
        <p:nvSpPr>
          <p:cNvPr id="104" name="Google Shape;104;p5"/>
          <p:cNvSpPr txBox="1"/>
          <p:nvPr/>
        </p:nvSpPr>
        <p:spPr>
          <a:xfrm>
            <a:off x="8933688" y="3355848"/>
            <a:ext cx="2432304" cy="329184"/>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The tools map</a:t>
            </a:r>
            <a:endParaRPr b="0" i="0" sz="1150" u="none" cap="none" strike="noStrike">
              <a:solidFill>
                <a:schemeClr val="dk1"/>
              </a:solidFill>
              <a:latin typeface="Calibri"/>
              <a:ea typeface="Calibri"/>
              <a:cs typeface="Calibri"/>
              <a:sym typeface="Calibri"/>
            </a:endParaRPr>
          </a:p>
        </p:txBody>
      </p:sp>
      <p:cxnSp>
        <p:nvCxnSpPr>
          <p:cNvPr id="105" name="Google Shape;105;p5"/>
          <p:cNvCxnSpPr/>
          <p:nvPr/>
        </p:nvCxnSpPr>
        <p:spPr>
          <a:xfrm>
            <a:off x="8476488" y="3721608"/>
            <a:ext cx="2889504" cy="0"/>
          </a:xfrm>
          <a:prstGeom prst="straightConnector1">
            <a:avLst/>
          </a:prstGeom>
          <a:noFill/>
          <a:ln cap="flat" cmpd="sng" w="9525">
            <a:solidFill>
              <a:srgbClr val="E5E5E5"/>
            </a:solidFill>
            <a:prstDash val="solid"/>
            <a:round/>
            <a:headEnd len="sm" w="sm" type="none"/>
            <a:tailEnd len="sm" w="sm" type="none"/>
          </a:ln>
        </p:spPr>
      </p:cxnSp>
      <p:sp>
        <p:nvSpPr>
          <p:cNvPr id="106" name="Google Shape;106;p5"/>
          <p:cNvSpPr txBox="1"/>
          <p:nvPr/>
        </p:nvSpPr>
        <p:spPr>
          <a:xfrm>
            <a:off x="8476488" y="3776472"/>
            <a:ext cx="384048" cy="292608"/>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02</a:t>
            </a:r>
            <a:endParaRPr b="0" i="0" sz="1100" u="none" cap="none" strike="noStrike">
              <a:solidFill>
                <a:schemeClr val="dk1"/>
              </a:solidFill>
              <a:latin typeface="Calibri"/>
              <a:ea typeface="Calibri"/>
              <a:cs typeface="Calibri"/>
              <a:sym typeface="Calibri"/>
            </a:endParaRPr>
          </a:p>
        </p:txBody>
      </p:sp>
      <p:sp>
        <p:nvSpPr>
          <p:cNvPr id="107" name="Google Shape;107;p5"/>
          <p:cNvSpPr txBox="1"/>
          <p:nvPr/>
        </p:nvSpPr>
        <p:spPr>
          <a:xfrm>
            <a:off x="8933688" y="3758184"/>
            <a:ext cx="2432304" cy="539496"/>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Rate shopping and market intelligence tools</a:t>
            </a:r>
            <a:endParaRPr b="0" i="0" sz="1150" u="none" cap="none" strike="noStrike">
              <a:solidFill>
                <a:schemeClr val="dk1"/>
              </a:solidFill>
              <a:latin typeface="Calibri"/>
              <a:ea typeface="Calibri"/>
              <a:cs typeface="Calibri"/>
              <a:sym typeface="Calibri"/>
            </a:endParaRPr>
          </a:p>
        </p:txBody>
      </p:sp>
      <p:cxnSp>
        <p:nvCxnSpPr>
          <p:cNvPr id="108" name="Google Shape;108;p5"/>
          <p:cNvCxnSpPr/>
          <p:nvPr/>
        </p:nvCxnSpPr>
        <p:spPr>
          <a:xfrm>
            <a:off x="8476488" y="4334256"/>
            <a:ext cx="2889504" cy="0"/>
          </a:xfrm>
          <a:prstGeom prst="straightConnector1">
            <a:avLst/>
          </a:prstGeom>
          <a:noFill/>
          <a:ln cap="flat" cmpd="sng" w="9525">
            <a:solidFill>
              <a:srgbClr val="E5E5E5"/>
            </a:solidFill>
            <a:prstDash val="solid"/>
            <a:round/>
            <a:headEnd len="sm" w="sm" type="none"/>
            <a:tailEnd len="sm" w="sm" type="none"/>
          </a:ln>
        </p:spPr>
      </p:cxnSp>
      <p:sp>
        <p:nvSpPr>
          <p:cNvPr id="109" name="Google Shape;109;p5"/>
          <p:cNvSpPr txBox="1"/>
          <p:nvPr/>
        </p:nvSpPr>
        <p:spPr>
          <a:xfrm>
            <a:off x="8476488" y="4389120"/>
            <a:ext cx="384048" cy="292608"/>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03</a:t>
            </a:r>
            <a:endParaRPr b="0" i="0" sz="1100" u="none" cap="none" strike="noStrike">
              <a:solidFill>
                <a:schemeClr val="dk1"/>
              </a:solidFill>
              <a:latin typeface="Calibri"/>
              <a:ea typeface="Calibri"/>
              <a:cs typeface="Calibri"/>
              <a:sym typeface="Calibri"/>
            </a:endParaRPr>
          </a:p>
        </p:txBody>
      </p:sp>
      <p:sp>
        <p:nvSpPr>
          <p:cNvPr id="110" name="Google Shape;110;p5"/>
          <p:cNvSpPr txBox="1"/>
          <p:nvPr/>
        </p:nvSpPr>
        <p:spPr>
          <a:xfrm>
            <a:off x="8933688" y="4370832"/>
            <a:ext cx="2432304" cy="329184"/>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CRM tools</a:t>
            </a:r>
            <a:endParaRPr b="0" i="0" sz="1150" u="none" cap="none" strike="noStrike">
              <a:solidFill>
                <a:schemeClr val="dk1"/>
              </a:solidFill>
              <a:latin typeface="Calibri"/>
              <a:ea typeface="Calibri"/>
              <a:cs typeface="Calibri"/>
              <a:sym typeface="Calibri"/>
            </a:endParaRPr>
          </a:p>
        </p:txBody>
      </p:sp>
      <p:cxnSp>
        <p:nvCxnSpPr>
          <p:cNvPr id="111" name="Google Shape;111;p5"/>
          <p:cNvCxnSpPr/>
          <p:nvPr/>
        </p:nvCxnSpPr>
        <p:spPr>
          <a:xfrm>
            <a:off x="8476488" y="4736592"/>
            <a:ext cx="2889504" cy="0"/>
          </a:xfrm>
          <a:prstGeom prst="straightConnector1">
            <a:avLst/>
          </a:prstGeom>
          <a:noFill/>
          <a:ln cap="flat" cmpd="sng" w="9525">
            <a:solidFill>
              <a:srgbClr val="E5E5E5"/>
            </a:solidFill>
            <a:prstDash val="solid"/>
            <a:round/>
            <a:headEnd len="sm" w="sm" type="none"/>
            <a:tailEnd len="sm" w="sm" type="none"/>
          </a:ln>
        </p:spPr>
      </p:cxnSp>
      <p:sp>
        <p:nvSpPr>
          <p:cNvPr id="112" name="Google Shape;112;p5"/>
          <p:cNvSpPr txBox="1"/>
          <p:nvPr/>
        </p:nvSpPr>
        <p:spPr>
          <a:xfrm>
            <a:off x="8476488" y="4791456"/>
            <a:ext cx="384048" cy="292608"/>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04</a:t>
            </a:r>
            <a:endParaRPr b="0" i="0" sz="1100" u="none" cap="none" strike="noStrike">
              <a:solidFill>
                <a:schemeClr val="dk1"/>
              </a:solidFill>
              <a:latin typeface="Calibri"/>
              <a:ea typeface="Calibri"/>
              <a:cs typeface="Calibri"/>
              <a:sym typeface="Calibri"/>
            </a:endParaRPr>
          </a:p>
        </p:txBody>
      </p:sp>
      <p:sp>
        <p:nvSpPr>
          <p:cNvPr id="113" name="Google Shape;113;p5"/>
          <p:cNvSpPr txBox="1"/>
          <p:nvPr/>
        </p:nvSpPr>
        <p:spPr>
          <a:xfrm>
            <a:off x="8933688" y="4773168"/>
            <a:ext cx="2432304" cy="329184"/>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Guest messaging tools</a:t>
            </a:r>
            <a:endParaRPr b="0" i="0" sz="1150" u="none" cap="none" strike="noStrike">
              <a:solidFill>
                <a:schemeClr val="dk1"/>
              </a:solidFill>
              <a:latin typeface="Calibri"/>
              <a:ea typeface="Calibri"/>
              <a:cs typeface="Calibri"/>
              <a:sym typeface="Calibri"/>
            </a:endParaRPr>
          </a:p>
        </p:txBody>
      </p:sp>
      <p:cxnSp>
        <p:nvCxnSpPr>
          <p:cNvPr id="114" name="Google Shape;114;p5"/>
          <p:cNvCxnSpPr/>
          <p:nvPr/>
        </p:nvCxnSpPr>
        <p:spPr>
          <a:xfrm>
            <a:off x="8476488" y="5138928"/>
            <a:ext cx="2889504" cy="0"/>
          </a:xfrm>
          <a:prstGeom prst="straightConnector1">
            <a:avLst/>
          </a:prstGeom>
          <a:noFill/>
          <a:ln cap="flat" cmpd="sng" w="9525">
            <a:solidFill>
              <a:srgbClr val="E5E5E5"/>
            </a:solidFill>
            <a:prstDash val="solid"/>
            <a:round/>
            <a:headEnd len="sm" w="sm" type="none"/>
            <a:tailEnd len="sm" w="sm" type="none"/>
          </a:ln>
        </p:spPr>
      </p:cxnSp>
      <p:sp>
        <p:nvSpPr>
          <p:cNvPr id="115" name="Google Shape;115;p5"/>
          <p:cNvSpPr txBox="1"/>
          <p:nvPr/>
        </p:nvSpPr>
        <p:spPr>
          <a:xfrm>
            <a:off x="8476488" y="5193792"/>
            <a:ext cx="384048" cy="292608"/>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05</a:t>
            </a:r>
            <a:endParaRPr b="0" i="0" sz="1100" u="none" cap="none" strike="noStrike">
              <a:solidFill>
                <a:schemeClr val="dk1"/>
              </a:solidFill>
              <a:latin typeface="Calibri"/>
              <a:ea typeface="Calibri"/>
              <a:cs typeface="Calibri"/>
              <a:sym typeface="Calibri"/>
            </a:endParaRPr>
          </a:p>
        </p:txBody>
      </p:sp>
      <p:sp>
        <p:nvSpPr>
          <p:cNvPr id="116" name="Google Shape;116;p5"/>
          <p:cNvSpPr txBox="1"/>
          <p:nvPr/>
        </p:nvSpPr>
        <p:spPr>
          <a:xfrm>
            <a:off x="8933688" y="5175504"/>
            <a:ext cx="2432304" cy="329184"/>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Upsell tools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21" name="Shape 121"/>
        <p:cNvGrpSpPr/>
        <p:nvPr/>
      </p:nvGrpSpPr>
      <p:grpSpPr>
        <a:xfrm>
          <a:off x="0" y="0"/>
          <a:ext cx="0" cy="0"/>
          <a:chOff x="0" y="0"/>
          <a:chExt cx="0" cy="0"/>
        </a:xfrm>
      </p:grpSpPr>
      <p:sp>
        <p:nvSpPr>
          <p:cNvPr id="122" name="Google Shape;122;p6"/>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4 · WHY DIRECT PAYS</a:t>
            </a:r>
            <a:endParaRPr b="0" i="0" sz="1050" u="none" cap="none" strike="noStrike">
              <a:solidFill>
                <a:schemeClr val="dk1"/>
              </a:solidFill>
              <a:latin typeface="Calibri"/>
              <a:ea typeface="Calibri"/>
              <a:cs typeface="Calibri"/>
              <a:sym typeface="Calibri"/>
            </a:endParaRPr>
          </a:p>
        </p:txBody>
      </p:sp>
      <p:sp>
        <p:nvSpPr>
          <p:cNvPr id="123" name="Google Shape;123;p6"/>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Block 4: why direct pays</a:t>
            </a:r>
            <a:endParaRPr b="0" i="0" sz="3000" u="none" cap="none" strike="noStrike">
              <a:solidFill>
                <a:schemeClr val="dk1"/>
              </a:solidFill>
              <a:latin typeface="Calibri"/>
              <a:ea typeface="Calibri"/>
              <a:cs typeface="Calibri"/>
              <a:sym typeface="Calibri"/>
            </a:endParaRPr>
          </a:p>
        </p:txBody>
      </p:sp>
      <p:sp>
        <p:nvSpPr>
          <p:cNvPr id="124" name="Google Shape;124;p6"/>
          <p:cNvSpPr txBox="1"/>
          <p:nvPr/>
        </p:nvSpPr>
        <p:spPr>
          <a:xfrm>
            <a:off x="548640" y="1426464"/>
            <a:ext cx="1106424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1400"/>
              <a:buFont typeface="Inter"/>
              <a:buNone/>
            </a:pPr>
            <a:r>
              <a:rPr b="0" i="0" lang="en-US" sz="1400" u="none" cap="none" strike="noStrike">
                <a:solidFill>
                  <a:srgbClr val="004FAA"/>
                </a:solidFill>
                <a:latin typeface="Inter"/>
                <a:ea typeface="Inter"/>
                <a:cs typeface="Inter"/>
                <a:sym typeface="Inter"/>
              </a:rPr>
              <a:t>Four terms that put a number on a direct booking: where guests compare your price, what a buyer pays for your profit, what you own when the guest books with you, and what it really cost to win them.</a:t>
            </a:r>
            <a:endParaRPr b="0" i="0" sz="1400" u="none" cap="none" strike="noStrike">
              <a:solidFill>
                <a:schemeClr val="dk1"/>
              </a:solidFill>
              <a:latin typeface="Calibri"/>
              <a:ea typeface="Calibri"/>
              <a:cs typeface="Calibri"/>
              <a:sym typeface="Calibri"/>
            </a:endParaRPr>
          </a:p>
        </p:txBody>
      </p:sp>
      <p:pic>
        <p:nvPicPr>
          <p:cNvPr descr="/home/claude/work/renderer/brand/wordmark.png" id="125" name="Google Shape;125;p6"/>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26" name="Google Shape;126;p6"/>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4 / 48</a:t>
            </a:r>
            <a:endParaRPr b="0" i="0" sz="900" u="none" cap="none" strike="noStrike">
              <a:solidFill>
                <a:schemeClr val="dk1"/>
              </a:solidFill>
              <a:latin typeface="Calibri"/>
              <a:ea typeface="Calibri"/>
              <a:cs typeface="Calibri"/>
              <a:sym typeface="Calibri"/>
            </a:endParaRPr>
          </a:p>
        </p:txBody>
      </p:sp>
      <p:sp>
        <p:nvSpPr>
          <p:cNvPr id="127" name="Google Shape;127;p6"/>
          <p:cNvSpPr/>
          <p:nvPr/>
        </p:nvSpPr>
        <p:spPr>
          <a:xfrm>
            <a:off x="548640" y="1920240"/>
            <a:ext cx="3545738" cy="2098548"/>
          </a:xfrm>
          <a:prstGeom prst="roundRect">
            <a:avLst>
              <a:gd fmla="val 522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6"/>
          <p:cNvSpPr txBox="1"/>
          <p:nvPr/>
        </p:nvSpPr>
        <p:spPr>
          <a:xfrm>
            <a:off x="822960" y="2139696"/>
            <a:ext cx="73152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01</a:t>
            </a:r>
            <a:endParaRPr b="0" i="0" sz="1600" u="none" cap="none" strike="noStrike">
              <a:solidFill>
                <a:schemeClr val="dk1"/>
              </a:solidFill>
              <a:latin typeface="Calibri"/>
              <a:ea typeface="Calibri"/>
              <a:cs typeface="Calibri"/>
              <a:sym typeface="Calibri"/>
            </a:endParaRPr>
          </a:p>
        </p:txBody>
      </p:sp>
      <p:sp>
        <p:nvSpPr>
          <p:cNvPr id="129" name="Google Shape;129;p6"/>
          <p:cNvSpPr/>
          <p:nvPr/>
        </p:nvSpPr>
        <p:spPr>
          <a:xfrm>
            <a:off x="3399434" y="2121408"/>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search.png" id="130" name="Google Shape;130;p6"/>
          <p:cNvPicPr preferRelativeResize="0"/>
          <p:nvPr/>
        </p:nvPicPr>
        <p:blipFill rotWithShape="1">
          <a:blip r:embed="rId4">
            <a:alphaModFix/>
          </a:blip>
          <a:srcRect b="0" l="0" r="0" t="0"/>
          <a:stretch/>
        </p:blipFill>
        <p:spPr>
          <a:xfrm>
            <a:off x="3491972" y="2213945"/>
            <a:ext cx="235549" cy="235549"/>
          </a:xfrm>
          <a:prstGeom prst="rect">
            <a:avLst/>
          </a:prstGeom>
          <a:noFill/>
          <a:ln>
            <a:noFill/>
          </a:ln>
        </p:spPr>
      </p:pic>
      <p:sp>
        <p:nvSpPr>
          <p:cNvPr id="131" name="Google Shape;131;p6"/>
          <p:cNvSpPr txBox="1"/>
          <p:nvPr/>
        </p:nvSpPr>
        <p:spPr>
          <a:xfrm>
            <a:off x="822960" y="2523744"/>
            <a:ext cx="2997098" cy="4572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700"/>
              <a:buFont typeface="Inter"/>
              <a:buNone/>
            </a:pPr>
            <a:r>
              <a:rPr b="1" i="0" lang="en-US" sz="1700" u="none" cap="none" strike="noStrike">
                <a:solidFill>
                  <a:srgbClr val="171717"/>
                </a:solidFill>
                <a:latin typeface="Inter"/>
                <a:ea typeface="Inter"/>
                <a:cs typeface="Inter"/>
                <a:sym typeface="Inter"/>
              </a:rPr>
              <a:t>Metasearch</a:t>
            </a:r>
            <a:endParaRPr b="0" i="0" sz="1700" u="none" cap="none" strike="noStrike">
              <a:solidFill>
                <a:schemeClr val="dk1"/>
              </a:solidFill>
              <a:latin typeface="Calibri"/>
              <a:ea typeface="Calibri"/>
              <a:cs typeface="Calibri"/>
              <a:sym typeface="Calibri"/>
            </a:endParaRPr>
          </a:p>
        </p:txBody>
      </p:sp>
      <p:sp>
        <p:nvSpPr>
          <p:cNvPr id="132" name="Google Shape;132;p6"/>
          <p:cNvSpPr txBox="1"/>
          <p:nvPr/>
        </p:nvSpPr>
        <p:spPr>
          <a:xfrm>
            <a:off x="822960" y="2999232"/>
            <a:ext cx="2997098" cy="86410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Where a guest sees your price next to the OTAs' (online travel agencies).</a:t>
            </a:r>
            <a:endParaRPr b="0" i="0" sz="1150" u="none" cap="none" strike="noStrike">
              <a:solidFill>
                <a:schemeClr val="dk1"/>
              </a:solidFill>
              <a:latin typeface="Calibri"/>
              <a:ea typeface="Calibri"/>
              <a:cs typeface="Calibri"/>
              <a:sym typeface="Calibri"/>
            </a:endParaRPr>
          </a:p>
        </p:txBody>
      </p:sp>
      <p:sp>
        <p:nvSpPr>
          <p:cNvPr id="133" name="Google Shape;133;p6"/>
          <p:cNvSpPr/>
          <p:nvPr/>
        </p:nvSpPr>
        <p:spPr>
          <a:xfrm>
            <a:off x="4322978" y="1920240"/>
            <a:ext cx="3545738" cy="2098548"/>
          </a:xfrm>
          <a:prstGeom prst="roundRect">
            <a:avLst>
              <a:gd fmla="val 522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6"/>
          <p:cNvSpPr txBox="1"/>
          <p:nvPr/>
        </p:nvSpPr>
        <p:spPr>
          <a:xfrm>
            <a:off x="4597298" y="2139696"/>
            <a:ext cx="73152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02</a:t>
            </a:r>
            <a:endParaRPr b="0" i="0" sz="1600" u="none" cap="none" strike="noStrike">
              <a:solidFill>
                <a:schemeClr val="dk1"/>
              </a:solidFill>
              <a:latin typeface="Calibri"/>
              <a:ea typeface="Calibri"/>
              <a:cs typeface="Calibri"/>
              <a:sym typeface="Calibri"/>
            </a:endParaRPr>
          </a:p>
        </p:txBody>
      </p:sp>
      <p:sp>
        <p:nvSpPr>
          <p:cNvPr id="135" name="Google Shape;135;p6"/>
          <p:cNvSpPr/>
          <p:nvPr/>
        </p:nvSpPr>
        <p:spPr>
          <a:xfrm>
            <a:off x="7173773" y="2121408"/>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percent.png" id="136" name="Google Shape;136;p6"/>
          <p:cNvPicPr preferRelativeResize="0"/>
          <p:nvPr/>
        </p:nvPicPr>
        <p:blipFill rotWithShape="1">
          <a:blip r:embed="rId5">
            <a:alphaModFix/>
          </a:blip>
          <a:srcRect b="0" l="0" r="0" t="0"/>
          <a:stretch/>
        </p:blipFill>
        <p:spPr>
          <a:xfrm>
            <a:off x="7266310" y="2213945"/>
            <a:ext cx="235549" cy="235549"/>
          </a:xfrm>
          <a:prstGeom prst="rect">
            <a:avLst/>
          </a:prstGeom>
          <a:noFill/>
          <a:ln>
            <a:noFill/>
          </a:ln>
        </p:spPr>
      </p:pic>
      <p:sp>
        <p:nvSpPr>
          <p:cNvPr id="137" name="Google Shape;137;p6"/>
          <p:cNvSpPr txBox="1"/>
          <p:nvPr/>
        </p:nvSpPr>
        <p:spPr>
          <a:xfrm>
            <a:off x="4597298" y="2523744"/>
            <a:ext cx="2997098" cy="4572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700"/>
              <a:buFont typeface="Inter"/>
              <a:buNone/>
            </a:pPr>
            <a:r>
              <a:rPr b="1" i="0" lang="en-US" sz="1700" u="none" cap="none" strike="noStrike">
                <a:solidFill>
                  <a:srgbClr val="171717"/>
                </a:solidFill>
                <a:latin typeface="Inter"/>
                <a:ea typeface="Inter"/>
                <a:cs typeface="Inter"/>
                <a:sym typeface="Inter"/>
              </a:rPr>
              <a:t>Cap rate</a:t>
            </a:r>
            <a:endParaRPr b="0" i="0" sz="1700" u="none" cap="none" strike="noStrike">
              <a:solidFill>
                <a:schemeClr val="dk1"/>
              </a:solidFill>
              <a:latin typeface="Calibri"/>
              <a:ea typeface="Calibri"/>
              <a:cs typeface="Calibri"/>
              <a:sym typeface="Calibri"/>
            </a:endParaRPr>
          </a:p>
        </p:txBody>
      </p:sp>
      <p:sp>
        <p:nvSpPr>
          <p:cNvPr id="138" name="Google Shape;138;p6"/>
          <p:cNvSpPr txBox="1"/>
          <p:nvPr/>
        </p:nvSpPr>
        <p:spPr>
          <a:xfrm>
            <a:off x="4597298" y="2999232"/>
            <a:ext cx="2997098" cy="86410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What a buyer pays for your profit.</a:t>
            </a:r>
            <a:endParaRPr b="0" i="0" sz="1150" u="none" cap="none" strike="noStrike">
              <a:solidFill>
                <a:schemeClr val="dk1"/>
              </a:solidFill>
              <a:latin typeface="Calibri"/>
              <a:ea typeface="Calibri"/>
              <a:cs typeface="Calibri"/>
              <a:sym typeface="Calibri"/>
            </a:endParaRPr>
          </a:p>
        </p:txBody>
      </p:sp>
      <p:sp>
        <p:nvSpPr>
          <p:cNvPr id="139" name="Google Shape;139;p6"/>
          <p:cNvSpPr/>
          <p:nvPr/>
        </p:nvSpPr>
        <p:spPr>
          <a:xfrm>
            <a:off x="8097317" y="1920240"/>
            <a:ext cx="3545738" cy="2098548"/>
          </a:xfrm>
          <a:prstGeom prst="roundRect">
            <a:avLst>
              <a:gd fmla="val 522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6"/>
          <p:cNvSpPr txBox="1"/>
          <p:nvPr/>
        </p:nvSpPr>
        <p:spPr>
          <a:xfrm>
            <a:off x="8371637" y="2139696"/>
            <a:ext cx="73152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03</a:t>
            </a:r>
            <a:endParaRPr b="0" i="0" sz="1600" u="none" cap="none" strike="noStrike">
              <a:solidFill>
                <a:schemeClr val="dk1"/>
              </a:solidFill>
              <a:latin typeface="Calibri"/>
              <a:ea typeface="Calibri"/>
              <a:cs typeface="Calibri"/>
              <a:sym typeface="Calibri"/>
            </a:endParaRPr>
          </a:p>
        </p:txBody>
      </p:sp>
      <p:sp>
        <p:nvSpPr>
          <p:cNvPr id="141" name="Google Shape;141;p6"/>
          <p:cNvSpPr/>
          <p:nvPr/>
        </p:nvSpPr>
        <p:spPr>
          <a:xfrm>
            <a:off x="10948111" y="2121408"/>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user-check.png" id="142" name="Google Shape;142;p6"/>
          <p:cNvPicPr preferRelativeResize="0"/>
          <p:nvPr/>
        </p:nvPicPr>
        <p:blipFill rotWithShape="1">
          <a:blip r:embed="rId6">
            <a:alphaModFix/>
          </a:blip>
          <a:srcRect b="0" l="0" r="0" t="0"/>
          <a:stretch/>
        </p:blipFill>
        <p:spPr>
          <a:xfrm>
            <a:off x="11040648" y="2213945"/>
            <a:ext cx="235549" cy="235549"/>
          </a:xfrm>
          <a:prstGeom prst="rect">
            <a:avLst/>
          </a:prstGeom>
          <a:noFill/>
          <a:ln>
            <a:noFill/>
          </a:ln>
        </p:spPr>
      </p:pic>
      <p:sp>
        <p:nvSpPr>
          <p:cNvPr id="143" name="Google Shape;143;p6"/>
          <p:cNvSpPr txBox="1"/>
          <p:nvPr/>
        </p:nvSpPr>
        <p:spPr>
          <a:xfrm>
            <a:off x="8371637" y="2523744"/>
            <a:ext cx="2997098" cy="4572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700"/>
              <a:buFont typeface="Inter"/>
              <a:buNone/>
            </a:pPr>
            <a:r>
              <a:rPr b="1" i="0" lang="en-US" sz="1700" u="none" cap="none" strike="noStrike">
                <a:solidFill>
                  <a:srgbClr val="171717"/>
                </a:solidFill>
                <a:latin typeface="Inter"/>
                <a:ea typeface="Inter"/>
                <a:cs typeface="Inter"/>
                <a:sym typeface="Inter"/>
              </a:rPr>
              <a:t>First-party data</a:t>
            </a:r>
            <a:endParaRPr b="0" i="0" sz="1700" u="none" cap="none" strike="noStrike">
              <a:solidFill>
                <a:schemeClr val="dk1"/>
              </a:solidFill>
              <a:latin typeface="Calibri"/>
              <a:ea typeface="Calibri"/>
              <a:cs typeface="Calibri"/>
              <a:sym typeface="Calibri"/>
            </a:endParaRPr>
          </a:p>
        </p:txBody>
      </p:sp>
      <p:sp>
        <p:nvSpPr>
          <p:cNvPr id="144" name="Google Shape;144;p6"/>
          <p:cNvSpPr txBox="1"/>
          <p:nvPr/>
        </p:nvSpPr>
        <p:spPr>
          <a:xfrm>
            <a:off x="8371637" y="2999232"/>
            <a:ext cx="2997098" cy="86410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What you own when the guest books with you.</a:t>
            </a:r>
            <a:endParaRPr b="0" i="0" sz="1150" u="none" cap="none" strike="noStrike">
              <a:solidFill>
                <a:schemeClr val="dk1"/>
              </a:solidFill>
              <a:latin typeface="Calibri"/>
              <a:ea typeface="Calibri"/>
              <a:cs typeface="Calibri"/>
              <a:sym typeface="Calibri"/>
            </a:endParaRPr>
          </a:p>
        </p:txBody>
      </p:sp>
      <p:sp>
        <p:nvSpPr>
          <p:cNvPr id="145" name="Google Shape;145;p6"/>
          <p:cNvSpPr/>
          <p:nvPr/>
        </p:nvSpPr>
        <p:spPr>
          <a:xfrm>
            <a:off x="548640" y="4247388"/>
            <a:ext cx="3545738" cy="2098548"/>
          </a:xfrm>
          <a:prstGeom prst="roundRect">
            <a:avLst>
              <a:gd fmla="val 522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6"/>
          <p:cNvSpPr txBox="1"/>
          <p:nvPr/>
        </p:nvSpPr>
        <p:spPr>
          <a:xfrm>
            <a:off x="822960" y="4466844"/>
            <a:ext cx="73152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04</a:t>
            </a:r>
            <a:endParaRPr b="0" i="0" sz="1600" u="none" cap="none" strike="noStrike">
              <a:solidFill>
                <a:schemeClr val="dk1"/>
              </a:solidFill>
              <a:latin typeface="Calibri"/>
              <a:ea typeface="Calibri"/>
              <a:cs typeface="Calibri"/>
              <a:sym typeface="Calibri"/>
            </a:endParaRPr>
          </a:p>
        </p:txBody>
      </p:sp>
      <p:sp>
        <p:nvSpPr>
          <p:cNvPr id="147" name="Google Shape;147;p6"/>
          <p:cNvSpPr/>
          <p:nvPr/>
        </p:nvSpPr>
        <p:spPr>
          <a:xfrm>
            <a:off x="3399434" y="4448556"/>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receipt.png" id="148" name="Google Shape;148;p6"/>
          <p:cNvPicPr preferRelativeResize="0"/>
          <p:nvPr/>
        </p:nvPicPr>
        <p:blipFill rotWithShape="1">
          <a:blip r:embed="rId7">
            <a:alphaModFix/>
          </a:blip>
          <a:srcRect b="0" l="0" r="0" t="0"/>
          <a:stretch/>
        </p:blipFill>
        <p:spPr>
          <a:xfrm>
            <a:off x="3491972" y="4541093"/>
            <a:ext cx="235549" cy="235549"/>
          </a:xfrm>
          <a:prstGeom prst="rect">
            <a:avLst/>
          </a:prstGeom>
          <a:noFill/>
          <a:ln>
            <a:noFill/>
          </a:ln>
        </p:spPr>
      </p:pic>
      <p:sp>
        <p:nvSpPr>
          <p:cNvPr id="149" name="Google Shape;149;p6"/>
          <p:cNvSpPr txBox="1"/>
          <p:nvPr/>
        </p:nvSpPr>
        <p:spPr>
          <a:xfrm>
            <a:off x="822960" y="4850892"/>
            <a:ext cx="2997098" cy="4572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700"/>
              <a:buFont typeface="Inter"/>
              <a:buNone/>
            </a:pPr>
            <a:r>
              <a:rPr b="1" i="0" lang="en-US" sz="1700" u="none" cap="none" strike="noStrike">
                <a:solidFill>
                  <a:srgbClr val="171717"/>
                </a:solidFill>
                <a:latin typeface="Inter"/>
                <a:ea typeface="Inter"/>
                <a:cs typeface="Inter"/>
                <a:sym typeface="Inter"/>
              </a:rPr>
              <a:t>Effective commission</a:t>
            </a:r>
            <a:endParaRPr b="0" i="0" sz="1700" u="none" cap="none" strike="noStrike">
              <a:solidFill>
                <a:schemeClr val="dk1"/>
              </a:solidFill>
              <a:latin typeface="Calibri"/>
              <a:ea typeface="Calibri"/>
              <a:cs typeface="Calibri"/>
              <a:sym typeface="Calibri"/>
            </a:endParaRPr>
          </a:p>
        </p:txBody>
      </p:sp>
      <p:sp>
        <p:nvSpPr>
          <p:cNvPr id="150" name="Google Shape;150;p6"/>
          <p:cNvSpPr txBox="1"/>
          <p:nvPr/>
        </p:nvSpPr>
        <p:spPr>
          <a:xfrm>
            <a:off x="822960" y="5326380"/>
            <a:ext cx="2997098" cy="86410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What it really cost to win them.</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55" name="Shape 155"/>
        <p:cNvGrpSpPr/>
        <p:nvPr/>
      </p:nvGrpSpPr>
      <p:grpSpPr>
        <a:xfrm>
          <a:off x="0" y="0"/>
          <a:ext cx="0" cy="0"/>
          <a:chOff x="0" y="0"/>
          <a:chExt cx="0" cy="0"/>
        </a:xfrm>
      </p:grpSpPr>
      <p:sp>
        <p:nvSpPr>
          <p:cNvPr id="156" name="Google Shape;156;p7"/>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4 · WHY DIRECT PAYS</a:t>
            </a:r>
            <a:endParaRPr b="0" i="0" sz="1050" u="none" cap="none" strike="noStrike">
              <a:solidFill>
                <a:schemeClr val="dk1"/>
              </a:solidFill>
              <a:latin typeface="Calibri"/>
              <a:ea typeface="Calibri"/>
              <a:cs typeface="Calibri"/>
              <a:sym typeface="Calibri"/>
            </a:endParaRPr>
          </a:p>
        </p:txBody>
      </p:sp>
      <p:pic>
        <p:nvPicPr>
          <p:cNvPr descr="/home/claude/work/renderer/brand/wordmark.png" id="157" name="Google Shape;157;p7"/>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58" name="Google Shape;158;p7"/>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5 / 48</a:t>
            </a:r>
            <a:endParaRPr b="0" i="0" sz="900" u="none" cap="none" strike="noStrike">
              <a:solidFill>
                <a:schemeClr val="dk1"/>
              </a:solidFill>
              <a:latin typeface="Calibri"/>
              <a:ea typeface="Calibri"/>
              <a:cs typeface="Calibri"/>
              <a:sym typeface="Calibri"/>
            </a:endParaRPr>
          </a:p>
        </p:txBody>
      </p:sp>
      <p:sp>
        <p:nvSpPr>
          <p:cNvPr id="159" name="Google Shape;159;p7"/>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Metasearch</a:t>
            </a:r>
            <a:r>
              <a:rPr b="0" i="0" lang="en-US" sz="1700" u="none" cap="none" strike="noStrike">
                <a:solidFill>
                  <a:srgbClr val="004FAA"/>
                </a:solidFill>
                <a:latin typeface="Inter"/>
                <a:ea typeface="Inter"/>
                <a:cs typeface="Inter"/>
                <a:sym typeface="Inter"/>
              </a:rPr>
              <a:t>  where guests compare your price</a:t>
            </a:r>
            <a:endParaRPr b="0" i="0" sz="3000" u="none" cap="none" strike="noStrike">
              <a:solidFill>
                <a:schemeClr val="dk1"/>
              </a:solidFill>
              <a:latin typeface="Calibri"/>
              <a:ea typeface="Calibri"/>
              <a:cs typeface="Calibri"/>
              <a:sym typeface="Calibri"/>
            </a:endParaRPr>
          </a:p>
        </p:txBody>
      </p:sp>
      <p:sp>
        <p:nvSpPr>
          <p:cNvPr id="160" name="Google Shape;160;p7"/>
          <p:cNvSpPr/>
          <p:nvPr/>
        </p:nvSpPr>
        <p:spPr>
          <a:xfrm>
            <a:off x="5715000" y="1783080"/>
            <a:ext cx="5928055" cy="4326622"/>
          </a:xfrm>
          <a:prstGeom prst="roundRect">
            <a:avLst>
              <a:gd fmla="val 2536"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7"/>
          <p:cNvSpPr/>
          <p:nvPr/>
        </p:nvSpPr>
        <p:spPr>
          <a:xfrm>
            <a:off x="548640" y="1783080"/>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book-closed.png" id="162" name="Google Shape;162;p7"/>
          <p:cNvPicPr preferRelativeResize="0"/>
          <p:nvPr/>
        </p:nvPicPr>
        <p:blipFill rotWithShape="1">
          <a:blip r:embed="rId4">
            <a:alphaModFix/>
          </a:blip>
          <a:srcRect b="0" l="0" r="0" t="0"/>
          <a:stretch/>
        </p:blipFill>
        <p:spPr>
          <a:xfrm>
            <a:off x="641177" y="1875617"/>
            <a:ext cx="235549" cy="235549"/>
          </a:xfrm>
          <a:prstGeom prst="rect">
            <a:avLst/>
          </a:prstGeom>
          <a:noFill/>
          <a:ln>
            <a:noFill/>
          </a:ln>
        </p:spPr>
      </p:pic>
      <p:sp>
        <p:nvSpPr>
          <p:cNvPr id="163" name="Google Shape;163;p7"/>
          <p:cNvSpPr txBox="1"/>
          <p:nvPr/>
        </p:nvSpPr>
        <p:spPr>
          <a:xfrm>
            <a:off x="1170432" y="1764792"/>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Dictionary</a:t>
            </a:r>
            <a:endParaRPr b="0" i="0" sz="1450" u="none" cap="none" strike="noStrike">
              <a:solidFill>
                <a:schemeClr val="dk1"/>
              </a:solidFill>
              <a:latin typeface="Calibri"/>
              <a:ea typeface="Calibri"/>
              <a:cs typeface="Calibri"/>
              <a:sym typeface="Calibri"/>
            </a:endParaRPr>
          </a:p>
        </p:txBody>
      </p:sp>
      <p:sp>
        <p:nvSpPr>
          <p:cNvPr id="164" name="Google Shape;164;p7"/>
          <p:cNvSpPr txBox="1"/>
          <p:nvPr/>
        </p:nvSpPr>
        <p:spPr>
          <a:xfrm>
            <a:off x="1170432" y="2075688"/>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Google Hotel Ads, Tripadvisor, Trivago — rate comparison that passes traffic on to a booking channel.</a:t>
            </a:r>
            <a:endParaRPr b="0" i="0" sz="1150" u="none" cap="none" strike="noStrike">
              <a:solidFill>
                <a:schemeClr val="dk1"/>
              </a:solidFill>
              <a:latin typeface="Calibri"/>
              <a:ea typeface="Calibri"/>
              <a:cs typeface="Calibri"/>
              <a:sym typeface="Calibri"/>
            </a:endParaRPr>
          </a:p>
        </p:txBody>
      </p:sp>
      <p:sp>
        <p:nvSpPr>
          <p:cNvPr id="165" name="Google Shape;165;p7"/>
          <p:cNvSpPr/>
          <p:nvPr/>
        </p:nvSpPr>
        <p:spPr>
          <a:xfrm>
            <a:off x="548640" y="3252304"/>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heart.png" id="166" name="Google Shape;166;p7"/>
          <p:cNvPicPr preferRelativeResize="0"/>
          <p:nvPr/>
        </p:nvPicPr>
        <p:blipFill rotWithShape="1">
          <a:blip r:embed="rId5">
            <a:alphaModFix/>
          </a:blip>
          <a:srcRect b="0" l="0" r="0" t="0"/>
          <a:stretch/>
        </p:blipFill>
        <p:spPr>
          <a:xfrm>
            <a:off x="641177" y="3344842"/>
            <a:ext cx="235549" cy="235549"/>
          </a:xfrm>
          <a:prstGeom prst="rect">
            <a:avLst/>
          </a:prstGeom>
          <a:noFill/>
          <a:ln>
            <a:noFill/>
          </a:ln>
        </p:spPr>
      </p:pic>
      <p:sp>
        <p:nvSpPr>
          <p:cNvPr id="167" name="Google Shape;167;p7"/>
          <p:cNvSpPr txBox="1"/>
          <p:nvPr/>
        </p:nvSpPr>
        <p:spPr>
          <a:xfrm>
            <a:off x="1170432" y="3234016"/>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Why the owner cares</a:t>
            </a:r>
            <a:endParaRPr b="0" i="0" sz="1450" u="none" cap="none" strike="noStrike">
              <a:solidFill>
                <a:schemeClr val="dk1"/>
              </a:solidFill>
              <a:latin typeface="Calibri"/>
              <a:ea typeface="Calibri"/>
              <a:cs typeface="Calibri"/>
              <a:sym typeface="Calibri"/>
            </a:endParaRPr>
          </a:p>
        </p:txBody>
      </p:sp>
      <p:sp>
        <p:nvSpPr>
          <p:cNvPr id="168" name="Google Shape;168;p7"/>
          <p:cNvSpPr txBox="1"/>
          <p:nvPr/>
        </p:nvSpPr>
        <p:spPr>
          <a:xfrm>
            <a:off x="1170432" y="3544912"/>
            <a:ext cx="4270248" cy="89839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Their direct price sits next to Booking.com's and Expedia's on the same screen, and the click that lands on their own site is a booking they keep. It is also where last week's rate parity becomes visible to the guest.</a:t>
            </a:r>
            <a:endParaRPr b="0" i="0" sz="1150" u="none" cap="none" strike="noStrike">
              <a:solidFill>
                <a:schemeClr val="dk1"/>
              </a:solidFill>
              <a:latin typeface="Calibri"/>
              <a:ea typeface="Calibri"/>
              <a:cs typeface="Calibri"/>
              <a:sym typeface="Calibri"/>
            </a:endParaRPr>
          </a:p>
        </p:txBody>
      </p:sp>
      <p:sp>
        <p:nvSpPr>
          <p:cNvPr id="169" name="Google Shape;169;p7"/>
          <p:cNvSpPr/>
          <p:nvPr/>
        </p:nvSpPr>
        <p:spPr>
          <a:xfrm>
            <a:off x="548640" y="5115864"/>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message-square.png" id="170" name="Google Shape;170;p7"/>
          <p:cNvPicPr preferRelativeResize="0"/>
          <p:nvPr/>
        </p:nvPicPr>
        <p:blipFill rotWithShape="1">
          <a:blip r:embed="rId6">
            <a:alphaModFix/>
          </a:blip>
          <a:srcRect b="0" l="0" r="0" t="0"/>
          <a:stretch/>
        </p:blipFill>
        <p:spPr>
          <a:xfrm>
            <a:off x="641177" y="5208401"/>
            <a:ext cx="235549" cy="235549"/>
          </a:xfrm>
          <a:prstGeom prst="rect">
            <a:avLst/>
          </a:prstGeom>
          <a:noFill/>
          <a:ln>
            <a:noFill/>
          </a:ln>
        </p:spPr>
      </p:pic>
      <p:sp>
        <p:nvSpPr>
          <p:cNvPr id="171" name="Google Shape;171;p7"/>
          <p:cNvSpPr txBox="1"/>
          <p:nvPr/>
        </p:nvSpPr>
        <p:spPr>
          <a:xfrm>
            <a:off x="1170432" y="5097576"/>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Contextual usage</a:t>
            </a:r>
            <a:endParaRPr b="0" i="0" sz="1450" u="none" cap="none" strike="noStrike">
              <a:solidFill>
                <a:schemeClr val="dk1"/>
              </a:solidFill>
              <a:latin typeface="Calibri"/>
              <a:ea typeface="Calibri"/>
              <a:cs typeface="Calibri"/>
              <a:sym typeface="Calibri"/>
            </a:endParaRPr>
          </a:p>
        </p:txBody>
      </p:sp>
      <p:sp>
        <p:nvSpPr>
          <p:cNvPr id="172" name="Google Shape;172;p7"/>
          <p:cNvSpPr txBox="1"/>
          <p:nvPr/>
        </p:nvSpPr>
        <p:spPr>
          <a:xfrm>
            <a:off x="1170432" y="5408472"/>
            <a:ext cx="4270248" cy="701231"/>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Guests comparing prices on Google or Tripadvisor are on metasearch — are you showing up there with your direct rate?</a:t>
            </a:r>
            <a:endParaRPr b="0" i="0" sz="1150" u="none" cap="none" strike="noStrike">
              <a:solidFill>
                <a:schemeClr val="dk1"/>
              </a:solidFill>
              <a:latin typeface="Calibri"/>
              <a:ea typeface="Calibri"/>
              <a:cs typeface="Calibri"/>
              <a:sym typeface="Calibri"/>
            </a:endParaRPr>
          </a:p>
        </p:txBody>
      </p:sp>
      <p:sp>
        <p:nvSpPr>
          <p:cNvPr id="173" name="Google Shape;173;p7"/>
          <p:cNvSpPr txBox="1"/>
          <p:nvPr/>
        </p:nvSpPr>
        <p:spPr>
          <a:xfrm>
            <a:off x="5989320" y="1984248"/>
            <a:ext cx="5379415"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900"/>
              <a:buFont typeface="Roboto Mono"/>
              <a:buNone/>
            </a:pPr>
            <a:r>
              <a:rPr b="0" i="0" lang="en-US" sz="900" u="none" cap="none" strike="noStrike">
                <a:solidFill>
                  <a:srgbClr val="004FAA"/>
                </a:solidFill>
                <a:latin typeface="Roboto Mono"/>
                <a:ea typeface="Roboto Mono"/>
                <a:cs typeface="Roboto Mono"/>
                <a:sym typeface="Roboto Mono"/>
              </a:rPr>
              <a:t>WHAT A GUEST SEES WHEN THEY SEARCH LAKESIDE LODGE ON GOOGLE</a:t>
            </a:r>
            <a:endParaRPr b="0" i="0" sz="900" u="none" cap="none" strike="noStrike">
              <a:solidFill>
                <a:schemeClr val="dk1"/>
              </a:solidFill>
              <a:latin typeface="Calibri"/>
              <a:ea typeface="Calibri"/>
              <a:cs typeface="Calibri"/>
              <a:sym typeface="Calibri"/>
            </a:endParaRPr>
          </a:p>
        </p:txBody>
      </p:sp>
      <p:pic>
        <p:nvPicPr>
          <p:cNvPr descr="/home/claude/work/renderer/assets/fig-google-lakeside.png" id="174" name="Google Shape;174;p7"/>
          <p:cNvPicPr preferRelativeResize="0"/>
          <p:nvPr/>
        </p:nvPicPr>
        <p:blipFill rotWithShape="1">
          <a:blip r:embed="rId7">
            <a:alphaModFix/>
          </a:blip>
          <a:srcRect b="0" l="0" r="0" t="0"/>
          <a:stretch/>
        </p:blipFill>
        <p:spPr>
          <a:xfrm>
            <a:off x="6223109" y="2258568"/>
            <a:ext cx="4911837" cy="3265918"/>
          </a:xfrm>
          <a:prstGeom prst="rect">
            <a:avLst/>
          </a:prstGeom>
          <a:noFill/>
          <a:ln>
            <a:noFill/>
          </a:ln>
        </p:spPr>
      </p:pic>
      <p:sp>
        <p:nvSpPr>
          <p:cNvPr id="175" name="Google Shape;175;p7"/>
          <p:cNvSpPr txBox="1"/>
          <p:nvPr/>
        </p:nvSpPr>
        <p:spPr>
          <a:xfrm>
            <a:off x="5989320" y="5542774"/>
            <a:ext cx="5379415" cy="27432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525252"/>
              </a:buClr>
              <a:buSzPts val="1000"/>
              <a:buFont typeface="Inter"/>
              <a:buNone/>
            </a:pPr>
            <a:r>
              <a:rPr b="0" i="0" lang="en-US" sz="1000" u="none" cap="none" strike="noStrike">
                <a:solidFill>
                  <a:srgbClr val="525252"/>
                </a:solidFill>
                <a:latin typeface="Inter"/>
                <a:ea typeface="Inter"/>
                <a:cs typeface="Inter"/>
                <a:sym typeface="Inter"/>
              </a:rPr>
              <a:t>Same public price everywhere. The official-site line is the click that lands on her site.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80" name="Shape 180"/>
        <p:cNvGrpSpPr/>
        <p:nvPr/>
      </p:nvGrpSpPr>
      <p:grpSpPr>
        <a:xfrm>
          <a:off x="0" y="0"/>
          <a:ext cx="0" cy="0"/>
          <a:chOff x="0" y="0"/>
          <a:chExt cx="0" cy="0"/>
        </a:xfrm>
      </p:grpSpPr>
      <p:sp>
        <p:nvSpPr>
          <p:cNvPr id="181" name="Google Shape;181;p8"/>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4 · WHY DIRECT PAYS</a:t>
            </a:r>
            <a:endParaRPr b="0" i="0" sz="1050" u="none" cap="none" strike="noStrike">
              <a:solidFill>
                <a:schemeClr val="dk1"/>
              </a:solidFill>
              <a:latin typeface="Calibri"/>
              <a:ea typeface="Calibri"/>
              <a:cs typeface="Calibri"/>
              <a:sym typeface="Calibri"/>
            </a:endParaRPr>
          </a:p>
        </p:txBody>
      </p:sp>
      <p:pic>
        <p:nvPicPr>
          <p:cNvPr descr="/home/claude/work/renderer/brand/wordmark.png" id="182" name="Google Shape;182;p8"/>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83" name="Google Shape;183;p8"/>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6 / 48</a:t>
            </a:r>
            <a:endParaRPr b="0" i="0" sz="900" u="none" cap="none" strike="noStrike">
              <a:solidFill>
                <a:schemeClr val="dk1"/>
              </a:solidFill>
              <a:latin typeface="Calibri"/>
              <a:ea typeface="Calibri"/>
              <a:cs typeface="Calibri"/>
              <a:sym typeface="Calibri"/>
            </a:endParaRPr>
          </a:p>
        </p:txBody>
      </p:sp>
      <p:sp>
        <p:nvSpPr>
          <p:cNvPr id="184" name="Google Shape;184;p8"/>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Cap rate</a:t>
            </a:r>
            <a:r>
              <a:rPr b="0" i="0" lang="en-US" sz="1700" u="none" cap="none" strike="noStrike">
                <a:solidFill>
                  <a:srgbClr val="004FAA"/>
                </a:solidFill>
                <a:latin typeface="Inter"/>
                <a:ea typeface="Inter"/>
                <a:cs typeface="Inter"/>
                <a:sym typeface="Inter"/>
              </a:rPr>
              <a:t>  capitalization rate: what a buyer pays for NOI</a:t>
            </a:r>
            <a:endParaRPr b="0" i="0" sz="3000" u="none" cap="none" strike="noStrike">
              <a:solidFill>
                <a:schemeClr val="dk1"/>
              </a:solidFill>
              <a:latin typeface="Calibri"/>
              <a:ea typeface="Calibri"/>
              <a:cs typeface="Calibri"/>
              <a:sym typeface="Calibri"/>
            </a:endParaRPr>
          </a:p>
        </p:txBody>
      </p:sp>
      <p:sp>
        <p:nvSpPr>
          <p:cNvPr id="185" name="Google Shape;185;p8"/>
          <p:cNvSpPr/>
          <p:nvPr/>
        </p:nvSpPr>
        <p:spPr>
          <a:xfrm>
            <a:off x="5715000" y="1783080"/>
            <a:ext cx="5928055" cy="4526280"/>
          </a:xfrm>
          <a:prstGeom prst="roundRect">
            <a:avLst>
              <a:gd fmla="val 2424"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8"/>
          <p:cNvSpPr/>
          <p:nvPr/>
        </p:nvSpPr>
        <p:spPr>
          <a:xfrm>
            <a:off x="548640" y="1783080"/>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book-closed.png" id="187" name="Google Shape;187;p8"/>
          <p:cNvPicPr preferRelativeResize="0"/>
          <p:nvPr/>
        </p:nvPicPr>
        <p:blipFill rotWithShape="1">
          <a:blip r:embed="rId4">
            <a:alphaModFix/>
          </a:blip>
          <a:srcRect b="0" l="0" r="0" t="0"/>
          <a:stretch/>
        </p:blipFill>
        <p:spPr>
          <a:xfrm>
            <a:off x="641177" y="1875617"/>
            <a:ext cx="235549" cy="235549"/>
          </a:xfrm>
          <a:prstGeom prst="rect">
            <a:avLst/>
          </a:prstGeom>
          <a:noFill/>
          <a:ln>
            <a:noFill/>
          </a:ln>
        </p:spPr>
      </p:pic>
      <p:sp>
        <p:nvSpPr>
          <p:cNvPr id="188" name="Google Shape;188;p8"/>
          <p:cNvSpPr txBox="1"/>
          <p:nvPr/>
        </p:nvSpPr>
        <p:spPr>
          <a:xfrm>
            <a:off x="1170432" y="1764792"/>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Dictionary</a:t>
            </a:r>
            <a:endParaRPr b="0" i="0" sz="1450" u="none" cap="none" strike="noStrike">
              <a:solidFill>
                <a:schemeClr val="dk1"/>
              </a:solidFill>
              <a:latin typeface="Calibri"/>
              <a:ea typeface="Calibri"/>
              <a:cs typeface="Calibri"/>
              <a:sym typeface="Calibri"/>
            </a:endParaRPr>
          </a:p>
        </p:txBody>
      </p:sp>
      <p:sp>
        <p:nvSpPr>
          <p:cNvPr id="189" name="Google Shape;189;p8"/>
          <p:cNvSpPr txBox="1"/>
          <p:nvPr/>
        </p:nvSpPr>
        <p:spPr>
          <a:xfrm>
            <a:off x="1170432" y="2075688"/>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The yield a buyer prices the property at, applied to NOI.</a:t>
            </a:r>
            <a:endParaRPr b="0" i="0" sz="1150" u="none" cap="none" strike="noStrike">
              <a:solidFill>
                <a:schemeClr val="dk1"/>
              </a:solidFill>
              <a:latin typeface="Calibri"/>
              <a:ea typeface="Calibri"/>
              <a:cs typeface="Calibri"/>
              <a:sym typeface="Calibri"/>
            </a:endParaRPr>
          </a:p>
        </p:txBody>
      </p:sp>
      <p:sp>
        <p:nvSpPr>
          <p:cNvPr id="190" name="Google Shape;190;p8"/>
          <p:cNvSpPr/>
          <p:nvPr/>
        </p:nvSpPr>
        <p:spPr>
          <a:xfrm>
            <a:off x="548640" y="3402711"/>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heart.png" id="191" name="Google Shape;191;p8"/>
          <p:cNvPicPr preferRelativeResize="0"/>
          <p:nvPr/>
        </p:nvPicPr>
        <p:blipFill rotWithShape="1">
          <a:blip r:embed="rId5">
            <a:alphaModFix/>
          </a:blip>
          <a:srcRect b="0" l="0" r="0" t="0"/>
          <a:stretch/>
        </p:blipFill>
        <p:spPr>
          <a:xfrm>
            <a:off x="641177" y="3495248"/>
            <a:ext cx="235549" cy="235549"/>
          </a:xfrm>
          <a:prstGeom prst="rect">
            <a:avLst/>
          </a:prstGeom>
          <a:noFill/>
          <a:ln>
            <a:noFill/>
          </a:ln>
        </p:spPr>
      </p:pic>
      <p:sp>
        <p:nvSpPr>
          <p:cNvPr id="192" name="Google Shape;192;p8"/>
          <p:cNvSpPr txBox="1"/>
          <p:nvPr/>
        </p:nvSpPr>
        <p:spPr>
          <a:xfrm>
            <a:off x="1170432" y="3384423"/>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Why the owner cares</a:t>
            </a:r>
            <a:endParaRPr b="0" i="0" sz="1450" u="none" cap="none" strike="noStrike">
              <a:solidFill>
                <a:schemeClr val="dk1"/>
              </a:solidFill>
              <a:latin typeface="Calibri"/>
              <a:ea typeface="Calibri"/>
              <a:cs typeface="Calibri"/>
              <a:sym typeface="Calibri"/>
            </a:endParaRPr>
          </a:p>
        </p:txBody>
      </p:sp>
      <p:sp>
        <p:nvSpPr>
          <p:cNvPr id="193" name="Google Shape;193;p8"/>
          <p:cNvSpPr txBox="1"/>
          <p:nvPr/>
        </p:nvSpPr>
        <p:spPr>
          <a:xfrm>
            <a:off x="1170432" y="3695319"/>
            <a:ext cx="4270248" cy="89839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It turns NOI into what the place is worth, so every dollar added to NOI adds many dollars to the value of their life's work. Buyers start from the cap rate; the price falls out of it.</a:t>
            </a:r>
            <a:endParaRPr b="0" i="0" sz="1150" u="none" cap="none" strike="noStrike">
              <a:solidFill>
                <a:schemeClr val="dk1"/>
              </a:solidFill>
              <a:latin typeface="Calibri"/>
              <a:ea typeface="Calibri"/>
              <a:cs typeface="Calibri"/>
              <a:sym typeface="Calibri"/>
            </a:endParaRPr>
          </a:p>
        </p:txBody>
      </p:sp>
      <p:sp>
        <p:nvSpPr>
          <p:cNvPr id="194" name="Google Shape;194;p8"/>
          <p:cNvSpPr/>
          <p:nvPr/>
        </p:nvSpPr>
        <p:spPr>
          <a:xfrm>
            <a:off x="548640" y="5416677"/>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message-square.png" id="195" name="Google Shape;195;p8"/>
          <p:cNvPicPr preferRelativeResize="0"/>
          <p:nvPr/>
        </p:nvPicPr>
        <p:blipFill rotWithShape="1">
          <a:blip r:embed="rId6">
            <a:alphaModFix/>
          </a:blip>
          <a:srcRect b="0" l="0" r="0" t="0"/>
          <a:stretch/>
        </p:blipFill>
        <p:spPr>
          <a:xfrm>
            <a:off x="641177" y="5509214"/>
            <a:ext cx="235549" cy="235549"/>
          </a:xfrm>
          <a:prstGeom prst="rect">
            <a:avLst/>
          </a:prstGeom>
          <a:noFill/>
          <a:ln>
            <a:noFill/>
          </a:ln>
        </p:spPr>
      </p:pic>
      <p:sp>
        <p:nvSpPr>
          <p:cNvPr id="196" name="Google Shape;196;p8"/>
          <p:cNvSpPr txBox="1"/>
          <p:nvPr/>
        </p:nvSpPr>
        <p:spPr>
          <a:xfrm>
            <a:off x="1170432" y="5398389"/>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Contextual usage</a:t>
            </a:r>
            <a:endParaRPr b="0" i="0" sz="1450" u="none" cap="none" strike="noStrike">
              <a:solidFill>
                <a:schemeClr val="dk1"/>
              </a:solidFill>
              <a:latin typeface="Calibri"/>
              <a:ea typeface="Calibri"/>
              <a:cs typeface="Calibri"/>
              <a:sym typeface="Calibri"/>
            </a:endParaRPr>
          </a:p>
        </p:txBody>
      </p:sp>
      <p:sp>
        <p:nvSpPr>
          <p:cNvPr id="197" name="Google Shape;197;p8"/>
          <p:cNvSpPr txBox="1"/>
          <p:nvPr/>
        </p:nvSpPr>
        <p:spPr>
          <a:xfrm>
            <a:off x="1170432" y="5709285"/>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A higher NOI at the same cap rate means the property is worth more — that's the long game.</a:t>
            </a:r>
            <a:endParaRPr b="0" i="0" sz="1150" u="none" cap="none" strike="noStrike">
              <a:solidFill>
                <a:schemeClr val="dk1"/>
              </a:solidFill>
              <a:latin typeface="Calibri"/>
              <a:ea typeface="Calibri"/>
              <a:cs typeface="Calibri"/>
              <a:sym typeface="Calibri"/>
            </a:endParaRPr>
          </a:p>
        </p:txBody>
      </p:sp>
      <p:sp>
        <p:nvSpPr>
          <p:cNvPr id="198" name="Google Shape;198;p8"/>
          <p:cNvSpPr/>
          <p:nvPr/>
        </p:nvSpPr>
        <p:spPr>
          <a:xfrm>
            <a:off x="5989320" y="1984248"/>
            <a:ext cx="5379415" cy="438912"/>
          </a:xfrm>
          <a:prstGeom prst="roundRect">
            <a:avLst>
              <a:gd fmla="val 2083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8"/>
          <p:cNvSpPr/>
          <p:nvPr/>
        </p:nvSpPr>
        <p:spPr>
          <a:xfrm>
            <a:off x="6080760" y="2029968"/>
            <a:ext cx="347472" cy="347472"/>
          </a:xfrm>
          <a:prstGeom prst="roundRect">
            <a:avLst>
              <a:gd fmla="val 28947" name="adj"/>
            </a:avLst>
          </a:prstGeom>
          <a:solidFill>
            <a:srgbClr val="FFFF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calculator.png" id="200" name="Google Shape;200;p8"/>
          <p:cNvPicPr preferRelativeResize="0"/>
          <p:nvPr/>
        </p:nvPicPr>
        <p:blipFill rotWithShape="1">
          <a:blip r:embed="rId7">
            <a:alphaModFix/>
          </a:blip>
          <a:srcRect b="0" l="0" r="0" t="0"/>
          <a:stretch/>
        </p:blipFill>
        <p:spPr>
          <a:xfrm>
            <a:off x="6157204" y="2106412"/>
            <a:ext cx="194584" cy="194584"/>
          </a:xfrm>
          <a:prstGeom prst="rect">
            <a:avLst/>
          </a:prstGeom>
          <a:noFill/>
          <a:ln>
            <a:noFill/>
          </a:ln>
        </p:spPr>
      </p:pic>
      <p:sp>
        <p:nvSpPr>
          <p:cNvPr id="201" name="Google Shape;201;p8"/>
          <p:cNvSpPr txBox="1"/>
          <p:nvPr/>
        </p:nvSpPr>
        <p:spPr>
          <a:xfrm>
            <a:off x="6556248" y="1984248"/>
            <a:ext cx="4693615" cy="43891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1200"/>
              <a:buFont typeface="Roboto Mono"/>
              <a:buNone/>
            </a:pPr>
            <a:r>
              <a:rPr b="1" i="0" lang="en-US" sz="1200" u="none" cap="none" strike="noStrike">
                <a:solidFill>
                  <a:srgbClr val="004FAA"/>
                </a:solidFill>
                <a:latin typeface="Roboto Mono"/>
                <a:ea typeface="Roboto Mono"/>
                <a:cs typeface="Roboto Mono"/>
                <a:sym typeface="Roboto Mono"/>
              </a:rPr>
              <a:t>NOI ÷ Purchase price</a:t>
            </a:r>
            <a:endParaRPr b="0" i="0" sz="1200" u="none" cap="none" strike="noStrike">
              <a:solidFill>
                <a:schemeClr val="dk1"/>
              </a:solidFill>
              <a:latin typeface="Calibri"/>
              <a:ea typeface="Calibri"/>
              <a:cs typeface="Calibri"/>
              <a:sym typeface="Calibri"/>
            </a:endParaRPr>
          </a:p>
        </p:txBody>
      </p:sp>
      <p:sp>
        <p:nvSpPr>
          <p:cNvPr id="202" name="Google Shape;202;p8"/>
          <p:cNvSpPr txBox="1"/>
          <p:nvPr/>
        </p:nvSpPr>
        <p:spPr>
          <a:xfrm>
            <a:off x="5989320" y="2532888"/>
            <a:ext cx="5379415" cy="54178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The buyer is back. Lakeside Lodge made </a:t>
            </a:r>
            <a:r>
              <a:rPr b="1" i="0" lang="en-US" sz="1100" u="none" cap="none" strike="noStrike">
                <a:solidFill>
                  <a:srgbClr val="404040"/>
                </a:solidFill>
                <a:latin typeface="Inter"/>
                <a:ea typeface="Inter"/>
                <a:cs typeface="Inter"/>
                <a:sym typeface="Inter"/>
              </a:rPr>
              <a:t>$900,000</a:t>
            </a:r>
            <a:r>
              <a:rPr b="0" i="0" lang="en-US" sz="1100" u="none" cap="none" strike="noStrike">
                <a:solidFill>
                  <a:srgbClr val="404040"/>
                </a:solidFill>
                <a:latin typeface="Inter"/>
                <a:ea typeface="Inter"/>
                <a:cs typeface="Inter"/>
                <a:sym typeface="Inter"/>
              </a:rPr>
              <a:t> of NOI over the last twelve months; the offer is </a:t>
            </a:r>
            <a:r>
              <a:rPr b="1" i="0" lang="en-US" sz="1100" u="none" cap="none" strike="noStrike">
                <a:solidFill>
                  <a:srgbClr val="404040"/>
                </a:solidFill>
                <a:latin typeface="Inter"/>
                <a:ea typeface="Inter"/>
                <a:cs typeface="Inter"/>
                <a:sym typeface="Inter"/>
              </a:rPr>
              <a:t>$12,000,000</a:t>
            </a:r>
            <a:r>
              <a:rPr b="0" i="0" lang="en-US" sz="1100" u="none" cap="none" strike="noStrike">
                <a:solidFill>
                  <a:srgbClr val="404040"/>
                </a:solidFill>
                <a:latin typeface="Inter"/>
                <a:ea typeface="Inter"/>
                <a:cs typeface="Inter"/>
                <a:sym typeface="Inter"/>
              </a:rPr>
              <a:t>. What cap rate is that?</a:t>
            </a:r>
            <a:endParaRPr b="0" i="0" sz="1100" u="none" cap="none" strike="noStrike">
              <a:solidFill>
                <a:schemeClr val="dk1"/>
              </a:solidFill>
              <a:latin typeface="Calibri"/>
              <a:ea typeface="Calibri"/>
              <a:cs typeface="Calibri"/>
              <a:sym typeface="Calibri"/>
            </a:endParaRPr>
          </a:p>
        </p:txBody>
      </p:sp>
      <p:sp>
        <p:nvSpPr>
          <p:cNvPr id="203" name="Google Shape;203;p8"/>
          <p:cNvSpPr txBox="1"/>
          <p:nvPr/>
        </p:nvSpPr>
        <p:spPr>
          <a:xfrm>
            <a:off x="6172200" y="3129534"/>
            <a:ext cx="5196535" cy="2377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Cap rate = $900,000 ÷ $12,000,000 = 7.5%</a:t>
            </a:r>
            <a:endParaRPr b="0" i="0" sz="1100" u="none" cap="none" strike="noStrike">
              <a:solidFill>
                <a:schemeClr val="dk1"/>
              </a:solidFill>
              <a:latin typeface="Calibri"/>
              <a:ea typeface="Calibri"/>
              <a:cs typeface="Calibri"/>
              <a:sym typeface="Calibri"/>
            </a:endParaRPr>
          </a:p>
        </p:txBody>
      </p:sp>
      <p:sp>
        <p:nvSpPr>
          <p:cNvPr id="204" name="Google Shape;204;p8"/>
          <p:cNvSpPr/>
          <p:nvPr/>
        </p:nvSpPr>
        <p:spPr>
          <a:xfrm>
            <a:off x="5989320" y="3422142"/>
            <a:ext cx="5379415" cy="365760"/>
          </a:xfrm>
          <a:prstGeom prst="roundRect">
            <a:avLst>
              <a:gd fmla="val 25000"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check-circle.png" id="205" name="Google Shape;205;p8"/>
          <p:cNvPicPr preferRelativeResize="0"/>
          <p:nvPr/>
        </p:nvPicPr>
        <p:blipFill rotWithShape="1">
          <a:blip r:embed="rId8">
            <a:alphaModFix/>
          </a:blip>
          <a:srcRect b="0" l="0" r="0" t="0"/>
          <a:stretch/>
        </p:blipFill>
        <p:spPr>
          <a:xfrm>
            <a:off x="6117336" y="3486150"/>
            <a:ext cx="237744" cy="237744"/>
          </a:xfrm>
          <a:prstGeom prst="rect">
            <a:avLst/>
          </a:prstGeom>
          <a:noFill/>
          <a:ln>
            <a:noFill/>
          </a:ln>
        </p:spPr>
      </p:pic>
      <p:sp>
        <p:nvSpPr>
          <p:cNvPr id="206" name="Google Shape;206;p8"/>
          <p:cNvSpPr txBox="1"/>
          <p:nvPr/>
        </p:nvSpPr>
        <p:spPr>
          <a:xfrm>
            <a:off x="6464808" y="3422142"/>
            <a:ext cx="4830775"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1200"/>
              <a:buFont typeface="Inter"/>
              <a:buNone/>
            </a:pPr>
            <a:r>
              <a:rPr b="1" i="0" lang="en-US" sz="1200" u="none" cap="none" strike="noStrike">
                <a:solidFill>
                  <a:srgbClr val="15803D"/>
                </a:solidFill>
                <a:latin typeface="Inter"/>
                <a:ea typeface="Inter"/>
                <a:cs typeface="Inter"/>
                <a:sym typeface="Inter"/>
              </a:rPr>
              <a:t>Therefore, cap rate = 7.5% (the price is 13.3 × NOI)</a:t>
            </a:r>
            <a:endParaRPr b="0" i="0" sz="1200" u="none" cap="none" strike="noStrike">
              <a:solidFill>
                <a:schemeClr val="dk1"/>
              </a:solidFill>
              <a:latin typeface="Calibri"/>
              <a:ea typeface="Calibri"/>
              <a:cs typeface="Calibri"/>
              <a:sym typeface="Calibri"/>
            </a:endParaRPr>
          </a:p>
        </p:txBody>
      </p:sp>
      <p:sp>
        <p:nvSpPr>
          <p:cNvPr id="207" name="Google Shape;207;p8"/>
          <p:cNvSpPr txBox="1"/>
          <p:nvPr/>
        </p:nvSpPr>
        <p:spPr>
          <a:xfrm>
            <a:off x="5989320" y="3897630"/>
            <a:ext cx="5379415"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900"/>
              <a:buFont typeface="Roboto Mono"/>
              <a:buNone/>
            </a:pPr>
            <a:r>
              <a:rPr b="0" i="0" lang="en-US" sz="900" u="none" cap="none" strike="noStrike">
                <a:solidFill>
                  <a:srgbClr val="004FAA"/>
                </a:solidFill>
                <a:latin typeface="Roboto Mono"/>
                <a:ea typeface="Roboto Mono"/>
                <a:cs typeface="Roboto Mono"/>
                <a:sym typeface="Roboto Mono"/>
              </a:rPr>
              <a:t>HOW A BUYER ARRIVES AT 7.5%, THEN AT THE PRICE</a:t>
            </a:r>
            <a:endParaRPr b="0" i="0" sz="900" u="none" cap="none" strike="noStrike">
              <a:solidFill>
                <a:schemeClr val="dk1"/>
              </a:solidFill>
              <a:latin typeface="Calibri"/>
              <a:ea typeface="Calibri"/>
              <a:cs typeface="Calibri"/>
              <a:sym typeface="Calibri"/>
            </a:endParaRPr>
          </a:p>
        </p:txBody>
      </p:sp>
      <p:sp>
        <p:nvSpPr>
          <p:cNvPr id="208" name="Google Shape;208;p8"/>
          <p:cNvSpPr/>
          <p:nvPr/>
        </p:nvSpPr>
        <p:spPr>
          <a:xfrm>
            <a:off x="5989320" y="4171950"/>
            <a:ext cx="5379415" cy="410909"/>
          </a:xfrm>
          <a:prstGeom prst="roundRect">
            <a:avLst>
              <a:gd fmla="val 2225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8"/>
          <p:cNvSpPr txBox="1"/>
          <p:nvPr/>
        </p:nvSpPr>
        <p:spPr>
          <a:xfrm>
            <a:off x="6099048" y="4171950"/>
            <a:ext cx="329184" cy="410909"/>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1</a:t>
            </a:r>
            <a:endParaRPr b="0" i="0" sz="1100" u="none" cap="none" strike="noStrike">
              <a:solidFill>
                <a:schemeClr val="dk1"/>
              </a:solidFill>
              <a:latin typeface="Calibri"/>
              <a:ea typeface="Calibri"/>
              <a:cs typeface="Calibri"/>
              <a:sym typeface="Calibri"/>
            </a:endParaRPr>
          </a:p>
        </p:txBody>
      </p:sp>
      <p:sp>
        <p:nvSpPr>
          <p:cNvPr id="210" name="Google Shape;210;p8"/>
          <p:cNvSpPr txBox="1"/>
          <p:nvPr/>
        </p:nvSpPr>
        <p:spPr>
          <a:xfrm>
            <a:off x="6519672" y="4171950"/>
            <a:ext cx="4739335" cy="410909"/>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171717"/>
              </a:buClr>
              <a:buSzPts val="1050"/>
              <a:buFont typeface="Inter"/>
              <a:buNone/>
            </a:pPr>
            <a:r>
              <a:rPr b="0" i="0" lang="en-US" sz="1050" u="none" cap="none" strike="noStrike">
                <a:solidFill>
                  <a:srgbClr val="171717"/>
                </a:solidFill>
                <a:latin typeface="Inter"/>
                <a:ea typeface="Inter"/>
                <a:cs typeface="Inter"/>
                <a:sym typeface="Inter"/>
              </a:rPr>
              <a:t>Comparable sales: what similar lodges sold for, relative to NOI</a:t>
            </a:r>
            <a:endParaRPr b="0" i="0" sz="1050" u="none" cap="none" strike="noStrike">
              <a:solidFill>
                <a:schemeClr val="dk1"/>
              </a:solidFill>
              <a:latin typeface="Calibri"/>
              <a:ea typeface="Calibri"/>
              <a:cs typeface="Calibri"/>
              <a:sym typeface="Calibri"/>
            </a:endParaRPr>
          </a:p>
        </p:txBody>
      </p:sp>
      <p:sp>
        <p:nvSpPr>
          <p:cNvPr id="211" name="Google Shape;211;p8"/>
          <p:cNvSpPr/>
          <p:nvPr/>
        </p:nvSpPr>
        <p:spPr>
          <a:xfrm>
            <a:off x="5989320" y="4637723"/>
            <a:ext cx="5379415" cy="410909"/>
          </a:xfrm>
          <a:prstGeom prst="roundRect">
            <a:avLst>
              <a:gd fmla="val 2225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8"/>
          <p:cNvSpPr txBox="1"/>
          <p:nvPr/>
        </p:nvSpPr>
        <p:spPr>
          <a:xfrm>
            <a:off x="6099048" y="4637723"/>
            <a:ext cx="329184" cy="410909"/>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2</a:t>
            </a:r>
            <a:endParaRPr b="0" i="0" sz="1100" u="none" cap="none" strike="noStrike">
              <a:solidFill>
                <a:schemeClr val="dk1"/>
              </a:solidFill>
              <a:latin typeface="Calibri"/>
              <a:ea typeface="Calibri"/>
              <a:cs typeface="Calibri"/>
              <a:sym typeface="Calibri"/>
            </a:endParaRPr>
          </a:p>
        </p:txBody>
      </p:sp>
      <p:sp>
        <p:nvSpPr>
          <p:cNvPr id="213" name="Google Shape;213;p8"/>
          <p:cNvSpPr txBox="1"/>
          <p:nvPr/>
        </p:nvSpPr>
        <p:spPr>
          <a:xfrm>
            <a:off x="6519672" y="4637723"/>
            <a:ext cx="4739335" cy="410909"/>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171717"/>
              </a:buClr>
              <a:buSzPts val="1050"/>
              <a:buFont typeface="Inter"/>
              <a:buNone/>
            </a:pPr>
            <a:r>
              <a:rPr b="0" i="0" lang="en-US" sz="1050" u="none" cap="none" strike="noStrike">
                <a:solidFill>
                  <a:srgbClr val="171717"/>
                </a:solidFill>
                <a:latin typeface="Inter"/>
                <a:ea typeface="Inter"/>
                <a:cs typeface="Inter"/>
                <a:sym typeface="Inter"/>
              </a:rPr>
              <a:t>The return they need: more risk or dearer borrowing, higher cap rate</a:t>
            </a:r>
            <a:endParaRPr b="0" i="0" sz="1050" u="none" cap="none" strike="noStrike">
              <a:solidFill>
                <a:schemeClr val="dk1"/>
              </a:solidFill>
              <a:latin typeface="Calibri"/>
              <a:ea typeface="Calibri"/>
              <a:cs typeface="Calibri"/>
              <a:sym typeface="Calibri"/>
            </a:endParaRPr>
          </a:p>
        </p:txBody>
      </p:sp>
      <p:sp>
        <p:nvSpPr>
          <p:cNvPr id="214" name="Google Shape;214;p8"/>
          <p:cNvSpPr/>
          <p:nvPr/>
        </p:nvSpPr>
        <p:spPr>
          <a:xfrm>
            <a:off x="5989320" y="5103495"/>
            <a:ext cx="5379415" cy="410909"/>
          </a:xfrm>
          <a:prstGeom prst="roundRect">
            <a:avLst>
              <a:gd fmla="val 2225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8"/>
          <p:cNvSpPr txBox="1"/>
          <p:nvPr/>
        </p:nvSpPr>
        <p:spPr>
          <a:xfrm>
            <a:off x="6099048" y="5103495"/>
            <a:ext cx="329184" cy="410909"/>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3</a:t>
            </a:r>
            <a:endParaRPr b="0" i="0" sz="1100" u="none" cap="none" strike="noStrike">
              <a:solidFill>
                <a:schemeClr val="dk1"/>
              </a:solidFill>
              <a:latin typeface="Calibri"/>
              <a:ea typeface="Calibri"/>
              <a:cs typeface="Calibri"/>
              <a:sym typeface="Calibri"/>
            </a:endParaRPr>
          </a:p>
        </p:txBody>
      </p:sp>
      <p:sp>
        <p:nvSpPr>
          <p:cNvPr id="216" name="Google Shape;216;p8"/>
          <p:cNvSpPr txBox="1"/>
          <p:nvPr/>
        </p:nvSpPr>
        <p:spPr>
          <a:xfrm>
            <a:off x="6519672" y="5103495"/>
            <a:ext cx="4739335" cy="410909"/>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171717"/>
              </a:buClr>
              <a:buSzPts val="1050"/>
              <a:buFont typeface="Inter"/>
              <a:buNone/>
            </a:pPr>
            <a:r>
              <a:rPr b="0" i="0" lang="en-US" sz="1050" u="none" cap="none" strike="noStrike">
                <a:solidFill>
                  <a:srgbClr val="171717"/>
                </a:solidFill>
                <a:latin typeface="Inter"/>
                <a:ea typeface="Inter"/>
                <a:cs typeface="Inter"/>
                <a:sym typeface="Inter"/>
              </a:rPr>
              <a:t>Then the price: NOI ÷ cap rate = $900,000 ÷ 7.5% = $12,000,000</a:t>
            </a:r>
            <a:endParaRPr b="0" i="0" sz="1050" u="none" cap="none" strike="noStrike">
              <a:solidFill>
                <a:schemeClr val="dk1"/>
              </a:solidFill>
              <a:latin typeface="Calibri"/>
              <a:ea typeface="Calibri"/>
              <a:cs typeface="Calibri"/>
              <a:sym typeface="Calibri"/>
            </a:endParaRPr>
          </a:p>
        </p:txBody>
      </p:sp>
      <p:sp>
        <p:nvSpPr>
          <p:cNvPr id="217" name="Google Shape;217;p8"/>
          <p:cNvSpPr/>
          <p:nvPr/>
        </p:nvSpPr>
        <p:spPr>
          <a:xfrm>
            <a:off x="5989320" y="5569268"/>
            <a:ext cx="5379415" cy="410909"/>
          </a:xfrm>
          <a:prstGeom prst="roundRect">
            <a:avLst>
              <a:gd fmla="val 22253"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8"/>
          <p:cNvSpPr txBox="1"/>
          <p:nvPr/>
        </p:nvSpPr>
        <p:spPr>
          <a:xfrm>
            <a:off x="6099048" y="5569268"/>
            <a:ext cx="329184" cy="410909"/>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4</a:t>
            </a:r>
            <a:endParaRPr b="0" i="0" sz="1100" u="none" cap="none" strike="noStrike">
              <a:solidFill>
                <a:schemeClr val="dk1"/>
              </a:solidFill>
              <a:latin typeface="Calibri"/>
              <a:ea typeface="Calibri"/>
              <a:cs typeface="Calibri"/>
              <a:sym typeface="Calibri"/>
            </a:endParaRPr>
          </a:p>
        </p:txBody>
      </p:sp>
      <p:sp>
        <p:nvSpPr>
          <p:cNvPr id="219" name="Google Shape;219;p8"/>
          <p:cNvSpPr txBox="1"/>
          <p:nvPr/>
        </p:nvSpPr>
        <p:spPr>
          <a:xfrm>
            <a:off x="6519672" y="5569268"/>
            <a:ext cx="4739335" cy="410909"/>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171717"/>
              </a:buClr>
              <a:buSzPts val="1050"/>
              <a:buFont typeface="Inter"/>
              <a:buNone/>
            </a:pPr>
            <a:r>
              <a:rPr b="0" i="0" lang="en-US" sz="1050" u="none" cap="none" strike="noStrike">
                <a:solidFill>
                  <a:srgbClr val="171717"/>
                </a:solidFill>
                <a:latin typeface="Inter"/>
                <a:ea typeface="Inter"/>
                <a:cs typeface="Inter"/>
                <a:sym typeface="Inter"/>
              </a:rPr>
              <a:t>Add $75,000 of NOI and the lodge is worth about $1,000,000 more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224" name="Shape 224"/>
        <p:cNvGrpSpPr/>
        <p:nvPr/>
      </p:nvGrpSpPr>
      <p:grpSpPr>
        <a:xfrm>
          <a:off x="0" y="0"/>
          <a:ext cx="0" cy="0"/>
          <a:chOff x="0" y="0"/>
          <a:chExt cx="0" cy="0"/>
        </a:xfrm>
      </p:grpSpPr>
      <p:sp>
        <p:nvSpPr>
          <p:cNvPr id="225" name="Google Shape;225;p9"/>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4 · WHY DIRECT PAYS</a:t>
            </a:r>
            <a:endParaRPr b="0" i="0" sz="1050" u="none" cap="none" strike="noStrike">
              <a:solidFill>
                <a:schemeClr val="dk1"/>
              </a:solidFill>
              <a:latin typeface="Calibri"/>
              <a:ea typeface="Calibri"/>
              <a:cs typeface="Calibri"/>
              <a:sym typeface="Calibri"/>
            </a:endParaRPr>
          </a:p>
        </p:txBody>
      </p:sp>
      <p:pic>
        <p:nvPicPr>
          <p:cNvPr descr="/home/claude/work/renderer/brand/wordmark.png" id="226" name="Google Shape;226;p9"/>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227" name="Google Shape;227;p9"/>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7 / 48</a:t>
            </a:r>
            <a:endParaRPr b="0" i="0" sz="900" u="none" cap="none" strike="noStrike">
              <a:solidFill>
                <a:schemeClr val="dk1"/>
              </a:solidFill>
              <a:latin typeface="Calibri"/>
              <a:ea typeface="Calibri"/>
              <a:cs typeface="Calibri"/>
              <a:sym typeface="Calibri"/>
            </a:endParaRPr>
          </a:p>
        </p:txBody>
      </p:sp>
      <p:sp>
        <p:nvSpPr>
          <p:cNvPr id="228" name="Google Shape;228;p9"/>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First-party data</a:t>
            </a:r>
            <a:r>
              <a:rPr b="0" i="0" lang="en-US" sz="1700" u="none" cap="none" strike="noStrike">
                <a:solidFill>
                  <a:srgbClr val="004FAA"/>
                </a:solidFill>
                <a:latin typeface="Inter"/>
                <a:ea typeface="Inter"/>
                <a:cs typeface="Inter"/>
                <a:sym typeface="Inter"/>
              </a:rPr>
              <a:t>  the guest data you own</a:t>
            </a:r>
            <a:endParaRPr b="0" i="0" sz="3000" u="none" cap="none" strike="noStrike">
              <a:solidFill>
                <a:schemeClr val="dk1"/>
              </a:solidFill>
              <a:latin typeface="Calibri"/>
              <a:ea typeface="Calibri"/>
              <a:cs typeface="Calibri"/>
              <a:sym typeface="Calibri"/>
            </a:endParaRPr>
          </a:p>
        </p:txBody>
      </p:sp>
      <p:sp>
        <p:nvSpPr>
          <p:cNvPr id="229" name="Google Shape;229;p9"/>
          <p:cNvSpPr/>
          <p:nvPr/>
        </p:nvSpPr>
        <p:spPr>
          <a:xfrm>
            <a:off x="5715000" y="1783080"/>
            <a:ext cx="5928055" cy="4256532"/>
          </a:xfrm>
          <a:prstGeom prst="roundRect">
            <a:avLst>
              <a:gd fmla="val 2578"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9"/>
          <p:cNvSpPr/>
          <p:nvPr/>
        </p:nvSpPr>
        <p:spPr>
          <a:xfrm>
            <a:off x="548640" y="1783080"/>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book-closed.png" id="231" name="Google Shape;231;p9"/>
          <p:cNvPicPr preferRelativeResize="0"/>
          <p:nvPr/>
        </p:nvPicPr>
        <p:blipFill rotWithShape="1">
          <a:blip r:embed="rId4">
            <a:alphaModFix/>
          </a:blip>
          <a:srcRect b="0" l="0" r="0" t="0"/>
          <a:stretch/>
        </p:blipFill>
        <p:spPr>
          <a:xfrm>
            <a:off x="641177" y="1875617"/>
            <a:ext cx="235549" cy="235549"/>
          </a:xfrm>
          <a:prstGeom prst="rect">
            <a:avLst/>
          </a:prstGeom>
          <a:noFill/>
          <a:ln>
            <a:noFill/>
          </a:ln>
        </p:spPr>
      </p:pic>
      <p:sp>
        <p:nvSpPr>
          <p:cNvPr id="232" name="Google Shape;232;p9"/>
          <p:cNvSpPr txBox="1"/>
          <p:nvPr/>
        </p:nvSpPr>
        <p:spPr>
          <a:xfrm>
            <a:off x="1170432" y="1764792"/>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Dictionary</a:t>
            </a:r>
            <a:endParaRPr b="0" i="0" sz="1450" u="none" cap="none" strike="noStrike">
              <a:solidFill>
                <a:schemeClr val="dk1"/>
              </a:solidFill>
              <a:latin typeface="Calibri"/>
              <a:ea typeface="Calibri"/>
              <a:cs typeface="Calibri"/>
              <a:sym typeface="Calibri"/>
            </a:endParaRPr>
          </a:p>
        </p:txBody>
      </p:sp>
      <p:sp>
        <p:nvSpPr>
          <p:cNvPr id="233" name="Google Shape;233;p9"/>
          <p:cNvSpPr txBox="1"/>
          <p:nvPr/>
        </p:nvSpPr>
        <p:spPr>
          <a:xfrm>
            <a:off x="1170432" y="2075688"/>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Guest data the property owns outright, which is most of why direct matters.</a:t>
            </a:r>
            <a:endParaRPr b="0" i="0" sz="1150" u="none" cap="none" strike="noStrike">
              <a:solidFill>
                <a:schemeClr val="dk1"/>
              </a:solidFill>
              <a:latin typeface="Calibri"/>
              <a:ea typeface="Calibri"/>
              <a:cs typeface="Calibri"/>
              <a:sym typeface="Calibri"/>
            </a:endParaRPr>
          </a:p>
        </p:txBody>
      </p:sp>
      <p:sp>
        <p:nvSpPr>
          <p:cNvPr id="234" name="Google Shape;234;p9"/>
          <p:cNvSpPr/>
          <p:nvPr/>
        </p:nvSpPr>
        <p:spPr>
          <a:xfrm>
            <a:off x="548640" y="3402711"/>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heart.png" id="235" name="Google Shape;235;p9"/>
          <p:cNvPicPr preferRelativeResize="0"/>
          <p:nvPr/>
        </p:nvPicPr>
        <p:blipFill rotWithShape="1">
          <a:blip r:embed="rId5">
            <a:alphaModFix/>
          </a:blip>
          <a:srcRect b="0" l="0" r="0" t="0"/>
          <a:stretch/>
        </p:blipFill>
        <p:spPr>
          <a:xfrm>
            <a:off x="641177" y="3495248"/>
            <a:ext cx="235549" cy="235549"/>
          </a:xfrm>
          <a:prstGeom prst="rect">
            <a:avLst/>
          </a:prstGeom>
          <a:noFill/>
          <a:ln>
            <a:noFill/>
          </a:ln>
        </p:spPr>
      </p:pic>
      <p:sp>
        <p:nvSpPr>
          <p:cNvPr id="236" name="Google Shape;236;p9"/>
          <p:cNvSpPr txBox="1"/>
          <p:nvPr/>
        </p:nvSpPr>
        <p:spPr>
          <a:xfrm>
            <a:off x="1170432" y="3384423"/>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Why the owner cares</a:t>
            </a:r>
            <a:endParaRPr b="0" i="0" sz="1450" u="none" cap="none" strike="noStrike">
              <a:solidFill>
                <a:schemeClr val="dk1"/>
              </a:solidFill>
              <a:latin typeface="Calibri"/>
              <a:ea typeface="Calibri"/>
              <a:cs typeface="Calibri"/>
              <a:sym typeface="Calibri"/>
            </a:endParaRPr>
          </a:p>
        </p:txBody>
      </p:sp>
      <p:sp>
        <p:nvSpPr>
          <p:cNvPr id="237" name="Google Shape;237;p9"/>
          <p:cNvSpPr txBox="1"/>
          <p:nvPr/>
        </p:nvSpPr>
        <p:spPr>
          <a:xfrm>
            <a:off x="1170432" y="3695319"/>
            <a:ext cx="4270248" cy="701231"/>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Owning the guest relationship means next year's stay without paying commission again. A direct booking is worth its price plus everything that comes with the guest.</a:t>
            </a:r>
            <a:endParaRPr b="0" i="0" sz="1150" u="none" cap="none" strike="noStrike">
              <a:solidFill>
                <a:schemeClr val="dk1"/>
              </a:solidFill>
              <a:latin typeface="Calibri"/>
              <a:ea typeface="Calibri"/>
              <a:cs typeface="Calibri"/>
              <a:sym typeface="Calibri"/>
            </a:endParaRPr>
          </a:p>
        </p:txBody>
      </p:sp>
      <p:sp>
        <p:nvSpPr>
          <p:cNvPr id="238" name="Google Shape;238;p9"/>
          <p:cNvSpPr/>
          <p:nvPr/>
        </p:nvSpPr>
        <p:spPr>
          <a:xfrm>
            <a:off x="548640" y="5219510"/>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message-square.png" id="239" name="Google Shape;239;p9"/>
          <p:cNvPicPr preferRelativeResize="0"/>
          <p:nvPr/>
        </p:nvPicPr>
        <p:blipFill rotWithShape="1">
          <a:blip r:embed="rId6">
            <a:alphaModFix/>
          </a:blip>
          <a:srcRect b="0" l="0" r="0" t="0"/>
          <a:stretch/>
        </p:blipFill>
        <p:spPr>
          <a:xfrm>
            <a:off x="641177" y="5312047"/>
            <a:ext cx="235549" cy="235549"/>
          </a:xfrm>
          <a:prstGeom prst="rect">
            <a:avLst/>
          </a:prstGeom>
          <a:noFill/>
          <a:ln>
            <a:noFill/>
          </a:ln>
        </p:spPr>
      </p:pic>
      <p:sp>
        <p:nvSpPr>
          <p:cNvPr id="240" name="Google Shape;240;p9"/>
          <p:cNvSpPr txBox="1"/>
          <p:nvPr/>
        </p:nvSpPr>
        <p:spPr>
          <a:xfrm>
            <a:off x="1170432" y="5201222"/>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Contextual usage</a:t>
            </a:r>
            <a:endParaRPr b="0" i="0" sz="1450" u="none" cap="none" strike="noStrike">
              <a:solidFill>
                <a:schemeClr val="dk1"/>
              </a:solidFill>
              <a:latin typeface="Calibri"/>
              <a:ea typeface="Calibri"/>
              <a:cs typeface="Calibri"/>
              <a:sym typeface="Calibri"/>
            </a:endParaRPr>
          </a:p>
        </p:txBody>
      </p:sp>
      <p:sp>
        <p:nvSpPr>
          <p:cNvPr id="241" name="Google Shape;241;p9"/>
          <p:cNvSpPr txBox="1"/>
          <p:nvPr/>
        </p:nvSpPr>
        <p:spPr>
          <a:xfrm>
            <a:off x="1170432" y="5512118"/>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Every direct booking gives you first-party data — the guest's email is yours, not the OTA's.</a:t>
            </a:r>
            <a:endParaRPr b="0" i="0" sz="1150" u="none" cap="none" strike="noStrike">
              <a:solidFill>
                <a:schemeClr val="dk1"/>
              </a:solidFill>
              <a:latin typeface="Calibri"/>
              <a:ea typeface="Calibri"/>
              <a:cs typeface="Calibri"/>
              <a:sym typeface="Calibri"/>
            </a:endParaRPr>
          </a:p>
        </p:txBody>
      </p:sp>
      <p:sp>
        <p:nvSpPr>
          <p:cNvPr id="242" name="Google Shape;242;p9"/>
          <p:cNvSpPr txBox="1"/>
          <p:nvPr/>
        </p:nvSpPr>
        <p:spPr>
          <a:xfrm>
            <a:off x="5989320" y="1984248"/>
            <a:ext cx="5379415"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900"/>
              <a:buFont typeface="Roboto Mono"/>
              <a:buNone/>
            </a:pPr>
            <a:r>
              <a:rPr b="0" i="0" lang="en-US" sz="900" u="none" cap="none" strike="noStrike">
                <a:solidFill>
                  <a:srgbClr val="004FAA"/>
                </a:solidFill>
                <a:latin typeface="Roboto Mono"/>
                <a:ea typeface="Roboto Mono"/>
                <a:cs typeface="Roboto Mono"/>
                <a:sym typeface="Roboto Mono"/>
              </a:rPr>
              <a:t>WHO HOLDS THE GUEST, AND WHAT COMES WITH THEM</a:t>
            </a:r>
            <a:endParaRPr b="0" i="0" sz="900" u="none" cap="none" strike="noStrike">
              <a:solidFill>
                <a:schemeClr val="dk1"/>
              </a:solidFill>
              <a:latin typeface="Calibri"/>
              <a:ea typeface="Calibri"/>
              <a:cs typeface="Calibri"/>
              <a:sym typeface="Calibri"/>
            </a:endParaRPr>
          </a:p>
        </p:txBody>
      </p:sp>
      <p:sp>
        <p:nvSpPr>
          <p:cNvPr id="243" name="Google Shape;243;p9"/>
          <p:cNvSpPr/>
          <p:nvPr/>
        </p:nvSpPr>
        <p:spPr>
          <a:xfrm>
            <a:off x="5989320" y="2258568"/>
            <a:ext cx="2598268" cy="3506724"/>
          </a:xfrm>
          <a:prstGeom prst="roundRect">
            <a:avLst>
              <a:gd fmla="val 3519"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building.png" id="244" name="Google Shape;244;p9"/>
          <p:cNvPicPr preferRelativeResize="0"/>
          <p:nvPr/>
        </p:nvPicPr>
        <p:blipFill rotWithShape="1">
          <a:blip r:embed="rId7">
            <a:alphaModFix/>
          </a:blip>
          <a:srcRect b="0" l="0" r="0" t="0"/>
          <a:stretch/>
        </p:blipFill>
        <p:spPr>
          <a:xfrm>
            <a:off x="6208776" y="2459736"/>
            <a:ext cx="310896" cy="310896"/>
          </a:xfrm>
          <a:prstGeom prst="rect">
            <a:avLst/>
          </a:prstGeom>
          <a:noFill/>
          <a:ln>
            <a:noFill/>
          </a:ln>
        </p:spPr>
      </p:pic>
      <p:sp>
        <p:nvSpPr>
          <p:cNvPr id="245" name="Google Shape;245;p9"/>
          <p:cNvSpPr txBox="1"/>
          <p:nvPr/>
        </p:nvSpPr>
        <p:spPr>
          <a:xfrm>
            <a:off x="6629400" y="2459736"/>
            <a:ext cx="1729588" cy="310896"/>
          </a:xfrm>
          <a:prstGeom prst="rect">
            <a:avLst/>
          </a:prstGeom>
          <a:noFill/>
          <a:ln>
            <a:noFill/>
          </a:ln>
        </p:spPr>
        <p:txBody>
          <a:bodyPr anchorCtr="0" anchor="ctr" bIns="0" lIns="0" spcFirstLastPara="1" rIns="0" wrap="square" tIns="0">
            <a:noAutofit/>
          </a:bodyPr>
          <a:lstStyle/>
          <a:p>
            <a:pPr indent="0" lvl="0" marL="0" marR="0" rtl="0" algn="l">
              <a:lnSpc>
                <a:spcPct val="135040"/>
              </a:lnSpc>
              <a:spcBef>
                <a:spcPts val="0"/>
              </a:spcBef>
              <a:spcAft>
                <a:spcPts val="0"/>
              </a:spcAft>
              <a:buClr>
                <a:srgbClr val="404040"/>
              </a:buClr>
              <a:buSzPts val="1250"/>
              <a:buFont typeface="Inter"/>
              <a:buNone/>
            </a:pPr>
            <a:r>
              <a:rPr b="1" i="0" lang="en-US" sz="1250" u="none" cap="none" strike="noStrike">
                <a:solidFill>
                  <a:srgbClr val="404040"/>
                </a:solidFill>
                <a:latin typeface="Inter"/>
                <a:ea typeface="Inter"/>
                <a:cs typeface="Inter"/>
                <a:sym typeface="Inter"/>
              </a:rPr>
              <a:t>Booked via OTA</a:t>
            </a:r>
            <a:endParaRPr b="0" i="0" sz="1250" u="none" cap="none" strike="noStrike">
              <a:solidFill>
                <a:schemeClr val="dk1"/>
              </a:solidFill>
              <a:latin typeface="Calibri"/>
              <a:ea typeface="Calibri"/>
              <a:cs typeface="Calibri"/>
              <a:sym typeface="Calibri"/>
            </a:endParaRPr>
          </a:p>
        </p:txBody>
      </p:sp>
      <p:sp>
        <p:nvSpPr>
          <p:cNvPr id="246" name="Google Shape;246;p9"/>
          <p:cNvSpPr txBox="1"/>
          <p:nvPr/>
        </p:nvSpPr>
        <p:spPr>
          <a:xfrm>
            <a:off x="6208776" y="2916936"/>
            <a:ext cx="2159356" cy="1542669"/>
          </a:xfrm>
          <a:prstGeom prst="rect">
            <a:avLst/>
          </a:prstGeom>
          <a:noFill/>
          <a:ln>
            <a:noFill/>
          </a:ln>
        </p:spPr>
        <p:txBody>
          <a:bodyPr anchorCtr="0" anchor="t" bIns="0" lIns="0" spcFirstLastPara="1" rIns="0" wrap="square" tIns="0">
            <a:noAutofit/>
          </a:bodyPr>
          <a:lstStyle/>
          <a:p>
            <a:pPr indent="-152400" lvl="0" marL="152400" marR="0" rtl="0" algn="l">
              <a:lnSpc>
                <a:spcPct val="130000"/>
              </a:lnSpc>
              <a:spcBef>
                <a:spcPts val="0"/>
              </a:spcBef>
              <a:spcAft>
                <a:spcPts val="0"/>
              </a:spcAft>
              <a:buClr>
                <a:srgbClr val="404040"/>
              </a:buClr>
              <a:buSzPts val="1050"/>
              <a:buFont typeface="Inter"/>
              <a:buChar char="•"/>
            </a:pPr>
            <a:r>
              <a:rPr b="0" i="0" lang="en-US" sz="1050" u="none" cap="none" strike="noStrike">
                <a:solidFill>
                  <a:srgbClr val="404040"/>
                </a:solidFill>
                <a:latin typeface="Inter"/>
                <a:ea typeface="Inter"/>
                <a:cs typeface="Inter"/>
                <a:sym typeface="Inter"/>
              </a:rPr>
              <a:t>Booking.com has the guest's email and the stay history.</a:t>
            </a:r>
            <a:endParaRPr b="0" i="0" sz="1050" u="none" cap="none" strike="noStrike">
              <a:solidFill>
                <a:schemeClr val="dk1"/>
              </a:solidFill>
              <a:latin typeface="Calibri"/>
              <a:ea typeface="Calibri"/>
              <a:cs typeface="Calibri"/>
              <a:sym typeface="Calibri"/>
            </a:endParaRPr>
          </a:p>
          <a:p>
            <a:pPr indent="-152400" lvl="0" marL="152400" marR="0" rtl="0" algn="l">
              <a:lnSpc>
                <a:spcPct val="130000"/>
              </a:lnSpc>
              <a:spcBef>
                <a:spcPts val="500"/>
              </a:spcBef>
              <a:spcAft>
                <a:spcPts val="0"/>
              </a:spcAft>
              <a:buClr>
                <a:srgbClr val="404040"/>
              </a:buClr>
              <a:buSzPts val="1050"/>
              <a:buFont typeface="Inter"/>
              <a:buChar char="•"/>
            </a:pPr>
            <a:r>
              <a:rPr b="0" i="0" lang="en-US" sz="1050" u="none" cap="none" strike="noStrike">
                <a:solidFill>
                  <a:srgbClr val="404040"/>
                </a:solidFill>
                <a:latin typeface="Inter"/>
                <a:ea typeface="Inter"/>
                <a:cs typeface="Inter"/>
                <a:sym typeface="Inter"/>
              </a:rPr>
              <a:t>The guest is Booking.com's to re-market.</a:t>
            </a:r>
            <a:endParaRPr b="0" i="0" sz="1050" u="none" cap="none" strike="noStrike">
              <a:solidFill>
                <a:schemeClr val="dk1"/>
              </a:solidFill>
              <a:latin typeface="Calibri"/>
              <a:ea typeface="Calibri"/>
              <a:cs typeface="Calibri"/>
              <a:sym typeface="Calibri"/>
            </a:endParaRPr>
          </a:p>
          <a:p>
            <a:pPr indent="-152400" lvl="0" marL="152400" marR="0" rtl="0" algn="l">
              <a:lnSpc>
                <a:spcPct val="130000"/>
              </a:lnSpc>
              <a:spcBef>
                <a:spcPts val="500"/>
              </a:spcBef>
              <a:spcAft>
                <a:spcPts val="0"/>
              </a:spcAft>
              <a:buClr>
                <a:srgbClr val="404040"/>
              </a:buClr>
              <a:buSzPts val="1050"/>
              <a:buFont typeface="Inter"/>
              <a:buChar char="•"/>
            </a:pPr>
            <a:r>
              <a:rPr b="0" i="0" lang="en-US" sz="1050" u="none" cap="none" strike="noStrike">
                <a:solidFill>
                  <a:srgbClr val="404040"/>
                </a:solidFill>
                <a:latin typeface="Inter"/>
                <a:ea typeface="Inter"/>
                <a:cs typeface="Inter"/>
                <a:sym typeface="Inter"/>
              </a:rPr>
              <a:t>Next year's stay pays commission again.</a:t>
            </a:r>
            <a:endParaRPr b="0" i="0" sz="1050" u="none" cap="none" strike="noStrike">
              <a:solidFill>
                <a:schemeClr val="dk1"/>
              </a:solidFill>
              <a:latin typeface="Calibri"/>
              <a:ea typeface="Calibri"/>
              <a:cs typeface="Calibri"/>
              <a:sym typeface="Calibri"/>
            </a:endParaRPr>
          </a:p>
        </p:txBody>
      </p:sp>
      <p:sp>
        <p:nvSpPr>
          <p:cNvPr id="247" name="Google Shape;247;p9"/>
          <p:cNvSpPr/>
          <p:nvPr/>
        </p:nvSpPr>
        <p:spPr>
          <a:xfrm>
            <a:off x="8770468" y="2258568"/>
            <a:ext cx="2598268" cy="3506724"/>
          </a:xfrm>
          <a:prstGeom prst="roundRect">
            <a:avLst>
              <a:gd fmla="val 3519" name="adj"/>
            </a:avLst>
          </a:prstGeom>
          <a:solidFill>
            <a:srgbClr val="0066DE"/>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user-check-white.png" id="248" name="Google Shape;248;p9"/>
          <p:cNvPicPr preferRelativeResize="0"/>
          <p:nvPr/>
        </p:nvPicPr>
        <p:blipFill rotWithShape="1">
          <a:blip r:embed="rId8">
            <a:alphaModFix/>
          </a:blip>
          <a:srcRect b="0" l="0" r="0" t="0"/>
          <a:stretch/>
        </p:blipFill>
        <p:spPr>
          <a:xfrm>
            <a:off x="8989924" y="2459736"/>
            <a:ext cx="310896" cy="310896"/>
          </a:xfrm>
          <a:prstGeom prst="rect">
            <a:avLst/>
          </a:prstGeom>
          <a:noFill/>
          <a:ln>
            <a:noFill/>
          </a:ln>
        </p:spPr>
      </p:pic>
      <p:sp>
        <p:nvSpPr>
          <p:cNvPr id="249" name="Google Shape;249;p9"/>
          <p:cNvSpPr txBox="1"/>
          <p:nvPr/>
        </p:nvSpPr>
        <p:spPr>
          <a:xfrm>
            <a:off x="9410548" y="2459736"/>
            <a:ext cx="1729588" cy="310896"/>
          </a:xfrm>
          <a:prstGeom prst="rect">
            <a:avLst/>
          </a:prstGeom>
          <a:noFill/>
          <a:ln>
            <a:noFill/>
          </a:ln>
        </p:spPr>
        <p:txBody>
          <a:bodyPr anchorCtr="0" anchor="ctr" bIns="0" lIns="0" spcFirstLastPara="1" rIns="0" wrap="square" tIns="0">
            <a:noAutofit/>
          </a:bodyPr>
          <a:lstStyle/>
          <a:p>
            <a:pPr indent="0" lvl="0" marL="0" marR="0" rtl="0" algn="l">
              <a:lnSpc>
                <a:spcPct val="135040"/>
              </a:lnSpc>
              <a:spcBef>
                <a:spcPts val="0"/>
              </a:spcBef>
              <a:spcAft>
                <a:spcPts val="0"/>
              </a:spcAft>
              <a:buClr>
                <a:srgbClr val="FFFFFF"/>
              </a:buClr>
              <a:buSzPts val="1250"/>
              <a:buFont typeface="Inter"/>
              <a:buNone/>
            </a:pPr>
            <a:r>
              <a:rPr b="1" i="0" lang="en-US" sz="1250" u="none" cap="none" strike="noStrike">
                <a:solidFill>
                  <a:srgbClr val="FFFFFF"/>
                </a:solidFill>
                <a:latin typeface="Inter"/>
                <a:ea typeface="Inter"/>
                <a:cs typeface="Inter"/>
                <a:sym typeface="Inter"/>
              </a:rPr>
              <a:t>Booked direct</a:t>
            </a:r>
            <a:endParaRPr b="0" i="0" sz="1250" u="none" cap="none" strike="noStrike">
              <a:solidFill>
                <a:schemeClr val="dk1"/>
              </a:solidFill>
              <a:latin typeface="Calibri"/>
              <a:ea typeface="Calibri"/>
              <a:cs typeface="Calibri"/>
              <a:sym typeface="Calibri"/>
            </a:endParaRPr>
          </a:p>
        </p:txBody>
      </p:sp>
      <p:sp>
        <p:nvSpPr>
          <p:cNvPr id="250" name="Google Shape;250;p9"/>
          <p:cNvSpPr txBox="1"/>
          <p:nvPr/>
        </p:nvSpPr>
        <p:spPr>
          <a:xfrm>
            <a:off x="8989924" y="2916936"/>
            <a:ext cx="2159356" cy="2628900"/>
          </a:xfrm>
          <a:prstGeom prst="rect">
            <a:avLst/>
          </a:prstGeom>
          <a:noFill/>
          <a:ln>
            <a:noFill/>
          </a:ln>
        </p:spPr>
        <p:txBody>
          <a:bodyPr anchorCtr="0" anchor="t" bIns="0" lIns="0" spcFirstLastPara="1" rIns="0" wrap="square" tIns="0">
            <a:noAutofit/>
          </a:bodyPr>
          <a:lstStyle/>
          <a:p>
            <a:pPr indent="-152400" lvl="0" marL="152400" marR="0" rtl="0" algn="l">
              <a:lnSpc>
                <a:spcPct val="130000"/>
              </a:lnSpc>
              <a:spcBef>
                <a:spcPts val="0"/>
              </a:spcBef>
              <a:spcAft>
                <a:spcPts val="0"/>
              </a:spcAft>
              <a:buClr>
                <a:srgbClr val="FFFFFF"/>
              </a:buClr>
              <a:buSzPts val="1050"/>
              <a:buFont typeface="Inter"/>
              <a:buChar char="•"/>
            </a:pPr>
            <a:r>
              <a:rPr b="0" i="0" lang="en-US" sz="1050" u="none" cap="none" strike="noStrike">
                <a:solidFill>
                  <a:srgbClr val="FFFFFF"/>
                </a:solidFill>
                <a:latin typeface="Inter"/>
                <a:ea typeface="Inter"/>
                <a:cs typeface="Inter"/>
                <a:sym typeface="Inter"/>
              </a:rPr>
              <a:t>The email: next year's stay, no commission.</a:t>
            </a:r>
            <a:endParaRPr b="0" i="0" sz="1050" u="none" cap="none" strike="noStrike">
              <a:solidFill>
                <a:schemeClr val="dk1"/>
              </a:solidFill>
              <a:latin typeface="Calibri"/>
              <a:ea typeface="Calibri"/>
              <a:cs typeface="Calibri"/>
              <a:sym typeface="Calibri"/>
            </a:endParaRPr>
          </a:p>
          <a:p>
            <a:pPr indent="-152400" lvl="0" marL="152400" marR="0" rtl="0" algn="l">
              <a:lnSpc>
                <a:spcPct val="130000"/>
              </a:lnSpc>
              <a:spcBef>
                <a:spcPts val="500"/>
              </a:spcBef>
              <a:spcAft>
                <a:spcPts val="0"/>
              </a:spcAft>
              <a:buClr>
                <a:srgbClr val="FFFFFF"/>
              </a:buClr>
              <a:buSzPts val="1050"/>
              <a:buFont typeface="Inter"/>
              <a:buChar char="•"/>
            </a:pPr>
            <a:r>
              <a:rPr b="0" i="0" lang="en-US" sz="1050" u="none" cap="none" strike="noStrike">
                <a:solidFill>
                  <a:srgbClr val="FFFFFF"/>
                </a:solidFill>
                <a:latin typeface="Inter"/>
                <a:ea typeface="Inter"/>
                <a:cs typeface="Inter"/>
                <a:sym typeface="Inter"/>
              </a:rPr>
              <a:t>The data: retargeting and lookalike audiences start from this list.</a:t>
            </a:r>
            <a:endParaRPr b="0" i="0" sz="1050" u="none" cap="none" strike="noStrike">
              <a:solidFill>
                <a:schemeClr val="dk1"/>
              </a:solidFill>
              <a:latin typeface="Calibri"/>
              <a:ea typeface="Calibri"/>
              <a:cs typeface="Calibri"/>
              <a:sym typeface="Calibri"/>
            </a:endParaRPr>
          </a:p>
          <a:p>
            <a:pPr indent="-152400" lvl="0" marL="152400" marR="0" rtl="0" algn="l">
              <a:lnSpc>
                <a:spcPct val="130000"/>
              </a:lnSpc>
              <a:spcBef>
                <a:spcPts val="500"/>
              </a:spcBef>
              <a:spcAft>
                <a:spcPts val="0"/>
              </a:spcAft>
              <a:buClr>
                <a:srgbClr val="FFFFFF"/>
              </a:buClr>
              <a:buSzPts val="1050"/>
              <a:buFont typeface="Inter"/>
              <a:buChar char="•"/>
            </a:pPr>
            <a:r>
              <a:rPr b="0" i="0" lang="en-US" sz="1050" u="none" cap="none" strike="noStrike">
                <a:solidFill>
                  <a:srgbClr val="FFFFFF"/>
                </a:solidFill>
                <a:latin typeface="Inter"/>
                <a:ea typeface="Inter"/>
                <a:cs typeface="Inter"/>
                <a:sym typeface="Inter"/>
              </a:rPr>
              <a:t>The pre-arrival upsell: spa, dinner, a better room.</a:t>
            </a:r>
            <a:endParaRPr b="0" i="0" sz="1050" u="none" cap="none" strike="noStrike">
              <a:solidFill>
                <a:schemeClr val="dk1"/>
              </a:solidFill>
              <a:latin typeface="Calibri"/>
              <a:ea typeface="Calibri"/>
              <a:cs typeface="Calibri"/>
              <a:sym typeface="Calibri"/>
            </a:endParaRPr>
          </a:p>
          <a:p>
            <a:pPr indent="-152400" lvl="0" marL="152400" marR="0" rtl="0" algn="l">
              <a:lnSpc>
                <a:spcPct val="130000"/>
              </a:lnSpc>
              <a:spcBef>
                <a:spcPts val="500"/>
              </a:spcBef>
              <a:spcAft>
                <a:spcPts val="0"/>
              </a:spcAft>
              <a:buClr>
                <a:srgbClr val="FFFFFF"/>
              </a:buClr>
              <a:buSzPts val="1050"/>
              <a:buFont typeface="Inter"/>
              <a:buChar char="•"/>
            </a:pPr>
            <a:r>
              <a:rPr b="0" i="0" lang="en-US" sz="1050" u="none" cap="none" strike="noStrike">
                <a:solidFill>
                  <a:srgbClr val="FFFFFF"/>
                </a:solidFill>
                <a:latin typeface="Inter"/>
                <a:ea typeface="Inter"/>
                <a:cs typeface="Inter"/>
                <a:sym typeface="Inter"/>
              </a:rPr>
              <a:t>The review and the referral come to the lodge.</a:t>
            </a:r>
            <a:endParaRPr b="0" i="0" sz="1050" u="none" cap="none" strike="noStrike">
              <a:solidFill>
                <a:schemeClr val="dk1"/>
              </a:solidFill>
              <a:latin typeface="Calibri"/>
              <a:ea typeface="Calibri"/>
              <a:cs typeface="Calibri"/>
              <a:sym typeface="Calibri"/>
            </a:endParaRPr>
          </a:p>
          <a:p>
            <a:pPr indent="-152400" lvl="0" marL="152400" marR="0" rtl="0" algn="l">
              <a:lnSpc>
                <a:spcPct val="130000"/>
              </a:lnSpc>
              <a:spcBef>
                <a:spcPts val="500"/>
              </a:spcBef>
              <a:spcAft>
                <a:spcPts val="0"/>
              </a:spcAft>
              <a:buClr>
                <a:srgbClr val="FFFFFF"/>
              </a:buClr>
              <a:buSzPts val="1050"/>
              <a:buFont typeface="Inter"/>
              <a:buChar char="•"/>
            </a:pPr>
            <a:r>
              <a:rPr b="0" i="0" lang="en-US" sz="1050" u="none" cap="none" strike="noStrike">
                <a:solidFill>
                  <a:srgbClr val="FFFFFF"/>
                </a:solidFill>
                <a:latin typeface="Inter"/>
                <a:ea typeface="Inter"/>
                <a:cs typeface="Inter"/>
                <a:sym typeface="Inter"/>
              </a:rPr>
              <a:t>Direct bookings tend to cancel less.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255" name="Shape 255"/>
        <p:cNvGrpSpPr/>
        <p:nvPr/>
      </p:nvGrpSpPr>
      <p:grpSpPr>
        <a:xfrm>
          <a:off x="0" y="0"/>
          <a:ext cx="0" cy="0"/>
          <a:chOff x="0" y="0"/>
          <a:chExt cx="0" cy="0"/>
        </a:xfrm>
      </p:grpSpPr>
      <p:sp>
        <p:nvSpPr>
          <p:cNvPr id="256" name="Google Shape;256;p10"/>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4 · WHY DIRECT PAYS</a:t>
            </a:r>
            <a:endParaRPr b="0" i="0" sz="1050" u="none" cap="none" strike="noStrike">
              <a:solidFill>
                <a:schemeClr val="dk1"/>
              </a:solidFill>
              <a:latin typeface="Calibri"/>
              <a:ea typeface="Calibri"/>
              <a:cs typeface="Calibri"/>
              <a:sym typeface="Calibri"/>
            </a:endParaRPr>
          </a:p>
        </p:txBody>
      </p:sp>
      <p:pic>
        <p:nvPicPr>
          <p:cNvPr descr="/home/claude/work/renderer/brand/wordmark.png" id="257" name="Google Shape;257;p10"/>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258" name="Google Shape;258;p10"/>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8 / 48</a:t>
            </a:r>
            <a:endParaRPr b="0" i="0" sz="900" u="none" cap="none" strike="noStrike">
              <a:solidFill>
                <a:schemeClr val="dk1"/>
              </a:solidFill>
              <a:latin typeface="Calibri"/>
              <a:ea typeface="Calibri"/>
              <a:cs typeface="Calibri"/>
              <a:sym typeface="Calibri"/>
            </a:endParaRPr>
          </a:p>
        </p:txBody>
      </p:sp>
      <p:sp>
        <p:nvSpPr>
          <p:cNvPr id="259" name="Google Shape;259;p10"/>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Effective commission</a:t>
            </a:r>
            <a:r>
              <a:rPr b="0" i="0" lang="en-US" sz="1700" u="none" cap="none" strike="noStrike">
                <a:solidFill>
                  <a:srgbClr val="004FAA"/>
                </a:solidFill>
                <a:latin typeface="Inter"/>
                <a:ea typeface="Inter"/>
                <a:cs typeface="Inter"/>
                <a:sym typeface="Inter"/>
              </a:rPr>
              <a:t>  what it really cost to win the booking</a:t>
            </a:r>
            <a:endParaRPr b="0" i="0" sz="3000" u="none" cap="none" strike="noStrike">
              <a:solidFill>
                <a:schemeClr val="dk1"/>
              </a:solidFill>
              <a:latin typeface="Calibri"/>
              <a:ea typeface="Calibri"/>
              <a:cs typeface="Calibri"/>
              <a:sym typeface="Calibri"/>
            </a:endParaRPr>
          </a:p>
        </p:txBody>
      </p:sp>
      <p:sp>
        <p:nvSpPr>
          <p:cNvPr id="260" name="Google Shape;260;p10"/>
          <p:cNvSpPr/>
          <p:nvPr/>
        </p:nvSpPr>
        <p:spPr>
          <a:xfrm>
            <a:off x="5715000" y="1783080"/>
            <a:ext cx="5928055" cy="4526280"/>
          </a:xfrm>
          <a:prstGeom prst="roundRect">
            <a:avLst>
              <a:gd fmla="val 2424"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10"/>
          <p:cNvSpPr/>
          <p:nvPr/>
        </p:nvSpPr>
        <p:spPr>
          <a:xfrm>
            <a:off x="548640" y="1783080"/>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book-closed.png" id="262" name="Google Shape;262;p10"/>
          <p:cNvPicPr preferRelativeResize="0"/>
          <p:nvPr/>
        </p:nvPicPr>
        <p:blipFill rotWithShape="1">
          <a:blip r:embed="rId4">
            <a:alphaModFix/>
          </a:blip>
          <a:srcRect b="0" l="0" r="0" t="0"/>
          <a:stretch/>
        </p:blipFill>
        <p:spPr>
          <a:xfrm>
            <a:off x="641177" y="1875617"/>
            <a:ext cx="235549" cy="235549"/>
          </a:xfrm>
          <a:prstGeom prst="rect">
            <a:avLst/>
          </a:prstGeom>
          <a:noFill/>
          <a:ln>
            <a:noFill/>
          </a:ln>
        </p:spPr>
      </p:pic>
      <p:sp>
        <p:nvSpPr>
          <p:cNvPr id="263" name="Google Shape;263;p10"/>
          <p:cNvSpPr txBox="1"/>
          <p:nvPr/>
        </p:nvSpPr>
        <p:spPr>
          <a:xfrm>
            <a:off x="1170432" y="1764792"/>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Dictionary</a:t>
            </a:r>
            <a:endParaRPr b="0" i="0" sz="1450" u="none" cap="none" strike="noStrike">
              <a:solidFill>
                <a:schemeClr val="dk1"/>
              </a:solidFill>
              <a:latin typeface="Calibri"/>
              <a:ea typeface="Calibri"/>
              <a:cs typeface="Calibri"/>
              <a:sym typeface="Calibri"/>
            </a:endParaRPr>
          </a:p>
        </p:txBody>
      </p:sp>
      <p:sp>
        <p:nvSpPr>
          <p:cNvPr id="264" name="Google Shape;264;p10"/>
          <p:cNvSpPr txBox="1"/>
          <p:nvPr/>
        </p:nvSpPr>
        <p:spPr>
          <a:xfrm>
            <a:off x="1170432" y="2075688"/>
            <a:ext cx="4270248" cy="701231"/>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The full cost of winning a booking as a percentage of its value, so a direct booking and an OTA booking compare on one line.</a:t>
            </a:r>
            <a:endParaRPr b="0" i="0" sz="1150" u="none" cap="none" strike="noStrike">
              <a:solidFill>
                <a:schemeClr val="dk1"/>
              </a:solidFill>
              <a:latin typeface="Calibri"/>
              <a:ea typeface="Calibri"/>
              <a:cs typeface="Calibri"/>
              <a:sym typeface="Calibri"/>
            </a:endParaRPr>
          </a:p>
        </p:txBody>
      </p:sp>
      <p:sp>
        <p:nvSpPr>
          <p:cNvPr id="265" name="Google Shape;265;p10"/>
          <p:cNvSpPr/>
          <p:nvPr/>
        </p:nvSpPr>
        <p:spPr>
          <a:xfrm>
            <a:off x="548640" y="3549301"/>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heart.png" id="266" name="Google Shape;266;p10"/>
          <p:cNvPicPr preferRelativeResize="0"/>
          <p:nvPr/>
        </p:nvPicPr>
        <p:blipFill rotWithShape="1">
          <a:blip r:embed="rId5">
            <a:alphaModFix/>
          </a:blip>
          <a:srcRect b="0" l="0" r="0" t="0"/>
          <a:stretch/>
        </p:blipFill>
        <p:spPr>
          <a:xfrm>
            <a:off x="641177" y="3641838"/>
            <a:ext cx="235549" cy="235549"/>
          </a:xfrm>
          <a:prstGeom prst="rect">
            <a:avLst/>
          </a:prstGeom>
          <a:noFill/>
          <a:ln>
            <a:noFill/>
          </a:ln>
        </p:spPr>
      </p:pic>
      <p:sp>
        <p:nvSpPr>
          <p:cNvPr id="267" name="Google Shape;267;p10"/>
          <p:cNvSpPr txBox="1"/>
          <p:nvPr/>
        </p:nvSpPr>
        <p:spPr>
          <a:xfrm>
            <a:off x="1170432" y="3531013"/>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Why the owner cares</a:t>
            </a:r>
            <a:endParaRPr b="0" i="0" sz="1450" u="none" cap="none" strike="noStrike">
              <a:solidFill>
                <a:schemeClr val="dk1"/>
              </a:solidFill>
              <a:latin typeface="Calibri"/>
              <a:ea typeface="Calibri"/>
              <a:cs typeface="Calibri"/>
              <a:sym typeface="Calibri"/>
            </a:endParaRPr>
          </a:p>
        </p:txBody>
      </p:sp>
      <p:sp>
        <p:nvSpPr>
          <p:cNvPr id="268" name="Google Shape;268;p10"/>
          <p:cNvSpPr txBox="1"/>
          <p:nvPr/>
        </p:nvSpPr>
        <p:spPr>
          <a:xfrm>
            <a:off x="1170432" y="3841909"/>
            <a:ext cx="4270248" cy="701231"/>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It puts a direct booking and an OTA booking on one line, which is the comparison owners actually make. And unlike an OTA's cut, it is a cost HGM can bring down.</a:t>
            </a:r>
            <a:endParaRPr b="0" i="0" sz="1150" u="none" cap="none" strike="noStrike">
              <a:solidFill>
                <a:schemeClr val="dk1"/>
              </a:solidFill>
              <a:latin typeface="Calibri"/>
              <a:ea typeface="Calibri"/>
              <a:cs typeface="Calibri"/>
              <a:sym typeface="Calibri"/>
            </a:endParaRPr>
          </a:p>
        </p:txBody>
      </p:sp>
      <p:sp>
        <p:nvSpPr>
          <p:cNvPr id="269" name="Google Shape;269;p10"/>
          <p:cNvSpPr/>
          <p:nvPr/>
        </p:nvSpPr>
        <p:spPr>
          <a:xfrm>
            <a:off x="548640" y="5315521"/>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message-square.png" id="270" name="Google Shape;270;p10"/>
          <p:cNvPicPr preferRelativeResize="0"/>
          <p:nvPr/>
        </p:nvPicPr>
        <p:blipFill rotWithShape="1">
          <a:blip r:embed="rId6">
            <a:alphaModFix/>
          </a:blip>
          <a:srcRect b="0" l="0" r="0" t="0"/>
          <a:stretch/>
        </p:blipFill>
        <p:spPr>
          <a:xfrm>
            <a:off x="641177" y="5408059"/>
            <a:ext cx="235549" cy="235549"/>
          </a:xfrm>
          <a:prstGeom prst="rect">
            <a:avLst/>
          </a:prstGeom>
          <a:noFill/>
          <a:ln>
            <a:noFill/>
          </a:ln>
        </p:spPr>
      </p:pic>
      <p:sp>
        <p:nvSpPr>
          <p:cNvPr id="271" name="Google Shape;271;p10"/>
          <p:cNvSpPr txBox="1"/>
          <p:nvPr/>
        </p:nvSpPr>
        <p:spPr>
          <a:xfrm>
            <a:off x="1170432" y="5297234"/>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Contextual usage</a:t>
            </a:r>
            <a:endParaRPr b="0" i="0" sz="1450" u="none" cap="none" strike="noStrike">
              <a:solidFill>
                <a:schemeClr val="dk1"/>
              </a:solidFill>
              <a:latin typeface="Calibri"/>
              <a:ea typeface="Calibri"/>
              <a:cs typeface="Calibri"/>
              <a:sym typeface="Calibri"/>
            </a:endParaRPr>
          </a:p>
        </p:txBody>
      </p:sp>
      <p:sp>
        <p:nvSpPr>
          <p:cNvPr id="272" name="Google Shape;272;p10"/>
          <p:cNvSpPr txBox="1"/>
          <p:nvPr/>
        </p:nvSpPr>
        <p:spPr>
          <a:xfrm>
            <a:off x="1170432" y="5608130"/>
            <a:ext cx="4270248" cy="701231"/>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Once we count ad spend and discounts too, what's your effective commission on a direct booking compared with Booking.com?</a:t>
            </a:r>
            <a:endParaRPr b="0" i="0" sz="1150" u="none" cap="none" strike="noStrike">
              <a:solidFill>
                <a:schemeClr val="dk1"/>
              </a:solidFill>
              <a:latin typeface="Calibri"/>
              <a:ea typeface="Calibri"/>
              <a:cs typeface="Calibri"/>
              <a:sym typeface="Calibri"/>
            </a:endParaRPr>
          </a:p>
        </p:txBody>
      </p:sp>
      <p:sp>
        <p:nvSpPr>
          <p:cNvPr id="273" name="Google Shape;273;p10"/>
          <p:cNvSpPr/>
          <p:nvPr/>
        </p:nvSpPr>
        <p:spPr>
          <a:xfrm>
            <a:off x="5989320" y="1984248"/>
            <a:ext cx="5379415" cy="438912"/>
          </a:xfrm>
          <a:prstGeom prst="roundRect">
            <a:avLst>
              <a:gd fmla="val 2083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10"/>
          <p:cNvSpPr/>
          <p:nvPr/>
        </p:nvSpPr>
        <p:spPr>
          <a:xfrm>
            <a:off x="6080760" y="2029968"/>
            <a:ext cx="347472" cy="347472"/>
          </a:xfrm>
          <a:prstGeom prst="roundRect">
            <a:avLst>
              <a:gd fmla="val 28947" name="adj"/>
            </a:avLst>
          </a:prstGeom>
          <a:solidFill>
            <a:srgbClr val="FFFF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calculator.png" id="275" name="Google Shape;275;p10"/>
          <p:cNvPicPr preferRelativeResize="0"/>
          <p:nvPr/>
        </p:nvPicPr>
        <p:blipFill rotWithShape="1">
          <a:blip r:embed="rId7">
            <a:alphaModFix/>
          </a:blip>
          <a:srcRect b="0" l="0" r="0" t="0"/>
          <a:stretch/>
        </p:blipFill>
        <p:spPr>
          <a:xfrm>
            <a:off x="6157204" y="2106412"/>
            <a:ext cx="194584" cy="194584"/>
          </a:xfrm>
          <a:prstGeom prst="rect">
            <a:avLst/>
          </a:prstGeom>
          <a:noFill/>
          <a:ln>
            <a:noFill/>
          </a:ln>
        </p:spPr>
      </p:pic>
      <p:sp>
        <p:nvSpPr>
          <p:cNvPr id="276" name="Google Shape;276;p10"/>
          <p:cNvSpPr txBox="1"/>
          <p:nvPr/>
        </p:nvSpPr>
        <p:spPr>
          <a:xfrm>
            <a:off x="6556248" y="1984248"/>
            <a:ext cx="4693615" cy="43891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1200"/>
              <a:buFont typeface="Roboto Mono"/>
              <a:buNone/>
            </a:pPr>
            <a:r>
              <a:rPr b="1" i="0" lang="en-US" sz="1200" u="none" cap="none" strike="noStrike">
                <a:solidFill>
                  <a:srgbClr val="004FAA"/>
                </a:solidFill>
                <a:latin typeface="Roboto Mono"/>
                <a:ea typeface="Roboto Mono"/>
                <a:cs typeface="Roboto Mono"/>
                <a:sym typeface="Roboto Mono"/>
              </a:rPr>
              <a:t>Total cost of winning the booking ÷ Gross booking value</a:t>
            </a:r>
            <a:endParaRPr b="0" i="0" sz="1200" u="none" cap="none" strike="noStrike">
              <a:solidFill>
                <a:schemeClr val="dk1"/>
              </a:solidFill>
              <a:latin typeface="Calibri"/>
              <a:ea typeface="Calibri"/>
              <a:cs typeface="Calibri"/>
              <a:sym typeface="Calibri"/>
            </a:endParaRPr>
          </a:p>
        </p:txBody>
      </p:sp>
      <p:sp>
        <p:nvSpPr>
          <p:cNvPr id="277" name="Google Shape;277;p10"/>
          <p:cNvSpPr txBox="1"/>
          <p:nvPr/>
        </p:nvSpPr>
        <p:spPr>
          <a:xfrm>
            <a:off x="5989320" y="2532888"/>
            <a:ext cx="5379415" cy="730377"/>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A guest booked five nights at Lakeside Lodge direct, a </a:t>
            </a:r>
            <a:r>
              <a:rPr b="1" i="0" lang="en-US" sz="1100" u="none" cap="none" strike="noStrike">
                <a:solidFill>
                  <a:srgbClr val="404040"/>
                </a:solidFill>
                <a:latin typeface="Inter"/>
                <a:ea typeface="Inter"/>
                <a:cs typeface="Inter"/>
                <a:sym typeface="Inter"/>
              </a:rPr>
              <a:t>$1,500</a:t>
            </a:r>
            <a:r>
              <a:rPr b="0" i="0" lang="en-US" sz="1100" u="none" cap="none" strike="noStrike">
                <a:solidFill>
                  <a:srgbClr val="404040"/>
                </a:solidFill>
                <a:latin typeface="Inter"/>
                <a:ea typeface="Inter"/>
                <a:cs typeface="Inter"/>
                <a:sym typeface="Inter"/>
              </a:rPr>
              <a:t> stay. The Meta ads that brought them cost </a:t>
            </a:r>
            <a:r>
              <a:rPr b="1" i="0" lang="en-US" sz="1100" u="none" cap="none" strike="noStrike">
                <a:solidFill>
                  <a:srgbClr val="404040"/>
                </a:solidFill>
                <a:latin typeface="Inter"/>
                <a:ea typeface="Inter"/>
                <a:cs typeface="Inter"/>
                <a:sym typeface="Inter"/>
              </a:rPr>
              <a:t>$150</a:t>
            </a:r>
            <a:r>
              <a:rPr b="0" i="0" lang="en-US" sz="1100" u="none" cap="none" strike="noStrike">
                <a:solidFill>
                  <a:srgbClr val="404040"/>
                </a:solidFill>
                <a:latin typeface="Inter"/>
                <a:ea typeface="Inter"/>
                <a:cs typeface="Inter"/>
                <a:sym typeface="Inter"/>
              </a:rPr>
              <a:t>. Through Booking.com, the same stay would have carried a </a:t>
            </a:r>
            <a:r>
              <a:rPr b="1" i="0" lang="en-US" sz="1100" u="none" cap="none" strike="noStrike">
                <a:solidFill>
                  <a:srgbClr val="404040"/>
                </a:solidFill>
                <a:latin typeface="Inter"/>
                <a:ea typeface="Inter"/>
                <a:cs typeface="Inter"/>
                <a:sym typeface="Inter"/>
              </a:rPr>
              <a:t>$225</a:t>
            </a:r>
            <a:r>
              <a:rPr b="0" i="0" lang="en-US" sz="1100" u="none" cap="none" strike="noStrike">
                <a:solidFill>
                  <a:srgbClr val="404040"/>
                </a:solidFill>
                <a:latin typeface="Inter"/>
                <a:ea typeface="Inter"/>
                <a:cs typeface="Inter"/>
                <a:sym typeface="Inter"/>
              </a:rPr>
              <a:t> commission.</a:t>
            </a:r>
            <a:endParaRPr b="0" i="0" sz="1100" u="none" cap="none" strike="noStrike">
              <a:solidFill>
                <a:schemeClr val="dk1"/>
              </a:solidFill>
              <a:latin typeface="Calibri"/>
              <a:ea typeface="Calibri"/>
              <a:cs typeface="Calibri"/>
              <a:sym typeface="Calibri"/>
            </a:endParaRPr>
          </a:p>
        </p:txBody>
      </p:sp>
      <p:sp>
        <p:nvSpPr>
          <p:cNvPr id="278" name="Google Shape;278;p10"/>
          <p:cNvSpPr txBox="1"/>
          <p:nvPr/>
        </p:nvSpPr>
        <p:spPr>
          <a:xfrm>
            <a:off x="6172200" y="3318129"/>
            <a:ext cx="5196535" cy="2377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Direct: $150 ÷ $1,500 = 10%</a:t>
            </a:r>
            <a:endParaRPr b="0" i="0" sz="1100" u="none" cap="none" strike="noStrike">
              <a:solidFill>
                <a:schemeClr val="dk1"/>
              </a:solidFill>
              <a:latin typeface="Calibri"/>
              <a:ea typeface="Calibri"/>
              <a:cs typeface="Calibri"/>
              <a:sym typeface="Calibri"/>
            </a:endParaRPr>
          </a:p>
        </p:txBody>
      </p:sp>
      <p:sp>
        <p:nvSpPr>
          <p:cNvPr id="279" name="Google Shape;279;p10"/>
          <p:cNvSpPr txBox="1"/>
          <p:nvPr/>
        </p:nvSpPr>
        <p:spPr>
          <a:xfrm>
            <a:off x="6172200" y="3565017"/>
            <a:ext cx="5196535" cy="2377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Booking.com: $225 ÷ $1,500 = 15%</a:t>
            </a:r>
            <a:endParaRPr b="0" i="0" sz="1100" u="none" cap="none" strike="noStrike">
              <a:solidFill>
                <a:schemeClr val="dk1"/>
              </a:solidFill>
              <a:latin typeface="Calibri"/>
              <a:ea typeface="Calibri"/>
              <a:cs typeface="Calibri"/>
              <a:sym typeface="Calibri"/>
            </a:endParaRPr>
          </a:p>
        </p:txBody>
      </p:sp>
      <p:sp>
        <p:nvSpPr>
          <p:cNvPr id="280" name="Google Shape;280;p10"/>
          <p:cNvSpPr/>
          <p:nvPr/>
        </p:nvSpPr>
        <p:spPr>
          <a:xfrm>
            <a:off x="5989320" y="3857625"/>
            <a:ext cx="5379415" cy="585216"/>
          </a:xfrm>
          <a:prstGeom prst="roundRect">
            <a:avLst>
              <a:gd fmla="val 15625"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check-circle.png" id="281" name="Google Shape;281;p10"/>
          <p:cNvPicPr preferRelativeResize="0"/>
          <p:nvPr/>
        </p:nvPicPr>
        <p:blipFill rotWithShape="1">
          <a:blip r:embed="rId8">
            <a:alphaModFix/>
          </a:blip>
          <a:srcRect b="0" l="0" r="0" t="0"/>
          <a:stretch/>
        </p:blipFill>
        <p:spPr>
          <a:xfrm>
            <a:off x="6117336" y="4031361"/>
            <a:ext cx="237744" cy="237744"/>
          </a:xfrm>
          <a:prstGeom prst="rect">
            <a:avLst/>
          </a:prstGeom>
          <a:noFill/>
          <a:ln>
            <a:noFill/>
          </a:ln>
        </p:spPr>
      </p:pic>
      <p:sp>
        <p:nvSpPr>
          <p:cNvPr id="282" name="Google Shape;282;p10"/>
          <p:cNvSpPr txBox="1"/>
          <p:nvPr/>
        </p:nvSpPr>
        <p:spPr>
          <a:xfrm>
            <a:off x="6464808" y="3857625"/>
            <a:ext cx="4830775" cy="58521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1200"/>
              <a:buFont typeface="Inter"/>
              <a:buNone/>
            </a:pPr>
            <a:r>
              <a:rPr b="1" i="0" lang="en-US" sz="1200" u="none" cap="none" strike="noStrike">
                <a:solidFill>
                  <a:srgbClr val="15803D"/>
                </a:solidFill>
                <a:latin typeface="Inter"/>
                <a:ea typeface="Inter"/>
                <a:cs typeface="Inter"/>
                <a:sym typeface="Inter"/>
              </a:rPr>
              <a:t>Therefore, effective commission = 10% direct, 15% on Booking.com</a:t>
            </a:r>
            <a:endParaRPr b="0" i="0" sz="1200" u="none" cap="none" strike="noStrike">
              <a:solidFill>
                <a:schemeClr val="dk1"/>
              </a:solidFill>
              <a:latin typeface="Calibri"/>
              <a:ea typeface="Calibri"/>
              <a:cs typeface="Calibri"/>
              <a:sym typeface="Calibri"/>
            </a:endParaRPr>
          </a:p>
        </p:txBody>
      </p:sp>
      <p:sp>
        <p:nvSpPr>
          <p:cNvPr id="283" name="Google Shape;283;p10"/>
          <p:cNvSpPr txBox="1"/>
          <p:nvPr/>
        </p:nvSpPr>
        <p:spPr>
          <a:xfrm>
            <a:off x="5989320" y="4552569"/>
            <a:ext cx="5379415"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900"/>
              <a:buFont typeface="Roboto Mono"/>
              <a:buNone/>
            </a:pPr>
            <a:r>
              <a:rPr b="0" i="0" lang="en-US" sz="900" u="none" cap="none" strike="noStrike">
                <a:solidFill>
                  <a:srgbClr val="004FAA"/>
                </a:solidFill>
                <a:latin typeface="Roboto Mono"/>
                <a:ea typeface="Roboto Mono"/>
                <a:cs typeface="Roboto Mono"/>
                <a:sym typeface="Roboto Mono"/>
              </a:rPr>
              <a:t>THE SAME $1,500 STAY, TWO WAYS</a:t>
            </a:r>
            <a:endParaRPr b="0" i="0" sz="900" u="none" cap="none" strike="noStrike">
              <a:solidFill>
                <a:schemeClr val="dk1"/>
              </a:solidFill>
              <a:latin typeface="Calibri"/>
              <a:ea typeface="Calibri"/>
              <a:cs typeface="Calibri"/>
              <a:sym typeface="Calibri"/>
            </a:endParaRPr>
          </a:p>
        </p:txBody>
      </p:sp>
      <p:sp>
        <p:nvSpPr>
          <p:cNvPr id="284" name="Google Shape;284;p10"/>
          <p:cNvSpPr txBox="1"/>
          <p:nvPr/>
        </p:nvSpPr>
        <p:spPr>
          <a:xfrm>
            <a:off x="5989320" y="4826889"/>
            <a:ext cx="2194560" cy="457200"/>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171717"/>
              </a:buClr>
              <a:buSzPts val="1050"/>
              <a:buFont typeface="Inter"/>
              <a:buNone/>
            </a:pPr>
            <a:r>
              <a:rPr b="1" i="0" lang="en-US" sz="1050" u="none" cap="none" strike="noStrike">
                <a:solidFill>
                  <a:srgbClr val="171717"/>
                </a:solidFill>
                <a:latin typeface="Inter"/>
                <a:ea typeface="Inter"/>
                <a:cs typeface="Inter"/>
                <a:sym typeface="Inter"/>
              </a:rPr>
              <a:t>Won by Meta ads</a:t>
            </a:r>
            <a:endParaRPr b="0" i="0" sz="1050" u="none" cap="none" strike="noStrike">
              <a:solidFill>
                <a:schemeClr val="dk1"/>
              </a:solidFill>
              <a:latin typeface="Calibri"/>
              <a:ea typeface="Calibri"/>
              <a:cs typeface="Calibri"/>
              <a:sym typeface="Calibri"/>
            </a:endParaRPr>
          </a:p>
        </p:txBody>
      </p:sp>
      <p:sp>
        <p:nvSpPr>
          <p:cNvPr id="285" name="Google Shape;285;p10"/>
          <p:cNvSpPr/>
          <p:nvPr/>
        </p:nvSpPr>
        <p:spPr>
          <a:xfrm>
            <a:off x="8275320" y="4909185"/>
            <a:ext cx="1043788" cy="292608"/>
          </a:xfrm>
          <a:prstGeom prst="roundRect">
            <a:avLst>
              <a:gd fmla="val 15625" name="adj"/>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10"/>
          <p:cNvSpPr txBox="1"/>
          <p:nvPr/>
        </p:nvSpPr>
        <p:spPr>
          <a:xfrm>
            <a:off x="9410548" y="4826889"/>
            <a:ext cx="1005840" cy="45720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000"/>
              <a:buFont typeface="Roboto Mono"/>
              <a:buNone/>
            </a:pPr>
            <a:r>
              <a:rPr b="1" i="0" lang="en-US" sz="1000" u="none" cap="none" strike="noStrike">
                <a:solidFill>
                  <a:srgbClr val="171717"/>
                </a:solidFill>
                <a:latin typeface="Roboto Mono"/>
                <a:ea typeface="Roboto Mono"/>
                <a:cs typeface="Roboto Mono"/>
                <a:sym typeface="Roboto Mono"/>
              </a:rPr>
              <a:t>$150 (10%)</a:t>
            </a:r>
            <a:endParaRPr b="0" i="0" sz="1000" u="none" cap="none" strike="noStrike">
              <a:solidFill>
                <a:schemeClr val="dk1"/>
              </a:solidFill>
              <a:latin typeface="Calibri"/>
              <a:ea typeface="Calibri"/>
              <a:cs typeface="Calibri"/>
              <a:sym typeface="Calibri"/>
            </a:endParaRPr>
          </a:p>
        </p:txBody>
      </p:sp>
      <p:sp>
        <p:nvSpPr>
          <p:cNvPr id="287" name="Google Shape;287;p10"/>
          <p:cNvSpPr txBox="1"/>
          <p:nvPr/>
        </p:nvSpPr>
        <p:spPr>
          <a:xfrm>
            <a:off x="5989320" y="5338953"/>
            <a:ext cx="2194560" cy="457200"/>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171717"/>
              </a:buClr>
              <a:buSzPts val="1050"/>
              <a:buFont typeface="Inter"/>
              <a:buNone/>
            </a:pPr>
            <a:r>
              <a:rPr b="1" i="0" lang="en-US" sz="1050" u="none" cap="none" strike="noStrike">
                <a:solidFill>
                  <a:srgbClr val="171717"/>
                </a:solidFill>
                <a:latin typeface="Inter"/>
                <a:ea typeface="Inter"/>
                <a:cs typeface="Inter"/>
                <a:sym typeface="Inter"/>
              </a:rPr>
              <a:t>Through Booking.com</a:t>
            </a:r>
            <a:endParaRPr b="0" i="0" sz="1050" u="none" cap="none" strike="noStrike">
              <a:solidFill>
                <a:schemeClr val="dk1"/>
              </a:solidFill>
              <a:latin typeface="Calibri"/>
              <a:ea typeface="Calibri"/>
              <a:cs typeface="Calibri"/>
              <a:sym typeface="Calibri"/>
            </a:endParaRPr>
          </a:p>
        </p:txBody>
      </p:sp>
      <p:sp>
        <p:nvSpPr>
          <p:cNvPr id="288" name="Google Shape;288;p10"/>
          <p:cNvSpPr/>
          <p:nvPr/>
        </p:nvSpPr>
        <p:spPr>
          <a:xfrm>
            <a:off x="8275320" y="5421249"/>
            <a:ext cx="1565681" cy="292608"/>
          </a:xfrm>
          <a:prstGeom prst="roundRect">
            <a:avLst>
              <a:gd fmla="val 15625" name="adj"/>
            </a:avLst>
          </a:prstGeom>
          <a:solidFill>
            <a:srgbClr val="FEF2F2"/>
          </a:solidFill>
          <a:ln cap="flat" cmpd="sng" w="12700">
            <a:solidFill>
              <a:srgbClr val="F3C4C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10"/>
          <p:cNvSpPr txBox="1"/>
          <p:nvPr/>
        </p:nvSpPr>
        <p:spPr>
          <a:xfrm>
            <a:off x="9932441" y="5338953"/>
            <a:ext cx="1005840" cy="45720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000"/>
              <a:buFont typeface="Roboto Mono"/>
              <a:buNone/>
            </a:pPr>
            <a:r>
              <a:rPr b="1" i="0" lang="en-US" sz="1000" u="none" cap="none" strike="noStrike">
                <a:solidFill>
                  <a:srgbClr val="171717"/>
                </a:solidFill>
                <a:latin typeface="Roboto Mono"/>
                <a:ea typeface="Roboto Mono"/>
                <a:cs typeface="Roboto Mono"/>
                <a:sym typeface="Roboto Mono"/>
              </a:rPr>
              <a:t>$225 (15%)</a:t>
            </a:r>
            <a:endParaRPr b="0" i="0" sz="1000" u="none" cap="none" strike="noStrike">
              <a:solidFill>
                <a:schemeClr val="dk1"/>
              </a:solidFill>
              <a:latin typeface="Calibri"/>
              <a:ea typeface="Calibri"/>
              <a:cs typeface="Calibri"/>
              <a:sym typeface="Calibri"/>
            </a:endParaRPr>
          </a:p>
        </p:txBody>
      </p:sp>
      <p:sp>
        <p:nvSpPr>
          <p:cNvPr id="290" name="Google Shape;290;p10"/>
          <p:cNvSpPr txBox="1"/>
          <p:nvPr/>
        </p:nvSpPr>
        <p:spPr>
          <a:xfrm>
            <a:off x="5989320" y="5924169"/>
            <a:ext cx="5379415" cy="201676"/>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25252"/>
              </a:buClr>
              <a:buSzPts val="1000"/>
              <a:buFont typeface="Inter"/>
              <a:buNone/>
            </a:pPr>
            <a:r>
              <a:rPr b="0" i="0" lang="en-US" sz="1000" u="none" cap="none" strike="noStrike">
                <a:solidFill>
                  <a:srgbClr val="525252"/>
                </a:solidFill>
                <a:latin typeface="Inter"/>
                <a:ea typeface="Inter"/>
                <a:cs typeface="Inter"/>
                <a:sym typeface="Inter"/>
              </a:rPr>
              <a:t>Both costs are made up. The point is the one line they sit on.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534"/>
        </a:solidFill>
      </p:bgPr>
    </p:bg>
    <p:spTree>
      <p:nvGrpSpPr>
        <p:cNvPr id="295" name="Shape 295"/>
        <p:cNvGrpSpPr/>
        <p:nvPr/>
      </p:nvGrpSpPr>
      <p:grpSpPr>
        <a:xfrm>
          <a:off x="0" y="0"/>
          <a:ext cx="0" cy="0"/>
          <a:chOff x="0" y="0"/>
          <a:chExt cx="0" cy="0"/>
        </a:xfrm>
      </p:grpSpPr>
      <p:sp>
        <p:nvSpPr>
          <p:cNvPr id="296" name="Google Shape;296;p11"/>
          <p:cNvSpPr txBox="1"/>
          <p:nvPr/>
        </p:nvSpPr>
        <p:spPr>
          <a:xfrm>
            <a:off x="548640" y="502920"/>
            <a:ext cx="5486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A9C9FF"/>
              </a:buClr>
              <a:buSzPts val="1050"/>
              <a:buFont typeface="Roboto Mono"/>
              <a:buNone/>
            </a:pPr>
            <a:r>
              <a:rPr b="0" i="0" lang="en-US" sz="1050" u="none" cap="none" strike="noStrike">
                <a:solidFill>
                  <a:srgbClr val="A9C9FF"/>
                </a:solidFill>
                <a:latin typeface="Roboto Mono"/>
                <a:ea typeface="Roboto Mono"/>
                <a:cs typeface="Roboto Mono"/>
                <a:sym typeface="Roboto Mono"/>
              </a:rPr>
              <a:t>PRACTICE · AFTER BLOCK 4</a:t>
            </a:r>
            <a:endParaRPr b="0" i="0" sz="1050" u="none" cap="none" strike="noStrike">
              <a:solidFill>
                <a:schemeClr val="dk1"/>
              </a:solidFill>
              <a:latin typeface="Calibri"/>
              <a:ea typeface="Calibri"/>
              <a:cs typeface="Calibri"/>
              <a:sym typeface="Calibri"/>
            </a:endParaRPr>
          </a:p>
        </p:txBody>
      </p:sp>
      <p:sp>
        <p:nvSpPr>
          <p:cNvPr id="297" name="Google Shape;297;p11"/>
          <p:cNvSpPr txBox="1"/>
          <p:nvPr/>
        </p:nvSpPr>
        <p:spPr>
          <a:xfrm>
            <a:off x="548640" y="914400"/>
            <a:ext cx="8229600" cy="86868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4000"/>
              <a:buFont typeface="Inter"/>
              <a:buNone/>
            </a:pPr>
            <a:r>
              <a:rPr b="1" i="0" lang="en-US" sz="4000" u="none" cap="none" strike="noStrike">
                <a:solidFill>
                  <a:srgbClr val="FFFFFF"/>
                </a:solidFill>
                <a:latin typeface="Inter"/>
                <a:ea typeface="Inter"/>
                <a:cs typeface="Inter"/>
                <a:sym typeface="Inter"/>
              </a:rPr>
              <a:t>Odd one out</a:t>
            </a:r>
            <a:endParaRPr b="0" i="0" sz="4000" u="none" cap="none" strike="noStrike">
              <a:solidFill>
                <a:schemeClr val="dk1"/>
              </a:solidFill>
              <a:latin typeface="Calibri"/>
              <a:ea typeface="Calibri"/>
              <a:cs typeface="Calibri"/>
              <a:sym typeface="Calibri"/>
            </a:endParaRPr>
          </a:p>
        </p:txBody>
      </p:sp>
      <p:sp>
        <p:nvSpPr>
          <p:cNvPr id="298" name="Google Shape;298;p11"/>
          <p:cNvSpPr/>
          <p:nvPr/>
        </p:nvSpPr>
        <p:spPr>
          <a:xfrm>
            <a:off x="548640" y="2468880"/>
            <a:ext cx="8138160" cy="749808"/>
          </a:xfrm>
          <a:prstGeom prst="roundRect">
            <a:avLst>
              <a:gd fmla="val 12195" name="adj"/>
            </a:avLst>
          </a:prstGeom>
          <a:solidFill>
            <a:srgbClr val="002552"/>
          </a:solidFill>
          <a:ln cap="flat" cmpd="sng" w="12700">
            <a:solidFill>
              <a:srgbClr val="113A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puzzle-piece-soft.png" id="299" name="Google Shape;299;p11"/>
          <p:cNvPicPr preferRelativeResize="0"/>
          <p:nvPr/>
        </p:nvPicPr>
        <p:blipFill rotWithShape="1">
          <a:blip r:embed="rId3">
            <a:alphaModFix/>
          </a:blip>
          <a:srcRect b="0" l="0" r="0" t="0"/>
          <a:stretch/>
        </p:blipFill>
        <p:spPr>
          <a:xfrm>
            <a:off x="841248" y="2697480"/>
            <a:ext cx="292608" cy="292608"/>
          </a:xfrm>
          <a:prstGeom prst="rect">
            <a:avLst/>
          </a:prstGeom>
          <a:noFill/>
          <a:ln>
            <a:noFill/>
          </a:ln>
        </p:spPr>
      </p:pic>
      <p:sp>
        <p:nvSpPr>
          <p:cNvPr id="300" name="Google Shape;300;p11"/>
          <p:cNvSpPr txBox="1"/>
          <p:nvPr/>
        </p:nvSpPr>
        <p:spPr>
          <a:xfrm>
            <a:off x="1371600" y="2560320"/>
            <a:ext cx="7132320" cy="566928"/>
          </a:xfrm>
          <a:prstGeom prst="rect">
            <a:avLst/>
          </a:prstGeom>
          <a:noFill/>
          <a:ln>
            <a:noFill/>
          </a:ln>
        </p:spPr>
        <p:txBody>
          <a:bodyPr anchorCtr="0" anchor="ctr" bIns="0" lIns="0" spcFirstLastPara="1" rIns="0" wrap="square" tIns="0">
            <a:noAutofit/>
          </a:bodyPr>
          <a:lstStyle/>
          <a:p>
            <a:pPr indent="0" lvl="0" marL="0" marR="0" rtl="0" algn="l">
              <a:lnSpc>
                <a:spcPct val="135037"/>
              </a:lnSpc>
              <a:spcBef>
                <a:spcPts val="0"/>
              </a:spcBef>
              <a:spcAft>
                <a:spcPts val="0"/>
              </a:spcAft>
              <a:buClr>
                <a:srgbClr val="FFFFFF"/>
              </a:buClr>
              <a:buSzPts val="1350"/>
              <a:buFont typeface="Inter"/>
              <a:buNone/>
            </a:pPr>
            <a:r>
              <a:rPr b="0" i="0" lang="en-US" sz="1350" u="none" cap="none" strike="noStrike">
                <a:solidFill>
                  <a:srgbClr val="FFFFFF"/>
                </a:solidFill>
                <a:latin typeface="Inter"/>
                <a:ea typeface="Inter"/>
                <a:cs typeface="Inter"/>
                <a:sym typeface="Inter"/>
              </a:rPr>
              <a:t>One term, four statements about it. Three are true. One is the common mistake.</a:t>
            </a:r>
            <a:endParaRPr b="0" i="0" sz="1350" u="none" cap="none" strike="noStrike">
              <a:solidFill>
                <a:schemeClr val="dk1"/>
              </a:solidFill>
              <a:latin typeface="Calibri"/>
              <a:ea typeface="Calibri"/>
              <a:cs typeface="Calibri"/>
              <a:sym typeface="Calibri"/>
            </a:endParaRPr>
          </a:p>
        </p:txBody>
      </p:sp>
      <p:sp>
        <p:nvSpPr>
          <p:cNvPr id="301" name="Google Shape;301;p11"/>
          <p:cNvSpPr/>
          <p:nvPr/>
        </p:nvSpPr>
        <p:spPr>
          <a:xfrm>
            <a:off x="548640" y="3383280"/>
            <a:ext cx="8138160" cy="749808"/>
          </a:xfrm>
          <a:prstGeom prst="roundRect">
            <a:avLst>
              <a:gd fmla="val 12195" name="adj"/>
            </a:avLst>
          </a:prstGeom>
          <a:solidFill>
            <a:srgbClr val="002552"/>
          </a:solidFill>
          <a:ln cap="flat" cmpd="sng" w="12700">
            <a:solidFill>
              <a:srgbClr val="113A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list-soft.png" id="302" name="Google Shape;302;p11"/>
          <p:cNvPicPr preferRelativeResize="0"/>
          <p:nvPr/>
        </p:nvPicPr>
        <p:blipFill rotWithShape="1">
          <a:blip r:embed="rId4">
            <a:alphaModFix/>
          </a:blip>
          <a:srcRect b="0" l="0" r="0" t="0"/>
          <a:stretch/>
        </p:blipFill>
        <p:spPr>
          <a:xfrm>
            <a:off x="841248" y="3611880"/>
            <a:ext cx="292608" cy="292608"/>
          </a:xfrm>
          <a:prstGeom prst="rect">
            <a:avLst/>
          </a:prstGeom>
          <a:noFill/>
          <a:ln>
            <a:noFill/>
          </a:ln>
        </p:spPr>
      </p:pic>
      <p:sp>
        <p:nvSpPr>
          <p:cNvPr id="303" name="Google Shape;303;p11"/>
          <p:cNvSpPr txBox="1"/>
          <p:nvPr/>
        </p:nvSpPr>
        <p:spPr>
          <a:xfrm>
            <a:off x="1371600" y="3474720"/>
            <a:ext cx="7132320" cy="566928"/>
          </a:xfrm>
          <a:prstGeom prst="rect">
            <a:avLst/>
          </a:prstGeom>
          <a:noFill/>
          <a:ln>
            <a:noFill/>
          </a:ln>
        </p:spPr>
        <p:txBody>
          <a:bodyPr anchorCtr="0" anchor="ctr" bIns="0" lIns="0" spcFirstLastPara="1" rIns="0" wrap="square" tIns="0">
            <a:noAutofit/>
          </a:bodyPr>
          <a:lstStyle/>
          <a:p>
            <a:pPr indent="0" lvl="0" marL="0" marR="0" rtl="0" algn="l">
              <a:lnSpc>
                <a:spcPct val="135037"/>
              </a:lnSpc>
              <a:spcBef>
                <a:spcPts val="0"/>
              </a:spcBef>
              <a:spcAft>
                <a:spcPts val="0"/>
              </a:spcAft>
              <a:buClr>
                <a:srgbClr val="FFFFFF"/>
              </a:buClr>
              <a:buSzPts val="1350"/>
              <a:buFont typeface="Inter"/>
              <a:buNone/>
            </a:pPr>
            <a:r>
              <a:rPr b="0" i="0" lang="en-US" sz="1350" u="none" cap="none" strike="noStrike">
                <a:solidFill>
                  <a:srgbClr val="FFFFFF"/>
                </a:solidFill>
                <a:latin typeface="Inter"/>
                <a:ea typeface="Inter"/>
                <a:cs typeface="Inter"/>
                <a:sym typeface="Inter"/>
              </a:rPr>
              <a:t>Hold up the number of the odd one out.</a:t>
            </a:r>
            <a:endParaRPr b="0" i="0" sz="1350" u="none" cap="none" strike="noStrike">
              <a:solidFill>
                <a:schemeClr val="dk1"/>
              </a:solidFill>
              <a:latin typeface="Calibri"/>
              <a:ea typeface="Calibri"/>
              <a:cs typeface="Calibri"/>
              <a:sym typeface="Calibri"/>
            </a:endParaRPr>
          </a:p>
        </p:txBody>
      </p:sp>
      <p:sp>
        <p:nvSpPr>
          <p:cNvPr id="304" name="Google Shape;304;p11"/>
          <p:cNvSpPr/>
          <p:nvPr/>
        </p:nvSpPr>
        <p:spPr>
          <a:xfrm>
            <a:off x="548640" y="4297680"/>
            <a:ext cx="8138160" cy="749808"/>
          </a:xfrm>
          <a:prstGeom prst="roundRect">
            <a:avLst>
              <a:gd fmla="val 12195" name="adj"/>
            </a:avLst>
          </a:prstGeom>
          <a:solidFill>
            <a:srgbClr val="002552"/>
          </a:solidFill>
          <a:ln cap="flat" cmpd="sng" w="12700">
            <a:solidFill>
              <a:srgbClr val="113A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check-circle-soft.png" id="305" name="Google Shape;305;p11"/>
          <p:cNvPicPr preferRelativeResize="0"/>
          <p:nvPr/>
        </p:nvPicPr>
        <p:blipFill rotWithShape="1">
          <a:blip r:embed="rId5">
            <a:alphaModFix/>
          </a:blip>
          <a:srcRect b="0" l="0" r="0" t="0"/>
          <a:stretch/>
        </p:blipFill>
        <p:spPr>
          <a:xfrm>
            <a:off x="841248" y="4526280"/>
            <a:ext cx="292608" cy="292608"/>
          </a:xfrm>
          <a:prstGeom prst="rect">
            <a:avLst/>
          </a:prstGeom>
          <a:noFill/>
          <a:ln>
            <a:noFill/>
          </a:ln>
        </p:spPr>
      </p:pic>
      <p:sp>
        <p:nvSpPr>
          <p:cNvPr id="306" name="Google Shape;306;p11"/>
          <p:cNvSpPr txBox="1"/>
          <p:nvPr/>
        </p:nvSpPr>
        <p:spPr>
          <a:xfrm>
            <a:off x="1371600" y="4389120"/>
            <a:ext cx="7132320" cy="566928"/>
          </a:xfrm>
          <a:prstGeom prst="rect">
            <a:avLst/>
          </a:prstGeom>
          <a:noFill/>
          <a:ln>
            <a:noFill/>
          </a:ln>
        </p:spPr>
        <p:txBody>
          <a:bodyPr anchorCtr="0" anchor="ctr" bIns="0" lIns="0" spcFirstLastPara="1" rIns="0" wrap="square" tIns="0">
            <a:noAutofit/>
          </a:bodyPr>
          <a:lstStyle/>
          <a:p>
            <a:pPr indent="0" lvl="0" marL="0" marR="0" rtl="0" algn="l">
              <a:lnSpc>
                <a:spcPct val="135037"/>
              </a:lnSpc>
              <a:spcBef>
                <a:spcPts val="0"/>
              </a:spcBef>
              <a:spcAft>
                <a:spcPts val="0"/>
              </a:spcAft>
              <a:buClr>
                <a:srgbClr val="FFFFFF"/>
              </a:buClr>
              <a:buSzPts val="1350"/>
              <a:buFont typeface="Inter"/>
              <a:buNone/>
            </a:pPr>
            <a:r>
              <a:rPr b="0" i="0" lang="en-US" sz="1350" u="none" cap="none" strike="noStrike">
                <a:solidFill>
                  <a:srgbClr val="FFFFFF"/>
                </a:solidFill>
                <a:latin typeface="Inter"/>
                <a:ea typeface="Inter"/>
                <a:cs typeface="Inter"/>
                <a:sym typeface="Inter"/>
              </a:rPr>
              <a:t>Three, two, one, vote. Everyone commits at once.</a:t>
            </a:r>
            <a:endParaRPr b="0" i="0" sz="1350" u="none" cap="none" strike="noStrike">
              <a:solidFill>
                <a:schemeClr val="dk1"/>
              </a:solidFill>
              <a:latin typeface="Calibri"/>
              <a:ea typeface="Calibri"/>
              <a:cs typeface="Calibri"/>
              <a:sym typeface="Calibri"/>
            </a:endParaRPr>
          </a:p>
        </p:txBody>
      </p:sp>
      <p:sp>
        <p:nvSpPr>
          <p:cNvPr id="307" name="Google Shape;307;p11"/>
          <p:cNvSpPr txBox="1"/>
          <p:nvPr/>
        </p:nvSpPr>
        <p:spPr>
          <a:xfrm>
            <a:off x="548640" y="626364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A9C9FF"/>
              </a:buClr>
              <a:buSzPts val="1050"/>
              <a:buFont typeface="Roboto Mono"/>
              <a:buNone/>
            </a:pPr>
            <a:r>
              <a:rPr b="0" i="0" lang="en-US" sz="1050" u="none" cap="none" strike="noStrike">
                <a:solidFill>
                  <a:srgbClr val="A9C9FF"/>
                </a:solidFill>
                <a:latin typeface="Roboto Mono"/>
                <a:ea typeface="Roboto Mono"/>
                <a:cs typeface="Roboto Mono"/>
                <a:sym typeface="Roboto Mono"/>
              </a:rPr>
              <a:t>The owners, their properties and every number here are made up.</a:t>
            </a:r>
            <a:endParaRPr b="0" i="0" sz="1050" u="none" cap="none" strike="noStrike">
              <a:solidFill>
                <a:schemeClr val="dk1"/>
              </a:solidFill>
              <a:latin typeface="Calibri"/>
              <a:ea typeface="Calibri"/>
              <a:cs typeface="Calibri"/>
              <a:sym typeface="Calibri"/>
            </a:endParaRPr>
          </a:p>
        </p:txBody>
      </p:sp>
      <p:pic>
        <p:nvPicPr>
          <p:cNvPr descr="/home/claude/work/renderer/assets/hero-puzzle.png" id="308" name="Google Shape;308;p11"/>
          <p:cNvPicPr preferRelativeResize="0"/>
          <p:nvPr/>
        </p:nvPicPr>
        <p:blipFill rotWithShape="1">
          <a:blip r:embed="rId3">
            <a:alphaModFix/>
          </a:blip>
          <a:srcRect b="0" l="0" r="0" t="0"/>
          <a:stretch/>
        </p:blipFill>
        <p:spPr>
          <a:xfrm>
            <a:off x="9418320" y="640080"/>
            <a:ext cx="2011680" cy="201168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313" name="Shape 313"/>
        <p:cNvGrpSpPr/>
        <p:nvPr/>
      </p:nvGrpSpPr>
      <p:grpSpPr>
        <a:xfrm>
          <a:off x="0" y="0"/>
          <a:ext cx="0" cy="0"/>
          <a:chOff x="0" y="0"/>
          <a:chExt cx="0" cy="0"/>
        </a:xfrm>
      </p:grpSpPr>
      <p:sp>
        <p:nvSpPr>
          <p:cNvPr id="314" name="Google Shape;314;p12"/>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ODD ONE OUT · 1 OF 4</a:t>
            </a:r>
            <a:endParaRPr b="0" i="0" sz="1050" u="none" cap="none" strike="noStrike">
              <a:solidFill>
                <a:schemeClr val="dk1"/>
              </a:solidFill>
              <a:latin typeface="Calibri"/>
              <a:ea typeface="Calibri"/>
              <a:cs typeface="Calibri"/>
              <a:sym typeface="Calibri"/>
            </a:endParaRPr>
          </a:p>
        </p:txBody>
      </p:sp>
      <p:sp>
        <p:nvSpPr>
          <p:cNvPr id="315" name="Google Shape;315;p12"/>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Which one is the mistake?</a:t>
            </a:r>
            <a:endParaRPr b="0" i="0" sz="3000" u="none" cap="none" strike="noStrike">
              <a:solidFill>
                <a:schemeClr val="dk1"/>
              </a:solidFill>
              <a:latin typeface="Calibri"/>
              <a:ea typeface="Calibri"/>
              <a:cs typeface="Calibri"/>
              <a:sym typeface="Calibri"/>
            </a:endParaRPr>
          </a:p>
        </p:txBody>
      </p:sp>
      <p:pic>
        <p:nvPicPr>
          <p:cNvPr descr="/home/claude/work/renderer/brand/wordmark.png" id="316" name="Google Shape;316;p12"/>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317" name="Google Shape;317;p12"/>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10 / 48</a:t>
            </a:r>
            <a:endParaRPr b="0" i="0" sz="900" u="none" cap="none" strike="noStrike">
              <a:solidFill>
                <a:schemeClr val="dk1"/>
              </a:solidFill>
              <a:latin typeface="Calibri"/>
              <a:ea typeface="Calibri"/>
              <a:cs typeface="Calibri"/>
              <a:sym typeface="Calibri"/>
            </a:endParaRPr>
          </a:p>
        </p:txBody>
      </p:sp>
      <p:sp>
        <p:nvSpPr>
          <p:cNvPr id="318" name="Google Shape;318;p12"/>
          <p:cNvSpPr/>
          <p:nvPr/>
        </p:nvSpPr>
        <p:spPr>
          <a:xfrm>
            <a:off x="548640" y="1481328"/>
            <a:ext cx="7406640" cy="4828032"/>
          </a:xfrm>
          <a:prstGeom prst="roundRect">
            <a:avLst>
              <a:gd fmla="val 2273"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12"/>
          <p:cNvSpPr txBox="1"/>
          <p:nvPr/>
        </p:nvSpPr>
        <p:spPr>
          <a:xfrm>
            <a:off x="859536" y="1719072"/>
            <a:ext cx="6784848"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004FAA"/>
              </a:buClr>
              <a:buSzPts val="950"/>
              <a:buFont typeface="Roboto Mono"/>
              <a:buNone/>
            </a:pPr>
            <a:r>
              <a:rPr b="0" i="0" lang="en-US" sz="950" u="none" cap="none" strike="noStrike">
                <a:solidFill>
                  <a:srgbClr val="004FAA"/>
                </a:solidFill>
                <a:latin typeface="Roboto Mono"/>
                <a:ea typeface="Roboto Mono"/>
                <a:cs typeface="Roboto Mono"/>
                <a:sym typeface="Roboto Mono"/>
              </a:rPr>
              <a:t>ODD ONE OUT · 1 OF 4</a:t>
            </a:r>
            <a:endParaRPr b="0" i="0" sz="950" u="none" cap="none" strike="noStrike">
              <a:solidFill>
                <a:schemeClr val="dk1"/>
              </a:solidFill>
              <a:latin typeface="Calibri"/>
              <a:ea typeface="Calibri"/>
              <a:cs typeface="Calibri"/>
              <a:sym typeface="Calibri"/>
            </a:endParaRPr>
          </a:p>
        </p:txBody>
      </p:sp>
      <p:sp>
        <p:nvSpPr>
          <p:cNvPr id="320" name="Google Shape;320;p12"/>
          <p:cNvSpPr txBox="1"/>
          <p:nvPr/>
        </p:nvSpPr>
        <p:spPr>
          <a:xfrm>
            <a:off x="859536" y="2029968"/>
            <a:ext cx="6784848" cy="5321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71717"/>
              </a:buClr>
              <a:buSzPts val="2200"/>
              <a:buFont typeface="Inter"/>
              <a:buNone/>
            </a:pPr>
            <a:r>
              <a:rPr b="1" i="0" lang="en-US" sz="2200" u="none" cap="none" strike="noStrike">
                <a:solidFill>
                  <a:srgbClr val="171717"/>
                </a:solidFill>
                <a:latin typeface="Inter"/>
                <a:ea typeface="Inter"/>
                <a:cs typeface="Inter"/>
                <a:sym typeface="Inter"/>
              </a:rPr>
              <a:t>Metasearch</a:t>
            </a:r>
            <a:endParaRPr b="0" i="0" sz="2200" u="none" cap="none" strike="noStrike">
              <a:solidFill>
                <a:schemeClr val="dk1"/>
              </a:solidFill>
              <a:latin typeface="Calibri"/>
              <a:ea typeface="Calibri"/>
              <a:cs typeface="Calibri"/>
              <a:sym typeface="Calibri"/>
            </a:endParaRPr>
          </a:p>
        </p:txBody>
      </p:sp>
      <p:sp>
        <p:nvSpPr>
          <p:cNvPr id="321" name="Google Shape;321;p12"/>
          <p:cNvSpPr txBox="1"/>
          <p:nvPr/>
        </p:nvSpPr>
        <p:spPr>
          <a:xfrm>
            <a:off x="859536" y="2690114"/>
            <a:ext cx="6784848" cy="42291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25252"/>
              </a:buClr>
              <a:buSzPts val="1100"/>
              <a:buFont typeface="Inter"/>
              <a:buNone/>
            </a:pPr>
            <a:r>
              <a:rPr b="0" i="0" lang="en-US" sz="1100" u="none" cap="none" strike="noStrike">
                <a:solidFill>
                  <a:srgbClr val="525252"/>
                </a:solidFill>
                <a:latin typeface="Inter"/>
                <a:ea typeface="Inter"/>
                <a:cs typeface="Inter"/>
                <a:sym typeface="Inter"/>
              </a:rPr>
              <a:t>Priya's hotel just showed up on Google next to Booking.com and Expedia. Three of these are true about where she's showing up. One is the common mistake.</a:t>
            </a:r>
            <a:endParaRPr b="0" i="0" sz="1100" u="none" cap="none" strike="noStrike">
              <a:solidFill>
                <a:schemeClr val="dk1"/>
              </a:solidFill>
              <a:latin typeface="Calibri"/>
              <a:ea typeface="Calibri"/>
              <a:cs typeface="Calibri"/>
              <a:sym typeface="Calibri"/>
            </a:endParaRPr>
          </a:p>
        </p:txBody>
      </p:sp>
      <p:cxnSp>
        <p:nvCxnSpPr>
          <p:cNvPr id="322" name="Google Shape;322;p12"/>
          <p:cNvCxnSpPr/>
          <p:nvPr/>
        </p:nvCxnSpPr>
        <p:spPr>
          <a:xfrm>
            <a:off x="859536" y="3277616"/>
            <a:ext cx="6784848" cy="0"/>
          </a:xfrm>
          <a:prstGeom prst="straightConnector1">
            <a:avLst/>
          </a:prstGeom>
          <a:noFill/>
          <a:ln cap="flat" cmpd="sng" w="12700">
            <a:solidFill>
              <a:srgbClr val="E5E5E5"/>
            </a:solidFill>
            <a:prstDash val="solid"/>
            <a:round/>
            <a:headEnd len="sm" w="sm" type="none"/>
            <a:tailEnd len="sm" w="sm" type="none"/>
          </a:ln>
        </p:spPr>
      </p:cxnSp>
      <p:sp>
        <p:nvSpPr>
          <p:cNvPr id="323" name="Google Shape;323;p12"/>
          <p:cNvSpPr/>
          <p:nvPr/>
        </p:nvSpPr>
        <p:spPr>
          <a:xfrm>
            <a:off x="859536" y="3442208"/>
            <a:ext cx="6784848" cy="530352"/>
          </a:xfrm>
          <a:prstGeom prst="roundRect">
            <a:avLst>
              <a:gd fmla="val 17241"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12"/>
          <p:cNvSpPr/>
          <p:nvPr/>
        </p:nvSpPr>
        <p:spPr>
          <a:xfrm>
            <a:off x="1005840" y="3570224"/>
            <a:ext cx="274320" cy="274320"/>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12"/>
          <p:cNvSpPr txBox="1"/>
          <p:nvPr/>
        </p:nvSpPr>
        <p:spPr>
          <a:xfrm>
            <a:off x="1005840" y="357022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100"/>
              <a:buFont typeface="Inter"/>
              <a:buNone/>
            </a:pPr>
            <a:r>
              <a:rPr b="1" i="0" lang="en-US" sz="1100" u="none" cap="none" strike="noStrike">
                <a:solidFill>
                  <a:srgbClr val="FFFFFF"/>
                </a:solidFill>
                <a:latin typeface="Inter"/>
                <a:ea typeface="Inter"/>
                <a:cs typeface="Inter"/>
                <a:sym typeface="Inter"/>
              </a:rPr>
              <a:t>1</a:t>
            </a:r>
            <a:endParaRPr b="0" i="0" sz="1100" u="none" cap="none" strike="noStrike">
              <a:solidFill>
                <a:schemeClr val="dk1"/>
              </a:solidFill>
              <a:latin typeface="Calibri"/>
              <a:ea typeface="Calibri"/>
              <a:cs typeface="Calibri"/>
              <a:sym typeface="Calibri"/>
            </a:endParaRPr>
          </a:p>
        </p:txBody>
      </p:sp>
      <p:sp>
        <p:nvSpPr>
          <p:cNvPr id="326" name="Google Shape;326;p12"/>
          <p:cNvSpPr txBox="1"/>
          <p:nvPr/>
        </p:nvSpPr>
        <p:spPr>
          <a:xfrm>
            <a:off x="1408176" y="3442208"/>
            <a:ext cx="6126480" cy="53035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400"/>
              <a:buFont typeface="Inter"/>
              <a:buNone/>
            </a:pPr>
            <a:r>
              <a:rPr b="0" i="0" lang="en-US" sz="1400" u="none" cap="none" strike="noStrike">
                <a:solidFill>
                  <a:srgbClr val="171717"/>
                </a:solidFill>
                <a:latin typeface="Inter"/>
                <a:ea typeface="Inter"/>
                <a:cs typeface="Inter"/>
                <a:sym typeface="Inter"/>
              </a:rPr>
              <a:t>It compares prices and passes the guest on to wherever they click</a:t>
            </a:r>
            <a:endParaRPr b="0" i="0" sz="1400" u="none" cap="none" strike="noStrike">
              <a:solidFill>
                <a:schemeClr val="dk1"/>
              </a:solidFill>
              <a:latin typeface="Calibri"/>
              <a:ea typeface="Calibri"/>
              <a:cs typeface="Calibri"/>
              <a:sym typeface="Calibri"/>
            </a:endParaRPr>
          </a:p>
        </p:txBody>
      </p:sp>
      <p:sp>
        <p:nvSpPr>
          <p:cNvPr id="327" name="Google Shape;327;p12"/>
          <p:cNvSpPr/>
          <p:nvPr/>
        </p:nvSpPr>
        <p:spPr>
          <a:xfrm>
            <a:off x="859536" y="4082288"/>
            <a:ext cx="6784848" cy="530352"/>
          </a:xfrm>
          <a:prstGeom prst="roundRect">
            <a:avLst>
              <a:gd fmla="val 17241"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12"/>
          <p:cNvSpPr/>
          <p:nvPr/>
        </p:nvSpPr>
        <p:spPr>
          <a:xfrm>
            <a:off x="1005840" y="4210304"/>
            <a:ext cx="274320" cy="274320"/>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12"/>
          <p:cNvSpPr txBox="1"/>
          <p:nvPr/>
        </p:nvSpPr>
        <p:spPr>
          <a:xfrm>
            <a:off x="1005840" y="421030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100"/>
              <a:buFont typeface="Inter"/>
              <a:buNone/>
            </a:pPr>
            <a:r>
              <a:rPr b="1" i="0" lang="en-US" sz="1100" u="none" cap="none" strike="noStrike">
                <a:solidFill>
                  <a:srgbClr val="FFFFFF"/>
                </a:solidFill>
                <a:latin typeface="Inter"/>
                <a:ea typeface="Inter"/>
                <a:cs typeface="Inter"/>
                <a:sym typeface="Inter"/>
              </a:rPr>
              <a:t>2</a:t>
            </a:r>
            <a:endParaRPr b="0" i="0" sz="1100" u="none" cap="none" strike="noStrike">
              <a:solidFill>
                <a:schemeClr val="dk1"/>
              </a:solidFill>
              <a:latin typeface="Calibri"/>
              <a:ea typeface="Calibri"/>
              <a:cs typeface="Calibri"/>
              <a:sym typeface="Calibri"/>
            </a:endParaRPr>
          </a:p>
        </p:txBody>
      </p:sp>
      <p:sp>
        <p:nvSpPr>
          <p:cNvPr id="330" name="Google Shape;330;p12"/>
          <p:cNvSpPr txBox="1"/>
          <p:nvPr/>
        </p:nvSpPr>
        <p:spPr>
          <a:xfrm>
            <a:off x="1408176" y="4082288"/>
            <a:ext cx="6126480" cy="53035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400"/>
              <a:buFont typeface="Inter"/>
              <a:buNone/>
            </a:pPr>
            <a:r>
              <a:rPr b="0" i="0" lang="en-US" sz="1400" u="none" cap="none" strike="noStrike">
                <a:solidFill>
                  <a:srgbClr val="171717"/>
                </a:solidFill>
                <a:latin typeface="Inter"/>
                <a:ea typeface="Inter"/>
                <a:cs typeface="Inter"/>
                <a:sym typeface="Inter"/>
              </a:rPr>
              <a:t>Google, Tripadvisor and trivago are the big ones</a:t>
            </a:r>
            <a:endParaRPr b="0" i="0" sz="1400" u="none" cap="none" strike="noStrike">
              <a:solidFill>
                <a:schemeClr val="dk1"/>
              </a:solidFill>
              <a:latin typeface="Calibri"/>
              <a:ea typeface="Calibri"/>
              <a:cs typeface="Calibri"/>
              <a:sym typeface="Calibri"/>
            </a:endParaRPr>
          </a:p>
        </p:txBody>
      </p:sp>
      <p:sp>
        <p:nvSpPr>
          <p:cNvPr id="331" name="Google Shape;331;p12"/>
          <p:cNvSpPr/>
          <p:nvPr/>
        </p:nvSpPr>
        <p:spPr>
          <a:xfrm>
            <a:off x="859536" y="4722368"/>
            <a:ext cx="6784848" cy="530352"/>
          </a:xfrm>
          <a:prstGeom prst="roundRect">
            <a:avLst>
              <a:gd fmla="val 17241"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12"/>
          <p:cNvSpPr/>
          <p:nvPr/>
        </p:nvSpPr>
        <p:spPr>
          <a:xfrm>
            <a:off x="1005840" y="4850384"/>
            <a:ext cx="274320" cy="274320"/>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12"/>
          <p:cNvSpPr txBox="1"/>
          <p:nvPr/>
        </p:nvSpPr>
        <p:spPr>
          <a:xfrm>
            <a:off x="1005840" y="485038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100"/>
              <a:buFont typeface="Inter"/>
              <a:buNone/>
            </a:pPr>
            <a:r>
              <a:rPr b="1" i="0" lang="en-US" sz="1100" u="none" cap="none" strike="noStrike">
                <a:solidFill>
                  <a:srgbClr val="FFFFFF"/>
                </a:solidFill>
                <a:latin typeface="Inter"/>
                <a:ea typeface="Inter"/>
                <a:cs typeface="Inter"/>
                <a:sym typeface="Inter"/>
              </a:rPr>
              <a:t>3</a:t>
            </a:r>
            <a:endParaRPr b="0" i="0" sz="1100" u="none" cap="none" strike="noStrike">
              <a:solidFill>
                <a:schemeClr val="dk1"/>
              </a:solidFill>
              <a:latin typeface="Calibri"/>
              <a:ea typeface="Calibri"/>
              <a:cs typeface="Calibri"/>
              <a:sym typeface="Calibri"/>
            </a:endParaRPr>
          </a:p>
        </p:txBody>
      </p:sp>
      <p:sp>
        <p:nvSpPr>
          <p:cNvPr id="334" name="Google Shape;334;p12"/>
          <p:cNvSpPr txBox="1"/>
          <p:nvPr/>
        </p:nvSpPr>
        <p:spPr>
          <a:xfrm>
            <a:off x="1408176" y="4722368"/>
            <a:ext cx="6126480" cy="53035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400"/>
              <a:buFont typeface="Inter"/>
              <a:buNone/>
            </a:pPr>
            <a:r>
              <a:rPr b="0" i="0" lang="en-US" sz="1400" u="none" cap="none" strike="noStrike">
                <a:solidFill>
                  <a:srgbClr val="171717"/>
                </a:solidFill>
                <a:latin typeface="Inter"/>
                <a:ea typeface="Inter"/>
                <a:cs typeface="Inter"/>
                <a:sym typeface="Inter"/>
              </a:rPr>
              <a:t>It takes the booking, the way an OTA does</a:t>
            </a:r>
            <a:endParaRPr b="0" i="0" sz="1400" u="none" cap="none" strike="noStrike">
              <a:solidFill>
                <a:schemeClr val="dk1"/>
              </a:solidFill>
              <a:latin typeface="Calibri"/>
              <a:ea typeface="Calibri"/>
              <a:cs typeface="Calibri"/>
              <a:sym typeface="Calibri"/>
            </a:endParaRPr>
          </a:p>
        </p:txBody>
      </p:sp>
      <p:sp>
        <p:nvSpPr>
          <p:cNvPr id="335" name="Google Shape;335;p12"/>
          <p:cNvSpPr/>
          <p:nvPr/>
        </p:nvSpPr>
        <p:spPr>
          <a:xfrm>
            <a:off x="859536" y="5362448"/>
            <a:ext cx="6784848" cy="530352"/>
          </a:xfrm>
          <a:prstGeom prst="roundRect">
            <a:avLst>
              <a:gd fmla="val 17241"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12"/>
          <p:cNvSpPr/>
          <p:nvPr/>
        </p:nvSpPr>
        <p:spPr>
          <a:xfrm>
            <a:off x="1005840" y="5490464"/>
            <a:ext cx="274320" cy="274320"/>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12"/>
          <p:cNvSpPr txBox="1"/>
          <p:nvPr/>
        </p:nvSpPr>
        <p:spPr>
          <a:xfrm>
            <a:off x="1005840" y="549046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100"/>
              <a:buFont typeface="Inter"/>
              <a:buNone/>
            </a:pPr>
            <a:r>
              <a:rPr b="1" i="0" lang="en-US" sz="1100" u="none" cap="none" strike="noStrike">
                <a:solidFill>
                  <a:srgbClr val="FFFFFF"/>
                </a:solidFill>
                <a:latin typeface="Inter"/>
                <a:ea typeface="Inter"/>
                <a:cs typeface="Inter"/>
                <a:sym typeface="Inter"/>
              </a:rPr>
              <a:t>4</a:t>
            </a:r>
            <a:endParaRPr b="0" i="0" sz="1100" u="none" cap="none" strike="noStrike">
              <a:solidFill>
                <a:schemeClr val="dk1"/>
              </a:solidFill>
              <a:latin typeface="Calibri"/>
              <a:ea typeface="Calibri"/>
              <a:cs typeface="Calibri"/>
              <a:sym typeface="Calibri"/>
            </a:endParaRPr>
          </a:p>
        </p:txBody>
      </p:sp>
      <p:sp>
        <p:nvSpPr>
          <p:cNvPr id="338" name="Google Shape;338;p12"/>
          <p:cNvSpPr txBox="1"/>
          <p:nvPr/>
        </p:nvSpPr>
        <p:spPr>
          <a:xfrm>
            <a:off x="1408176" y="5362448"/>
            <a:ext cx="6126480" cy="53035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400"/>
              <a:buFont typeface="Inter"/>
              <a:buNone/>
            </a:pPr>
            <a:r>
              <a:rPr b="0" i="0" lang="en-US" sz="1400" u="none" cap="none" strike="noStrike">
                <a:solidFill>
                  <a:srgbClr val="171717"/>
                </a:solidFill>
                <a:latin typeface="Inter"/>
                <a:ea typeface="Inter"/>
                <a:cs typeface="Inter"/>
                <a:sym typeface="Inter"/>
              </a:rPr>
              <a:t>Her own website's price can be listed there, next to the OTAs'</a:t>
            </a:r>
            <a:endParaRPr b="0" i="0" sz="1400" u="none" cap="none" strike="noStrike">
              <a:solidFill>
                <a:schemeClr val="dk1"/>
              </a:solidFill>
              <a:latin typeface="Calibri"/>
              <a:ea typeface="Calibri"/>
              <a:cs typeface="Calibri"/>
              <a:sym typeface="Calibri"/>
            </a:endParaRPr>
          </a:p>
        </p:txBody>
      </p:sp>
      <p:sp>
        <p:nvSpPr>
          <p:cNvPr id="339" name="Google Shape;339;p12"/>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12"/>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puzzle-piece.png" id="341" name="Google Shape;341;p12"/>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342" name="Google Shape;342;p12"/>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ODD ONE OUT · 1 OF 4</a:t>
            </a:r>
            <a:endParaRPr b="0" i="0" sz="950" u="none" cap="none" strike="noStrike">
              <a:solidFill>
                <a:schemeClr val="dk1"/>
              </a:solidFill>
              <a:latin typeface="Calibri"/>
              <a:ea typeface="Calibri"/>
              <a:cs typeface="Calibri"/>
              <a:sym typeface="Calibri"/>
            </a:endParaRPr>
          </a:p>
        </p:txBody>
      </p:sp>
      <p:sp>
        <p:nvSpPr>
          <p:cNvPr id="343" name="Google Shape;343;p12"/>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Cast your vote</a:t>
            </a:r>
            <a:endParaRPr b="0" i="0" sz="1800" u="none" cap="none" strike="noStrike">
              <a:solidFill>
                <a:schemeClr val="dk1"/>
              </a:solidFill>
              <a:latin typeface="Calibri"/>
              <a:ea typeface="Calibri"/>
              <a:cs typeface="Calibri"/>
              <a:sym typeface="Calibri"/>
            </a:endParaRPr>
          </a:p>
        </p:txBody>
      </p:sp>
      <p:sp>
        <p:nvSpPr>
          <p:cNvPr id="344" name="Google Shape;344;p12"/>
          <p:cNvSpPr/>
          <p:nvPr/>
        </p:nvSpPr>
        <p:spPr>
          <a:xfrm>
            <a:off x="8549640" y="3200400"/>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12"/>
          <p:cNvSpPr/>
          <p:nvPr/>
        </p:nvSpPr>
        <p:spPr>
          <a:xfrm>
            <a:off x="8750808" y="3282696"/>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12"/>
          <p:cNvSpPr txBox="1"/>
          <p:nvPr/>
        </p:nvSpPr>
        <p:spPr>
          <a:xfrm>
            <a:off x="8750808" y="3282696"/>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sp>
        <p:nvSpPr>
          <p:cNvPr id="347" name="Google Shape;347;p12"/>
          <p:cNvSpPr txBox="1"/>
          <p:nvPr/>
        </p:nvSpPr>
        <p:spPr>
          <a:xfrm>
            <a:off x="9189720" y="3200400"/>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Compares, passes on</a:t>
            </a:r>
            <a:endParaRPr b="0" i="0" sz="1250" u="none" cap="none" strike="noStrike">
              <a:solidFill>
                <a:schemeClr val="dk1"/>
              </a:solidFill>
              <a:latin typeface="Calibri"/>
              <a:ea typeface="Calibri"/>
              <a:cs typeface="Calibri"/>
              <a:sym typeface="Calibri"/>
            </a:endParaRPr>
          </a:p>
        </p:txBody>
      </p:sp>
      <p:sp>
        <p:nvSpPr>
          <p:cNvPr id="348" name="Google Shape;348;p12"/>
          <p:cNvSpPr/>
          <p:nvPr/>
        </p:nvSpPr>
        <p:spPr>
          <a:xfrm>
            <a:off x="8549640" y="3785616"/>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12"/>
          <p:cNvSpPr/>
          <p:nvPr/>
        </p:nvSpPr>
        <p:spPr>
          <a:xfrm>
            <a:off x="8750808" y="3867912"/>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12"/>
          <p:cNvSpPr txBox="1"/>
          <p:nvPr/>
        </p:nvSpPr>
        <p:spPr>
          <a:xfrm>
            <a:off x="8750808" y="3867912"/>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sp>
        <p:nvSpPr>
          <p:cNvPr id="351" name="Google Shape;351;p12"/>
          <p:cNvSpPr txBox="1"/>
          <p:nvPr/>
        </p:nvSpPr>
        <p:spPr>
          <a:xfrm>
            <a:off x="9189720" y="3785616"/>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Google, Tripadvisor</a:t>
            </a:r>
            <a:endParaRPr b="0" i="0" sz="1250" u="none" cap="none" strike="noStrike">
              <a:solidFill>
                <a:schemeClr val="dk1"/>
              </a:solidFill>
              <a:latin typeface="Calibri"/>
              <a:ea typeface="Calibri"/>
              <a:cs typeface="Calibri"/>
              <a:sym typeface="Calibri"/>
            </a:endParaRPr>
          </a:p>
        </p:txBody>
      </p:sp>
      <p:sp>
        <p:nvSpPr>
          <p:cNvPr id="352" name="Google Shape;352;p12"/>
          <p:cNvSpPr/>
          <p:nvPr/>
        </p:nvSpPr>
        <p:spPr>
          <a:xfrm>
            <a:off x="8549640" y="4370832"/>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12"/>
          <p:cNvSpPr/>
          <p:nvPr/>
        </p:nvSpPr>
        <p:spPr>
          <a:xfrm>
            <a:off x="8750808" y="4453128"/>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12"/>
          <p:cNvSpPr txBox="1"/>
          <p:nvPr/>
        </p:nvSpPr>
        <p:spPr>
          <a:xfrm>
            <a:off x="8750808" y="4453128"/>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sp>
        <p:nvSpPr>
          <p:cNvPr id="355" name="Google Shape;355;p12"/>
          <p:cNvSpPr txBox="1"/>
          <p:nvPr/>
        </p:nvSpPr>
        <p:spPr>
          <a:xfrm>
            <a:off x="9189720" y="4370832"/>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Takes the booking</a:t>
            </a:r>
            <a:endParaRPr b="0" i="0" sz="1250" u="none" cap="none" strike="noStrike">
              <a:solidFill>
                <a:schemeClr val="dk1"/>
              </a:solidFill>
              <a:latin typeface="Calibri"/>
              <a:ea typeface="Calibri"/>
              <a:cs typeface="Calibri"/>
              <a:sym typeface="Calibri"/>
            </a:endParaRPr>
          </a:p>
        </p:txBody>
      </p:sp>
      <p:sp>
        <p:nvSpPr>
          <p:cNvPr id="356" name="Google Shape;356;p12"/>
          <p:cNvSpPr/>
          <p:nvPr/>
        </p:nvSpPr>
        <p:spPr>
          <a:xfrm>
            <a:off x="8549640" y="4956048"/>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12"/>
          <p:cNvSpPr/>
          <p:nvPr/>
        </p:nvSpPr>
        <p:spPr>
          <a:xfrm>
            <a:off x="8750808" y="5038344"/>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12"/>
          <p:cNvSpPr txBox="1"/>
          <p:nvPr/>
        </p:nvSpPr>
        <p:spPr>
          <a:xfrm>
            <a:off x="8750808" y="5038344"/>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sp>
        <p:nvSpPr>
          <p:cNvPr id="359" name="Google Shape;359;p12"/>
          <p:cNvSpPr txBox="1"/>
          <p:nvPr/>
        </p:nvSpPr>
        <p:spPr>
          <a:xfrm>
            <a:off x="9189720" y="4956048"/>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Her price is listed</a:t>
            </a:r>
            <a:endParaRPr b="0" i="0" sz="1250" u="none" cap="none" strike="noStrike">
              <a:solidFill>
                <a:schemeClr val="dk1"/>
              </a:solidFill>
              <a:latin typeface="Calibri"/>
              <a:ea typeface="Calibri"/>
              <a:cs typeface="Calibri"/>
              <a:sym typeface="Calibri"/>
            </a:endParaRPr>
          </a:p>
        </p:txBody>
      </p:sp>
      <p:sp>
        <p:nvSpPr>
          <p:cNvPr id="360" name="Google Shape;360;p12"/>
          <p:cNvSpPr txBox="1"/>
          <p:nvPr/>
        </p:nvSpPr>
        <p:spPr>
          <a:xfrm>
            <a:off x="8549640" y="5522976"/>
            <a:ext cx="2816352" cy="548640"/>
          </a:xfrm>
          <a:prstGeom prst="rect">
            <a:avLst/>
          </a:prstGeom>
          <a:noFill/>
          <a:ln>
            <a:noFill/>
          </a:ln>
        </p:spPr>
        <p:txBody>
          <a:bodyPr anchorCtr="0" anchor="t" bIns="0" lIns="0" spcFirstLastPara="1" rIns="0" wrap="square" tIns="0">
            <a:noAutofit/>
          </a:bodyPr>
          <a:lstStyle/>
          <a:p>
            <a:pPr indent="0" lvl="0" marL="0" marR="0" rtl="0" algn="l">
              <a:lnSpc>
                <a:spcPct val="135047"/>
              </a:lnSpc>
              <a:spcBef>
                <a:spcPts val="0"/>
              </a:spcBef>
              <a:spcAft>
                <a:spcPts val="0"/>
              </a:spcAft>
              <a:buClr>
                <a:srgbClr val="737373"/>
              </a:buClr>
              <a:buSzPts val="1050"/>
              <a:buFont typeface="Inter"/>
              <a:buNone/>
            </a:pPr>
            <a:r>
              <a:rPr b="0" i="0" lang="en-US" sz="1050" u="none" cap="none" strike="noStrike">
                <a:solidFill>
                  <a:srgbClr val="737373"/>
                </a:solidFill>
                <a:latin typeface="Inter"/>
                <a:ea typeface="Inter"/>
                <a:cs typeface="Inter"/>
                <a:sym typeface="Inter"/>
              </a:rPr>
              <a:t>Vote first. Then the answer.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365" name="Shape 365"/>
        <p:cNvGrpSpPr/>
        <p:nvPr/>
      </p:nvGrpSpPr>
      <p:grpSpPr>
        <a:xfrm>
          <a:off x="0" y="0"/>
          <a:ext cx="0" cy="0"/>
          <a:chOff x="0" y="0"/>
          <a:chExt cx="0" cy="0"/>
        </a:xfrm>
      </p:grpSpPr>
      <p:sp>
        <p:nvSpPr>
          <p:cNvPr id="366" name="Google Shape;366;p13"/>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ODD ONE OUT · 1 OF 4</a:t>
            </a:r>
            <a:endParaRPr b="0" i="0" sz="1050" u="none" cap="none" strike="noStrike">
              <a:solidFill>
                <a:schemeClr val="dk1"/>
              </a:solidFill>
              <a:latin typeface="Calibri"/>
              <a:ea typeface="Calibri"/>
              <a:cs typeface="Calibri"/>
              <a:sym typeface="Calibri"/>
            </a:endParaRPr>
          </a:p>
        </p:txBody>
      </p:sp>
      <p:sp>
        <p:nvSpPr>
          <p:cNvPr id="367" name="Google Shape;367;p13"/>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Which one is the mistake?</a:t>
            </a:r>
            <a:endParaRPr b="0" i="0" sz="3000" u="none" cap="none" strike="noStrike">
              <a:solidFill>
                <a:schemeClr val="dk1"/>
              </a:solidFill>
              <a:latin typeface="Calibri"/>
              <a:ea typeface="Calibri"/>
              <a:cs typeface="Calibri"/>
              <a:sym typeface="Calibri"/>
            </a:endParaRPr>
          </a:p>
        </p:txBody>
      </p:sp>
      <p:pic>
        <p:nvPicPr>
          <p:cNvPr descr="/home/claude/work/renderer/brand/wordmark.png" id="368" name="Google Shape;368;p13"/>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369" name="Google Shape;369;p13"/>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11 / 48</a:t>
            </a:r>
            <a:endParaRPr b="0" i="0" sz="900" u="none" cap="none" strike="noStrike">
              <a:solidFill>
                <a:schemeClr val="dk1"/>
              </a:solidFill>
              <a:latin typeface="Calibri"/>
              <a:ea typeface="Calibri"/>
              <a:cs typeface="Calibri"/>
              <a:sym typeface="Calibri"/>
            </a:endParaRPr>
          </a:p>
        </p:txBody>
      </p:sp>
      <p:sp>
        <p:nvSpPr>
          <p:cNvPr id="370" name="Google Shape;370;p13"/>
          <p:cNvSpPr/>
          <p:nvPr/>
        </p:nvSpPr>
        <p:spPr>
          <a:xfrm>
            <a:off x="548640" y="1481328"/>
            <a:ext cx="7406640" cy="2874899"/>
          </a:xfrm>
          <a:prstGeom prst="roundRect">
            <a:avLst>
              <a:gd fmla="val 3817"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13"/>
          <p:cNvSpPr txBox="1"/>
          <p:nvPr/>
        </p:nvSpPr>
        <p:spPr>
          <a:xfrm>
            <a:off x="859536" y="1719072"/>
            <a:ext cx="6784848" cy="40411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71717"/>
              </a:buClr>
              <a:buSzPts val="2200"/>
              <a:buFont typeface="Inter"/>
              <a:buNone/>
            </a:pPr>
            <a:r>
              <a:rPr b="1" i="0" lang="en-US" sz="2200" u="none" cap="none" strike="noStrike">
                <a:solidFill>
                  <a:srgbClr val="171717"/>
                </a:solidFill>
                <a:latin typeface="Inter"/>
                <a:ea typeface="Inter"/>
                <a:cs typeface="Inter"/>
                <a:sym typeface="Inter"/>
              </a:rPr>
              <a:t>Metasearch</a:t>
            </a:r>
            <a:endParaRPr b="0" i="0" sz="2200" u="none" cap="none" strike="noStrike">
              <a:solidFill>
                <a:schemeClr val="dk1"/>
              </a:solidFill>
              <a:latin typeface="Calibri"/>
              <a:ea typeface="Calibri"/>
              <a:cs typeface="Calibri"/>
              <a:sym typeface="Calibri"/>
            </a:endParaRPr>
          </a:p>
        </p:txBody>
      </p:sp>
      <p:cxnSp>
        <p:nvCxnSpPr>
          <p:cNvPr id="372" name="Google Shape;372;p13"/>
          <p:cNvCxnSpPr/>
          <p:nvPr/>
        </p:nvCxnSpPr>
        <p:spPr>
          <a:xfrm>
            <a:off x="859536" y="2251202"/>
            <a:ext cx="6784848" cy="0"/>
          </a:xfrm>
          <a:prstGeom prst="straightConnector1">
            <a:avLst/>
          </a:prstGeom>
          <a:noFill/>
          <a:ln cap="flat" cmpd="sng" w="12700">
            <a:solidFill>
              <a:srgbClr val="E5E5E5"/>
            </a:solidFill>
            <a:prstDash val="solid"/>
            <a:round/>
            <a:headEnd len="sm" w="sm" type="none"/>
            <a:tailEnd len="sm" w="sm" type="none"/>
          </a:ln>
        </p:spPr>
      </p:cxnSp>
      <p:sp>
        <p:nvSpPr>
          <p:cNvPr id="373" name="Google Shape;373;p13"/>
          <p:cNvSpPr/>
          <p:nvPr/>
        </p:nvSpPr>
        <p:spPr>
          <a:xfrm>
            <a:off x="859536" y="2415794"/>
            <a:ext cx="6784848" cy="365760"/>
          </a:xfrm>
          <a:prstGeom prst="roundRect">
            <a:avLst>
              <a:gd fmla="val 2500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13"/>
          <p:cNvSpPr/>
          <p:nvPr/>
        </p:nvSpPr>
        <p:spPr>
          <a:xfrm>
            <a:off x="1005840" y="2461514"/>
            <a:ext cx="274320" cy="274320"/>
          </a:xfrm>
          <a:prstGeom prst="ellipse">
            <a:avLst/>
          </a:prstGeom>
          <a:solidFill>
            <a:srgbClr val="7373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13"/>
          <p:cNvSpPr txBox="1"/>
          <p:nvPr/>
        </p:nvSpPr>
        <p:spPr>
          <a:xfrm>
            <a:off x="1005840" y="246151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100"/>
              <a:buFont typeface="Inter"/>
              <a:buNone/>
            </a:pPr>
            <a:r>
              <a:rPr b="1" i="0" lang="en-US" sz="1100" u="none" cap="none" strike="noStrike">
                <a:solidFill>
                  <a:srgbClr val="FFFFFF"/>
                </a:solidFill>
                <a:latin typeface="Inter"/>
                <a:ea typeface="Inter"/>
                <a:cs typeface="Inter"/>
                <a:sym typeface="Inter"/>
              </a:rPr>
              <a:t>1</a:t>
            </a:r>
            <a:endParaRPr b="0" i="0" sz="1100" u="none" cap="none" strike="noStrike">
              <a:solidFill>
                <a:schemeClr val="dk1"/>
              </a:solidFill>
              <a:latin typeface="Calibri"/>
              <a:ea typeface="Calibri"/>
              <a:cs typeface="Calibri"/>
              <a:sym typeface="Calibri"/>
            </a:endParaRPr>
          </a:p>
        </p:txBody>
      </p:sp>
      <p:sp>
        <p:nvSpPr>
          <p:cNvPr id="376" name="Google Shape;376;p13"/>
          <p:cNvSpPr txBox="1"/>
          <p:nvPr/>
        </p:nvSpPr>
        <p:spPr>
          <a:xfrm>
            <a:off x="1408176" y="2415794"/>
            <a:ext cx="6126480"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737373"/>
              </a:buClr>
              <a:buSzPts val="1200"/>
              <a:buFont typeface="Inter"/>
              <a:buNone/>
            </a:pPr>
            <a:r>
              <a:rPr b="0" i="0" lang="en-US" sz="1200" u="none" cap="none" strike="noStrike">
                <a:solidFill>
                  <a:srgbClr val="737373"/>
                </a:solidFill>
                <a:latin typeface="Inter"/>
                <a:ea typeface="Inter"/>
                <a:cs typeface="Inter"/>
                <a:sym typeface="Inter"/>
              </a:rPr>
              <a:t>It compares prices and passes the guest on to wherever they click</a:t>
            </a:r>
            <a:endParaRPr b="0" i="0" sz="1200" u="none" cap="none" strike="noStrike">
              <a:solidFill>
                <a:schemeClr val="dk1"/>
              </a:solidFill>
              <a:latin typeface="Calibri"/>
              <a:ea typeface="Calibri"/>
              <a:cs typeface="Calibri"/>
              <a:sym typeface="Calibri"/>
            </a:endParaRPr>
          </a:p>
        </p:txBody>
      </p:sp>
      <p:sp>
        <p:nvSpPr>
          <p:cNvPr id="377" name="Google Shape;377;p13"/>
          <p:cNvSpPr/>
          <p:nvPr/>
        </p:nvSpPr>
        <p:spPr>
          <a:xfrm>
            <a:off x="859536" y="2836418"/>
            <a:ext cx="6784848" cy="365760"/>
          </a:xfrm>
          <a:prstGeom prst="roundRect">
            <a:avLst>
              <a:gd fmla="val 2500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13"/>
          <p:cNvSpPr/>
          <p:nvPr/>
        </p:nvSpPr>
        <p:spPr>
          <a:xfrm>
            <a:off x="1005840" y="2882138"/>
            <a:ext cx="274320" cy="274320"/>
          </a:xfrm>
          <a:prstGeom prst="ellipse">
            <a:avLst/>
          </a:prstGeom>
          <a:solidFill>
            <a:srgbClr val="7373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13"/>
          <p:cNvSpPr txBox="1"/>
          <p:nvPr/>
        </p:nvSpPr>
        <p:spPr>
          <a:xfrm>
            <a:off x="1005840" y="288213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100"/>
              <a:buFont typeface="Inter"/>
              <a:buNone/>
            </a:pPr>
            <a:r>
              <a:rPr b="1" i="0" lang="en-US" sz="1100" u="none" cap="none" strike="noStrike">
                <a:solidFill>
                  <a:srgbClr val="FFFFFF"/>
                </a:solidFill>
                <a:latin typeface="Inter"/>
                <a:ea typeface="Inter"/>
                <a:cs typeface="Inter"/>
                <a:sym typeface="Inter"/>
              </a:rPr>
              <a:t>2</a:t>
            </a:r>
            <a:endParaRPr b="0" i="0" sz="1100" u="none" cap="none" strike="noStrike">
              <a:solidFill>
                <a:schemeClr val="dk1"/>
              </a:solidFill>
              <a:latin typeface="Calibri"/>
              <a:ea typeface="Calibri"/>
              <a:cs typeface="Calibri"/>
              <a:sym typeface="Calibri"/>
            </a:endParaRPr>
          </a:p>
        </p:txBody>
      </p:sp>
      <p:sp>
        <p:nvSpPr>
          <p:cNvPr id="380" name="Google Shape;380;p13"/>
          <p:cNvSpPr txBox="1"/>
          <p:nvPr/>
        </p:nvSpPr>
        <p:spPr>
          <a:xfrm>
            <a:off x="1408176" y="2836418"/>
            <a:ext cx="6126480"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737373"/>
              </a:buClr>
              <a:buSzPts val="1200"/>
              <a:buFont typeface="Inter"/>
              <a:buNone/>
            </a:pPr>
            <a:r>
              <a:rPr b="0" i="0" lang="en-US" sz="1200" u="none" cap="none" strike="noStrike">
                <a:solidFill>
                  <a:srgbClr val="737373"/>
                </a:solidFill>
                <a:latin typeface="Inter"/>
                <a:ea typeface="Inter"/>
                <a:cs typeface="Inter"/>
                <a:sym typeface="Inter"/>
              </a:rPr>
              <a:t>Google, Tripadvisor and trivago are the big ones</a:t>
            </a:r>
            <a:endParaRPr b="0" i="0" sz="1200" u="none" cap="none" strike="noStrike">
              <a:solidFill>
                <a:schemeClr val="dk1"/>
              </a:solidFill>
              <a:latin typeface="Calibri"/>
              <a:ea typeface="Calibri"/>
              <a:cs typeface="Calibri"/>
              <a:sym typeface="Calibri"/>
            </a:endParaRPr>
          </a:p>
        </p:txBody>
      </p:sp>
      <p:sp>
        <p:nvSpPr>
          <p:cNvPr id="381" name="Google Shape;381;p13"/>
          <p:cNvSpPr/>
          <p:nvPr/>
        </p:nvSpPr>
        <p:spPr>
          <a:xfrm>
            <a:off x="859536" y="3257042"/>
            <a:ext cx="6784848" cy="365760"/>
          </a:xfrm>
          <a:prstGeom prst="roundRect">
            <a:avLst>
              <a:gd fmla="val 25000"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13"/>
          <p:cNvSpPr/>
          <p:nvPr/>
        </p:nvSpPr>
        <p:spPr>
          <a:xfrm>
            <a:off x="1005840" y="3302762"/>
            <a:ext cx="274320" cy="274320"/>
          </a:xfrm>
          <a:prstGeom prst="ellipse">
            <a:avLst/>
          </a:prstGeom>
          <a:solidFill>
            <a:srgbClr val="1580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13"/>
          <p:cNvSpPr txBox="1"/>
          <p:nvPr/>
        </p:nvSpPr>
        <p:spPr>
          <a:xfrm>
            <a:off x="1005840" y="3302762"/>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100"/>
              <a:buFont typeface="Inter"/>
              <a:buNone/>
            </a:pPr>
            <a:r>
              <a:rPr b="1" i="0" lang="en-US" sz="1100" u="none" cap="none" strike="noStrike">
                <a:solidFill>
                  <a:srgbClr val="FFFFFF"/>
                </a:solidFill>
                <a:latin typeface="Inter"/>
                <a:ea typeface="Inter"/>
                <a:cs typeface="Inter"/>
                <a:sym typeface="Inter"/>
              </a:rPr>
              <a:t>3</a:t>
            </a:r>
            <a:endParaRPr b="0" i="0" sz="1100" u="none" cap="none" strike="noStrike">
              <a:solidFill>
                <a:schemeClr val="dk1"/>
              </a:solidFill>
              <a:latin typeface="Calibri"/>
              <a:ea typeface="Calibri"/>
              <a:cs typeface="Calibri"/>
              <a:sym typeface="Calibri"/>
            </a:endParaRPr>
          </a:p>
        </p:txBody>
      </p:sp>
      <p:sp>
        <p:nvSpPr>
          <p:cNvPr id="384" name="Google Shape;384;p13"/>
          <p:cNvSpPr txBox="1"/>
          <p:nvPr/>
        </p:nvSpPr>
        <p:spPr>
          <a:xfrm>
            <a:off x="1408176" y="3257042"/>
            <a:ext cx="6126480"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1200"/>
              <a:buFont typeface="Inter"/>
              <a:buNone/>
            </a:pPr>
            <a:r>
              <a:rPr b="1" i="0" lang="en-US" sz="1200" u="none" cap="none" strike="noStrike">
                <a:solidFill>
                  <a:srgbClr val="15803D"/>
                </a:solidFill>
                <a:latin typeface="Inter"/>
                <a:ea typeface="Inter"/>
                <a:cs typeface="Inter"/>
                <a:sym typeface="Inter"/>
              </a:rPr>
              <a:t>It takes the booking, the way an OTA does</a:t>
            </a:r>
            <a:endParaRPr b="0" i="0" sz="1200" u="none" cap="none" strike="noStrike">
              <a:solidFill>
                <a:schemeClr val="dk1"/>
              </a:solidFill>
              <a:latin typeface="Calibri"/>
              <a:ea typeface="Calibri"/>
              <a:cs typeface="Calibri"/>
              <a:sym typeface="Calibri"/>
            </a:endParaRPr>
          </a:p>
        </p:txBody>
      </p:sp>
      <p:sp>
        <p:nvSpPr>
          <p:cNvPr id="385" name="Google Shape;385;p13"/>
          <p:cNvSpPr/>
          <p:nvPr/>
        </p:nvSpPr>
        <p:spPr>
          <a:xfrm>
            <a:off x="859536" y="3677666"/>
            <a:ext cx="6784848" cy="365760"/>
          </a:xfrm>
          <a:prstGeom prst="roundRect">
            <a:avLst>
              <a:gd fmla="val 2500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13"/>
          <p:cNvSpPr/>
          <p:nvPr/>
        </p:nvSpPr>
        <p:spPr>
          <a:xfrm>
            <a:off x="1005840" y="3723386"/>
            <a:ext cx="274320" cy="274320"/>
          </a:xfrm>
          <a:prstGeom prst="ellipse">
            <a:avLst/>
          </a:prstGeom>
          <a:solidFill>
            <a:srgbClr val="7373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13"/>
          <p:cNvSpPr txBox="1"/>
          <p:nvPr/>
        </p:nvSpPr>
        <p:spPr>
          <a:xfrm>
            <a:off x="1005840" y="372338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100"/>
              <a:buFont typeface="Inter"/>
              <a:buNone/>
            </a:pPr>
            <a:r>
              <a:rPr b="1" i="0" lang="en-US" sz="1100" u="none" cap="none" strike="noStrike">
                <a:solidFill>
                  <a:srgbClr val="FFFFFF"/>
                </a:solidFill>
                <a:latin typeface="Inter"/>
                <a:ea typeface="Inter"/>
                <a:cs typeface="Inter"/>
                <a:sym typeface="Inter"/>
              </a:rPr>
              <a:t>4</a:t>
            </a:r>
            <a:endParaRPr b="0" i="0" sz="1100" u="none" cap="none" strike="noStrike">
              <a:solidFill>
                <a:schemeClr val="dk1"/>
              </a:solidFill>
              <a:latin typeface="Calibri"/>
              <a:ea typeface="Calibri"/>
              <a:cs typeface="Calibri"/>
              <a:sym typeface="Calibri"/>
            </a:endParaRPr>
          </a:p>
        </p:txBody>
      </p:sp>
      <p:sp>
        <p:nvSpPr>
          <p:cNvPr id="388" name="Google Shape;388;p13"/>
          <p:cNvSpPr txBox="1"/>
          <p:nvPr/>
        </p:nvSpPr>
        <p:spPr>
          <a:xfrm>
            <a:off x="1408176" y="3677666"/>
            <a:ext cx="6126480"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737373"/>
              </a:buClr>
              <a:buSzPts val="1200"/>
              <a:buFont typeface="Inter"/>
              <a:buNone/>
            </a:pPr>
            <a:r>
              <a:rPr b="0" i="0" lang="en-US" sz="1200" u="none" cap="none" strike="noStrike">
                <a:solidFill>
                  <a:srgbClr val="737373"/>
                </a:solidFill>
                <a:latin typeface="Inter"/>
                <a:ea typeface="Inter"/>
                <a:cs typeface="Inter"/>
                <a:sym typeface="Inter"/>
              </a:rPr>
              <a:t>Her own website's price can be listed there, next to the OTAs'</a:t>
            </a:r>
            <a:endParaRPr b="0" i="0" sz="1200" u="none" cap="none" strike="noStrike">
              <a:solidFill>
                <a:schemeClr val="dk1"/>
              </a:solidFill>
              <a:latin typeface="Calibri"/>
              <a:ea typeface="Calibri"/>
              <a:cs typeface="Calibri"/>
              <a:sym typeface="Calibri"/>
            </a:endParaRPr>
          </a:p>
        </p:txBody>
      </p:sp>
      <p:sp>
        <p:nvSpPr>
          <p:cNvPr id="389" name="Google Shape;389;p13"/>
          <p:cNvSpPr/>
          <p:nvPr/>
        </p:nvSpPr>
        <p:spPr>
          <a:xfrm>
            <a:off x="548640" y="4539107"/>
            <a:ext cx="7406640" cy="1770253"/>
          </a:xfrm>
          <a:prstGeom prst="roundRect">
            <a:avLst>
              <a:gd fmla="val 6198"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13"/>
          <p:cNvSpPr txBox="1"/>
          <p:nvPr/>
        </p:nvSpPr>
        <p:spPr>
          <a:xfrm>
            <a:off x="859536" y="4721987"/>
            <a:ext cx="6784848"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900"/>
              <a:buFont typeface="Roboto Mono"/>
              <a:buNone/>
            </a:pPr>
            <a:r>
              <a:rPr b="0" i="0" lang="en-US" sz="900" u="none" cap="none" strike="noStrike">
                <a:solidFill>
                  <a:srgbClr val="15803D"/>
                </a:solidFill>
                <a:latin typeface="Roboto Mono"/>
                <a:ea typeface="Roboto Mono"/>
                <a:cs typeface="Roboto Mono"/>
                <a:sym typeface="Roboto Mono"/>
              </a:rPr>
              <a:t>WHY</a:t>
            </a:r>
            <a:endParaRPr b="0" i="0" sz="900" u="none" cap="none" strike="noStrike">
              <a:solidFill>
                <a:schemeClr val="dk1"/>
              </a:solidFill>
              <a:latin typeface="Calibri"/>
              <a:ea typeface="Calibri"/>
              <a:cs typeface="Calibri"/>
              <a:sym typeface="Calibri"/>
            </a:endParaRPr>
          </a:p>
        </p:txBody>
      </p:sp>
      <p:sp>
        <p:nvSpPr>
          <p:cNvPr id="391" name="Google Shape;391;p13"/>
          <p:cNvSpPr txBox="1"/>
          <p:nvPr/>
        </p:nvSpPr>
        <p:spPr>
          <a:xfrm>
            <a:off x="859536" y="4978019"/>
            <a:ext cx="6784848" cy="65722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Statement 3 is the mistake. </a:t>
            </a:r>
            <a:r>
              <a:rPr b="1" i="0" lang="en-US" sz="1100" u="none" cap="none" strike="noStrike">
                <a:solidFill>
                  <a:srgbClr val="404040"/>
                </a:solidFill>
                <a:latin typeface="Inter"/>
                <a:ea typeface="Inter"/>
                <a:cs typeface="Inter"/>
                <a:sym typeface="Inter"/>
              </a:rPr>
              <a:t>Metasearch compares and passes the guest on; it doesn't take the booking.</a:t>
            </a:r>
            <a:r>
              <a:rPr b="0" i="0" lang="en-US" sz="1100" u="none" cap="none" strike="noStrike">
                <a:solidFill>
                  <a:srgbClr val="404040"/>
                </a:solidFill>
                <a:latin typeface="Inter"/>
                <a:ea typeface="Inter"/>
                <a:cs typeface="Inter"/>
                <a:sym typeface="Inter"/>
              </a:rPr>
              <a:t> The OTAs do that. Click Priya's line and the booking lands on her site; click Expedia and Expedia takes its cut.</a:t>
            </a:r>
            <a:endParaRPr b="0" i="0" sz="1100" u="none" cap="none" strike="noStrike">
              <a:solidFill>
                <a:schemeClr val="dk1"/>
              </a:solidFill>
              <a:latin typeface="Calibri"/>
              <a:ea typeface="Calibri"/>
              <a:cs typeface="Calibri"/>
              <a:sym typeface="Calibri"/>
            </a:endParaRPr>
          </a:p>
        </p:txBody>
      </p:sp>
      <p:sp>
        <p:nvSpPr>
          <p:cNvPr id="392" name="Google Shape;392;p13"/>
          <p:cNvSpPr txBox="1"/>
          <p:nvPr/>
        </p:nvSpPr>
        <p:spPr>
          <a:xfrm>
            <a:off x="859536" y="5671820"/>
            <a:ext cx="6784848" cy="491236"/>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5803D"/>
              </a:buClr>
              <a:buSzPts val="1100"/>
              <a:buFont typeface="Inter"/>
              <a:buNone/>
            </a:pPr>
            <a:r>
              <a:rPr b="1" i="0" lang="en-US" sz="1100" u="none" cap="none" strike="noStrike">
                <a:solidFill>
                  <a:srgbClr val="15803D"/>
                </a:solidFill>
                <a:latin typeface="Inter"/>
                <a:ea typeface="Inter"/>
                <a:cs typeface="Inter"/>
                <a:sym typeface="Inter"/>
              </a:rPr>
              <a:t>“Guests comparing prices on Google or Tripadvisor are on metasearch. Are you showing up there with your direct rate?”</a:t>
            </a:r>
            <a:endParaRPr b="0" i="0" sz="1100" u="none" cap="none" strike="noStrike">
              <a:solidFill>
                <a:schemeClr val="dk1"/>
              </a:solidFill>
              <a:latin typeface="Calibri"/>
              <a:ea typeface="Calibri"/>
              <a:cs typeface="Calibri"/>
              <a:sym typeface="Calibri"/>
            </a:endParaRPr>
          </a:p>
        </p:txBody>
      </p:sp>
      <p:sp>
        <p:nvSpPr>
          <p:cNvPr id="393" name="Google Shape;393;p13"/>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13"/>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puzzle-piece.png" id="395" name="Google Shape;395;p13"/>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396" name="Google Shape;396;p13"/>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THE ANSWER</a:t>
            </a:r>
            <a:endParaRPr b="0" i="0" sz="950" u="none" cap="none" strike="noStrike">
              <a:solidFill>
                <a:schemeClr val="dk1"/>
              </a:solidFill>
              <a:latin typeface="Calibri"/>
              <a:ea typeface="Calibri"/>
              <a:cs typeface="Calibri"/>
              <a:sym typeface="Calibri"/>
            </a:endParaRPr>
          </a:p>
        </p:txBody>
      </p:sp>
      <p:sp>
        <p:nvSpPr>
          <p:cNvPr id="397" name="Google Shape;397;p13"/>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The answer</a:t>
            </a:r>
            <a:endParaRPr b="0" i="0" sz="1800" u="none" cap="none" strike="noStrike">
              <a:solidFill>
                <a:schemeClr val="dk1"/>
              </a:solidFill>
              <a:latin typeface="Calibri"/>
              <a:ea typeface="Calibri"/>
              <a:cs typeface="Calibri"/>
              <a:sym typeface="Calibri"/>
            </a:endParaRPr>
          </a:p>
        </p:txBody>
      </p:sp>
      <p:sp>
        <p:nvSpPr>
          <p:cNvPr id="398" name="Google Shape;398;p13"/>
          <p:cNvSpPr/>
          <p:nvPr/>
        </p:nvSpPr>
        <p:spPr>
          <a:xfrm>
            <a:off x="8549640" y="3200400"/>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13"/>
          <p:cNvSpPr/>
          <p:nvPr/>
        </p:nvSpPr>
        <p:spPr>
          <a:xfrm>
            <a:off x="8750808" y="3282696"/>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13"/>
          <p:cNvSpPr txBox="1"/>
          <p:nvPr/>
        </p:nvSpPr>
        <p:spPr>
          <a:xfrm>
            <a:off x="8750808" y="3282696"/>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sp>
        <p:nvSpPr>
          <p:cNvPr id="401" name="Google Shape;401;p13"/>
          <p:cNvSpPr txBox="1"/>
          <p:nvPr/>
        </p:nvSpPr>
        <p:spPr>
          <a:xfrm>
            <a:off x="9189720" y="3200400"/>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Compares, passes on</a:t>
            </a:r>
            <a:endParaRPr b="0" i="0" sz="1250" u="none" cap="none" strike="noStrike">
              <a:solidFill>
                <a:schemeClr val="dk1"/>
              </a:solidFill>
              <a:latin typeface="Calibri"/>
              <a:ea typeface="Calibri"/>
              <a:cs typeface="Calibri"/>
              <a:sym typeface="Calibri"/>
            </a:endParaRPr>
          </a:p>
        </p:txBody>
      </p:sp>
      <p:sp>
        <p:nvSpPr>
          <p:cNvPr id="402" name="Google Shape;402;p13"/>
          <p:cNvSpPr/>
          <p:nvPr/>
        </p:nvSpPr>
        <p:spPr>
          <a:xfrm>
            <a:off x="8549640" y="3785616"/>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13"/>
          <p:cNvSpPr/>
          <p:nvPr/>
        </p:nvSpPr>
        <p:spPr>
          <a:xfrm>
            <a:off x="8750808" y="3867912"/>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13"/>
          <p:cNvSpPr txBox="1"/>
          <p:nvPr/>
        </p:nvSpPr>
        <p:spPr>
          <a:xfrm>
            <a:off x="8750808" y="3867912"/>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sp>
        <p:nvSpPr>
          <p:cNvPr id="405" name="Google Shape;405;p13"/>
          <p:cNvSpPr txBox="1"/>
          <p:nvPr/>
        </p:nvSpPr>
        <p:spPr>
          <a:xfrm>
            <a:off x="9189720" y="3785616"/>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Google, Tripadvisor</a:t>
            </a:r>
            <a:endParaRPr b="0" i="0" sz="1250" u="none" cap="none" strike="noStrike">
              <a:solidFill>
                <a:schemeClr val="dk1"/>
              </a:solidFill>
              <a:latin typeface="Calibri"/>
              <a:ea typeface="Calibri"/>
              <a:cs typeface="Calibri"/>
              <a:sym typeface="Calibri"/>
            </a:endParaRPr>
          </a:p>
        </p:txBody>
      </p:sp>
      <p:sp>
        <p:nvSpPr>
          <p:cNvPr id="406" name="Google Shape;406;p13"/>
          <p:cNvSpPr/>
          <p:nvPr/>
        </p:nvSpPr>
        <p:spPr>
          <a:xfrm>
            <a:off x="8549640" y="4370832"/>
            <a:ext cx="2816352" cy="475488"/>
          </a:xfrm>
          <a:prstGeom prst="roundRect">
            <a:avLst>
              <a:gd fmla="val 19231"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check-circle.png" id="407" name="Google Shape;407;p13"/>
          <p:cNvPicPr preferRelativeResize="0"/>
          <p:nvPr/>
        </p:nvPicPr>
        <p:blipFill rotWithShape="1">
          <a:blip r:embed="rId5">
            <a:alphaModFix/>
          </a:blip>
          <a:srcRect b="0" l="0" r="0" t="0"/>
          <a:stretch/>
        </p:blipFill>
        <p:spPr>
          <a:xfrm>
            <a:off x="8750808" y="4453128"/>
            <a:ext cx="310896" cy="310896"/>
          </a:xfrm>
          <a:prstGeom prst="rect">
            <a:avLst/>
          </a:prstGeom>
          <a:noFill/>
          <a:ln>
            <a:noFill/>
          </a:ln>
        </p:spPr>
      </p:pic>
      <p:sp>
        <p:nvSpPr>
          <p:cNvPr id="408" name="Google Shape;408;p13"/>
          <p:cNvSpPr txBox="1"/>
          <p:nvPr/>
        </p:nvSpPr>
        <p:spPr>
          <a:xfrm>
            <a:off x="9189720" y="4370832"/>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803D"/>
              </a:buClr>
              <a:buSzPts val="1250"/>
              <a:buFont typeface="Inter"/>
              <a:buNone/>
            </a:pPr>
            <a:r>
              <a:rPr b="1" i="0" lang="en-US" sz="1250" u="none" cap="none" strike="noStrike">
                <a:solidFill>
                  <a:srgbClr val="15803D"/>
                </a:solidFill>
                <a:latin typeface="Inter"/>
                <a:ea typeface="Inter"/>
                <a:cs typeface="Inter"/>
                <a:sym typeface="Inter"/>
              </a:rPr>
              <a:t>Takes the booking</a:t>
            </a:r>
            <a:endParaRPr b="0" i="0" sz="1250" u="none" cap="none" strike="noStrike">
              <a:solidFill>
                <a:schemeClr val="dk1"/>
              </a:solidFill>
              <a:latin typeface="Calibri"/>
              <a:ea typeface="Calibri"/>
              <a:cs typeface="Calibri"/>
              <a:sym typeface="Calibri"/>
            </a:endParaRPr>
          </a:p>
        </p:txBody>
      </p:sp>
      <p:sp>
        <p:nvSpPr>
          <p:cNvPr id="409" name="Google Shape;409;p13"/>
          <p:cNvSpPr/>
          <p:nvPr/>
        </p:nvSpPr>
        <p:spPr>
          <a:xfrm>
            <a:off x="8549640" y="4956048"/>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13"/>
          <p:cNvSpPr/>
          <p:nvPr/>
        </p:nvSpPr>
        <p:spPr>
          <a:xfrm>
            <a:off x="8750808" y="5038344"/>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13"/>
          <p:cNvSpPr txBox="1"/>
          <p:nvPr/>
        </p:nvSpPr>
        <p:spPr>
          <a:xfrm>
            <a:off x="8750808" y="5038344"/>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sp>
        <p:nvSpPr>
          <p:cNvPr id="412" name="Google Shape;412;p13"/>
          <p:cNvSpPr txBox="1"/>
          <p:nvPr/>
        </p:nvSpPr>
        <p:spPr>
          <a:xfrm>
            <a:off x="9189720" y="4956048"/>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Her price is listed</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417" name="Shape 417"/>
        <p:cNvGrpSpPr/>
        <p:nvPr/>
      </p:nvGrpSpPr>
      <p:grpSpPr>
        <a:xfrm>
          <a:off x="0" y="0"/>
          <a:ext cx="0" cy="0"/>
          <a:chOff x="0" y="0"/>
          <a:chExt cx="0" cy="0"/>
        </a:xfrm>
      </p:grpSpPr>
      <p:sp>
        <p:nvSpPr>
          <p:cNvPr id="418" name="Google Shape;418;p14"/>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ODD ONE OUT · 2 OF 4</a:t>
            </a:r>
            <a:endParaRPr b="0" i="0" sz="1050" u="none" cap="none" strike="noStrike">
              <a:solidFill>
                <a:schemeClr val="dk1"/>
              </a:solidFill>
              <a:latin typeface="Calibri"/>
              <a:ea typeface="Calibri"/>
              <a:cs typeface="Calibri"/>
              <a:sym typeface="Calibri"/>
            </a:endParaRPr>
          </a:p>
        </p:txBody>
      </p:sp>
      <p:sp>
        <p:nvSpPr>
          <p:cNvPr id="419" name="Google Shape;419;p14"/>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Which one isn't first-party?</a:t>
            </a:r>
            <a:endParaRPr b="0" i="0" sz="3000" u="none" cap="none" strike="noStrike">
              <a:solidFill>
                <a:schemeClr val="dk1"/>
              </a:solidFill>
              <a:latin typeface="Calibri"/>
              <a:ea typeface="Calibri"/>
              <a:cs typeface="Calibri"/>
              <a:sym typeface="Calibri"/>
            </a:endParaRPr>
          </a:p>
        </p:txBody>
      </p:sp>
      <p:pic>
        <p:nvPicPr>
          <p:cNvPr descr="/home/claude/work/renderer/brand/wordmark.png" id="420" name="Google Shape;420;p14"/>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421" name="Google Shape;421;p14"/>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12 / 48</a:t>
            </a:r>
            <a:endParaRPr b="0" i="0" sz="900" u="none" cap="none" strike="noStrike">
              <a:solidFill>
                <a:schemeClr val="dk1"/>
              </a:solidFill>
              <a:latin typeface="Calibri"/>
              <a:ea typeface="Calibri"/>
              <a:cs typeface="Calibri"/>
              <a:sym typeface="Calibri"/>
            </a:endParaRPr>
          </a:p>
        </p:txBody>
      </p:sp>
      <p:sp>
        <p:nvSpPr>
          <p:cNvPr id="422" name="Google Shape;422;p14"/>
          <p:cNvSpPr/>
          <p:nvPr/>
        </p:nvSpPr>
        <p:spPr>
          <a:xfrm>
            <a:off x="548640" y="1481328"/>
            <a:ext cx="7406640" cy="4828032"/>
          </a:xfrm>
          <a:prstGeom prst="roundRect">
            <a:avLst>
              <a:gd fmla="val 2273"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14"/>
          <p:cNvSpPr txBox="1"/>
          <p:nvPr/>
        </p:nvSpPr>
        <p:spPr>
          <a:xfrm>
            <a:off x="859536" y="1719072"/>
            <a:ext cx="6784848"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004FAA"/>
              </a:buClr>
              <a:buSzPts val="950"/>
              <a:buFont typeface="Roboto Mono"/>
              <a:buNone/>
            </a:pPr>
            <a:r>
              <a:rPr b="0" i="0" lang="en-US" sz="950" u="none" cap="none" strike="noStrike">
                <a:solidFill>
                  <a:srgbClr val="004FAA"/>
                </a:solidFill>
                <a:latin typeface="Roboto Mono"/>
                <a:ea typeface="Roboto Mono"/>
                <a:cs typeface="Roboto Mono"/>
                <a:sym typeface="Roboto Mono"/>
              </a:rPr>
              <a:t>ODD ONE OUT · 2 OF 4</a:t>
            </a:r>
            <a:endParaRPr b="0" i="0" sz="950" u="none" cap="none" strike="noStrike">
              <a:solidFill>
                <a:schemeClr val="dk1"/>
              </a:solidFill>
              <a:latin typeface="Calibri"/>
              <a:ea typeface="Calibri"/>
              <a:cs typeface="Calibri"/>
              <a:sym typeface="Calibri"/>
            </a:endParaRPr>
          </a:p>
        </p:txBody>
      </p:sp>
      <p:sp>
        <p:nvSpPr>
          <p:cNvPr id="424" name="Google Shape;424;p14"/>
          <p:cNvSpPr txBox="1"/>
          <p:nvPr/>
        </p:nvSpPr>
        <p:spPr>
          <a:xfrm>
            <a:off x="859536" y="2029968"/>
            <a:ext cx="6784848" cy="5321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71717"/>
              </a:buClr>
              <a:buSzPts val="2200"/>
              <a:buFont typeface="Inter"/>
              <a:buNone/>
            </a:pPr>
            <a:r>
              <a:rPr b="1" i="0" lang="en-US" sz="2200" u="none" cap="none" strike="noStrike">
                <a:solidFill>
                  <a:srgbClr val="171717"/>
                </a:solidFill>
                <a:latin typeface="Inter"/>
                <a:ea typeface="Inter"/>
                <a:cs typeface="Inter"/>
                <a:sym typeface="Inter"/>
              </a:rPr>
              <a:t>First-party data</a:t>
            </a:r>
            <a:endParaRPr b="0" i="0" sz="2200" u="none" cap="none" strike="noStrike">
              <a:solidFill>
                <a:schemeClr val="dk1"/>
              </a:solidFill>
              <a:latin typeface="Calibri"/>
              <a:ea typeface="Calibri"/>
              <a:cs typeface="Calibri"/>
              <a:sym typeface="Calibri"/>
            </a:endParaRPr>
          </a:p>
        </p:txBody>
      </p:sp>
      <p:sp>
        <p:nvSpPr>
          <p:cNvPr id="425" name="Google Shape;425;p14"/>
          <p:cNvSpPr txBox="1"/>
          <p:nvPr/>
        </p:nvSpPr>
        <p:spPr>
          <a:xfrm>
            <a:off x="859536" y="2690114"/>
            <a:ext cx="6784848" cy="42291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25252"/>
              </a:buClr>
              <a:buSzPts val="1100"/>
              <a:buFont typeface="Inter"/>
              <a:buNone/>
            </a:pPr>
            <a:r>
              <a:rPr b="0" i="0" lang="en-US" sz="1100" u="none" cap="none" strike="noStrike">
                <a:solidFill>
                  <a:srgbClr val="525252"/>
                </a:solidFill>
                <a:latin typeface="Inter"/>
                <a:ea typeface="Inter"/>
                <a:cs typeface="Inter"/>
                <a:sym typeface="Inter"/>
              </a:rPr>
              <a:t>Theo is happy that Booking.com handles the guest emails for his OTA bookings. Three of these are first-party data. One isn't.</a:t>
            </a:r>
            <a:endParaRPr b="0" i="0" sz="1100" u="none" cap="none" strike="noStrike">
              <a:solidFill>
                <a:schemeClr val="dk1"/>
              </a:solidFill>
              <a:latin typeface="Calibri"/>
              <a:ea typeface="Calibri"/>
              <a:cs typeface="Calibri"/>
              <a:sym typeface="Calibri"/>
            </a:endParaRPr>
          </a:p>
        </p:txBody>
      </p:sp>
      <p:cxnSp>
        <p:nvCxnSpPr>
          <p:cNvPr id="426" name="Google Shape;426;p14"/>
          <p:cNvCxnSpPr/>
          <p:nvPr/>
        </p:nvCxnSpPr>
        <p:spPr>
          <a:xfrm>
            <a:off x="859536" y="3277616"/>
            <a:ext cx="6784848" cy="0"/>
          </a:xfrm>
          <a:prstGeom prst="straightConnector1">
            <a:avLst/>
          </a:prstGeom>
          <a:noFill/>
          <a:ln cap="flat" cmpd="sng" w="12700">
            <a:solidFill>
              <a:srgbClr val="E5E5E5"/>
            </a:solidFill>
            <a:prstDash val="solid"/>
            <a:round/>
            <a:headEnd len="sm" w="sm" type="none"/>
            <a:tailEnd len="sm" w="sm" type="none"/>
          </a:ln>
        </p:spPr>
      </p:cxnSp>
      <p:sp>
        <p:nvSpPr>
          <p:cNvPr id="427" name="Google Shape;427;p14"/>
          <p:cNvSpPr/>
          <p:nvPr/>
        </p:nvSpPr>
        <p:spPr>
          <a:xfrm>
            <a:off x="859536" y="3442208"/>
            <a:ext cx="6784848" cy="530352"/>
          </a:xfrm>
          <a:prstGeom prst="roundRect">
            <a:avLst>
              <a:gd fmla="val 17241"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14"/>
          <p:cNvSpPr/>
          <p:nvPr/>
        </p:nvSpPr>
        <p:spPr>
          <a:xfrm>
            <a:off x="1005840" y="3570224"/>
            <a:ext cx="274320" cy="274320"/>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14"/>
          <p:cNvSpPr txBox="1"/>
          <p:nvPr/>
        </p:nvSpPr>
        <p:spPr>
          <a:xfrm>
            <a:off x="1005840" y="357022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100"/>
              <a:buFont typeface="Inter"/>
              <a:buNone/>
            </a:pPr>
            <a:r>
              <a:rPr b="1" i="0" lang="en-US" sz="1100" u="none" cap="none" strike="noStrike">
                <a:solidFill>
                  <a:srgbClr val="FFFFFF"/>
                </a:solidFill>
                <a:latin typeface="Inter"/>
                <a:ea typeface="Inter"/>
                <a:cs typeface="Inter"/>
                <a:sym typeface="Inter"/>
              </a:rPr>
              <a:t>1</a:t>
            </a:r>
            <a:endParaRPr b="0" i="0" sz="1100" u="none" cap="none" strike="noStrike">
              <a:solidFill>
                <a:schemeClr val="dk1"/>
              </a:solidFill>
              <a:latin typeface="Calibri"/>
              <a:ea typeface="Calibri"/>
              <a:cs typeface="Calibri"/>
              <a:sym typeface="Calibri"/>
            </a:endParaRPr>
          </a:p>
        </p:txBody>
      </p:sp>
      <p:sp>
        <p:nvSpPr>
          <p:cNvPr id="430" name="Google Shape;430;p14"/>
          <p:cNvSpPr txBox="1"/>
          <p:nvPr/>
        </p:nvSpPr>
        <p:spPr>
          <a:xfrm>
            <a:off x="1408176" y="3442208"/>
            <a:ext cx="6126480" cy="53035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400"/>
              <a:buFont typeface="Inter"/>
              <a:buNone/>
            </a:pPr>
            <a:r>
              <a:rPr b="0" i="0" lang="en-US" sz="1400" u="none" cap="none" strike="noStrike">
                <a:solidFill>
                  <a:srgbClr val="171717"/>
                </a:solidFill>
                <a:latin typeface="Inter"/>
                <a:ea typeface="Inter"/>
                <a:cs typeface="Inter"/>
                <a:sym typeface="Inter"/>
              </a:rPr>
              <a:t>The guest's details on the Booking.com extranet</a:t>
            </a:r>
            <a:endParaRPr b="0" i="0" sz="1400" u="none" cap="none" strike="noStrike">
              <a:solidFill>
                <a:schemeClr val="dk1"/>
              </a:solidFill>
              <a:latin typeface="Calibri"/>
              <a:ea typeface="Calibri"/>
              <a:cs typeface="Calibri"/>
              <a:sym typeface="Calibri"/>
            </a:endParaRPr>
          </a:p>
        </p:txBody>
      </p:sp>
      <p:sp>
        <p:nvSpPr>
          <p:cNvPr id="431" name="Google Shape;431;p14"/>
          <p:cNvSpPr/>
          <p:nvPr/>
        </p:nvSpPr>
        <p:spPr>
          <a:xfrm>
            <a:off x="859536" y="4082288"/>
            <a:ext cx="6784848" cy="530352"/>
          </a:xfrm>
          <a:prstGeom prst="roundRect">
            <a:avLst>
              <a:gd fmla="val 17241"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14"/>
          <p:cNvSpPr/>
          <p:nvPr/>
        </p:nvSpPr>
        <p:spPr>
          <a:xfrm>
            <a:off x="1005840" y="4210304"/>
            <a:ext cx="274320" cy="274320"/>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14"/>
          <p:cNvSpPr txBox="1"/>
          <p:nvPr/>
        </p:nvSpPr>
        <p:spPr>
          <a:xfrm>
            <a:off x="1005840" y="421030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100"/>
              <a:buFont typeface="Inter"/>
              <a:buNone/>
            </a:pPr>
            <a:r>
              <a:rPr b="1" i="0" lang="en-US" sz="1100" u="none" cap="none" strike="noStrike">
                <a:solidFill>
                  <a:srgbClr val="FFFFFF"/>
                </a:solidFill>
                <a:latin typeface="Inter"/>
                <a:ea typeface="Inter"/>
                <a:cs typeface="Inter"/>
                <a:sym typeface="Inter"/>
              </a:rPr>
              <a:t>2</a:t>
            </a:r>
            <a:endParaRPr b="0" i="0" sz="1100" u="none" cap="none" strike="noStrike">
              <a:solidFill>
                <a:schemeClr val="dk1"/>
              </a:solidFill>
              <a:latin typeface="Calibri"/>
              <a:ea typeface="Calibri"/>
              <a:cs typeface="Calibri"/>
              <a:sym typeface="Calibri"/>
            </a:endParaRPr>
          </a:p>
        </p:txBody>
      </p:sp>
      <p:sp>
        <p:nvSpPr>
          <p:cNvPr id="434" name="Google Shape;434;p14"/>
          <p:cNvSpPr txBox="1"/>
          <p:nvPr/>
        </p:nvSpPr>
        <p:spPr>
          <a:xfrm>
            <a:off x="1408176" y="4082288"/>
            <a:ext cx="6126480" cy="53035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400"/>
              <a:buFont typeface="Inter"/>
              <a:buNone/>
            </a:pPr>
            <a:r>
              <a:rPr b="0" i="0" lang="en-US" sz="1400" u="none" cap="none" strike="noStrike">
                <a:solidFill>
                  <a:srgbClr val="171717"/>
                </a:solidFill>
                <a:latin typeface="Inter"/>
                <a:ea typeface="Inter"/>
                <a:cs typeface="Inter"/>
                <a:sym typeface="Inter"/>
              </a:rPr>
              <a:t>A guest's email, collected when they booked on his site</a:t>
            </a:r>
            <a:endParaRPr b="0" i="0" sz="1400" u="none" cap="none" strike="noStrike">
              <a:solidFill>
                <a:schemeClr val="dk1"/>
              </a:solidFill>
              <a:latin typeface="Calibri"/>
              <a:ea typeface="Calibri"/>
              <a:cs typeface="Calibri"/>
              <a:sym typeface="Calibri"/>
            </a:endParaRPr>
          </a:p>
        </p:txBody>
      </p:sp>
      <p:sp>
        <p:nvSpPr>
          <p:cNvPr id="435" name="Google Shape;435;p14"/>
          <p:cNvSpPr/>
          <p:nvPr/>
        </p:nvSpPr>
        <p:spPr>
          <a:xfrm>
            <a:off x="859536" y="4722368"/>
            <a:ext cx="6784848" cy="530352"/>
          </a:xfrm>
          <a:prstGeom prst="roundRect">
            <a:avLst>
              <a:gd fmla="val 17241"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14"/>
          <p:cNvSpPr/>
          <p:nvPr/>
        </p:nvSpPr>
        <p:spPr>
          <a:xfrm>
            <a:off x="1005840" y="4850384"/>
            <a:ext cx="274320" cy="274320"/>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14"/>
          <p:cNvSpPr txBox="1"/>
          <p:nvPr/>
        </p:nvSpPr>
        <p:spPr>
          <a:xfrm>
            <a:off x="1005840" y="485038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100"/>
              <a:buFont typeface="Inter"/>
              <a:buNone/>
            </a:pPr>
            <a:r>
              <a:rPr b="1" i="0" lang="en-US" sz="1100" u="none" cap="none" strike="noStrike">
                <a:solidFill>
                  <a:srgbClr val="FFFFFF"/>
                </a:solidFill>
                <a:latin typeface="Inter"/>
                <a:ea typeface="Inter"/>
                <a:cs typeface="Inter"/>
                <a:sym typeface="Inter"/>
              </a:rPr>
              <a:t>3</a:t>
            </a:r>
            <a:endParaRPr b="0" i="0" sz="1100" u="none" cap="none" strike="noStrike">
              <a:solidFill>
                <a:schemeClr val="dk1"/>
              </a:solidFill>
              <a:latin typeface="Calibri"/>
              <a:ea typeface="Calibri"/>
              <a:cs typeface="Calibri"/>
              <a:sym typeface="Calibri"/>
            </a:endParaRPr>
          </a:p>
        </p:txBody>
      </p:sp>
      <p:sp>
        <p:nvSpPr>
          <p:cNvPr id="438" name="Google Shape;438;p14"/>
          <p:cNvSpPr txBox="1"/>
          <p:nvPr/>
        </p:nvSpPr>
        <p:spPr>
          <a:xfrm>
            <a:off x="1408176" y="4722368"/>
            <a:ext cx="6126480" cy="53035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400"/>
              <a:buFont typeface="Inter"/>
              <a:buNone/>
            </a:pPr>
            <a:r>
              <a:rPr b="0" i="0" lang="en-US" sz="1400" u="none" cap="none" strike="noStrike">
                <a:solidFill>
                  <a:srgbClr val="171717"/>
                </a:solidFill>
                <a:latin typeface="Inter"/>
                <a:ea typeface="Inter"/>
                <a:cs typeface="Inter"/>
                <a:sym typeface="Inter"/>
              </a:rPr>
              <a:t>His own booking history, going back years</a:t>
            </a:r>
            <a:endParaRPr b="0" i="0" sz="1400" u="none" cap="none" strike="noStrike">
              <a:solidFill>
                <a:schemeClr val="dk1"/>
              </a:solidFill>
              <a:latin typeface="Calibri"/>
              <a:ea typeface="Calibri"/>
              <a:cs typeface="Calibri"/>
              <a:sym typeface="Calibri"/>
            </a:endParaRPr>
          </a:p>
        </p:txBody>
      </p:sp>
      <p:sp>
        <p:nvSpPr>
          <p:cNvPr id="439" name="Google Shape;439;p14"/>
          <p:cNvSpPr/>
          <p:nvPr/>
        </p:nvSpPr>
        <p:spPr>
          <a:xfrm>
            <a:off x="859536" y="5362448"/>
            <a:ext cx="6784848" cy="530352"/>
          </a:xfrm>
          <a:prstGeom prst="roundRect">
            <a:avLst>
              <a:gd fmla="val 17241"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14"/>
          <p:cNvSpPr/>
          <p:nvPr/>
        </p:nvSpPr>
        <p:spPr>
          <a:xfrm>
            <a:off x="1005840" y="5490464"/>
            <a:ext cx="274320" cy="274320"/>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14"/>
          <p:cNvSpPr txBox="1"/>
          <p:nvPr/>
        </p:nvSpPr>
        <p:spPr>
          <a:xfrm>
            <a:off x="1005840" y="549046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100"/>
              <a:buFont typeface="Inter"/>
              <a:buNone/>
            </a:pPr>
            <a:r>
              <a:rPr b="1" i="0" lang="en-US" sz="1100" u="none" cap="none" strike="noStrike">
                <a:solidFill>
                  <a:srgbClr val="FFFFFF"/>
                </a:solidFill>
                <a:latin typeface="Inter"/>
                <a:ea typeface="Inter"/>
                <a:cs typeface="Inter"/>
                <a:sym typeface="Inter"/>
              </a:rPr>
              <a:t>4</a:t>
            </a:r>
            <a:endParaRPr b="0" i="0" sz="1100" u="none" cap="none" strike="noStrike">
              <a:solidFill>
                <a:schemeClr val="dk1"/>
              </a:solidFill>
              <a:latin typeface="Calibri"/>
              <a:ea typeface="Calibri"/>
              <a:cs typeface="Calibri"/>
              <a:sym typeface="Calibri"/>
            </a:endParaRPr>
          </a:p>
        </p:txBody>
      </p:sp>
      <p:sp>
        <p:nvSpPr>
          <p:cNvPr id="442" name="Google Shape;442;p14"/>
          <p:cNvSpPr txBox="1"/>
          <p:nvPr/>
        </p:nvSpPr>
        <p:spPr>
          <a:xfrm>
            <a:off x="1408176" y="5362448"/>
            <a:ext cx="6126480" cy="53035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400"/>
              <a:buFont typeface="Inter"/>
              <a:buNone/>
            </a:pPr>
            <a:r>
              <a:rPr b="0" i="0" lang="en-US" sz="1400" u="none" cap="none" strike="noStrike">
                <a:solidFill>
                  <a:srgbClr val="171717"/>
                </a:solidFill>
                <a:latin typeface="Inter"/>
                <a:ea typeface="Inter"/>
                <a:cs typeface="Inter"/>
                <a:sym typeface="Inter"/>
              </a:rPr>
              <a:t>The spa booking the guest added in his PMS</a:t>
            </a:r>
            <a:endParaRPr b="0" i="0" sz="1400" u="none" cap="none" strike="noStrike">
              <a:solidFill>
                <a:schemeClr val="dk1"/>
              </a:solidFill>
              <a:latin typeface="Calibri"/>
              <a:ea typeface="Calibri"/>
              <a:cs typeface="Calibri"/>
              <a:sym typeface="Calibri"/>
            </a:endParaRPr>
          </a:p>
        </p:txBody>
      </p:sp>
      <p:sp>
        <p:nvSpPr>
          <p:cNvPr id="443" name="Google Shape;443;p14"/>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14"/>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puzzle-piece.png" id="445" name="Google Shape;445;p14"/>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446" name="Google Shape;446;p14"/>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ODD ONE OUT · 2 OF 4</a:t>
            </a:r>
            <a:endParaRPr b="0" i="0" sz="950" u="none" cap="none" strike="noStrike">
              <a:solidFill>
                <a:schemeClr val="dk1"/>
              </a:solidFill>
              <a:latin typeface="Calibri"/>
              <a:ea typeface="Calibri"/>
              <a:cs typeface="Calibri"/>
              <a:sym typeface="Calibri"/>
            </a:endParaRPr>
          </a:p>
        </p:txBody>
      </p:sp>
      <p:sp>
        <p:nvSpPr>
          <p:cNvPr id="447" name="Google Shape;447;p14"/>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Cast your vote</a:t>
            </a:r>
            <a:endParaRPr b="0" i="0" sz="1800" u="none" cap="none" strike="noStrike">
              <a:solidFill>
                <a:schemeClr val="dk1"/>
              </a:solidFill>
              <a:latin typeface="Calibri"/>
              <a:ea typeface="Calibri"/>
              <a:cs typeface="Calibri"/>
              <a:sym typeface="Calibri"/>
            </a:endParaRPr>
          </a:p>
        </p:txBody>
      </p:sp>
      <p:sp>
        <p:nvSpPr>
          <p:cNvPr id="448" name="Google Shape;448;p14"/>
          <p:cNvSpPr/>
          <p:nvPr/>
        </p:nvSpPr>
        <p:spPr>
          <a:xfrm>
            <a:off x="8549640" y="3200400"/>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14"/>
          <p:cNvSpPr/>
          <p:nvPr/>
        </p:nvSpPr>
        <p:spPr>
          <a:xfrm>
            <a:off x="8750808" y="3282696"/>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14"/>
          <p:cNvSpPr txBox="1"/>
          <p:nvPr/>
        </p:nvSpPr>
        <p:spPr>
          <a:xfrm>
            <a:off x="8750808" y="3282696"/>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sp>
        <p:nvSpPr>
          <p:cNvPr id="451" name="Google Shape;451;p14"/>
          <p:cNvSpPr txBox="1"/>
          <p:nvPr/>
        </p:nvSpPr>
        <p:spPr>
          <a:xfrm>
            <a:off x="9189720" y="3200400"/>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The OTA extranet</a:t>
            </a:r>
            <a:endParaRPr b="0" i="0" sz="1250" u="none" cap="none" strike="noStrike">
              <a:solidFill>
                <a:schemeClr val="dk1"/>
              </a:solidFill>
              <a:latin typeface="Calibri"/>
              <a:ea typeface="Calibri"/>
              <a:cs typeface="Calibri"/>
              <a:sym typeface="Calibri"/>
            </a:endParaRPr>
          </a:p>
        </p:txBody>
      </p:sp>
      <p:sp>
        <p:nvSpPr>
          <p:cNvPr id="452" name="Google Shape;452;p14"/>
          <p:cNvSpPr/>
          <p:nvPr/>
        </p:nvSpPr>
        <p:spPr>
          <a:xfrm>
            <a:off x="8549640" y="3785616"/>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14"/>
          <p:cNvSpPr/>
          <p:nvPr/>
        </p:nvSpPr>
        <p:spPr>
          <a:xfrm>
            <a:off x="8750808" y="3867912"/>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14"/>
          <p:cNvSpPr txBox="1"/>
          <p:nvPr/>
        </p:nvSpPr>
        <p:spPr>
          <a:xfrm>
            <a:off x="8750808" y="3867912"/>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sp>
        <p:nvSpPr>
          <p:cNvPr id="455" name="Google Shape;455;p14"/>
          <p:cNvSpPr txBox="1"/>
          <p:nvPr/>
        </p:nvSpPr>
        <p:spPr>
          <a:xfrm>
            <a:off x="9189720" y="3785616"/>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Email his site took</a:t>
            </a:r>
            <a:endParaRPr b="0" i="0" sz="1250" u="none" cap="none" strike="noStrike">
              <a:solidFill>
                <a:schemeClr val="dk1"/>
              </a:solidFill>
              <a:latin typeface="Calibri"/>
              <a:ea typeface="Calibri"/>
              <a:cs typeface="Calibri"/>
              <a:sym typeface="Calibri"/>
            </a:endParaRPr>
          </a:p>
        </p:txBody>
      </p:sp>
      <p:sp>
        <p:nvSpPr>
          <p:cNvPr id="456" name="Google Shape;456;p14"/>
          <p:cNvSpPr/>
          <p:nvPr/>
        </p:nvSpPr>
        <p:spPr>
          <a:xfrm>
            <a:off x="8549640" y="4370832"/>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14"/>
          <p:cNvSpPr/>
          <p:nvPr/>
        </p:nvSpPr>
        <p:spPr>
          <a:xfrm>
            <a:off x="8750808" y="4453128"/>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14"/>
          <p:cNvSpPr txBox="1"/>
          <p:nvPr/>
        </p:nvSpPr>
        <p:spPr>
          <a:xfrm>
            <a:off x="8750808" y="4453128"/>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sp>
        <p:nvSpPr>
          <p:cNvPr id="459" name="Google Shape;459;p14"/>
          <p:cNvSpPr txBox="1"/>
          <p:nvPr/>
        </p:nvSpPr>
        <p:spPr>
          <a:xfrm>
            <a:off x="9189720" y="4370832"/>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His booking history</a:t>
            </a:r>
            <a:endParaRPr b="0" i="0" sz="1250" u="none" cap="none" strike="noStrike">
              <a:solidFill>
                <a:schemeClr val="dk1"/>
              </a:solidFill>
              <a:latin typeface="Calibri"/>
              <a:ea typeface="Calibri"/>
              <a:cs typeface="Calibri"/>
              <a:sym typeface="Calibri"/>
            </a:endParaRPr>
          </a:p>
        </p:txBody>
      </p:sp>
      <p:sp>
        <p:nvSpPr>
          <p:cNvPr id="460" name="Google Shape;460;p14"/>
          <p:cNvSpPr/>
          <p:nvPr/>
        </p:nvSpPr>
        <p:spPr>
          <a:xfrm>
            <a:off x="8549640" y="4956048"/>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14"/>
          <p:cNvSpPr/>
          <p:nvPr/>
        </p:nvSpPr>
        <p:spPr>
          <a:xfrm>
            <a:off x="8750808" y="5038344"/>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14"/>
          <p:cNvSpPr txBox="1"/>
          <p:nvPr/>
        </p:nvSpPr>
        <p:spPr>
          <a:xfrm>
            <a:off x="8750808" y="5038344"/>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sp>
        <p:nvSpPr>
          <p:cNvPr id="463" name="Google Shape;463;p14"/>
          <p:cNvSpPr txBox="1"/>
          <p:nvPr/>
        </p:nvSpPr>
        <p:spPr>
          <a:xfrm>
            <a:off x="9189720" y="4956048"/>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Spa booking, PMS</a:t>
            </a:r>
            <a:endParaRPr b="0" i="0" sz="1250" u="none" cap="none" strike="noStrike">
              <a:solidFill>
                <a:schemeClr val="dk1"/>
              </a:solidFill>
              <a:latin typeface="Calibri"/>
              <a:ea typeface="Calibri"/>
              <a:cs typeface="Calibri"/>
              <a:sym typeface="Calibri"/>
            </a:endParaRPr>
          </a:p>
        </p:txBody>
      </p:sp>
      <p:sp>
        <p:nvSpPr>
          <p:cNvPr id="464" name="Google Shape;464;p14"/>
          <p:cNvSpPr txBox="1"/>
          <p:nvPr/>
        </p:nvSpPr>
        <p:spPr>
          <a:xfrm>
            <a:off x="8549640" y="5522976"/>
            <a:ext cx="2816352" cy="548640"/>
          </a:xfrm>
          <a:prstGeom prst="rect">
            <a:avLst/>
          </a:prstGeom>
          <a:noFill/>
          <a:ln>
            <a:noFill/>
          </a:ln>
        </p:spPr>
        <p:txBody>
          <a:bodyPr anchorCtr="0" anchor="t" bIns="0" lIns="0" spcFirstLastPara="1" rIns="0" wrap="square" tIns="0">
            <a:noAutofit/>
          </a:bodyPr>
          <a:lstStyle/>
          <a:p>
            <a:pPr indent="0" lvl="0" marL="0" marR="0" rtl="0" algn="l">
              <a:lnSpc>
                <a:spcPct val="135047"/>
              </a:lnSpc>
              <a:spcBef>
                <a:spcPts val="0"/>
              </a:spcBef>
              <a:spcAft>
                <a:spcPts val="0"/>
              </a:spcAft>
              <a:buClr>
                <a:srgbClr val="737373"/>
              </a:buClr>
              <a:buSzPts val="1050"/>
              <a:buFont typeface="Inter"/>
              <a:buNone/>
            </a:pPr>
            <a:r>
              <a:rPr b="0" i="0" lang="en-US" sz="1050" u="none" cap="none" strike="noStrike">
                <a:solidFill>
                  <a:srgbClr val="737373"/>
                </a:solidFill>
                <a:latin typeface="Inter"/>
                <a:ea typeface="Inter"/>
                <a:cs typeface="Inter"/>
                <a:sym typeface="Inter"/>
              </a:rPr>
              <a:t>Vote first. Then the answer.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469" name="Shape 469"/>
        <p:cNvGrpSpPr/>
        <p:nvPr/>
      </p:nvGrpSpPr>
      <p:grpSpPr>
        <a:xfrm>
          <a:off x="0" y="0"/>
          <a:ext cx="0" cy="0"/>
          <a:chOff x="0" y="0"/>
          <a:chExt cx="0" cy="0"/>
        </a:xfrm>
      </p:grpSpPr>
      <p:sp>
        <p:nvSpPr>
          <p:cNvPr id="470" name="Google Shape;470;p15"/>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ODD ONE OUT · 2 OF 4</a:t>
            </a:r>
            <a:endParaRPr b="0" i="0" sz="1050" u="none" cap="none" strike="noStrike">
              <a:solidFill>
                <a:schemeClr val="dk1"/>
              </a:solidFill>
              <a:latin typeface="Calibri"/>
              <a:ea typeface="Calibri"/>
              <a:cs typeface="Calibri"/>
              <a:sym typeface="Calibri"/>
            </a:endParaRPr>
          </a:p>
        </p:txBody>
      </p:sp>
      <p:sp>
        <p:nvSpPr>
          <p:cNvPr id="471" name="Google Shape;471;p15"/>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Which one isn't first-party?</a:t>
            </a:r>
            <a:endParaRPr b="0" i="0" sz="3000" u="none" cap="none" strike="noStrike">
              <a:solidFill>
                <a:schemeClr val="dk1"/>
              </a:solidFill>
              <a:latin typeface="Calibri"/>
              <a:ea typeface="Calibri"/>
              <a:cs typeface="Calibri"/>
              <a:sym typeface="Calibri"/>
            </a:endParaRPr>
          </a:p>
        </p:txBody>
      </p:sp>
      <p:pic>
        <p:nvPicPr>
          <p:cNvPr descr="/home/claude/work/renderer/brand/wordmark.png" id="472" name="Google Shape;472;p15"/>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473" name="Google Shape;473;p15"/>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13 / 48</a:t>
            </a:r>
            <a:endParaRPr b="0" i="0" sz="900" u="none" cap="none" strike="noStrike">
              <a:solidFill>
                <a:schemeClr val="dk1"/>
              </a:solidFill>
              <a:latin typeface="Calibri"/>
              <a:ea typeface="Calibri"/>
              <a:cs typeface="Calibri"/>
              <a:sym typeface="Calibri"/>
            </a:endParaRPr>
          </a:p>
        </p:txBody>
      </p:sp>
      <p:sp>
        <p:nvSpPr>
          <p:cNvPr id="474" name="Google Shape;474;p15"/>
          <p:cNvSpPr/>
          <p:nvPr/>
        </p:nvSpPr>
        <p:spPr>
          <a:xfrm>
            <a:off x="548640" y="1481328"/>
            <a:ext cx="7406640" cy="2874899"/>
          </a:xfrm>
          <a:prstGeom prst="roundRect">
            <a:avLst>
              <a:gd fmla="val 3817"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15"/>
          <p:cNvSpPr txBox="1"/>
          <p:nvPr/>
        </p:nvSpPr>
        <p:spPr>
          <a:xfrm>
            <a:off x="859536" y="1719072"/>
            <a:ext cx="6784848" cy="40411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71717"/>
              </a:buClr>
              <a:buSzPts val="2200"/>
              <a:buFont typeface="Inter"/>
              <a:buNone/>
            </a:pPr>
            <a:r>
              <a:rPr b="1" i="0" lang="en-US" sz="2200" u="none" cap="none" strike="noStrike">
                <a:solidFill>
                  <a:srgbClr val="171717"/>
                </a:solidFill>
                <a:latin typeface="Inter"/>
                <a:ea typeface="Inter"/>
                <a:cs typeface="Inter"/>
                <a:sym typeface="Inter"/>
              </a:rPr>
              <a:t>First-party data</a:t>
            </a:r>
            <a:endParaRPr b="0" i="0" sz="2200" u="none" cap="none" strike="noStrike">
              <a:solidFill>
                <a:schemeClr val="dk1"/>
              </a:solidFill>
              <a:latin typeface="Calibri"/>
              <a:ea typeface="Calibri"/>
              <a:cs typeface="Calibri"/>
              <a:sym typeface="Calibri"/>
            </a:endParaRPr>
          </a:p>
        </p:txBody>
      </p:sp>
      <p:cxnSp>
        <p:nvCxnSpPr>
          <p:cNvPr id="476" name="Google Shape;476;p15"/>
          <p:cNvCxnSpPr/>
          <p:nvPr/>
        </p:nvCxnSpPr>
        <p:spPr>
          <a:xfrm>
            <a:off x="859536" y="2251202"/>
            <a:ext cx="6784848" cy="0"/>
          </a:xfrm>
          <a:prstGeom prst="straightConnector1">
            <a:avLst/>
          </a:prstGeom>
          <a:noFill/>
          <a:ln cap="flat" cmpd="sng" w="12700">
            <a:solidFill>
              <a:srgbClr val="E5E5E5"/>
            </a:solidFill>
            <a:prstDash val="solid"/>
            <a:round/>
            <a:headEnd len="sm" w="sm" type="none"/>
            <a:tailEnd len="sm" w="sm" type="none"/>
          </a:ln>
        </p:spPr>
      </p:cxnSp>
      <p:sp>
        <p:nvSpPr>
          <p:cNvPr id="477" name="Google Shape;477;p15"/>
          <p:cNvSpPr/>
          <p:nvPr/>
        </p:nvSpPr>
        <p:spPr>
          <a:xfrm>
            <a:off x="859536" y="2415794"/>
            <a:ext cx="6784848" cy="365760"/>
          </a:xfrm>
          <a:prstGeom prst="roundRect">
            <a:avLst>
              <a:gd fmla="val 25000"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15"/>
          <p:cNvSpPr/>
          <p:nvPr/>
        </p:nvSpPr>
        <p:spPr>
          <a:xfrm>
            <a:off x="1005840" y="2461514"/>
            <a:ext cx="274320" cy="274320"/>
          </a:xfrm>
          <a:prstGeom prst="ellipse">
            <a:avLst/>
          </a:prstGeom>
          <a:solidFill>
            <a:srgbClr val="1580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15"/>
          <p:cNvSpPr txBox="1"/>
          <p:nvPr/>
        </p:nvSpPr>
        <p:spPr>
          <a:xfrm>
            <a:off x="1005840" y="246151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100"/>
              <a:buFont typeface="Inter"/>
              <a:buNone/>
            </a:pPr>
            <a:r>
              <a:rPr b="1" i="0" lang="en-US" sz="1100" u="none" cap="none" strike="noStrike">
                <a:solidFill>
                  <a:srgbClr val="FFFFFF"/>
                </a:solidFill>
                <a:latin typeface="Inter"/>
                <a:ea typeface="Inter"/>
                <a:cs typeface="Inter"/>
                <a:sym typeface="Inter"/>
              </a:rPr>
              <a:t>1</a:t>
            </a:r>
            <a:endParaRPr b="0" i="0" sz="1100" u="none" cap="none" strike="noStrike">
              <a:solidFill>
                <a:schemeClr val="dk1"/>
              </a:solidFill>
              <a:latin typeface="Calibri"/>
              <a:ea typeface="Calibri"/>
              <a:cs typeface="Calibri"/>
              <a:sym typeface="Calibri"/>
            </a:endParaRPr>
          </a:p>
        </p:txBody>
      </p:sp>
      <p:sp>
        <p:nvSpPr>
          <p:cNvPr id="480" name="Google Shape;480;p15"/>
          <p:cNvSpPr txBox="1"/>
          <p:nvPr/>
        </p:nvSpPr>
        <p:spPr>
          <a:xfrm>
            <a:off x="1408176" y="2415794"/>
            <a:ext cx="6126480"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1200"/>
              <a:buFont typeface="Inter"/>
              <a:buNone/>
            </a:pPr>
            <a:r>
              <a:rPr b="1" i="0" lang="en-US" sz="1200" u="none" cap="none" strike="noStrike">
                <a:solidFill>
                  <a:srgbClr val="15803D"/>
                </a:solidFill>
                <a:latin typeface="Inter"/>
                <a:ea typeface="Inter"/>
                <a:cs typeface="Inter"/>
                <a:sym typeface="Inter"/>
              </a:rPr>
              <a:t>The guest's details on the Booking.com extranet</a:t>
            </a:r>
            <a:endParaRPr b="0" i="0" sz="1200" u="none" cap="none" strike="noStrike">
              <a:solidFill>
                <a:schemeClr val="dk1"/>
              </a:solidFill>
              <a:latin typeface="Calibri"/>
              <a:ea typeface="Calibri"/>
              <a:cs typeface="Calibri"/>
              <a:sym typeface="Calibri"/>
            </a:endParaRPr>
          </a:p>
        </p:txBody>
      </p:sp>
      <p:sp>
        <p:nvSpPr>
          <p:cNvPr id="481" name="Google Shape;481;p15"/>
          <p:cNvSpPr/>
          <p:nvPr/>
        </p:nvSpPr>
        <p:spPr>
          <a:xfrm>
            <a:off x="859536" y="2836418"/>
            <a:ext cx="6784848" cy="365760"/>
          </a:xfrm>
          <a:prstGeom prst="roundRect">
            <a:avLst>
              <a:gd fmla="val 2500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15"/>
          <p:cNvSpPr/>
          <p:nvPr/>
        </p:nvSpPr>
        <p:spPr>
          <a:xfrm>
            <a:off x="1005840" y="2882138"/>
            <a:ext cx="274320" cy="274320"/>
          </a:xfrm>
          <a:prstGeom prst="ellipse">
            <a:avLst/>
          </a:prstGeom>
          <a:solidFill>
            <a:srgbClr val="7373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15"/>
          <p:cNvSpPr txBox="1"/>
          <p:nvPr/>
        </p:nvSpPr>
        <p:spPr>
          <a:xfrm>
            <a:off x="1005840" y="288213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100"/>
              <a:buFont typeface="Inter"/>
              <a:buNone/>
            </a:pPr>
            <a:r>
              <a:rPr b="1" i="0" lang="en-US" sz="1100" u="none" cap="none" strike="noStrike">
                <a:solidFill>
                  <a:srgbClr val="FFFFFF"/>
                </a:solidFill>
                <a:latin typeface="Inter"/>
                <a:ea typeface="Inter"/>
                <a:cs typeface="Inter"/>
                <a:sym typeface="Inter"/>
              </a:rPr>
              <a:t>2</a:t>
            </a:r>
            <a:endParaRPr b="0" i="0" sz="1100" u="none" cap="none" strike="noStrike">
              <a:solidFill>
                <a:schemeClr val="dk1"/>
              </a:solidFill>
              <a:latin typeface="Calibri"/>
              <a:ea typeface="Calibri"/>
              <a:cs typeface="Calibri"/>
              <a:sym typeface="Calibri"/>
            </a:endParaRPr>
          </a:p>
        </p:txBody>
      </p:sp>
      <p:sp>
        <p:nvSpPr>
          <p:cNvPr id="484" name="Google Shape;484;p15"/>
          <p:cNvSpPr txBox="1"/>
          <p:nvPr/>
        </p:nvSpPr>
        <p:spPr>
          <a:xfrm>
            <a:off x="1408176" y="2836418"/>
            <a:ext cx="6126480"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737373"/>
              </a:buClr>
              <a:buSzPts val="1200"/>
              <a:buFont typeface="Inter"/>
              <a:buNone/>
            </a:pPr>
            <a:r>
              <a:rPr b="0" i="0" lang="en-US" sz="1200" u="none" cap="none" strike="noStrike">
                <a:solidFill>
                  <a:srgbClr val="737373"/>
                </a:solidFill>
                <a:latin typeface="Inter"/>
                <a:ea typeface="Inter"/>
                <a:cs typeface="Inter"/>
                <a:sym typeface="Inter"/>
              </a:rPr>
              <a:t>A guest's email, collected when they booked on his site</a:t>
            </a:r>
            <a:endParaRPr b="0" i="0" sz="1200" u="none" cap="none" strike="noStrike">
              <a:solidFill>
                <a:schemeClr val="dk1"/>
              </a:solidFill>
              <a:latin typeface="Calibri"/>
              <a:ea typeface="Calibri"/>
              <a:cs typeface="Calibri"/>
              <a:sym typeface="Calibri"/>
            </a:endParaRPr>
          </a:p>
        </p:txBody>
      </p:sp>
      <p:sp>
        <p:nvSpPr>
          <p:cNvPr id="485" name="Google Shape;485;p15"/>
          <p:cNvSpPr/>
          <p:nvPr/>
        </p:nvSpPr>
        <p:spPr>
          <a:xfrm>
            <a:off x="859536" y="3257042"/>
            <a:ext cx="6784848" cy="365760"/>
          </a:xfrm>
          <a:prstGeom prst="roundRect">
            <a:avLst>
              <a:gd fmla="val 2500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15"/>
          <p:cNvSpPr/>
          <p:nvPr/>
        </p:nvSpPr>
        <p:spPr>
          <a:xfrm>
            <a:off x="1005840" y="3302762"/>
            <a:ext cx="274320" cy="274320"/>
          </a:xfrm>
          <a:prstGeom prst="ellipse">
            <a:avLst/>
          </a:prstGeom>
          <a:solidFill>
            <a:srgbClr val="7373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15"/>
          <p:cNvSpPr txBox="1"/>
          <p:nvPr/>
        </p:nvSpPr>
        <p:spPr>
          <a:xfrm>
            <a:off x="1005840" y="3302762"/>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100"/>
              <a:buFont typeface="Inter"/>
              <a:buNone/>
            </a:pPr>
            <a:r>
              <a:rPr b="1" i="0" lang="en-US" sz="1100" u="none" cap="none" strike="noStrike">
                <a:solidFill>
                  <a:srgbClr val="FFFFFF"/>
                </a:solidFill>
                <a:latin typeface="Inter"/>
                <a:ea typeface="Inter"/>
                <a:cs typeface="Inter"/>
                <a:sym typeface="Inter"/>
              </a:rPr>
              <a:t>3</a:t>
            </a:r>
            <a:endParaRPr b="0" i="0" sz="1100" u="none" cap="none" strike="noStrike">
              <a:solidFill>
                <a:schemeClr val="dk1"/>
              </a:solidFill>
              <a:latin typeface="Calibri"/>
              <a:ea typeface="Calibri"/>
              <a:cs typeface="Calibri"/>
              <a:sym typeface="Calibri"/>
            </a:endParaRPr>
          </a:p>
        </p:txBody>
      </p:sp>
      <p:sp>
        <p:nvSpPr>
          <p:cNvPr id="488" name="Google Shape;488;p15"/>
          <p:cNvSpPr txBox="1"/>
          <p:nvPr/>
        </p:nvSpPr>
        <p:spPr>
          <a:xfrm>
            <a:off x="1408176" y="3257042"/>
            <a:ext cx="6126480"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737373"/>
              </a:buClr>
              <a:buSzPts val="1200"/>
              <a:buFont typeface="Inter"/>
              <a:buNone/>
            </a:pPr>
            <a:r>
              <a:rPr b="0" i="0" lang="en-US" sz="1200" u="none" cap="none" strike="noStrike">
                <a:solidFill>
                  <a:srgbClr val="737373"/>
                </a:solidFill>
                <a:latin typeface="Inter"/>
                <a:ea typeface="Inter"/>
                <a:cs typeface="Inter"/>
                <a:sym typeface="Inter"/>
              </a:rPr>
              <a:t>His own booking history, going back years</a:t>
            </a:r>
            <a:endParaRPr b="0" i="0" sz="1200" u="none" cap="none" strike="noStrike">
              <a:solidFill>
                <a:schemeClr val="dk1"/>
              </a:solidFill>
              <a:latin typeface="Calibri"/>
              <a:ea typeface="Calibri"/>
              <a:cs typeface="Calibri"/>
              <a:sym typeface="Calibri"/>
            </a:endParaRPr>
          </a:p>
        </p:txBody>
      </p:sp>
      <p:sp>
        <p:nvSpPr>
          <p:cNvPr id="489" name="Google Shape;489;p15"/>
          <p:cNvSpPr/>
          <p:nvPr/>
        </p:nvSpPr>
        <p:spPr>
          <a:xfrm>
            <a:off x="859536" y="3677666"/>
            <a:ext cx="6784848" cy="365760"/>
          </a:xfrm>
          <a:prstGeom prst="roundRect">
            <a:avLst>
              <a:gd fmla="val 2500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15"/>
          <p:cNvSpPr/>
          <p:nvPr/>
        </p:nvSpPr>
        <p:spPr>
          <a:xfrm>
            <a:off x="1005840" y="3723386"/>
            <a:ext cx="274320" cy="274320"/>
          </a:xfrm>
          <a:prstGeom prst="ellipse">
            <a:avLst/>
          </a:prstGeom>
          <a:solidFill>
            <a:srgbClr val="7373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15"/>
          <p:cNvSpPr txBox="1"/>
          <p:nvPr/>
        </p:nvSpPr>
        <p:spPr>
          <a:xfrm>
            <a:off x="1005840" y="372338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100"/>
              <a:buFont typeface="Inter"/>
              <a:buNone/>
            </a:pPr>
            <a:r>
              <a:rPr b="1" i="0" lang="en-US" sz="1100" u="none" cap="none" strike="noStrike">
                <a:solidFill>
                  <a:srgbClr val="FFFFFF"/>
                </a:solidFill>
                <a:latin typeface="Inter"/>
                <a:ea typeface="Inter"/>
                <a:cs typeface="Inter"/>
                <a:sym typeface="Inter"/>
              </a:rPr>
              <a:t>4</a:t>
            </a:r>
            <a:endParaRPr b="0" i="0" sz="1100" u="none" cap="none" strike="noStrike">
              <a:solidFill>
                <a:schemeClr val="dk1"/>
              </a:solidFill>
              <a:latin typeface="Calibri"/>
              <a:ea typeface="Calibri"/>
              <a:cs typeface="Calibri"/>
              <a:sym typeface="Calibri"/>
            </a:endParaRPr>
          </a:p>
        </p:txBody>
      </p:sp>
      <p:sp>
        <p:nvSpPr>
          <p:cNvPr id="492" name="Google Shape;492;p15"/>
          <p:cNvSpPr txBox="1"/>
          <p:nvPr/>
        </p:nvSpPr>
        <p:spPr>
          <a:xfrm>
            <a:off x="1408176" y="3677666"/>
            <a:ext cx="6126480"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737373"/>
              </a:buClr>
              <a:buSzPts val="1200"/>
              <a:buFont typeface="Inter"/>
              <a:buNone/>
            </a:pPr>
            <a:r>
              <a:rPr b="0" i="0" lang="en-US" sz="1200" u="none" cap="none" strike="noStrike">
                <a:solidFill>
                  <a:srgbClr val="737373"/>
                </a:solidFill>
                <a:latin typeface="Inter"/>
                <a:ea typeface="Inter"/>
                <a:cs typeface="Inter"/>
                <a:sym typeface="Inter"/>
              </a:rPr>
              <a:t>The spa booking the guest added in his PMS</a:t>
            </a:r>
            <a:endParaRPr b="0" i="0" sz="1200" u="none" cap="none" strike="noStrike">
              <a:solidFill>
                <a:schemeClr val="dk1"/>
              </a:solidFill>
              <a:latin typeface="Calibri"/>
              <a:ea typeface="Calibri"/>
              <a:cs typeface="Calibri"/>
              <a:sym typeface="Calibri"/>
            </a:endParaRPr>
          </a:p>
        </p:txBody>
      </p:sp>
      <p:sp>
        <p:nvSpPr>
          <p:cNvPr id="493" name="Google Shape;493;p15"/>
          <p:cNvSpPr/>
          <p:nvPr/>
        </p:nvSpPr>
        <p:spPr>
          <a:xfrm>
            <a:off x="548640" y="4539107"/>
            <a:ext cx="7406640" cy="1770253"/>
          </a:xfrm>
          <a:prstGeom prst="roundRect">
            <a:avLst>
              <a:gd fmla="val 6198"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15"/>
          <p:cNvSpPr txBox="1"/>
          <p:nvPr/>
        </p:nvSpPr>
        <p:spPr>
          <a:xfrm>
            <a:off x="859536" y="4721987"/>
            <a:ext cx="6784848"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900"/>
              <a:buFont typeface="Roboto Mono"/>
              <a:buNone/>
            </a:pPr>
            <a:r>
              <a:rPr b="0" i="0" lang="en-US" sz="900" u="none" cap="none" strike="noStrike">
                <a:solidFill>
                  <a:srgbClr val="15803D"/>
                </a:solidFill>
                <a:latin typeface="Roboto Mono"/>
                <a:ea typeface="Roboto Mono"/>
                <a:cs typeface="Roboto Mono"/>
                <a:sym typeface="Roboto Mono"/>
              </a:rPr>
              <a:t>WHY</a:t>
            </a:r>
            <a:endParaRPr b="0" i="0" sz="900" u="none" cap="none" strike="noStrike">
              <a:solidFill>
                <a:schemeClr val="dk1"/>
              </a:solidFill>
              <a:latin typeface="Calibri"/>
              <a:ea typeface="Calibri"/>
              <a:cs typeface="Calibri"/>
              <a:sym typeface="Calibri"/>
            </a:endParaRPr>
          </a:p>
        </p:txBody>
      </p:sp>
      <p:sp>
        <p:nvSpPr>
          <p:cNvPr id="495" name="Google Shape;495;p15"/>
          <p:cNvSpPr txBox="1"/>
          <p:nvPr/>
        </p:nvSpPr>
        <p:spPr>
          <a:xfrm>
            <a:off x="859536" y="4978019"/>
            <a:ext cx="6784848" cy="65722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Statement 1 is the odd one. </a:t>
            </a:r>
            <a:r>
              <a:rPr b="1" i="0" lang="en-US" sz="1100" u="none" cap="none" strike="noStrike">
                <a:solidFill>
                  <a:srgbClr val="404040"/>
                </a:solidFill>
                <a:latin typeface="Inter"/>
                <a:ea typeface="Inter"/>
                <a:cs typeface="Inter"/>
                <a:sym typeface="Inter"/>
              </a:rPr>
              <a:t>The data an OTA about his guests isn't first-party, even if he can see some of it.</a:t>
            </a:r>
            <a:r>
              <a:rPr b="0" i="0" lang="en-US" sz="1100" u="none" cap="none" strike="noStrike">
                <a:solidFill>
                  <a:srgbClr val="404040"/>
                </a:solidFill>
                <a:latin typeface="Inter"/>
                <a:ea typeface="Inter"/>
                <a:cs typeface="Inter"/>
                <a:sym typeface="Inter"/>
              </a:rPr>
              <a:t> The relationship sits with Booking.com. The other three are his: collected by him, held in his systems.</a:t>
            </a:r>
            <a:endParaRPr b="0" i="0" sz="1100" u="none" cap="none" strike="noStrike">
              <a:solidFill>
                <a:schemeClr val="dk1"/>
              </a:solidFill>
              <a:latin typeface="Calibri"/>
              <a:ea typeface="Calibri"/>
              <a:cs typeface="Calibri"/>
              <a:sym typeface="Calibri"/>
            </a:endParaRPr>
          </a:p>
        </p:txBody>
      </p:sp>
      <p:sp>
        <p:nvSpPr>
          <p:cNvPr id="496" name="Google Shape;496;p15"/>
          <p:cNvSpPr txBox="1"/>
          <p:nvPr/>
        </p:nvSpPr>
        <p:spPr>
          <a:xfrm>
            <a:off x="859536" y="5671820"/>
            <a:ext cx="6784848" cy="491236"/>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5803D"/>
              </a:buClr>
              <a:buSzPts val="1100"/>
              <a:buFont typeface="Inter"/>
              <a:buNone/>
            </a:pPr>
            <a:r>
              <a:rPr b="1" i="0" lang="en-US" sz="1100" u="none" cap="none" strike="noStrike">
                <a:solidFill>
                  <a:srgbClr val="15803D"/>
                </a:solidFill>
                <a:latin typeface="Inter"/>
                <a:ea typeface="Inter"/>
                <a:cs typeface="Inter"/>
                <a:sym typeface="Inter"/>
              </a:rPr>
              <a:t>“Every direct booking gives you first-party data. The guest's email is yours, not the OTA's.”</a:t>
            </a:r>
            <a:endParaRPr b="0" i="0" sz="1100" u="none" cap="none" strike="noStrike">
              <a:solidFill>
                <a:schemeClr val="dk1"/>
              </a:solidFill>
              <a:latin typeface="Calibri"/>
              <a:ea typeface="Calibri"/>
              <a:cs typeface="Calibri"/>
              <a:sym typeface="Calibri"/>
            </a:endParaRPr>
          </a:p>
        </p:txBody>
      </p:sp>
      <p:sp>
        <p:nvSpPr>
          <p:cNvPr id="497" name="Google Shape;497;p15"/>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15"/>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puzzle-piece.png" id="499" name="Google Shape;499;p15"/>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500" name="Google Shape;500;p15"/>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THE ANSWER</a:t>
            </a:r>
            <a:endParaRPr b="0" i="0" sz="950" u="none" cap="none" strike="noStrike">
              <a:solidFill>
                <a:schemeClr val="dk1"/>
              </a:solidFill>
              <a:latin typeface="Calibri"/>
              <a:ea typeface="Calibri"/>
              <a:cs typeface="Calibri"/>
              <a:sym typeface="Calibri"/>
            </a:endParaRPr>
          </a:p>
        </p:txBody>
      </p:sp>
      <p:sp>
        <p:nvSpPr>
          <p:cNvPr id="501" name="Google Shape;501;p15"/>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The answer</a:t>
            </a:r>
            <a:endParaRPr b="0" i="0" sz="1800" u="none" cap="none" strike="noStrike">
              <a:solidFill>
                <a:schemeClr val="dk1"/>
              </a:solidFill>
              <a:latin typeface="Calibri"/>
              <a:ea typeface="Calibri"/>
              <a:cs typeface="Calibri"/>
              <a:sym typeface="Calibri"/>
            </a:endParaRPr>
          </a:p>
        </p:txBody>
      </p:sp>
      <p:sp>
        <p:nvSpPr>
          <p:cNvPr id="502" name="Google Shape;502;p15"/>
          <p:cNvSpPr/>
          <p:nvPr/>
        </p:nvSpPr>
        <p:spPr>
          <a:xfrm>
            <a:off x="8549640" y="3200400"/>
            <a:ext cx="2816352" cy="475488"/>
          </a:xfrm>
          <a:prstGeom prst="roundRect">
            <a:avLst>
              <a:gd fmla="val 19231"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check-circle.png" id="503" name="Google Shape;503;p15"/>
          <p:cNvPicPr preferRelativeResize="0"/>
          <p:nvPr/>
        </p:nvPicPr>
        <p:blipFill rotWithShape="1">
          <a:blip r:embed="rId5">
            <a:alphaModFix/>
          </a:blip>
          <a:srcRect b="0" l="0" r="0" t="0"/>
          <a:stretch/>
        </p:blipFill>
        <p:spPr>
          <a:xfrm>
            <a:off x="8750808" y="3282696"/>
            <a:ext cx="310896" cy="310896"/>
          </a:xfrm>
          <a:prstGeom prst="rect">
            <a:avLst/>
          </a:prstGeom>
          <a:noFill/>
          <a:ln>
            <a:noFill/>
          </a:ln>
        </p:spPr>
      </p:pic>
      <p:sp>
        <p:nvSpPr>
          <p:cNvPr id="504" name="Google Shape;504;p15"/>
          <p:cNvSpPr txBox="1"/>
          <p:nvPr/>
        </p:nvSpPr>
        <p:spPr>
          <a:xfrm>
            <a:off x="9189720" y="3200400"/>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803D"/>
              </a:buClr>
              <a:buSzPts val="1250"/>
              <a:buFont typeface="Inter"/>
              <a:buNone/>
            </a:pPr>
            <a:r>
              <a:rPr b="1" i="0" lang="en-US" sz="1250" u="none" cap="none" strike="noStrike">
                <a:solidFill>
                  <a:srgbClr val="15803D"/>
                </a:solidFill>
                <a:latin typeface="Inter"/>
                <a:ea typeface="Inter"/>
                <a:cs typeface="Inter"/>
                <a:sym typeface="Inter"/>
              </a:rPr>
              <a:t>The OTA extranet</a:t>
            </a:r>
            <a:endParaRPr b="0" i="0" sz="1250" u="none" cap="none" strike="noStrike">
              <a:solidFill>
                <a:schemeClr val="dk1"/>
              </a:solidFill>
              <a:latin typeface="Calibri"/>
              <a:ea typeface="Calibri"/>
              <a:cs typeface="Calibri"/>
              <a:sym typeface="Calibri"/>
            </a:endParaRPr>
          </a:p>
        </p:txBody>
      </p:sp>
      <p:sp>
        <p:nvSpPr>
          <p:cNvPr id="505" name="Google Shape;505;p15"/>
          <p:cNvSpPr/>
          <p:nvPr/>
        </p:nvSpPr>
        <p:spPr>
          <a:xfrm>
            <a:off x="8549640" y="3785616"/>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15"/>
          <p:cNvSpPr/>
          <p:nvPr/>
        </p:nvSpPr>
        <p:spPr>
          <a:xfrm>
            <a:off x="8750808" y="3867912"/>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15"/>
          <p:cNvSpPr txBox="1"/>
          <p:nvPr/>
        </p:nvSpPr>
        <p:spPr>
          <a:xfrm>
            <a:off x="8750808" y="3867912"/>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sp>
        <p:nvSpPr>
          <p:cNvPr id="508" name="Google Shape;508;p15"/>
          <p:cNvSpPr txBox="1"/>
          <p:nvPr/>
        </p:nvSpPr>
        <p:spPr>
          <a:xfrm>
            <a:off x="9189720" y="3785616"/>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Email his site took</a:t>
            </a:r>
            <a:endParaRPr b="0" i="0" sz="1250" u="none" cap="none" strike="noStrike">
              <a:solidFill>
                <a:schemeClr val="dk1"/>
              </a:solidFill>
              <a:latin typeface="Calibri"/>
              <a:ea typeface="Calibri"/>
              <a:cs typeface="Calibri"/>
              <a:sym typeface="Calibri"/>
            </a:endParaRPr>
          </a:p>
        </p:txBody>
      </p:sp>
      <p:sp>
        <p:nvSpPr>
          <p:cNvPr id="509" name="Google Shape;509;p15"/>
          <p:cNvSpPr/>
          <p:nvPr/>
        </p:nvSpPr>
        <p:spPr>
          <a:xfrm>
            <a:off x="8549640" y="4370832"/>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15"/>
          <p:cNvSpPr/>
          <p:nvPr/>
        </p:nvSpPr>
        <p:spPr>
          <a:xfrm>
            <a:off x="8750808" y="4453128"/>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15"/>
          <p:cNvSpPr txBox="1"/>
          <p:nvPr/>
        </p:nvSpPr>
        <p:spPr>
          <a:xfrm>
            <a:off x="8750808" y="4453128"/>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sp>
        <p:nvSpPr>
          <p:cNvPr id="512" name="Google Shape;512;p15"/>
          <p:cNvSpPr txBox="1"/>
          <p:nvPr/>
        </p:nvSpPr>
        <p:spPr>
          <a:xfrm>
            <a:off x="9189720" y="4370832"/>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His booking history</a:t>
            </a:r>
            <a:endParaRPr b="0" i="0" sz="1250" u="none" cap="none" strike="noStrike">
              <a:solidFill>
                <a:schemeClr val="dk1"/>
              </a:solidFill>
              <a:latin typeface="Calibri"/>
              <a:ea typeface="Calibri"/>
              <a:cs typeface="Calibri"/>
              <a:sym typeface="Calibri"/>
            </a:endParaRPr>
          </a:p>
        </p:txBody>
      </p:sp>
      <p:sp>
        <p:nvSpPr>
          <p:cNvPr id="513" name="Google Shape;513;p15"/>
          <p:cNvSpPr/>
          <p:nvPr/>
        </p:nvSpPr>
        <p:spPr>
          <a:xfrm>
            <a:off x="8549640" y="4956048"/>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15"/>
          <p:cNvSpPr/>
          <p:nvPr/>
        </p:nvSpPr>
        <p:spPr>
          <a:xfrm>
            <a:off x="8750808" y="5038344"/>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15"/>
          <p:cNvSpPr txBox="1"/>
          <p:nvPr/>
        </p:nvSpPr>
        <p:spPr>
          <a:xfrm>
            <a:off x="8750808" y="5038344"/>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sp>
        <p:nvSpPr>
          <p:cNvPr id="516" name="Google Shape;516;p15"/>
          <p:cNvSpPr txBox="1"/>
          <p:nvPr/>
        </p:nvSpPr>
        <p:spPr>
          <a:xfrm>
            <a:off x="9189720" y="4956048"/>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Spa booking, PMS</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521" name="Shape 521"/>
        <p:cNvGrpSpPr/>
        <p:nvPr/>
      </p:nvGrpSpPr>
      <p:grpSpPr>
        <a:xfrm>
          <a:off x="0" y="0"/>
          <a:ext cx="0" cy="0"/>
          <a:chOff x="0" y="0"/>
          <a:chExt cx="0" cy="0"/>
        </a:xfrm>
      </p:grpSpPr>
      <p:sp>
        <p:nvSpPr>
          <p:cNvPr id="522" name="Google Shape;522;p16"/>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ODD ONE OUT · 3 OF 4</a:t>
            </a:r>
            <a:endParaRPr b="0" i="0" sz="1050" u="none" cap="none" strike="noStrike">
              <a:solidFill>
                <a:schemeClr val="dk1"/>
              </a:solidFill>
              <a:latin typeface="Calibri"/>
              <a:ea typeface="Calibri"/>
              <a:cs typeface="Calibri"/>
              <a:sym typeface="Calibri"/>
            </a:endParaRPr>
          </a:p>
        </p:txBody>
      </p:sp>
      <p:sp>
        <p:nvSpPr>
          <p:cNvPr id="523" name="Google Shape;523;p16"/>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Which one is the mistake?</a:t>
            </a:r>
            <a:endParaRPr b="0" i="0" sz="3000" u="none" cap="none" strike="noStrike">
              <a:solidFill>
                <a:schemeClr val="dk1"/>
              </a:solidFill>
              <a:latin typeface="Calibri"/>
              <a:ea typeface="Calibri"/>
              <a:cs typeface="Calibri"/>
              <a:sym typeface="Calibri"/>
            </a:endParaRPr>
          </a:p>
        </p:txBody>
      </p:sp>
      <p:pic>
        <p:nvPicPr>
          <p:cNvPr descr="/home/claude/work/renderer/brand/wordmark.png" id="524" name="Google Shape;524;p16"/>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525" name="Google Shape;525;p16"/>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14 / 48</a:t>
            </a:r>
            <a:endParaRPr b="0" i="0" sz="900" u="none" cap="none" strike="noStrike">
              <a:solidFill>
                <a:schemeClr val="dk1"/>
              </a:solidFill>
              <a:latin typeface="Calibri"/>
              <a:ea typeface="Calibri"/>
              <a:cs typeface="Calibri"/>
              <a:sym typeface="Calibri"/>
            </a:endParaRPr>
          </a:p>
        </p:txBody>
      </p:sp>
      <p:sp>
        <p:nvSpPr>
          <p:cNvPr id="526" name="Google Shape;526;p16"/>
          <p:cNvSpPr/>
          <p:nvPr/>
        </p:nvSpPr>
        <p:spPr>
          <a:xfrm>
            <a:off x="548640" y="1481328"/>
            <a:ext cx="7406640" cy="4828032"/>
          </a:xfrm>
          <a:prstGeom prst="roundRect">
            <a:avLst>
              <a:gd fmla="val 2273"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16"/>
          <p:cNvSpPr txBox="1"/>
          <p:nvPr/>
        </p:nvSpPr>
        <p:spPr>
          <a:xfrm>
            <a:off x="859536" y="1719072"/>
            <a:ext cx="6784848"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004FAA"/>
              </a:buClr>
              <a:buSzPts val="950"/>
              <a:buFont typeface="Roboto Mono"/>
              <a:buNone/>
            </a:pPr>
            <a:r>
              <a:rPr b="0" i="0" lang="en-US" sz="950" u="none" cap="none" strike="noStrike">
                <a:solidFill>
                  <a:srgbClr val="004FAA"/>
                </a:solidFill>
                <a:latin typeface="Roboto Mono"/>
                <a:ea typeface="Roboto Mono"/>
                <a:cs typeface="Roboto Mono"/>
                <a:sym typeface="Roboto Mono"/>
              </a:rPr>
              <a:t>ODD ONE OUT · 3 OF 4</a:t>
            </a:r>
            <a:endParaRPr b="0" i="0" sz="950" u="none" cap="none" strike="noStrike">
              <a:solidFill>
                <a:schemeClr val="dk1"/>
              </a:solidFill>
              <a:latin typeface="Calibri"/>
              <a:ea typeface="Calibri"/>
              <a:cs typeface="Calibri"/>
              <a:sym typeface="Calibri"/>
            </a:endParaRPr>
          </a:p>
        </p:txBody>
      </p:sp>
      <p:sp>
        <p:nvSpPr>
          <p:cNvPr id="528" name="Google Shape;528;p16"/>
          <p:cNvSpPr txBox="1"/>
          <p:nvPr/>
        </p:nvSpPr>
        <p:spPr>
          <a:xfrm>
            <a:off x="859536" y="2029968"/>
            <a:ext cx="6784848" cy="5321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71717"/>
              </a:buClr>
              <a:buSzPts val="2200"/>
              <a:buFont typeface="Inter"/>
              <a:buNone/>
            </a:pPr>
            <a:r>
              <a:rPr b="1" i="0" lang="en-US" sz="2200" u="none" cap="none" strike="noStrike">
                <a:solidFill>
                  <a:srgbClr val="171717"/>
                </a:solidFill>
                <a:latin typeface="Inter"/>
                <a:ea typeface="Inter"/>
                <a:cs typeface="Inter"/>
                <a:sym typeface="Inter"/>
              </a:rPr>
              <a:t>Effective commission</a:t>
            </a:r>
            <a:endParaRPr b="0" i="0" sz="2200" u="none" cap="none" strike="noStrike">
              <a:solidFill>
                <a:schemeClr val="dk1"/>
              </a:solidFill>
              <a:latin typeface="Calibri"/>
              <a:ea typeface="Calibri"/>
              <a:cs typeface="Calibri"/>
              <a:sym typeface="Calibri"/>
            </a:endParaRPr>
          </a:p>
        </p:txBody>
      </p:sp>
      <p:sp>
        <p:nvSpPr>
          <p:cNvPr id="529" name="Google Shape;529;p16"/>
          <p:cNvSpPr txBox="1"/>
          <p:nvPr/>
        </p:nvSpPr>
        <p:spPr>
          <a:xfrm>
            <a:off x="859536" y="2690114"/>
            <a:ext cx="6784848" cy="42291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25252"/>
              </a:buClr>
              <a:buSzPts val="1100"/>
              <a:buFont typeface="Inter"/>
              <a:buNone/>
            </a:pPr>
            <a:r>
              <a:rPr b="0" i="0" lang="en-US" sz="1100" u="none" cap="none" strike="noStrike">
                <a:solidFill>
                  <a:srgbClr val="525252"/>
                </a:solidFill>
                <a:latin typeface="Inter"/>
                <a:ea typeface="Inter"/>
                <a:cs typeface="Inter"/>
                <a:sym typeface="Inter"/>
              </a:rPr>
              <a:t>Marisol's business partner says the ads are expensive. Three of these are true about effective commission. One is the mistake.</a:t>
            </a:r>
            <a:endParaRPr b="0" i="0" sz="1100" u="none" cap="none" strike="noStrike">
              <a:solidFill>
                <a:schemeClr val="dk1"/>
              </a:solidFill>
              <a:latin typeface="Calibri"/>
              <a:ea typeface="Calibri"/>
              <a:cs typeface="Calibri"/>
              <a:sym typeface="Calibri"/>
            </a:endParaRPr>
          </a:p>
        </p:txBody>
      </p:sp>
      <p:cxnSp>
        <p:nvCxnSpPr>
          <p:cNvPr id="530" name="Google Shape;530;p16"/>
          <p:cNvCxnSpPr/>
          <p:nvPr/>
        </p:nvCxnSpPr>
        <p:spPr>
          <a:xfrm>
            <a:off x="859536" y="3277616"/>
            <a:ext cx="6784848" cy="0"/>
          </a:xfrm>
          <a:prstGeom prst="straightConnector1">
            <a:avLst/>
          </a:prstGeom>
          <a:noFill/>
          <a:ln cap="flat" cmpd="sng" w="12700">
            <a:solidFill>
              <a:srgbClr val="E5E5E5"/>
            </a:solidFill>
            <a:prstDash val="solid"/>
            <a:round/>
            <a:headEnd len="sm" w="sm" type="none"/>
            <a:tailEnd len="sm" w="sm" type="none"/>
          </a:ln>
        </p:spPr>
      </p:cxnSp>
      <p:sp>
        <p:nvSpPr>
          <p:cNvPr id="531" name="Google Shape;531;p16"/>
          <p:cNvSpPr/>
          <p:nvPr/>
        </p:nvSpPr>
        <p:spPr>
          <a:xfrm>
            <a:off x="859536" y="3442208"/>
            <a:ext cx="6784848" cy="530352"/>
          </a:xfrm>
          <a:prstGeom prst="roundRect">
            <a:avLst>
              <a:gd fmla="val 17241"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16"/>
          <p:cNvSpPr/>
          <p:nvPr/>
        </p:nvSpPr>
        <p:spPr>
          <a:xfrm>
            <a:off x="1005840" y="3570224"/>
            <a:ext cx="274320" cy="274320"/>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16"/>
          <p:cNvSpPr txBox="1"/>
          <p:nvPr/>
        </p:nvSpPr>
        <p:spPr>
          <a:xfrm>
            <a:off x="1005840" y="357022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100"/>
              <a:buFont typeface="Inter"/>
              <a:buNone/>
            </a:pPr>
            <a:r>
              <a:rPr b="1" i="0" lang="en-US" sz="1100" u="none" cap="none" strike="noStrike">
                <a:solidFill>
                  <a:srgbClr val="FFFFFF"/>
                </a:solidFill>
                <a:latin typeface="Inter"/>
                <a:ea typeface="Inter"/>
                <a:cs typeface="Inter"/>
                <a:sym typeface="Inter"/>
              </a:rPr>
              <a:t>1</a:t>
            </a:r>
            <a:endParaRPr b="0" i="0" sz="1100" u="none" cap="none" strike="noStrike">
              <a:solidFill>
                <a:schemeClr val="dk1"/>
              </a:solidFill>
              <a:latin typeface="Calibri"/>
              <a:ea typeface="Calibri"/>
              <a:cs typeface="Calibri"/>
              <a:sym typeface="Calibri"/>
            </a:endParaRPr>
          </a:p>
        </p:txBody>
      </p:sp>
      <p:sp>
        <p:nvSpPr>
          <p:cNvPr id="534" name="Google Shape;534;p16"/>
          <p:cNvSpPr txBox="1"/>
          <p:nvPr/>
        </p:nvSpPr>
        <p:spPr>
          <a:xfrm>
            <a:off x="1408176" y="3442208"/>
            <a:ext cx="6126480" cy="53035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400"/>
              <a:buFont typeface="Inter"/>
              <a:buNone/>
            </a:pPr>
            <a:r>
              <a:rPr b="0" i="0" lang="en-US" sz="1400" u="none" cap="none" strike="noStrike">
                <a:solidFill>
                  <a:srgbClr val="171717"/>
                </a:solidFill>
                <a:latin typeface="Inter"/>
                <a:ea typeface="Inter"/>
                <a:cs typeface="Inter"/>
                <a:sym typeface="Inter"/>
              </a:rPr>
              <a:t>It counts the ad spend that won the booking, not just commission</a:t>
            </a:r>
            <a:endParaRPr b="0" i="0" sz="1400" u="none" cap="none" strike="noStrike">
              <a:solidFill>
                <a:schemeClr val="dk1"/>
              </a:solidFill>
              <a:latin typeface="Calibri"/>
              <a:ea typeface="Calibri"/>
              <a:cs typeface="Calibri"/>
              <a:sym typeface="Calibri"/>
            </a:endParaRPr>
          </a:p>
        </p:txBody>
      </p:sp>
      <p:sp>
        <p:nvSpPr>
          <p:cNvPr id="535" name="Google Shape;535;p16"/>
          <p:cNvSpPr/>
          <p:nvPr/>
        </p:nvSpPr>
        <p:spPr>
          <a:xfrm>
            <a:off x="859536" y="4082288"/>
            <a:ext cx="6784848" cy="530352"/>
          </a:xfrm>
          <a:prstGeom prst="roundRect">
            <a:avLst>
              <a:gd fmla="val 17241"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16"/>
          <p:cNvSpPr/>
          <p:nvPr/>
        </p:nvSpPr>
        <p:spPr>
          <a:xfrm>
            <a:off x="1005840" y="4210304"/>
            <a:ext cx="274320" cy="274320"/>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16"/>
          <p:cNvSpPr txBox="1"/>
          <p:nvPr/>
        </p:nvSpPr>
        <p:spPr>
          <a:xfrm>
            <a:off x="1005840" y="421030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100"/>
              <a:buFont typeface="Inter"/>
              <a:buNone/>
            </a:pPr>
            <a:r>
              <a:rPr b="1" i="0" lang="en-US" sz="1100" u="none" cap="none" strike="noStrike">
                <a:solidFill>
                  <a:srgbClr val="FFFFFF"/>
                </a:solidFill>
                <a:latin typeface="Inter"/>
                <a:ea typeface="Inter"/>
                <a:cs typeface="Inter"/>
                <a:sym typeface="Inter"/>
              </a:rPr>
              <a:t>2</a:t>
            </a:r>
            <a:endParaRPr b="0" i="0" sz="1100" u="none" cap="none" strike="noStrike">
              <a:solidFill>
                <a:schemeClr val="dk1"/>
              </a:solidFill>
              <a:latin typeface="Calibri"/>
              <a:ea typeface="Calibri"/>
              <a:cs typeface="Calibri"/>
              <a:sym typeface="Calibri"/>
            </a:endParaRPr>
          </a:p>
        </p:txBody>
      </p:sp>
      <p:sp>
        <p:nvSpPr>
          <p:cNvPr id="538" name="Google Shape;538;p16"/>
          <p:cNvSpPr txBox="1"/>
          <p:nvPr/>
        </p:nvSpPr>
        <p:spPr>
          <a:xfrm>
            <a:off x="1408176" y="4082288"/>
            <a:ext cx="6126480" cy="53035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400"/>
              <a:buFont typeface="Inter"/>
              <a:buNone/>
            </a:pPr>
            <a:r>
              <a:rPr b="0" i="0" lang="en-US" sz="1400" u="none" cap="none" strike="noStrike">
                <a:solidFill>
                  <a:srgbClr val="171717"/>
                </a:solidFill>
                <a:latin typeface="Inter"/>
                <a:ea typeface="Inter"/>
                <a:cs typeface="Inter"/>
                <a:sym typeface="Inter"/>
              </a:rPr>
              <a:t>It puts a direct booking and an OTA booking on one line</a:t>
            </a:r>
            <a:endParaRPr b="0" i="0" sz="1400" u="none" cap="none" strike="noStrike">
              <a:solidFill>
                <a:schemeClr val="dk1"/>
              </a:solidFill>
              <a:latin typeface="Calibri"/>
              <a:ea typeface="Calibri"/>
              <a:cs typeface="Calibri"/>
              <a:sym typeface="Calibri"/>
            </a:endParaRPr>
          </a:p>
        </p:txBody>
      </p:sp>
      <p:sp>
        <p:nvSpPr>
          <p:cNvPr id="539" name="Google Shape;539;p16"/>
          <p:cNvSpPr/>
          <p:nvPr/>
        </p:nvSpPr>
        <p:spPr>
          <a:xfrm>
            <a:off x="859536" y="4722368"/>
            <a:ext cx="6784848" cy="530352"/>
          </a:xfrm>
          <a:prstGeom prst="roundRect">
            <a:avLst>
              <a:gd fmla="val 17241"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16"/>
          <p:cNvSpPr/>
          <p:nvPr/>
        </p:nvSpPr>
        <p:spPr>
          <a:xfrm>
            <a:off x="1005840" y="4850384"/>
            <a:ext cx="274320" cy="274320"/>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16"/>
          <p:cNvSpPr txBox="1"/>
          <p:nvPr/>
        </p:nvSpPr>
        <p:spPr>
          <a:xfrm>
            <a:off x="1005840" y="485038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100"/>
              <a:buFont typeface="Inter"/>
              <a:buNone/>
            </a:pPr>
            <a:r>
              <a:rPr b="1" i="0" lang="en-US" sz="1100" u="none" cap="none" strike="noStrike">
                <a:solidFill>
                  <a:srgbClr val="FFFFFF"/>
                </a:solidFill>
                <a:latin typeface="Inter"/>
                <a:ea typeface="Inter"/>
                <a:cs typeface="Inter"/>
                <a:sym typeface="Inter"/>
              </a:rPr>
              <a:t>3</a:t>
            </a:r>
            <a:endParaRPr b="0" i="0" sz="1100" u="none" cap="none" strike="noStrike">
              <a:solidFill>
                <a:schemeClr val="dk1"/>
              </a:solidFill>
              <a:latin typeface="Calibri"/>
              <a:ea typeface="Calibri"/>
              <a:cs typeface="Calibri"/>
              <a:sym typeface="Calibri"/>
            </a:endParaRPr>
          </a:p>
        </p:txBody>
      </p:sp>
      <p:sp>
        <p:nvSpPr>
          <p:cNvPr id="542" name="Google Shape;542;p16"/>
          <p:cNvSpPr txBox="1"/>
          <p:nvPr/>
        </p:nvSpPr>
        <p:spPr>
          <a:xfrm>
            <a:off x="1408176" y="4722368"/>
            <a:ext cx="6126480" cy="53035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400"/>
              <a:buFont typeface="Inter"/>
              <a:buNone/>
            </a:pPr>
            <a:r>
              <a:rPr b="0" i="0" lang="en-US" sz="1400" u="none" cap="none" strike="noStrike">
                <a:solidFill>
                  <a:srgbClr val="171717"/>
                </a:solidFill>
                <a:latin typeface="Inter"/>
                <a:ea typeface="Inter"/>
                <a:cs typeface="Inter"/>
                <a:sym typeface="Inter"/>
              </a:rPr>
              <a:t>A discount given to win the booking counts too</a:t>
            </a:r>
            <a:endParaRPr b="0" i="0" sz="1400" u="none" cap="none" strike="noStrike">
              <a:solidFill>
                <a:schemeClr val="dk1"/>
              </a:solidFill>
              <a:latin typeface="Calibri"/>
              <a:ea typeface="Calibri"/>
              <a:cs typeface="Calibri"/>
              <a:sym typeface="Calibri"/>
            </a:endParaRPr>
          </a:p>
        </p:txBody>
      </p:sp>
      <p:sp>
        <p:nvSpPr>
          <p:cNvPr id="543" name="Google Shape;543;p16"/>
          <p:cNvSpPr/>
          <p:nvPr/>
        </p:nvSpPr>
        <p:spPr>
          <a:xfrm>
            <a:off x="859536" y="5362448"/>
            <a:ext cx="6784848" cy="530352"/>
          </a:xfrm>
          <a:prstGeom prst="roundRect">
            <a:avLst>
              <a:gd fmla="val 17241"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16"/>
          <p:cNvSpPr/>
          <p:nvPr/>
        </p:nvSpPr>
        <p:spPr>
          <a:xfrm>
            <a:off x="1005840" y="5490464"/>
            <a:ext cx="274320" cy="274320"/>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16"/>
          <p:cNvSpPr txBox="1"/>
          <p:nvPr/>
        </p:nvSpPr>
        <p:spPr>
          <a:xfrm>
            <a:off x="1005840" y="549046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100"/>
              <a:buFont typeface="Inter"/>
              <a:buNone/>
            </a:pPr>
            <a:r>
              <a:rPr b="1" i="0" lang="en-US" sz="1100" u="none" cap="none" strike="noStrike">
                <a:solidFill>
                  <a:srgbClr val="FFFFFF"/>
                </a:solidFill>
                <a:latin typeface="Inter"/>
                <a:ea typeface="Inter"/>
                <a:cs typeface="Inter"/>
                <a:sym typeface="Inter"/>
              </a:rPr>
              <a:t>4</a:t>
            </a:r>
            <a:endParaRPr b="0" i="0" sz="1100" u="none" cap="none" strike="noStrike">
              <a:solidFill>
                <a:schemeClr val="dk1"/>
              </a:solidFill>
              <a:latin typeface="Calibri"/>
              <a:ea typeface="Calibri"/>
              <a:cs typeface="Calibri"/>
              <a:sym typeface="Calibri"/>
            </a:endParaRPr>
          </a:p>
        </p:txBody>
      </p:sp>
      <p:sp>
        <p:nvSpPr>
          <p:cNvPr id="546" name="Google Shape;546;p16"/>
          <p:cNvSpPr txBox="1"/>
          <p:nvPr/>
        </p:nvSpPr>
        <p:spPr>
          <a:xfrm>
            <a:off x="1408176" y="5362448"/>
            <a:ext cx="6126480" cy="53035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400"/>
              <a:buFont typeface="Inter"/>
              <a:buNone/>
            </a:pPr>
            <a:r>
              <a:rPr b="0" i="0" lang="en-US" sz="1400" u="none" cap="none" strike="noStrike">
                <a:solidFill>
                  <a:srgbClr val="171717"/>
                </a:solidFill>
                <a:latin typeface="Inter"/>
                <a:ea typeface="Inter"/>
                <a:cs typeface="Inter"/>
                <a:sym typeface="Inter"/>
              </a:rPr>
              <a:t>It's always lower on a direct booking than on an OTA booking</a:t>
            </a:r>
            <a:endParaRPr b="0" i="0" sz="1400" u="none" cap="none" strike="noStrike">
              <a:solidFill>
                <a:schemeClr val="dk1"/>
              </a:solidFill>
              <a:latin typeface="Calibri"/>
              <a:ea typeface="Calibri"/>
              <a:cs typeface="Calibri"/>
              <a:sym typeface="Calibri"/>
            </a:endParaRPr>
          </a:p>
        </p:txBody>
      </p:sp>
      <p:sp>
        <p:nvSpPr>
          <p:cNvPr id="547" name="Google Shape;547;p16"/>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16"/>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puzzle-piece.png" id="549" name="Google Shape;549;p16"/>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550" name="Google Shape;550;p16"/>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ODD ONE OUT · 3 OF 4</a:t>
            </a:r>
            <a:endParaRPr b="0" i="0" sz="950" u="none" cap="none" strike="noStrike">
              <a:solidFill>
                <a:schemeClr val="dk1"/>
              </a:solidFill>
              <a:latin typeface="Calibri"/>
              <a:ea typeface="Calibri"/>
              <a:cs typeface="Calibri"/>
              <a:sym typeface="Calibri"/>
            </a:endParaRPr>
          </a:p>
        </p:txBody>
      </p:sp>
      <p:sp>
        <p:nvSpPr>
          <p:cNvPr id="551" name="Google Shape;551;p16"/>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Cast your vote</a:t>
            </a:r>
            <a:endParaRPr b="0" i="0" sz="1800" u="none" cap="none" strike="noStrike">
              <a:solidFill>
                <a:schemeClr val="dk1"/>
              </a:solidFill>
              <a:latin typeface="Calibri"/>
              <a:ea typeface="Calibri"/>
              <a:cs typeface="Calibri"/>
              <a:sym typeface="Calibri"/>
            </a:endParaRPr>
          </a:p>
        </p:txBody>
      </p:sp>
      <p:sp>
        <p:nvSpPr>
          <p:cNvPr id="552" name="Google Shape;552;p16"/>
          <p:cNvSpPr/>
          <p:nvPr/>
        </p:nvSpPr>
        <p:spPr>
          <a:xfrm>
            <a:off x="8549640" y="3200400"/>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16"/>
          <p:cNvSpPr/>
          <p:nvPr/>
        </p:nvSpPr>
        <p:spPr>
          <a:xfrm>
            <a:off x="8750808" y="3282696"/>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16"/>
          <p:cNvSpPr txBox="1"/>
          <p:nvPr/>
        </p:nvSpPr>
        <p:spPr>
          <a:xfrm>
            <a:off x="8750808" y="3282696"/>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sp>
        <p:nvSpPr>
          <p:cNvPr id="555" name="Google Shape;555;p16"/>
          <p:cNvSpPr txBox="1"/>
          <p:nvPr/>
        </p:nvSpPr>
        <p:spPr>
          <a:xfrm>
            <a:off x="9189720" y="3200400"/>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Counts ad spend</a:t>
            </a:r>
            <a:endParaRPr b="0" i="0" sz="1250" u="none" cap="none" strike="noStrike">
              <a:solidFill>
                <a:schemeClr val="dk1"/>
              </a:solidFill>
              <a:latin typeface="Calibri"/>
              <a:ea typeface="Calibri"/>
              <a:cs typeface="Calibri"/>
              <a:sym typeface="Calibri"/>
            </a:endParaRPr>
          </a:p>
        </p:txBody>
      </p:sp>
      <p:sp>
        <p:nvSpPr>
          <p:cNvPr id="556" name="Google Shape;556;p16"/>
          <p:cNvSpPr/>
          <p:nvPr/>
        </p:nvSpPr>
        <p:spPr>
          <a:xfrm>
            <a:off x="8549640" y="3785616"/>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16"/>
          <p:cNvSpPr/>
          <p:nvPr/>
        </p:nvSpPr>
        <p:spPr>
          <a:xfrm>
            <a:off x="8750808" y="3867912"/>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16"/>
          <p:cNvSpPr txBox="1"/>
          <p:nvPr/>
        </p:nvSpPr>
        <p:spPr>
          <a:xfrm>
            <a:off x="8750808" y="3867912"/>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sp>
        <p:nvSpPr>
          <p:cNvPr id="559" name="Google Shape;559;p16"/>
          <p:cNvSpPr txBox="1"/>
          <p:nvPr/>
        </p:nvSpPr>
        <p:spPr>
          <a:xfrm>
            <a:off x="9189720" y="3785616"/>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One line, both ways</a:t>
            </a:r>
            <a:endParaRPr b="0" i="0" sz="1250" u="none" cap="none" strike="noStrike">
              <a:solidFill>
                <a:schemeClr val="dk1"/>
              </a:solidFill>
              <a:latin typeface="Calibri"/>
              <a:ea typeface="Calibri"/>
              <a:cs typeface="Calibri"/>
              <a:sym typeface="Calibri"/>
            </a:endParaRPr>
          </a:p>
        </p:txBody>
      </p:sp>
      <p:sp>
        <p:nvSpPr>
          <p:cNvPr id="560" name="Google Shape;560;p16"/>
          <p:cNvSpPr/>
          <p:nvPr/>
        </p:nvSpPr>
        <p:spPr>
          <a:xfrm>
            <a:off x="8549640" y="4370832"/>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16"/>
          <p:cNvSpPr/>
          <p:nvPr/>
        </p:nvSpPr>
        <p:spPr>
          <a:xfrm>
            <a:off x="8750808" y="4453128"/>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16"/>
          <p:cNvSpPr txBox="1"/>
          <p:nvPr/>
        </p:nvSpPr>
        <p:spPr>
          <a:xfrm>
            <a:off x="8750808" y="4453128"/>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sp>
        <p:nvSpPr>
          <p:cNvPr id="563" name="Google Shape;563;p16"/>
          <p:cNvSpPr txBox="1"/>
          <p:nvPr/>
        </p:nvSpPr>
        <p:spPr>
          <a:xfrm>
            <a:off x="9189720" y="4370832"/>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Discounts count too</a:t>
            </a:r>
            <a:endParaRPr b="0" i="0" sz="1250" u="none" cap="none" strike="noStrike">
              <a:solidFill>
                <a:schemeClr val="dk1"/>
              </a:solidFill>
              <a:latin typeface="Calibri"/>
              <a:ea typeface="Calibri"/>
              <a:cs typeface="Calibri"/>
              <a:sym typeface="Calibri"/>
            </a:endParaRPr>
          </a:p>
        </p:txBody>
      </p:sp>
      <p:sp>
        <p:nvSpPr>
          <p:cNvPr id="564" name="Google Shape;564;p16"/>
          <p:cNvSpPr/>
          <p:nvPr/>
        </p:nvSpPr>
        <p:spPr>
          <a:xfrm>
            <a:off x="8549640" y="4956048"/>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16"/>
          <p:cNvSpPr/>
          <p:nvPr/>
        </p:nvSpPr>
        <p:spPr>
          <a:xfrm>
            <a:off x="8750808" y="5038344"/>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16"/>
          <p:cNvSpPr txBox="1"/>
          <p:nvPr/>
        </p:nvSpPr>
        <p:spPr>
          <a:xfrm>
            <a:off x="8750808" y="5038344"/>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sp>
        <p:nvSpPr>
          <p:cNvPr id="567" name="Google Shape;567;p16"/>
          <p:cNvSpPr txBox="1"/>
          <p:nvPr/>
        </p:nvSpPr>
        <p:spPr>
          <a:xfrm>
            <a:off x="9189720" y="4956048"/>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Always lower direct</a:t>
            </a:r>
            <a:endParaRPr b="0" i="0" sz="1250" u="none" cap="none" strike="noStrike">
              <a:solidFill>
                <a:schemeClr val="dk1"/>
              </a:solidFill>
              <a:latin typeface="Calibri"/>
              <a:ea typeface="Calibri"/>
              <a:cs typeface="Calibri"/>
              <a:sym typeface="Calibri"/>
            </a:endParaRPr>
          </a:p>
        </p:txBody>
      </p:sp>
      <p:sp>
        <p:nvSpPr>
          <p:cNvPr id="568" name="Google Shape;568;p16"/>
          <p:cNvSpPr txBox="1"/>
          <p:nvPr/>
        </p:nvSpPr>
        <p:spPr>
          <a:xfrm>
            <a:off x="8549640" y="5522976"/>
            <a:ext cx="2816352" cy="548640"/>
          </a:xfrm>
          <a:prstGeom prst="rect">
            <a:avLst/>
          </a:prstGeom>
          <a:noFill/>
          <a:ln>
            <a:noFill/>
          </a:ln>
        </p:spPr>
        <p:txBody>
          <a:bodyPr anchorCtr="0" anchor="t" bIns="0" lIns="0" spcFirstLastPara="1" rIns="0" wrap="square" tIns="0">
            <a:noAutofit/>
          </a:bodyPr>
          <a:lstStyle/>
          <a:p>
            <a:pPr indent="0" lvl="0" marL="0" marR="0" rtl="0" algn="l">
              <a:lnSpc>
                <a:spcPct val="135047"/>
              </a:lnSpc>
              <a:spcBef>
                <a:spcPts val="0"/>
              </a:spcBef>
              <a:spcAft>
                <a:spcPts val="0"/>
              </a:spcAft>
              <a:buClr>
                <a:srgbClr val="737373"/>
              </a:buClr>
              <a:buSzPts val="1050"/>
              <a:buFont typeface="Inter"/>
              <a:buNone/>
            </a:pPr>
            <a:r>
              <a:rPr b="0" i="0" lang="en-US" sz="1050" u="none" cap="none" strike="noStrike">
                <a:solidFill>
                  <a:srgbClr val="737373"/>
                </a:solidFill>
                <a:latin typeface="Inter"/>
                <a:ea typeface="Inter"/>
                <a:cs typeface="Inter"/>
                <a:sym typeface="Inter"/>
              </a:rPr>
              <a:t>Vote first. Then the answer.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573" name="Shape 573"/>
        <p:cNvGrpSpPr/>
        <p:nvPr/>
      </p:nvGrpSpPr>
      <p:grpSpPr>
        <a:xfrm>
          <a:off x="0" y="0"/>
          <a:ext cx="0" cy="0"/>
          <a:chOff x="0" y="0"/>
          <a:chExt cx="0" cy="0"/>
        </a:xfrm>
      </p:grpSpPr>
      <p:sp>
        <p:nvSpPr>
          <p:cNvPr id="574" name="Google Shape;574;p17"/>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ODD ONE OUT · 3 OF 4</a:t>
            </a:r>
            <a:endParaRPr b="0" i="0" sz="1050" u="none" cap="none" strike="noStrike">
              <a:solidFill>
                <a:schemeClr val="dk1"/>
              </a:solidFill>
              <a:latin typeface="Calibri"/>
              <a:ea typeface="Calibri"/>
              <a:cs typeface="Calibri"/>
              <a:sym typeface="Calibri"/>
            </a:endParaRPr>
          </a:p>
        </p:txBody>
      </p:sp>
      <p:sp>
        <p:nvSpPr>
          <p:cNvPr id="575" name="Google Shape;575;p17"/>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Which one is the mistake?</a:t>
            </a:r>
            <a:endParaRPr b="0" i="0" sz="3000" u="none" cap="none" strike="noStrike">
              <a:solidFill>
                <a:schemeClr val="dk1"/>
              </a:solidFill>
              <a:latin typeface="Calibri"/>
              <a:ea typeface="Calibri"/>
              <a:cs typeface="Calibri"/>
              <a:sym typeface="Calibri"/>
            </a:endParaRPr>
          </a:p>
        </p:txBody>
      </p:sp>
      <p:pic>
        <p:nvPicPr>
          <p:cNvPr descr="/home/claude/work/renderer/brand/wordmark.png" id="576" name="Google Shape;576;p17"/>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577" name="Google Shape;577;p17"/>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15 / 48</a:t>
            </a:r>
            <a:endParaRPr b="0" i="0" sz="900" u="none" cap="none" strike="noStrike">
              <a:solidFill>
                <a:schemeClr val="dk1"/>
              </a:solidFill>
              <a:latin typeface="Calibri"/>
              <a:ea typeface="Calibri"/>
              <a:cs typeface="Calibri"/>
              <a:sym typeface="Calibri"/>
            </a:endParaRPr>
          </a:p>
        </p:txBody>
      </p:sp>
      <p:sp>
        <p:nvSpPr>
          <p:cNvPr id="578" name="Google Shape;578;p17"/>
          <p:cNvSpPr/>
          <p:nvPr/>
        </p:nvSpPr>
        <p:spPr>
          <a:xfrm>
            <a:off x="548640" y="1481328"/>
            <a:ext cx="7406640" cy="2874899"/>
          </a:xfrm>
          <a:prstGeom prst="roundRect">
            <a:avLst>
              <a:gd fmla="val 3817"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p17"/>
          <p:cNvSpPr txBox="1"/>
          <p:nvPr/>
        </p:nvSpPr>
        <p:spPr>
          <a:xfrm>
            <a:off x="859536" y="1719072"/>
            <a:ext cx="6784848" cy="40411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71717"/>
              </a:buClr>
              <a:buSzPts val="2200"/>
              <a:buFont typeface="Inter"/>
              <a:buNone/>
            </a:pPr>
            <a:r>
              <a:rPr b="1" i="0" lang="en-US" sz="2200" u="none" cap="none" strike="noStrike">
                <a:solidFill>
                  <a:srgbClr val="171717"/>
                </a:solidFill>
                <a:latin typeface="Inter"/>
                <a:ea typeface="Inter"/>
                <a:cs typeface="Inter"/>
                <a:sym typeface="Inter"/>
              </a:rPr>
              <a:t>Effective commission</a:t>
            </a:r>
            <a:endParaRPr b="0" i="0" sz="2200" u="none" cap="none" strike="noStrike">
              <a:solidFill>
                <a:schemeClr val="dk1"/>
              </a:solidFill>
              <a:latin typeface="Calibri"/>
              <a:ea typeface="Calibri"/>
              <a:cs typeface="Calibri"/>
              <a:sym typeface="Calibri"/>
            </a:endParaRPr>
          </a:p>
        </p:txBody>
      </p:sp>
      <p:cxnSp>
        <p:nvCxnSpPr>
          <p:cNvPr id="580" name="Google Shape;580;p17"/>
          <p:cNvCxnSpPr/>
          <p:nvPr/>
        </p:nvCxnSpPr>
        <p:spPr>
          <a:xfrm>
            <a:off x="859536" y="2251202"/>
            <a:ext cx="6784848" cy="0"/>
          </a:xfrm>
          <a:prstGeom prst="straightConnector1">
            <a:avLst/>
          </a:prstGeom>
          <a:noFill/>
          <a:ln cap="flat" cmpd="sng" w="12700">
            <a:solidFill>
              <a:srgbClr val="E5E5E5"/>
            </a:solidFill>
            <a:prstDash val="solid"/>
            <a:round/>
            <a:headEnd len="sm" w="sm" type="none"/>
            <a:tailEnd len="sm" w="sm" type="none"/>
          </a:ln>
        </p:spPr>
      </p:cxnSp>
      <p:sp>
        <p:nvSpPr>
          <p:cNvPr id="581" name="Google Shape;581;p17"/>
          <p:cNvSpPr/>
          <p:nvPr/>
        </p:nvSpPr>
        <p:spPr>
          <a:xfrm>
            <a:off x="859536" y="2415794"/>
            <a:ext cx="6784848" cy="365760"/>
          </a:xfrm>
          <a:prstGeom prst="roundRect">
            <a:avLst>
              <a:gd fmla="val 2500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17"/>
          <p:cNvSpPr/>
          <p:nvPr/>
        </p:nvSpPr>
        <p:spPr>
          <a:xfrm>
            <a:off x="1005840" y="2461514"/>
            <a:ext cx="274320" cy="274320"/>
          </a:xfrm>
          <a:prstGeom prst="ellipse">
            <a:avLst/>
          </a:prstGeom>
          <a:solidFill>
            <a:srgbClr val="7373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p17"/>
          <p:cNvSpPr txBox="1"/>
          <p:nvPr/>
        </p:nvSpPr>
        <p:spPr>
          <a:xfrm>
            <a:off x="1005840" y="246151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100"/>
              <a:buFont typeface="Inter"/>
              <a:buNone/>
            </a:pPr>
            <a:r>
              <a:rPr b="1" i="0" lang="en-US" sz="1100" u="none" cap="none" strike="noStrike">
                <a:solidFill>
                  <a:srgbClr val="FFFFFF"/>
                </a:solidFill>
                <a:latin typeface="Inter"/>
                <a:ea typeface="Inter"/>
                <a:cs typeface="Inter"/>
                <a:sym typeface="Inter"/>
              </a:rPr>
              <a:t>1</a:t>
            </a:r>
            <a:endParaRPr b="0" i="0" sz="1100" u="none" cap="none" strike="noStrike">
              <a:solidFill>
                <a:schemeClr val="dk1"/>
              </a:solidFill>
              <a:latin typeface="Calibri"/>
              <a:ea typeface="Calibri"/>
              <a:cs typeface="Calibri"/>
              <a:sym typeface="Calibri"/>
            </a:endParaRPr>
          </a:p>
        </p:txBody>
      </p:sp>
      <p:sp>
        <p:nvSpPr>
          <p:cNvPr id="584" name="Google Shape;584;p17"/>
          <p:cNvSpPr txBox="1"/>
          <p:nvPr/>
        </p:nvSpPr>
        <p:spPr>
          <a:xfrm>
            <a:off x="1408176" y="2415794"/>
            <a:ext cx="6126480"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737373"/>
              </a:buClr>
              <a:buSzPts val="1200"/>
              <a:buFont typeface="Inter"/>
              <a:buNone/>
            </a:pPr>
            <a:r>
              <a:rPr b="0" i="0" lang="en-US" sz="1200" u="none" cap="none" strike="noStrike">
                <a:solidFill>
                  <a:srgbClr val="737373"/>
                </a:solidFill>
                <a:latin typeface="Inter"/>
                <a:ea typeface="Inter"/>
                <a:cs typeface="Inter"/>
                <a:sym typeface="Inter"/>
              </a:rPr>
              <a:t>It counts the ad spend that won the booking, not just commission</a:t>
            </a:r>
            <a:endParaRPr b="0" i="0" sz="1200" u="none" cap="none" strike="noStrike">
              <a:solidFill>
                <a:schemeClr val="dk1"/>
              </a:solidFill>
              <a:latin typeface="Calibri"/>
              <a:ea typeface="Calibri"/>
              <a:cs typeface="Calibri"/>
              <a:sym typeface="Calibri"/>
            </a:endParaRPr>
          </a:p>
        </p:txBody>
      </p:sp>
      <p:sp>
        <p:nvSpPr>
          <p:cNvPr id="585" name="Google Shape;585;p17"/>
          <p:cNvSpPr/>
          <p:nvPr/>
        </p:nvSpPr>
        <p:spPr>
          <a:xfrm>
            <a:off x="859536" y="2836418"/>
            <a:ext cx="6784848" cy="365760"/>
          </a:xfrm>
          <a:prstGeom prst="roundRect">
            <a:avLst>
              <a:gd fmla="val 2500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17"/>
          <p:cNvSpPr/>
          <p:nvPr/>
        </p:nvSpPr>
        <p:spPr>
          <a:xfrm>
            <a:off x="1005840" y="2882138"/>
            <a:ext cx="274320" cy="274320"/>
          </a:xfrm>
          <a:prstGeom prst="ellipse">
            <a:avLst/>
          </a:prstGeom>
          <a:solidFill>
            <a:srgbClr val="7373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17"/>
          <p:cNvSpPr txBox="1"/>
          <p:nvPr/>
        </p:nvSpPr>
        <p:spPr>
          <a:xfrm>
            <a:off x="1005840" y="288213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100"/>
              <a:buFont typeface="Inter"/>
              <a:buNone/>
            </a:pPr>
            <a:r>
              <a:rPr b="1" i="0" lang="en-US" sz="1100" u="none" cap="none" strike="noStrike">
                <a:solidFill>
                  <a:srgbClr val="FFFFFF"/>
                </a:solidFill>
                <a:latin typeface="Inter"/>
                <a:ea typeface="Inter"/>
                <a:cs typeface="Inter"/>
                <a:sym typeface="Inter"/>
              </a:rPr>
              <a:t>2</a:t>
            </a:r>
            <a:endParaRPr b="0" i="0" sz="1100" u="none" cap="none" strike="noStrike">
              <a:solidFill>
                <a:schemeClr val="dk1"/>
              </a:solidFill>
              <a:latin typeface="Calibri"/>
              <a:ea typeface="Calibri"/>
              <a:cs typeface="Calibri"/>
              <a:sym typeface="Calibri"/>
            </a:endParaRPr>
          </a:p>
        </p:txBody>
      </p:sp>
      <p:sp>
        <p:nvSpPr>
          <p:cNvPr id="588" name="Google Shape;588;p17"/>
          <p:cNvSpPr txBox="1"/>
          <p:nvPr/>
        </p:nvSpPr>
        <p:spPr>
          <a:xfrm>
            <a:off x="1408176" y="2836418"/>
            <a:ext cx="6126480"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737373"/>
              </a:buClr>
              <a:buSzPts val="1200"/>
              <a:buFont typeface="Inter"/>
              <a:buNone/>
            </a:pPr>
            <a:r>
              <a:rPr b="0" i="0" lang="en-US" sz="1200" u="none" cap="none" strike="noStrike">
                <a:solidFill>
                  <a:srgbClr val="737373"/>
                </a:solidFill>
                <a:latin typeface="Inter"/>
                <a:ea typeface="Inter"/>
                <a:cs typeface="Inter"/>
                <a:sym typeface="Inter"/>
              </a:rPr>
              <a:t>It puts a direct booking and an OTA booking on one line</a:t>
            </a:r>
            <a:endParaRPr b="0" i="0" sz="1200" u="none" cap="none" strike="noStrike">
              <a:solidFill>
                <a:schemeClr val="dk1"/>
              </a:solidFill>
              <a:latin typeface="Calibri"/>
              <a:ea typeface="Calibri"/>
              <a:cs typeface="Calibri"/>
              <a:sym typeface="Calibri"/>
            </a:endParaRPr>
          </a:p>
        </p:txBody>
      </p:sp>
      <p:sp>
        <p:nvSpPr>
          <p:cNvPr id="589" name="Google Shape;589;p17"/>
          <p:cNvSpPr/>
          <p:nvPr/>
        </p:nvSpPr>
        <p:spPr>
          <a:xfrm>
            <a:off x="859536" y="3257042"/>
            <a:ext cx="6784848" cy="365760"/>
          </a:xfrm>
          <a:prstGeom prst="roundRect">
            <a:avLst>
              <a:gd fmla="val 2500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p17"/>
          <p:cNvSpPr/>
          <p:nvPr/>
        </p:nvSpPr>
        <p:spPr>
          <a:xfrm>
            <a:off x="1005840" y="3302762"/>
            <a:ext cx="274320" cy="274320"/>
          </a:xfrm>
          <a:prstGeom prst="ellipse">
            <a:avLst/>
          </a:prstGeom>
          <a:solidFill>
            <a:srgbClr val="7373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17"/>
          <p:cNvSpPr txBox="1"/>
          <p:nvPr/>
        </p:nvSpPr>
        <p:spPr>
          <a:xfrm>
            <a:off x="1005840" y="3302762"/>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100"/>
              <a:buFont typeface="Inter"/>
              <a:buNone/>
            </a:pPr>
            <a:r>
              <a:rPr b="1" i="0" lang="en-US" sz="1100" u="none" cap="none" strike="noStrike">
                <a:solidFill>
                  <a:srgbClr val="FFFFFF"/>
                </a:solidFill>
                <a:latin typeface="Inter"/>
                <a:ea typeface="Inter"/>
                <a:cs typeface="Inter"/>
                <a:sym typeface="Inter"/>
              </a:rPr>
              <a:t>3</a:t>
            </a:r>
            <a:endParaRPr b="0" i="0" sz="1100" u="none" cap="none" strike="noStrike">
              <a:solidFill>
                <a:schemeClr val="dk1"/>
              </a:solidFill>
              <a:latin typeface="Calibri"/>
              <a:ea typeface="Calibri"/>
              <a:cs typeface="Calibri"/>
              <a:sym typeface="Calibri"/>
            </a:endParaRPr>
          </a:p>
        </p:txBody>
      </p:sp>
      <p:sp>
        <p:nvSpPr>
          <p:cNvPr id="592" name="Google Shape;592;p17"/>
          <p:cNvSpPr txBox="1"/>
          <p:nvPr/>
        </p:nvSpPr>
        <p:spPr>
          <a:xfrm>
            <a:off x="1408176" y="3257042"/>
            <a:ext cx="6126480"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737373"/>
              </a:buClr>
              <a:buSzPts val="1200"/>
              <a:buFont typeface="Inter"/>
              <a:buNone/>
            </a:pPr>
            <a:r>
              <a:rPr b="0" i="0" lang="en-US" sz="1200" u="none" cap="none" strike="noStrike">
                <a:solidFill>
                  <a:srgbClr val="737373"/>
                </a:solidFill>
                <a:latin typeface="Inter"/>
                <a:ea typeface="Inter"/>
                <a:cs typeface="Inter"/>
                <a:sym typeface="Inter"/>
              </a:rPr>
              <a:t>A discount given to win the booking counts too</a:t>
            </a:r>
            <a:endParaRPr b="0" i="0" sz="1200" u="none" cap="none" strike="noStrike">
              <a:solidFill>
                <a:schemeClr val="dk1"/>
              </a:solidFill>
              <a:latin typeface="Calibri"/>
              <a:ea typeface="Calibri"/>
              <a:cs typeface="Calibri"/>
              <a:sym typeface="Calibri"/>
            </a:endParaRPr>
          </a:p>
        </p:txBody>
      </p:sp>
      <p:sp>
        <p:nvSpPr>
          <p:cNvPr id="593" name="Google Shape;593;p17"/>
          <p:cNvSpPr/>
          <p:nvPr/>
        </p:nvSpPr>
        <p:spPr>
          <a:xfrm>
            <a:off x="859536" y="3677666"/>
            <a:ext cx="6784848" cy="365760"/>
          </a:xfrm>
          <a:prstGeom prst="roundRect">
            <a:avLst>
              <a:gd fmla="val 25000"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17"/>
          <p:cNvSpPr/>
          <p:nvPr/>
        </p:nvSpPr>
        <p:spPr>
          <a:xfrm>
            <a:off x="1005840" y="3723386"/>
            <a:ext cx="274320" cy="274320"/>
          </a:xfrm>
          <a:prstGeom prst="ellipse">
            <a:avLst/>
          </a:prstGeom>
          <a:solidFill>
            <a:srgbClr val="1580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p17"/>
          <p:cNvSpPr txBox="1"/>
          <p:nvPr/>
        </p:nvSpPr>
        <p:spPr>
          <a:xfrm>
            <a:off x="1005840" y="372338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100"/>
              <a:buFont typeface="Inter"/>
              <a:buNone/>
            </a:pPr>
            <a:r>
              <a:rPr b="1" i="0" lang="en-US" sz="1100" u="none" cap="none" strike="noStrike">
                <a:solidFill>
                  <a:srgbClr val="FFFFFF"/>
                </a:solidFill>
                <a:latin typeface="Inter"/>
                <a:ea typeface="Inter"/>
                <a:cs typeface="Inter"/>
                <a:sym typeface="Inter"/>
              </a:rPr>
              <a:t>4</a:t>
            </a:r>
            <a:endParaRPr b="0" i="0" sz="1100" u="none" cap="none" strike="noStrike">
              <a:solidFill>
                <a:schemeClr val="dk1"/>
              </a:solidFill>
              <a:latin typeface="Calibri"/>
              <a:ea typeface="Calibri"/>
              <a:cs typeface="Calibri"/>
              <a:sym typeface="Calibri"/>
            </a:endParaRPr>
          </a:p>
        </p:txBody>
      </p:sp>
      <p:sp>
        <p:nvSpPr>
          <p:cNvPr id="596" name="Google Shape;596;p17"/>
          <p:cNvSpPr txBox="1"/>
          <p:nvPr/>
        </p:nvSpPr>
        <p:spPr>
          <a:xfrm>
            <a:off x="1408176" y="3677666"/>
            <a:ext cx="6126480"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1200"/>
              <a:buFont typeface="Inter"/>
              <a:buNone/>
            </a:pPr>
            <a:r>
              <a:rPr b="1" i="0" lang="en-US" sz="1200" u="none" cap="none" strike="noStrike">
                <a:solidFill>
                  <a:srgbClr val="15803D"/>
                </a:solidFill>
                <a:latin typeface="Inter"/>
                <a:ea typeface="Inter"/>
                <a:cs typeface="Inter"/>
                <a:sym typeface="Inter"/>
              </a:rPr>
              <a:t>It's always lower on a direct booking than on an OTA booking</a:t>
            </a:r>
            <a:endParaRPr b="0" i="0" sz="1200" u="none" cap="none" strike="noStrike">
              <a:solidFill>
                <a:schemeClr val="dk1"/>
              </a:solidFill>
              <a:latin typeface="Calibri"/>
              <a:ea typeface="Calibri"/>
              <a:cs typeface="Calibri"/>
              <a:sym typeface="Calibri"/>
            </a:endParaRPr>
          </a:p>
        </p:txBody>
      </p:sp>
      <p:sp>
        <p:nvSpPr>
          <p:cNvPr id="597" name="Google Shape;597;p17"/>
          <p:cNvSpPr/>
          <p:nvPr/>
        </p:nvSpPr>
        <p:spPr>
          <a:xfrm>
            <a:off x="548640" y="4539107"/>
            <a:ext cx="7406640" cy="1770253"/>
          </a:xfrm>
          <a:prstGeom prst="roundRect">
            <a:avLst>
              <a:gd fmla="val 6198"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17"/>
          <p:cNvSpPr txBox="1"/>
          <p:nvPr/>
        </p:nvSpPr>
        <p:spPr>
          <a:xfrm>
            <a:off x="859536" y="4721987"/>
            <a:ext cx="6784848"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900"/>
              <a:buFont typeface="Roboto Mono"/>
              <a:buNone/>
            </a:pPr>
            <a:r>
              <a:rPr b="0" i="0" lang="en-US" sz="900" u="none" cap="none" strike="noStrike">
                <a:solidFill>
                  <a:srgbClr val="15803D"/>
                </a:solidFill>
                <a:latin typeface="Roboto Mono"/>
                <a:ea typeface="Roboto Mono"/>
                <a:cs typeface="Roboto Mono"/>
                <a:sym typeface="Roboto Mono"/>
              </a:rPr>
              <a:t>WHY</a:t>
            </a:r>
            <a:endParaRPr b="0" i="0" sz="900" u="none" cap="none" strike="noStrike">
              <a:solidFill>
                <a:schemeClr val="dk1"/>
              </a:solidFill>
              <a:latin typeface="Calibri"/>
              <a:ea typeface="Calibri"/>
              <a:cs typeface="Calibri"/>
              <a:sym typeface="Calibri"/>
            </a:endParaRPr>
          </a:p>
        </p:txBody>
      </p:sp>
      <p:sp>
        <p:nvSpPr>
          <p:cNvPr id="599" name="Google Shape;599;p17"/>
          <p:cNvSpPr txBox="1"/>
          <p:nvPr/>
        </p:nvSpPr>
        <p:spPr>
          <a:xfrm>
            <a:off x="859536" y="4978019"/>
            <a:ext cx="6784848" cy="65722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Statement 4 is the mistake. </a:t>
            </a:r>
            <a:r>
              <a:rPr b="1" i="0" lang="en-US" sz="1100" u="none" cap="none" strike="noStrike">
                <a:solidFill>
                  <a:srgbClr val="404040"/>
                </a:solidFill>
                <a:latin typeface="Inter"/>
                <a:ea typeface="Inter"/>
                <a:cs typeface="Inter"/>
                <a:sym typeface="Inter"/>
              </a:rPr>
              <a:t>Effective commission is a comparison, not a verdict.</a:t>
            </a:r>
            <a:r>
              <a:rPr b="0" i="0" lang="en-US" sz="1100" u="none" cap="none" strike="noStrike">
                <a:solidFill>
                  <a:srgbClr val="404040"/>
                </a:solidFill>
                <a:latin typeface="Inter"/>
                <a:ea typeface="Inter"/>
                <a:cs typeface="Inter"/>
                <a:sym typeface="Inter"/>
              </a:rPr>
              <a:t> A direct booking won with expensive ads and a deep discount can cost more than Booking.com's cut. That's why the number exists.</a:t>
            </a:r>
            <a:endParaRPr b="0" i="0" sz="1100" u="none" cap="none" strike="noStrike">
              <a:solidFill>
                <a:schemeClr val="dk1"/>
              </a:solidFill>
              <a:latin typeface="Calibri"/>
              <a:ea typeface="Calibri"/>
              <a:cs typeface="Calibri"/>
              <a:sym typeface="Calibri"/>
            </a:endParaRPr>
          </a:p>
        </p:txBody>
      </p:sp>
      <p:sp>
        <p:nvSpPr>
          <p:cNvPr id="600" name="Google Shape;600;p17"/>
          <p:cNvSpPr txBox="1"/>
          <p:nvPr/>
        </p:nvSpPr>
        <p:spPr>
          <a:xfrm>
            <a:off x="859536" y="5671820"/>
            <a:ext cx="6784848" cy="491236"/>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5803D"/>
              </a:buClr>
              <a:buSzPts val="1100"/>
              <a:buFont typeface="Inter"/>
              <a:buNone/>
            </a:pPr>
            <a:r>
              <a:rPr b="1" i="0" lang="en-US" sz="1100" u="none" cap="none" strike="noStrike">
                <a:solidFill>
                  <a:srgbClr val="15803D"/>
                </a:solidFill>
                <a:latin typeface="Inter"/>
                <a:ea typeface="Inter"/>
                <a:cs typeface="Inter"/>
                <a:sym typeface="Inter"/>
              </a:rPr>
              <a:t>“Once we count ad spend and discounts too, what's your effective commission on a direct booking compared with Booking.com?”</a:t>
            </a:r>
            <a:endParaRPr b="0" i="0" sz="1100" u="none" cap="none" strike="noStrike">
              <a:solidFill>
                <a:schemeClr val="dk1"/>
              </a:solidFill>
              <a:latin typeface="Calibri"/>
              <a:ea typeface="Calibri"/>
              <a:cs typeface="Calibri"/>
              <a:sym typeface="Calibri"/>
            </a:endParaRPr>
          </a:p>
        </p:txBody>
      </p:sp>
      <p:sp>
        <p:nvSpPr>
          <p:cNvPr id="601" name="Google Shape;601;p17"/>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17"/>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puzzle-piece.png" id="603" name="Google Shape;603;p17"/>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604" name="Google Shape;604;p17"/>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THE ANSWER</a:t>
            </a:r>
            <a:endParaRPr b="0" i="0" sz="950" u="none" cap="none" strike="noStrike">
              <a:solidFill>
                <a:schemeClr val="dk1"/>
              </a:solidFill>
              <a:latin typeface="Calibri"/>
              <a:ea typeface="Calibri"/>
              <a:cs typeface="Calibri"/>
              <a:sym typeface="Calibri"/>
            </a:endParaRPr>
          </a:p>
        </p:txBody>
      </p:sp>
      <p:sp>
        <p:nvSpPr>
          <p:cNvPr id="605" name="Google Shape;605;p17"/>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The answer</a:t>
            </a:r>
            <a:endParaRPr b="0" i="0" sz="1800" u="none" cap="none" strike="noStrike">
              <a:solidFill>
                <a:schemeClr val="dk1"/>
              </a:solidFill>
              <a:latin typeface="Calibri"/>
              <a:ea typeface="Calibri"/>
              <a:cs typeface="Calibri"/>
              <a:sym typeface="Calibri"/>
            </a:endParaRPr>
          </a:p>
        </p:txBody>
      </p:sp>
      <p:sp>
        <p:nvSpPr>
          <p:cNvPr id="606" name="Google Shape;606;p17"/>
          <p:cNvSpPr/>
          <p:nvPr/>
        </p:nvSpPr>
        <p:spPr>
          <a:xfrm>
            <a:off x="8549640" y="3200400"/>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17"/>
          <p:cNvSpPr/>
          <p:nvPr/>
        </p:nvSpPr>
        <p:spPr>
          <a:xfrm>
            <a:off x="8750808" y="3282696"/>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17"/>
          <p:cNvSpPr txBox="1"/>
          <p:nvPr/>
        </p:nvSpPr>
        <p:spPr>
          <a:xfrm>
            <a:off x="8750808" y="3282696"/>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sp>
        <p:nvSpPr>
          <p:cNvPr id="609" name="Google Shape;609;p17"/>
          <p:cNvSpPr txBox="1"/>
          <p:nvPr/>
        </p:nvSpPr>
        <p:spPr>
          <a:xfrm>
            <a:off x="9189720" y="3200400"/>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Counts ad spend</a:t>
            </a:r>
            <a:endParaRPr b="0" i="0" sz="1250" u="none" cap="none" strike="noStrike">
              <a:solidFill>
                <a:schemeClr val="dk1"/>
              </a:solidFill>
              <a:latin typeface="Calibri"/>
              <a:ea typeface="Calibri"/>
              <a:cs typeface="Calibri"/>
              <a:sym typeface="Calibri"/>
            </a:endParaRPr>
          </a:p>
        </p:txBody>
      </p:sp>
      <p:sp>
        <p:nvSpPr>
          <p:cNvPr id="610" name="Google Shape;610;p17"/>
          <p:cNvSpPr/>
          <p:nvPr/>
        </p:nvSpPr>
        <p:spPr>
          <a:xfrm>
            <a:off x="8549640" y="3785616"/>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17"/>
          <p:cNvSpPr/>
          <p:nvPr/>
        </p:nvSpPr>
        <p:spPr>
          <a:xfrm>
            <a:off x="8750808" y="3867912"/>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2" name="Google Shape;612;p17"/>
          <p:cNvSpPr txBox="1"/>
          <p:nvPr/>
        </p:nvSpPr>
        <p:spPr>
          <a:xfrm>
            <a:off x="8750808" y="3867912"/>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sp>
        <p:nvSpPr>
          <p:cNvPr id="613" name="Google Shape;613;p17"/>
          <p:cNvSpPr txBox="1"/>
          <p:nvPr/>
        </p:nvSpPr>
        <p:spPr>
          <a:xfrm>
            <a:off x="9189720" y="3785616"/>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One line, both ways</a:t>
            </a:r>
            <a:endParaRPr b="0" i="0" sz="1250" u="none" cap="none" strike="noStrike">
              <a:solidFill>
                <a:schemeClr val="dk1"/>
              </a:solidFill>
              <a:latin typeface="Calibri"/>
              <a:ea typeface="Calibri"/>
              <a:cs typeface="Calibri"/>
              <a:sym typeface="Calibri"/>
            </a:endParaRPr>
          </a:p>
        </p:txBody>
      </p:sp>
      <p:sp>
        <p:nvSpPr>
          <p:cNvPr id="614" name="Google Shape;614;p17"/>
          <p:cNvSpPr/>
          <p:nvPr/>
        </p:nvSpPr>
        <p:spPr>
          <a:xfrm>
            <a:off x="8549640" y="4370832"/>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p17"/>
          <p:cNvSpPr/>
          <p:nvPr/>
        </p:nvSpPr>
        <p:spPr>
          <a:xfrm>
            <a:off x="8750808" y="4453128"/>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17"/>
          <p:cNvSpPr txBox="1"/>
          <p:nvPr/>
        </p:nvSpPr>
        <p:spPr>
          <a:xfrm>
            <a:off x="8750808" y="4453128"/>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sp>
        <p:nvSpPr>
          <p:cNvPr id="617" name="Google Shape;617;p17"/>
          <p:cNvSpPr txBox="1"/>
          <p:nvPr/>
        </p:nvSpPr>
        <p:spPr>
          <a:xfrm>
            <a:off x="9189720" y="4370832"/>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Discounts count too</a:t>
            </a:r>
            <a:endParaRPr b="0" i="0" sz="1250" u="none" cap="none" strike="noStrike">
              <a:solidFill>
                <a:schemeClr val="dk1"/>
              </a:solidFill>
              <a:latin typeface="Calibri"/>
              <a:ea typeface="Calibri"/>
              <a:cs typeface="Calibri"/>
              <a:sym typeface="Calibri"/>
            </a:endParaRPr>
          </a:p>
        </p:txBody>
      </p:sp>
      <p:sp>
        <p:nvSpPr>
          <p:cNvPr id="618" name="Google Shape;618;p17"/>
          <p:cNvSpPr/>
          <p:nvPr/>
        </p:nvSpPr>
        <p:spPr>
          <a:xfrm>
            <a:off x="8549640" y="4956048"/>
            <a:ext cx="2816352" cy="475488"/>
          </a:xfrm>
          <a:prstGeom prst="roundRect">
            <a:avLst>
              <a:gd fmla="val 19231"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check-circle.png" id="619" name="Google Shape;619;p17"/>
          <p:cNvPicPr preferRelativeResize="0"/>
          <p:nvPr/>
        </p:nvPicPr>
        <p:blipFill rotWithShape="1">
          <a:blip r:embed="rId5">
            <a:alphaModFix/>
          </a:blip>
          <a:srcRect b="0" l="0" r="0" t="0"/>
          <a:stretch/>
        </p:blipFill>
        <p:spPr>
          <a:xfrm>
            <a:off x="8750808" y="5038344"/>
            <a:ext cx="310896" cy="310896"/>
          </a:xfrm>
          <a:prstGeom prst="rect">
            <a:avLst/>
          </a:prstGeom>
          <a:noFill/>
          <a:ln>
            <a:noFill/>
          </a:ln>
        </p:spPr>
      </p:pic>
      <p:sp>
        <p:nvSpPr>
          <p:cNvPr id="620" name="Google Shape;620;p17"/>
          <p:cNvSpPr txBox="1"/>
          <p:nvPr/>
        </p:nvSpPr>
        <p:spPr>
          <a:xfrm>
            <a:off x="9189720" y="4956048"/>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803D"/>
              </a:buClr>
              <a:buSzPts val="1250"/>
              <a:buFont typeface="Inter"/>
              <a:buNone/>
            </a:pPr>
            <a:r>
              <a:rPr b="1" i="0" lang="en-US" sz="1250" u="none" cap="none" strike="noStrike">
                <a:solidFill>
                  <a:srgbClr val="15803D"/>
                </a:solidFill>
                <a:latin typeface="Inter"/>
                <a:ea typeface="Inter"/>
                <a:cs typeface="Inter"/>
                <a:sym typeface="Inter"/>
              </a:rPr>
              <a:t>Always lower direct</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625" name="Shape 625"/>
        <p:cNvGrpSpPr/>
        <p:nvPr/>
      </p:nvGrpSpPr>
      <p:grpSpPr>
        <a:xfrm>
          <a:off x="0" y="0"/>
          <a:ext cx="0" cy="0"/>
          <a:chOff x="0" y="0"/>
          <a:chExt cx="0" cy="0"/>
        </a:xfrm>
      </p:grpSpPr>
      <p:sp>
        <p:nvSpPr>
          <p:cNvPr id="626" name="Google Shape;626;p18"/>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ODD ONE OUT · 4 OF 4</a:t>
            </a:r>
            <a:endParaRPr b="0" i="0" sz="1050" u="none" cap="none" strike="noStrike">
              <a:solidFill>
                <a:schemeClr val="dk1"/>
              </a:solidFill>
              <a:latin typeface="Calibri"/>
              <a:ea typeface="Calibri"/>
              <a:cs typeface="Calibri"/>
              <a:sym typeface="Calibri"/>
            </a:endParaRPr>
          </a:p>
        </p:txBody>
      </p:sp>
      <p:sp>
        <p:nvSpPr>
          <p:cNvPr id="627" name="Google Shape;627;p18"/>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Which one is the mistake?</a:t>
            </a:r>
            <a:endParaRPr b="0" i="0" sz="3000" u="none" cap="none" strike="noStrike">
              <a:solidFill>
                <a:schemeClr val="dk1"/>
              </a:solidFill>
              <a:latin typeface="Calibri"/>
              <a:ea typeface="Calibri"/>
              <a:cs typeface="Calibri"/>
              <a:sym typeface="Calibri"/>
            </a:endParaRPr>
          </a:p>
        </p:txBody>
      </p:sp>
      <p:pic>
        <p:nvPicPr>
          <p:cNvPr descr="/home/claude/work/renderer/brand/wordmark.png" id="628" name="Google Shape;628;p18"/>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629" name="Google Shape;629;p18"/>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16 / 48</a:t>
            </a:r>
            <a:endParaRPr b="0" i="0" sz="900" u="none" cap="none" strike="noStrike">
              <a:solidFill>
                <a:schemeClr val="dk1"/>
              </a:solidFill>
              <a:latin typeface="Calibri"/>
              <a:ea typeface="Calibri"/>
              <a:cs typeface="Calibri"/>
              <a:sym typeface="Calibri"/>
            </a:endParaRPr>
          </a:p>
        </p:txBody>
      </p:sp>
      <p:sp>
        <p:nvSpPr>
          <p:cNvPr id="630" name="Google Shape;630;p18"/>
          <p:cNvSpPr/>
          <p:nvPr/>
        </p:nvSpPr>
        <p:spPr>
          <a:xfrm>
            <a:off x="548640" y="1481328"/>
            <a:ext cx="7406640" cy="4828032"/>
          </a:xfrm>
          <a:prstGeom prst="roundRect">
            <a:avLst>
              <a:gd fmla="val 2273"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1" name="Google Shape;631;p18"/>
          <p:cNvSpPr txBox="1"/>
          <p:nvPr/>
        </p:nvSpPr>
        <p:spPr>
          <a:xfrm>
            <a:off x="859536" y="1719072"/>
            <a:ext cx="6784848"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004FAA"/>
              </a:buClr>
              <a:buSzPts val="950"/>
              <a:buFont typeface="Roboto Mono"/>
              <a:buNone/>
            </a:pPr>
            <a:r>
              <a:rPr b="0" i="0" lang="en-US" sz="950" u="none" cap="none" strike="noStrike">
                <a:solidFill>
                  <a:srgbClr val="004FAA"/>
                </a:solidFill>
                <a:latin typeface="Roboto Mono"/>
                <a:ea typeface="Roboto Mono"/>
                <a:cs typeface="Roboto Mono"/>
                <a:sym typeface="Roboto Mono"/>
              </a:rPr>
              <a:t>ODD ONE OUT · 4 OF 4</a:t>
            </a:r>
            <a:endParaRPr b="0" i="0" sz="950" u="none" cap="none" strike="noStrike">
              <a:solidFill>
                <a:schemeClr val="dk1"/>
              </a:solidFill>
              <a:latin typeface="Calibri"/>
              <a:ea typeface="Calibri"/>
              <a:cs typeface="Calibri"/>
              <a:sym typeface="Calibri"/>
            </a:endParaRPr>
          </a:p>
        </p:txBody>
      </p:sp>
      <p:sp>
        <p:nvSpPr>
          <p:cNvPr id="632" name="Google Shape;632;p18"/>
          <p:cNvSpPr txBox="1"/>
          <p:nvPr/>
        </p:nvSpPr>
        <p:spPr>
          <a:xfrm>
            <a:off x="859536" y="2029968"/>
            <a:ext cx="6784848" cy="5321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71717"/>
              </a:buClr>
              <a:buSzPts val="2200"/>
              <a:buFont typeface="Inter"/>
              <a:buNone/>
            </a:pPr>
            <a:r>
              <a:rPr b="1" i="0" lang="en-US" sz="2200" u="none" cap="none" strike="noStrike">
                <a:solidFill>
                  <a:srgbClr val="171717"/>
                </a:solidFill>
                <a:latin typeface="Inter"/>
                <a:ea typeface="Inter"/>
                <a:cs typeface="Inter"/>
                <a:sym typeface="Inter"/>
              </a:rPr>
              <a:t>Cap rate</a:t>
            </a:r>
            <a:endParaRPr b="0" i="0" sz="2200" u="none" cap="none" strike="noStrike">
              <a:solidFill>
                <a:schemeClr val="dk1"/>
              </a:solidFill>
              <a:latin typeface="Calibri"/>
              <a:ea typeface="Calibri"/>
              <a:cs typeface="Calibri"/>
              <a:sym typeface="Calibri"/>
            </a:endParaRPr>
          </a:p>
        </p:txBody>
      </p:sp>
      <p:sp>
        <p:nvSpPr>
          <p:cNvPr id="633" name="Google Shape;633;p18"/>
          <p:cNvSpPr txBox="1"/>
          <p:nvPr/>
        </p:nvSpPr>
        <p:spPr>
          <a:xfrm>
            <a:off x="859536" y="2690114"/>
            <a:ext cx="6784848" cy="42291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25252"/>
              </a:buClr>
              <a:buSzPts val="1100"/>
              <a:buFont typeface="Inter"/>
              <a:buNone/>
            </a:pPr>
            <a:r>
              <a:rPr b="0" i="0" lang="en-US" sz="1100" u="none" cap="none" strike="noStrike">
                <a:solidFill>
                  <a:srgbClr val="525252"/>
                </a:solidFill>
                <a:latin typeface="Inter"/>
                <a:ea typeface="Inter"/>
                <a:cs typeface="Inter"/>
                <a:sym typeface="Inter"/>
              </a:rPr>
              <a:t>Marisol's buyer is back with a second offer. Three of these are true about cap rate. One is the mistake.</a:t>
            </a:r>
            <a:endParaRPr b="0" i="0" sz="1100" u="none" cap="none" strike="noStrike">
              <a:solidFill>
                <a:schemeClr val="dk1"/>
              </a:solidFill>
              <a:latin typeface="Calibri"/>
              <a:ea typeface="Calibri"/>
              <a:cs typeface="Calibri"/>
              <a:sym typeface="Calibri"/>
            </a:endParaRPr>
          </a:p>
        </p:txBody>
      </p:sp>
      <p:cxnSp>
        <p:nvCxnSpPr>
          <p:cNvPr id="634" name="Google Shape;634;p18"/>
          <p:cNvCxnSpPr/>
          <p:nvPr/>
        </p:nvCxnSpPr>
        <p:spPr>
          <a:xfrm>
            <a:off x="859536" y="3277616"/>
            <a:ext cx="6784848" cy="0"/>
          </a:xfrm>
          <a:prstGeom prst="straightConnector1">
            <a:avLst/>
          </a:prstGeom>
          <a:noFill/>
          <a:ln cap="flat" cmpd="sng" w="12700">
            <a:solidFill>
              <a:srgbClr val="E5E5E5"/>
            </a:solidFill>
            <a:prstDash val="solid"/>
            <a:round/>
            <a:headEnd len="sm" w="sm" type="none"/>
            <a:tailEnd len="sm" w="sm" type="none"/>
          </a:ln>
        </p:spPr>
      </p:cxnSp>
      <p:sp>
        <p:nvSpPr>
          <p:cNvPr id="635" name="Google Shape;635;p18"/>
          <p:cNvSpPr/>
          <p:nvPr/>
        </p:nvSpPr>
        <p:spPr>
          <a:xfrm>
            <a:off x="859536" y="3442208"/>
            <a:ext cx="6784848" cy="530352"/>
          </a:xfrm>
          <a:prstGeom prst="roundRect">
            <a:avLst>
              <a:gd fmla="val 17241"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p18"/>
          <p:cNvSpPr/>
          <p:nvPr/>
        </p:nvSpPr>
        <p:spPr>
          <a:xfrm>
            <a:off x="1005840" y="3570224"/>
            <a:ext cx="274320" cy="274320"/>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18"/>
          <p:cNvSpPr txBox="1"/>
          <p:nvPr/>
        </p:nvSpPr>
        <p:spPr>
          <a:xfrm>
            <a:off x="1005840" y="357022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100"/>
              <a:buFont typeface="Inter"/>
              <a:buNone/>
            </a:pPr>
            <a:r>
              <a:rPr b="1" i="0" lang="en-US" sz="1100" u="none" cap="none" strike="noStrike">
                <a:solidFill>
                  <a:srgbClr val="FFFFFF"/>
                </a:solidFill>
                <a:latin typeface="Inter"/>
                <a:ea typeface="Inter"/>
                <a:cs typeface="Inter"/>
                <a:sym typeface="Inter"/>
              </a:rPr>
              <a:t>1</a:t>
            </a:r>
            <a:endParaRPr b="0" i="0" sz="1100" u="none" cap="none" strike="noStrike">
              <a:solidFill>
                <a:schemeClr val="dk1"/>
              </a:solidFill>
              <a:latin typeface="Calibri"/>
              <a:ea typeface="Calibri"/>
              <a:cs typeface="Calibri"/>
              <a:sym typeface="Calibri"/>
            </a:endParaRPr>
          </a:p>
        </p:txBody>
      </p:sp>
      <p:sp>
        <p:nvSpPr>
          <p:cNvPr id="638" name="Google Shape;638;p18"/>
          <p:cNvSpPr txBox="1"/>
          <p:nvPr/>
        </p:nvSpPr>
        <p:spPr>
          <a:xfrm>
            <a:off x="1408176" y="3442208"/>
            <a:ext cx="6126480" cy="53035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400"/>
              <a:buFont typeface="Inter"/>
              <a:buNone/>
            </a:pPr>
            <a:r>
              <a:rPr b="0" i="0" lang="en-US" sz="1400" u="none" cap="none" strike="noStrike">
                <a:solidFill>
                  <a:srgbClr val="171717"/>
                </a:solidFill>
                <a:latin typeface="Inter"/>
                <a:ea typeface="Inter"/>
                <a:cs typeface="Inter"/>
                <a:sym typeface="Inter"/>
              </a:rPr>
              <a:t>It's NOI divided by the price</a:t>
            </a:r>
            <a:endParaRPr b="0" i="0" sz="1400" u="none" cap="none" strike="noStrike">
              <a:solidFill>
                <a:schemeClr val="dk1"/>
              </a:solidFill>
              <a:latin typeface="Calibri"/>
              <a:ea typeface="Calibri"/>
              <a:cs typeface="Calibri"/>
              <a:sym typeface="Calibri"/>
            </a:endParaRPr>
          </a:p>
        </p:txBody>
      </p:sp>
      <p:sp>
        <p:nvSpPr>
          <p:cNvPr id="639" name="Google Shape;639;p18"/>
          <p:cNvSpPr/>
          <p:nvPr/>
        </p:nvSpPr>
        <p:spPr>
          <a:xfrm>
            <a:off x="859536" y="4082288"/>
            <a:ext cx="6784848" cy="530352"/>
          </a:xfrm>
          <a:prstGeom prst="roundRect">
            <a:avLst>
              <a:gd fmla="val 17241"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18"/>
          <p:cNvSpPr/>
          <p:nvPr/>
        </p:nvSpPr>
        <p:spPr>
          <a:xfrm>
            <a:off x="1005840" y="4210304"/>
            <a:ext cx="274320" cy="274320"/>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18"/>
          <p:cNvSpPr txBox="1"/>
          <p:nvPr/>
        </p:nvSpPr>
        <p:spPr>
          <a:xfrm>
            <a:off x="1005840" y="421030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100"/>
              <a:buFont typeface="Inter"/>
              <a:buNone/>
            </a:pPr>
            <a:r>
              <a:rPr b="1" i="0" lang="en-US" sz="1100" u="none" cap="none" strike="noStrike">
                <a:solidFill>
                  <a:srgbClr val="FFFFFF"/>
                </a:solidFill>
                <a:latin typeface="Inter"/>
                <a:ea typeface="Inter"/>
                <a:cs typeface="Inter"/>
                <a:sym typeface="Inter"/>
              </a:rPr>
              <a:t>2</a:t>
            </a:r>
            <a:endParaRPr b="0" i="0" sz="1100" u="none" cap="none" strike="noStrike">
              <a:solidFill>
                <a:schemeClr val="dk1"/>
              </a:solidFill>
              <a:latin typeface="Calibri"/>
              <a:ea typeface="Calibri"/>
              <a:cs typeface="Calibri"/>
              <a:sym typeface="Calibri"/>
            </a:endParaRPr>
          </a:p>
        </p:txBody>
      </p:sp>
      <p:sp>
        <p:nvSpPr>
          <p:cNvPr id="642" name="Google Shape;642;p18"/>
          <p:cNvSpPr txBox="1"/>
          <p:nvPr/>
        </p:nvSpPr>
        <p:spPr>
          <a:xfrm>
            <a:off x="1408176" y="4082288"/>
            <a:ext cx="6126480" cy="53035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400"/>
              <a:buFont typeface="Inter"/>
              <a:buNone/>
            </a:pPr>
            <a:r>
              <a:rPr b="0" i="0" lang="en-US" sz="1400" u="none" cap="none" strike="noStrike">
                <a:solidFill>
                  <a:srgbClr val="171717"/>
                </a:solidFill>
                <a:latin typeface="Inter"/>
                <a:ea typeface="Inter"/>
                <a:cs typeface="Inter"/>
                <a:sym typeface="Inter"/>
              </a:rPr>
              <a:t>At the same NOI, a higher cap rate means a higher price</a:t>
            </a:r>
            <a:endParaRPr b="0" i="0" sz="1400" u="none" cap="none" strike="noStrike">
              <a:solidFill>
                <a:schemeClr val="dk1"/>
              </a:solidFill>
              <a:latin typeface="Calibri"/>
              <a:ea typeface="Calibri"/>
              <a:cs typeface="Calibri"/>
              <a:sym typeface="Calibri"/>
            </a:endParaRPr>
          </a:p>
        </p:txBody>
      </p:sp>
      <p:sp>
        <p:nvSpPr>
          <p:cNvPr id="643" name="Google Shape;643;p18"/>
          <p:cNvSpPr/>
          <p:nvPr/>
        </p:nvSpPr>
        <p:spPr>
          <a:xfrm>
            <a:off x="859536" y="4722368"/>
            <a:ext cx="6784848" cy="530352"/>
          </a:xfrm>
          <a:prstGeom prst="roundRect">
            <a:avLst>
              <a:gd fmla="val 17241"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p18"/>
          <p:cNvSpPr/>
          <p:nvPr/>
        </p:nvSpPr>
        <p:spPr>
          <a:xfrm>
            <a:off x="1005840" y="4850384"/>
            <a:ext cx="274320" cy="274320"/>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5" name="Google Shape;645;p18"/>
          <p:cNvSpPr txBox="1"/>
          <p:nvPr/>
        </p:nvSpPr>
        <p:spPr>
          <a:xfrm>
            <a:off x="1005840" y="485038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100"/>
              <a:buFont typeface="Inter"/>
              <a:buNone/>
            </a:pPr>
            <a:r>
              <a:rPr b="1" i="0" lang="en-US" sz="1100" u="none" cap="none" strike="noStrike">
                <a:solidFill>
                  <a:srgbClr val="FFFFFF"/>
                </a:solidFill>
                <a:latin typeface="Inter"/>
                <a:ea typeface="Inter"/>
                <a:cs typeface="Inter"/>
                <a:sym typeface="Inter"/>
              </a:rPr>
              <a:t>3</a:t>
            </a:r>
            <a:endParaRPr b="0" i="0" sz="1100" u="none" cap="none" strike="noStrike">
              <a:solidFill>
                <a:schemeClr val="dk1"/>
              </a:solidFill>
              <a:latin typeface="Calibri"/>
              <a:ea typeface="Calibri"/>
              <a:cs typeface="Calibri"/>
              <a:sym typeface="Calibri"/>
            </a:endParaRPr>
          </a:p>
        </p:txBody>
      </p:sp>
      <p:sp>
        <p:nvSpPr>
          <p:cNvPr id="646" name="Google Shape;646;p18"/>
          <p:cNvSpPr txBox="1"/>
          <p:nvPr/>
        </p:nvSpPr>
        <p:spPr>
          <a:xfrm>
            <a:off x="1408176" y="4722368"/>
            <a:ext cx="6126480" cy="53035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400"/>
              <a:buFont typeface="Inter"/>
              <a:buNone/>
            </a:pPr>
            <a:r>
              <a:rPr b="0" i="0" lang="en-US" sz="1400" u="none" cap="none" strike="noStrike">
                <a:solidFill>
                  <a:srgbClr val="171717"/>
                </a:solidFill>
                <a:latin typeface="Inter"/>
                <a:ea typeface="Inter"/>
                <a:cs typeface="Inter"/>
                <a:sym typeface="Inter"/>
              </a:rPr>
              <a:t>Buyers price a full year of NOI, not one good month</a:t>
            </a:r>
            <a:endParaRPr b="0" i="0" sz="1400" u="none" cap="none" strike="noStrike">
              <a:solidFill>
                <a:schemeClr val="dk1"/>
              </a:solidFill>
              <a:latin typeface="Calibri"/>
              <a:ea typeface="Calibri"/>
              <a:cs typeface="Calibri"/>
              <a:sym typeface="Calibri"/>
            </a:endParaRPr>
          </a:p>
        </p:txBody>
      </p:sp>
      <p:sp>
        <p:nvSpPr>
          <p:cNvPr id="647" name="Google Shape;647;p18"/>
          <p:cNvSpPr/>
          <p:nvPr/>
        </p:nvSpPr>
        <p:spPr>
          <a:xfrm>
            <a:off x="859536" y="5362448"/>
            <a:ext cx="6784848" cy="530352"/>
          </a:xfrm>
          <a:prstGeom prst="roundRect">
            <a:avLst>
              <a:gd fmla="val 17241"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8" name="Google Shape;648;p18"/>
          <p:cNvSpPr/>
          <p:nvPr/>
        </p:nvSpPr>
        <p:spPr>
          <a:xfrm>
            <a:off x="1005840" y="5490464"/>
            <a:ext cx="274320" cy="274320"/>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9" name="Google Shape;649;p18"/>
          <p:cNvSpPr txBox="1"/>
          <p:nvPr/>
        </p:nvSpPr>
        <p:spPr>
          <a:xfrm>
            <a:off x="1005840" y="549046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100"/>
              <a:buFont typeface="Inter"/>
              <a:buNone/>
            </a:pPr>
            <a:r>
              <a:rPr b="1" i="0" lang="en-US" sz="1100" u="none" cap="none" strike="noStrike">
                <a:solidFill>
                  <a:srgbClr val="FFFFFF"/>
                </a:solidFill>
                <a:latin typeface="Inter"/>
                <a:ea typeface="Inter"/>
                <a:cs typeface="Inter"/>
                <a:sym typeface="Inter"/>
              </a:rPr>
              <a:t>4</a:t>
            </a:r>
            <a:endParaRPr b="0" i="0" sz="1100" u="none" cap="none" strike="noStrike">
              <a:solidFill>
                <a:schemeClr val="dk1"/>
              </a:solidFill>
              <a:latin typeface="Calibri"/>
              <a:ea typeface="Calibri"/>
              <a:cs typeface="Calibri"/>
              <a:sym typeface="Calibri"/>
            </a:endParaRPr>
          </a:p>
        </p:txBody>
      </p:sp>
      <p:sp>
        <p:nvSpPr>
          <p:cNvPr id="650" name="Google Shape;650;p18"/>
          <p:cNvSpPr txBox="1"/>
          <p:nvPr/>
        </p:nvSpPr>
        <p:spPr>
          <a:xfrm>
            <a:off x="1408176" y="5362448"/>
            <a:ext cx="6126480" cy="53035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400"/>
              <a:buFont typeface="Inter"/>
              <a:buNone/>
            </a:pPr>
            <a:r>
              <a:rPr b="0" i="0" lang="en-US" sz="1400" u="none" cap="none" strike="noStrike">
                <a:solidFill>
                  <a:srgbClr val="171717"/>
                </a:solidFill>
                <a:latin typeface="Inter"/>
                <a:ea typeface="Inter"/>
                <a:cs typeface="Inter"/>
                <a:sym typeface="Inter"/>
              </a:rPr>
              <a:t>The same deal can be said as a multiple of NOI</a:t>
            </a:r>
            <a:endParaRPr b="0" i="0" sz="1400" u="none" cap="none" strike="noStrike">
              <a:solidFill>
                <a:schemeClr val="dk1"/>
              </a:solidFill>
              <a:latin typeface="Calibri"/>
              <a:ea typeface="Calibri"/>
              <a:cs typeface="Calibri"/>
              <a:sym typeface="Calibri"/>
            </a:endParaRPr>
          </a:p>
        </p:txBody>
      </p:sp>
      <p:sp>
        <p:nvSpPr>
          <p:cNvPr id="651" name="Google Shape;651;p18"/>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p18"/>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puzzle-piece.png" id="653" name="Google Shape;653;p18"/>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654" name="Google Shape;654;p18"/>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ODD ONE OUT · 4 OF 4</a:t>
            </a:r>
            <a:endParaRPr b="0" i="0" sz="950" u="none" cap="none" strike="noStrike">
              <a:solidFill>
                <a:schemeClr val="dk1"/>
              </a:solidFill>
              <a:latin typeface="Calibri"/>
              <a:ea typeface="Calibri"/>
              <a:cs typeface="Calibri"/>
              <a:sym typeface="Calibri"/>
            </a:endParaRPr>
          </a:p>
        </p:txBody>
      </p:sp>
      <p:sp>
        <p:nvSpPr>
          <p:cNvPr id="655" name="Google Shape;655;p18"/>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Cast your vote</a:t>
            </a:r>
            <a:endParaRPr b="0" i="0" sz="1800" u="none" cap="none" strike="noStrike">
              <a:solidFill>
                <a:schemeClr val="dk1"/>
              </a:solidFill>
              <a:latin typeface="Calibri"/>
              <a:ea typeface="Calibri"/>
              <a:cs typeface="Calibri"/>
              <a:sym typeface="Calibri"/>
            </a:endParaRPr>
          </a:p>
        </p:txBody>
      </p:sp>
      <p:sp>
        <p:nvSpPr>
          <p:cNvPr id="656" name="Google Shape;656;p18"/>
          <p:cNvSpPr/>
          <p:nvPr/>
        </p:nvSpPr>
        <p:spPr>
          <a:xfrm>
            <a:off x="8549640" y="3200400"/>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p18"/>
          <p:cNvSpPr/>
          <p:nvPr/>
        </p:nvSpPr>
        <p:spPr>
          <a:xfrm>
            <a:off x="8750808" y="3282696"/>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18"/>
          <p:cNvSpPr txBox="1"/>
          <p:nvPr/>
        </p:nvSpPr>
        <p:spPr>
          <a:xfrm>
            <a:off x="8750808" y="3282696"/>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sp>
        <p:nvSpPr>
          <p:cNvPr id="659" name="Google Shape;659;p18"/>
          <p:cNvSpPr txBox="1"/>
          <p:nvPr/>
        </p:nvSpPr>
        <p:spPr>
          <a:xfrm>
            <a:off x="9189720" y="3200400"/>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NOI ÷ price</a:t>
            </a:r>
            <a:endParaRPr b="0" i="0" sz="1250" u="none" cap="none" strike="noStrike">
              <a:solidFill>
                <a:schemeClr val="dk1"/>
              </a:solidFill>
              <a:latin typeface="Calibri"/>
              <a:ea typeface="Calibri"/>
              <a:cs typeface="Calibri"/>
              <a:sym typeface="Calibri"/>
            </a:endParaRPr>
          </a:p>
        </p:txBody>
      </p:sp>
      <p:sp>
        <p:nvSpPr>
          <p:cNvPr id="660" name="Google Shape;660;p18"/>
          <p:cNvSpPr/>
          <p:nvPr/>
        </p:nvSpPr>
        <p:spPr>
          <a:xfrm>
            <a:off x="8549640" y="3785616"/>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1" name="Google Shape;661;p18"/>
          <p:cNvSpPr/>
          <p:nvPr/>
        </p:nvSpPr>
        <p:spPr>
          <a:xfrm>
            <a:off x="8750808" y="3867912"/>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p18"/>
          <p:cNvSpPr txBox="1"/>
          <p:nvPr/>
        </p:nvSpPr>
        <p:spPr>
          <a:xfrm>
            <a:off x="8750808" y="3867912"/>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sp>
        <p:nvSpPr>
          <p:cNvPr id="663" name="Google Shape;663;p18"/>
          <p:cNvSpPr txBox="1"/>
          <p:nvPr/>
        </p:nvSpPr>
        <p:spPr>
          <a:xfrm>
            <a:off x="9189720" y="3785616"/>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Higher rate, dearer</a:t>
            </a:r>
            <a:endParaRPr b="0" i="0" sz="1250" u="none" cap="none" strike="noStrike">
              <a:solidFill>
                <a:schemeClr val="dk1"/>
              </a:solidFill>
              <a:latin typeface="Calibri"/>
              <a:ea typeface="Calibri"/>
              <a:cs typeface="Calibri"/>
              <a:sym typeface="Calibri"/>
            </a:endParaRPr>
          </a:p>
        </p:txBody>
      </p:sp>
      <p:sp>
        <p:nvSpPr>
          <p:cNvPr id="664" name="Google Shape;664;p18"/>
          <p:cNvSpPr/>
          <p:nvPr/>
        </p:nvSpPr>
        <p:spPr>
          <a:xfrm>
            <a:off x="8549640" y="4370832"/>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5" name="Google Shape;665;p18"/>
          <p:cNvSpPr/>
          <p:nvPr/>
        </p:nvSpPr>
        <p:spPr>
          <a:xfrm>
            <a:off x="8750808" y="4453128"/>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6" name="Google Shape;666;p18"/>
          <p:cNvSpPr txBox="1"/>
          <p:nvPr/>
        </p:nvSpPr>
        <p:spPr>
          <a:xfrm>
            <a:off x="8750808" y="4453128"/>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sp>
        <p:nvSpPr>
          <p:cNvPr id="667" name="Google Shape;667;p18"/>
          <p:cNvSpPr txBox="1"/>
          <p:nvPr/>
        </p:nvSpPr>
        <p:spPr>
          <a:xfrm>
            <a:off x="9189720" y="4370832"/>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A full year of NOI</a:t>
            </a:r>
            <a:endParaRPr b="0" i="0" sz="1250" u="none" cap="none" strike="noStrike">
              <a:solidFill>
                <a:schemeClr val="dk1"/>
              </a:solidFill>
              <a:latin typeface="Calibri"/>
              <a:ea typeface="Calibri"/>
              <a:cs typeface="Calibri"/>
              <a:sym typeface="Calibri"/>
            </a:endParaRPr>
          </a:p>
        </p:txBody>
      </p:sp>
      <p:sp>
        <p:nvSpPr>
          <p:cNvPr id="668" name="Google Shape;668;p18"/>
          <p:cNvSpPr/>
          <p:nvPr/>
        </p:nvSpPr>
        <p:spPr>
          <a:xfrm>
            <a:off x="8549640" y="4956048"/>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9" name="Google Shape;669;p18"/>
          <p:cNvSpPr/>
          <p:nvPr/>
        </p:nvSpPr>
        <p:spPr>
          <a:xfrm>
            <a:off x="8750808" y="5038344"/>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p18"/>
          <p:cNvSpPr txBox="1"/>
          <p:nvPr/>
        </p:nvSpPr>
        <p:spPr>
          <a:xfrm>
            <a:off x="8750808" y="5038344"/>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sp>
        <p:nvSpPr>
          <p:cNvPr id="671" name="Google Shape;671;p18"/>
          <p:cNvSpPr txBox="1"/>
          <p:nvPr/>
        </p:nvSpPr>
        <p:spPr>
          <a:xfrm>
            <a:off x="9189720" y="4956048"/>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Also a multiple</a:t>
            </a:r>
            <a:endParaRPr b="0" i="0" sz="1250" u="none" cap="none" strike="noStrike">
              <a:solidFill>
                <a:schemeClr val="dk1"/>
              </a:solidFill>
              <a:latin typeface="Calibri"/>
              <a:ea typeface="Calibri"/>
              <a:cs typeface="Calibri"/>
              <a:sym typeface="Calibri"/>
            </a:endParaRPr>
          </a:p>
        </p:txBody>
      </p:sp>
      <p:sp>
        <p:nvSpPr>
          <p:cNvPr id="672" name="Google Shape;672;p18"/>
          <p:cNvSpPr txBox="1"/>
          <p:nvPr/>
        </p:nvSpPr>
        <p:spPr>
          <a:xfrm>
            <a:off x="8549640" y="5522976"/>
            <a:ext cx="2816352" cy="548640"/>
          </a:xfrm>
          <a:prstGeom prst="rect">
            <a:avLst/>
          </a:prstGeom>
          <a:noFill/>
          <a:ln>
            <a:noFill/>
          </a:ln>
        </p:spPr>
        <p:txBody>
          <a:bodyPr anchorCtr="0" anchor="t" bIns="0" lIns="0" spcFirstLastPara="1" rIns="0" wrap="square" tIns="0">
            <a:noAutofit/>
          </a:bodyPr>
          <a:lstStyle/>
          <a:p>
            <a:pPr indent="0" lvl="0" marL="0" marR="0" rtl="0" algn="l">
              <a:lnSpc>
                <a:spcPct val="135047"/>
              </a:lnSpc>
              <a:spcBef>
                <a:spcPts val="0"/>
              </a:spcBef>
              <a:spcAft>
                <a:spcPts val="0"/>
              </a:spcAft>
              <a:buClr>
                <a:srgbClr val="737373"/>
              </a:buClr>
              <a:buSzPts val="1050"/>
              <a:buFont typeface="Inter"/>
              <a:buNone/>
            </a:pPr>
            <a:r>
              <a:rPr b="0" i="0" lang="en-US" sz="1050" u="none" cap="none" strike="noStrike">
                <a:solidFill>
                  <a:srgbClr val="737373"/>
                </a:solidFill>
                <a:latin typeface="Inter"/>
                <a:ea typeface="Inter"/>
                <a:cs typeface="Inter"/>
                <a:sym typeface="Inter"/>
              </a:rPr>
              <a:t>Vote first. Then the answer.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677" name="Shape 677"/>
        <p:cNvGrpSpPr/>
        <p:nvPr/>
      </p:nvGrpSpPr>
      <p:grpSpPr>
        <a:xfrm>
          <a:off x="0" y="0"/>
          <a:ext cx="0" cy="0"/>
          <a:chOff x="0" y="0"/>
          <a:chExt cx="0" cy="0"/>
        </a:xfrm>
      </p:grpSpPr>
      <p:sp>
        <p:nvSpPr>
          <p:cNvPr id="678" name="Google Shape;678;p19"/>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ODD ONE OUT · 4 OF 4</a:t>
            </a:r>
            <a:endParaRPr b="0" i="0" sz="1050" u="none" cap="none" strike="noStrike">
              <a:solidFill>
                <a:schemeClr val="dk1"/>
              </a:solidFill>
              <a:latin typeface="Calibri"/>
              <a:ea typeface="Calibri"/>
              <a:cs typeface="Calibri"/>
              <a:sym typeface="Calibri"/>
            </a:endParaRPr>
          </a:p>
        </p:txBody>
      </p:sp>
      <p:sp>
        <p:nvSpPr>
          <p:cNvPr id="679" name="Google Shape;679;p19"/>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Which one is the mistake?</a:t>
            </a:r>
            <a:endParaRPr b="0" i="0" sz="3000" u="none" cap="none" strike="noStrike">
              <a:solidFill>
                <a:schemeClr val="dk1"/>
              </a:solidFill>
              <a:latin typeface="Calibri"/>
              <a:ea typeface="Calibri"/>
              <a:cs typeface="Calibri"/>
              <a:sym typeface="Calibri"/>
            </a:endParaRPr>
          </a:p>
        </p:txBody>
      </p:sp>
      <p:pic>
        <p:nvPicPr>
          <p:cNvPr descr="/home/claude/work/renderer/brand/wordmark.png" id="680" name="Google Shape;680;p19"/>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681" name="Google Shape;681;p19"/>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17 / 48</a:t>
            </a:r>
            <a:endParaRPr b="0" i="0" sz="900" u="none" cap="none" strike="noStrike">
              <a:solidFill>
                <a:schemeClr val="dk1"/>
              </a:solidFill>
              <a:latin typeface="Calibri"/>
              <a:ea typeface="Calibri"/>
              <a:cs typeface="Calibri"/>
              <a:sym typeface="Calibri"/>
            </a:endParaRPr>
          </a:p>
        </p:txBody>
      </p:sp>
      <p:sp>
        <p:nvSpPr>
          <p:cNvPr id="682" name="Google Shape;682;p19"/>
          <p:cNvSpPr/>
          <p:nvPr/>
        </p:nvSpPr>
        <p:spPr>
          <a:xfrm>
            <a:off x="548640" y="1481328"/>
            <a:ext cx="7406640" cy="2874899"/>
          </a:xfrm>
          <a:prstGeom prst="roundRect">
            <a:avLst>
              <a:gd fmla="val 3817"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3" name="Google Shape;683;p19"/>
          <p:cNvSpPr txBox="1"/>
          <p:nvPr/>
        </p:nvSpPr>
        <p:spPr>
          <a:xfrm>
            <a:off x="859536" y="1719072"/>
            <a:ext cx="6784848" cy="40411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71717"/>
              </a:buClr>
              <a:buSzPts val="2200"/>
              <a:buFont typeface="Inter"/>
              <a:buNone/>
            </a:pPr>
            <a:r>
              <a:rPr b="1" i="0" lang="en-US" sz="2200" u="none" cap="none" strike="noStrike">
                <a:solidFill>
                  <a:srgbClr val="171717"/>
                </a:solidFill>
                <a:latin typeface="Inter"/>
                <a:ea typeface="Inter"/>
                <a:cs typeface="Inter"/>
                <a:sym typeface="Inter"/>
              </a:rPr>
              <a:t>Cap rate</a:t>
            </a:r>
            <a:endParaRPr b="0" i="0" sz="2200" u="none" cap="none" strike="noStrike">
              <a:solidFill>
                <a:schemeClr val="dk1"/>
              </a:solidFill>
              <a:latin typeface="Calibri"/>
              <a:ea typeface="Calibri"/>
              <a:cs typeface="Calibri"/>
              <a:sym typeface="Calibri"/>
            </a:endParaRPr>
          </a:p>
        </p:txBody>
      </p:sp>
      <p:cxnSp>
        <p:nvCxnSpPr>
          <p:cNvPr id="684" name="Google Shape;684;p19"/>
          <p:cNvCxnSpPr/>
          <p:nvPr/>
        </p:nvCxnSpPr>
        <p:spPr>
          <a:xfrm>
            <a:off x="859536" y="2251202"/>
            <a:ext cx="6784848" cy="0"/>
          </a:xfrm>
          <a:prstGeom prst="straightConnector1">
            <a:avLst/>
          </a:prstGeom>
          <a:noFill/>
          <a:ln cap="flat" cmpd="sng" w="12700">
            <a:solidFill>
              <a:srgbClr val="E5E5E5"/>
            </a:solidFill>
            <a:prstDash val="solid"/>
            <a:round/>
            <a:headEnd len="sm" w="sm" type="none"/>
            <a:tailEnd len="sm" w="sm" type="none"/>
          </a:ln>
        </p:spPr>
      </p:cxnSp>
      <p:sp>
        <p:nvSpPr>
          <p:cNvPr id="685" name="Google Shape;685;p19"/>
          <p:cNvSpPr/>
          <p:nvPr/>
        </p:nvSpPr>
        <p:spPr>
          <a:xfrm>
            <a:off x="859536" y="2415794"/>
            <a:ext cx="6784848" cy="365760"/>
          </a:xfrm>
          <a:prstGeom prst="roundRect">
            <a:avLst>
              <a:gd fmla="val 2500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6" name="Google Shape;686;p19"/>
          <p:cNvSpPr/>
          <p:nvPr/>
        </p:nvSpPr>
        <p:spPr>
          <a:xfrm>
            <a:off x="1005840" y="2461514"/>
            <a:ext cx="274320" cy="274320"/>
          </a:xfrm>
          <a:prstGeom prst="ellipse">
            <a:avLst/>
          </a:prstGeom>
          <a:solidFill>
            <a:srgbClr val="7373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p19"/>
          <p:cNvSpPr txBox="1"/>
          <p:nvPr/>
        </p:nvSpPr>
        <p:spPr>
          <a:xfrm>
            <a:off x="1005840" y="246151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100"/>
              <a:buFont typeface="Inter"/>
              <a:buNone/>
            </a:pPr>
            <a:r>
              <a:rPr b="1" i="0" lang="en-US" sz="1100" u="none" cap="none" strike="noStrike">
                <a:solidFill>
                  <a:srgbClr val="FFFFFF"/>
                </a:solidFill>
                <a:latin typeface="Inter"/>
                <a:ea typeface="Inter"/>
                <a:cs typeface="Inter"/>
                <a:sym typeface="Inter"/>
              </a:rPr>
              <a:t>1</a:t>
            </a:r>
            <a:endParaRPr b="0" i="0" sz="1100" u="none" cap="none" strike="noStrike">
              <a:solidFill>
                <a:schemeClr val="dk1"/>
              </a:solidFill>
              <a:latin typeface="Calibri"/>
              <a:ea typeface="Calibri"/>
              <a:cs typeface="Calibri"/>
              <a:sym typeface="Calibri"/>
            </a:endParaRPr>
          </a:p>
        </p:txBody>
      </p:sp>
      <p:sp>
        <p:nvSpPr>
          <p:cNvPr id="688" name="Google Shape;688;p19"/>
          <p:cNvSpPr txBox="1"/>
          <p:nvPr/>
        </p:nvSpPr>
        <p:spPr>
          <a:xfrm>
            <a:off x="1408176" y="2415794"/>
            <a:ext cx="6126480"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737373"/>
              </a:buClr>
              <a:buSzPts val="1200"/>
              <a:buFont typeface="Inter"/>
              <a:buNone/>
            </a:pPr>
            <a:r>
              <a:rPr b="0" i="0" lang="en-US" sz="1200" u="none" cap="none" strike="noStrike">
                <a:solidFill>
                  <a:srgbClr val="737373"/>
                </a:solidFill>
                <a:latin typeface="Inter"/>
                <a:ea typeface="Inter"/>
                <a:cs typeface="Inter"/>
                <a:sym typeface="Inter"/>
              </a:rPr>
              <a:t>It's NOI divided by the price</a:t>
            </a:r>
            <a:endParaRPr b="0" i="0" sz="1200" u="none" cap="none" strike="noStrike">
              <a:solidFill>
                <a:schemeClr val="dk1"/>
              </a:solidFill>
              <a:latin typeface="Calibri"/>
              <a:ea typeface="Calibri"/>
              <a:cs typeface="Calibri"/>
              <a:sym typeface="Calibri"/>
            </a:endParaRPr>
          </a:p>
        </p:txBody>
      </p:sp>
      <p:sp>
        <p:nvSpPr>
          <p:cNvPr id="689" name="Google Shape;689;p19"/>
          <p:cNvSpPr/>
          <p:nvPr/>
        </p:nvSpPr>
        <p:spPr>
          <a:xfrm>
            <a:off x="859536" y="2836418"/>
            <a:ext cx="6784848" cy="365760"/>
          </a:xfrm>
          <a:prstGeom prst="roundRect">
            <a:avLst>
              <a:gd fmla="val 25000"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p19"/>
          <p:cNvSpPr/>
          <p:nvPr/>
        </p:nvSpPr>
        <p:spPr>
          <a:xfrm>
            <a:off x="1005840" y="2882138"/>
            <a:ext cx="274320" cy="274320"/>
          </a:xfrm>
          <a:prstGeom prst="ellipse">
            <a:avLst/>
          </a:prstGeom>
          <a:solidFill>
            <a:srgbClr val="1580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19"/>
          <p:cNvSpPr txBox="1"/>
          <p:nvPr/>
        </p:nvSpPr>
        <p:spPr>
          <a:xfrm>
            <a:off x="1005840" y="288213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100"/>
              <a:buFont typeface="Inter"/>
              <a:buNone/>
            </a:pPr>
            <a:r>
              <a:rPr b="1" i="0" lang="en-US" sz="1100" u="none" cap="none" strike="noStrike">
                <a:solidFill>
                  <a:srgbClr val="FFFFFF"/>
                </a:solidFill>
                <a:latin typeface="Inter"/>
                <a:ea typeface="Inter"/>
                <a:cs typeface="Inter"/>
                <a:sym typeface="Inter"/>
              </a:rPr>
              <a:t>2</a:t>
            </a:r>
            <a:endParaRPr b="0" i="0" sz="1100" u="none" cap="none" strike="noStrike">
              <a:solidFill>
                <a:schemeClr val="dk1"/>
              </a:solidFill>
              <a:latin typeface="Calibri"/>
              <a:ea typeface="Calibri"/>
              <a:cs typeface="Calibri"/>
              <a:sym typeface="Calibri"/>
            </a:endParaRPr>
          </a:p>
        </p:txBody>
      </p:sp>
      <p:sp>
        <p:nvSpPr>
          <p:cNvPr id="692" name="Google Shape;692;p19"/>
          <p:cNvSpPr txBox="1"/>
          <p:nvPr/>
        </p:nvSpPr>
        <p:spPr>
          <a:xfrm>
            <a:off x="1408176" y="2836418"/>
            <a:ext cx="6126480"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1200"/>
              <a:buFont typeface="Inter"/>
              <a:buNone/>
            </a:pPr>
            <a:r>
              <a:rPr b="1" i="0" lang="en-US" sz="1200" u="none" cap="none" strike="noStrike">
                <a:solidFill>
                  <a:srgbClr val="15803D"/>
                </a:solidFill>
                <a:latin typeface="Inter"/>
                <a:ea typeface="Inter"/>
                <a:cs typeface="Inter"/>
                <a:sym typeface="Inter"/>
              </a:rPr>
              <a:t>At the same NOI, a higher cap rate means a higher price</a:t>
            </a:r>
            <a:endParaRPr b="0" i="0" sz="1200" u="none" cap="none" strike="noStrike">
              <a:solidFill>
                <a:schemeClr val="dk1"/>
              </a:solidFill>
              <a:latin typeface="Calibri"/>
              <a:ea typeface="Calibri"/>
              <a:cs typeface="Calibri"/>
              <a:sym typeface="Calibri"/>
            </a:endParaRPr>
          </a:p>
        </p:txBody>
      </p:sp>
      <p:sp>
        <p:nvSpPr>
          <p:cNvPr id="693" name="Google Shape;693;p19"/>
          <p:cNvSpPr/>
          <p:nvPr/>
        </p:nvSpPr>
        <p:spPr>
          <a:xfrm>
            <a:off x="859536" y="3257042"/>
            <a:ext cx="6784848" cy="365760"/>
          </a:xfrm>
          <a:prstGeom prst="roundRect">
            <a:avLst>
              <a:gd fmla="val 2500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4" name="Google Shape;694;p19"/>
          <p:cNvSpPr/>
          <p:nvPr/>
        </p:nvSpPr>
        <p:spPr>
          <a:xfrm>
            <a:off x="1005840" y="3302762"/>
            <a:ext cx="274320" cy="274320"/>
          </a:xfrm>
          <a:prstGeom prst="ellipse">
            <a:avLst/>
          </a:prstGeom>
          <a:solidFill>
            <a:srgbClr val="7373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5" name="Google Shape;695;p19"/>
          <p:cNvSpPr txBox="1"/>
          <p:nvPr/>
        </p:nvSpPr>
        <p:spPr>
          <a:xfrm>
            <a:off x="1005840" y="3302762"/>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100"/>
              <a:buFont typeface="Inter"/>
              <a:buNone/>
            </a:pPr>
            <a:r>
              <a:rPr b="1" i="0" lang="en-US" sz="1100" u="none" cap="none" strike="noStrike">
                <a:solidFill>
                  <a:srgbClr val="FFFFFF"/>
                </a:solidFill>
                <a:latin typeface="Inter"/>
                <a:ea typeface="Inter"/>
                <a:cs typeface="Inter"/>
                <a:sym typeface="Inter"/>
              </a:rPr>
              <a:t>3</a:t>
            </a:r>
            <a:endParaRPr b="0" i="0" sz="1100" u="none" cap="none" strike="noStrike">
              <a:solidFill>
                <a:schemeClr val="dk1"/>
              </a:solidFill>
              <a:latin typeface="Calibri"/>
              <a:ea typeface="Calibri"/>
              <a:cs typeface="Calibri"/>
              <a:sym typeface="Calibri"/>
            </a:endParaRPr>
          </a:p>
        </p:txBody>
      </p:sp>
      <p:sp>
        <p:nvSpPr>
          <p:cNvPr id="696" name="Google Shape;696;p19"/>
          <p:cNvSpPr txBox="1"/>
          <p:nvPr/>
        </p:nvSpPr>
        <p:spPr>
          <a:xfrm>
            <a:off x="1408176" y="3257042"/>
            <a:ext cx="6126480"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737373"/>
              </a:buClr>
              <a:buSzPts val="1200"/>
              <a:buFont typeface="Inter"/>
              <a:buNone/>
            </a:pPr>
            <a:r>
              <a:rPr b="0" i="0" lang="en-US" sz="1200" u="none" cap="none" strike="noStrike">
                <a:solidFill>
                  <a:srgbClr val="737373"/>
                </a:solidFill>
                <a:latin typeface="Inter"/>
                <a:ea typeface="Inter"/>
                <a:cs typeface="Inter"/>
                <a:sym typeface="Inter"/>
              </a:rPr>
              <a:t>Buyers price a full year of NOI, not one good month</a:t>
            </a:r>
            <a:endParaRPr b="0" i="0" sz="1200" u="none" cap="none" strike="noStrike">
              <a:solidFill>
                <a:schemeClr val="dk1"/>
              </a:solidFill>
              <a:latin typeface="Calibri"/>
              <a:ea typeface="Calibri"/>
              <a:cs typeface="Calibri"/>
              <a:sym typeface="Calibri"/>
            </a:endParaRPr>
          </a:p>
        </p:txBody>
      </p:sp>
      <p:sp>
        <p:nvSpPr>
          <p:cNvPr id="697" name="Google Shape;697;p19"/>
          <p:cNvSpPr/>
          <p:nvPr/>
        </p:nvSpPr>
        <p:spPr>
          <a:xfrm>
            <a:off x="859536" y="3677666"/>
            <a:ext cx="6784848" cy="365760"/>
          </a:xfrm>
          <a:prstGeom prst="roundRect">
            <a:avLst>
              <a:gd fmla="val 2500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p19"/>
          <p:cNvSpPr/>
          <p:nvPr/>
        </p:nvSpPr>
        <p:spPr>
          <a:xfrm>
            <a:off x="1005840" y="3723386"/>
            <a:ext cx="274320" cy="274320"/>
          </a:xfrm>
          <a:prstGeom prst="ellipse">
            <a:avLst/>
          </a:prstGeom>
          <a:solidFill>
            <a:srgbClr val="7373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p19"/>
          <p:cNvSpPr txBox="1"/>
          <p:nvPr/>
        </p:nvSpPr>
        <p:spPr>
          <a:xfrm>
            <a:off x="1005840" y="372338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100"/>
              <a:buFont typeface="Inter"/>
              <a:buNone/>
            </a:pPr>
            <a:r>
              <a:rPr b="1" i="0" lang="en-US" sz="1100" u="none" cap="none" strike="noStrike">
                <a:solidFill>
                  <a:srgbClr val="FFFFFF"/>
                </a:solidFill>
                <a:latin typeface="Inter"/>
                <a:ea typeface="Inter"/>
                <a:cs typeface="Inter"/>
                <a:sym typeface="Inter"/>
              </a:rPr>
              <a:t>4</a:t>
            </a:r>
            <a:endParaRPr b="0" i="0" sz="1100" u="none" cap="none" strike="noStrike">
              <a:solidFill>
                <a:schemeClr val="dk1"/>
              </a:solidFill>
              <a:latin typeface="Calibri"/>
              <a:ea typeface="Calibri"/>
              <a:cs typeface="Calibri"/>
              <a:sym typeface="Calibri"/>
            </a:endParaRPr>
          </a:p>
        </p:txBody>
      </p:sp>
      <p:sp>
        <p:nvSpPr>
          <p:cNvPr id="700" name="Google Shape;700;p19"/>
          <p:cNvSpPr txBox="1"/>
          <p:nvPr/>
        </p:nvSpPr>
        <p:spPr>
          <a:xfrm>
            <a:off x="1408176" y="3677666"/>
            <a:ext cx="6126480"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737373"/>
              </a:buClr>
              <a:buSzPts val="1200"/>
              <a:buFont typeface="Inter"/>
              <a:buNone/>
            </a:pPr>
            <a:r>
              <a:rPr b="0" i="0" lang="en-US" sz="1200" u="none" cap="none" strike="noStrike">
                <a:solidFill>
                  <a:srgbClr val="737373"/>
                </a:solidFill>
                <a:latin typeface="Inter"/>
                <a:ea typeface="Inter"/>
                <a:cs typeface="Inter"/>
                <a:sym typeface="Inter"/>
              </a:rPr>
              <a:t>The same deal can be said as a multiple of NOI</a:t>
            </a:r>
            <a:endParaRPr b="0" i="0" sz="1200" u="none" cap="none" strike="noStrike">
              <a:solidFill>
                <a:schemeClr val="dk1"/>
              </a:solidFill>
              <a:latin typeface="Calibri"/>
              <a:ea typeface="Calibri"/>
              <a:cs typeface="Calibri"/>
              <a:sym typeface="Calibri"/>
            </a:endParaRPr>
          </a:p>
        </p:txBody>
      </p:sp>
      <p:sp>
        <p:nvSpPr>
          <p:cNvPr id="701" name="Google Shape;701;p19"/>
          <p:cNvSpPr/>
          <p:nvPr/>
        </p:nvSpPr>
        <p:spPr>
          <a:xfrm>
            <a:off x="548640" y="4539107"/>
            <a:ext cx="7406640" cy="1770253"/>
          </a:xfrm>
          <a:prstGeom prst="roundRect">
            <a:avLst>
              <a:gd fmla="val 6198"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p19"/>
          <p:cNvSpPr txBox="1"/>
          <p:nvPr/>
        </p:nvSpPr>
        <p:spPr>
          <a:xfrm>
            <a:off x="859536" y="4721987"/>
            <a:ext cx="6784848"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900"/>
              <a:buFont typeface="Roboto Mono"/>
              <a:buNone/>
            </a:pPr>
            <a:r>
              <a:rPr b="0" i="0" lang="en-US" sz="900" u="none" cap="none" strike="noStrike">
                <a:solidFill>
                  <a:srgbClr val="15803D"/>
                </a:solidFill>
                <a:latin typeface="Roboto Mono"/>
                <a:ea typeface="Roboto Mono"/>
                <a:cs typeface="Roboto Mono"/>
                <a:sym typeface="Roboto Mono"/>
              </a:rPr>
              <a:t>WHY</a:t>
            </a:r>
            <a:endParaRPr b="0" i="0" sz="900" u="none" cap="none" strike="noStrike">
              <a:solidFill>
                <a:schemeClr val="dk1"/>
              </a:solidFill>
              <a:latin typeface="Calibri"/>
              <a:ea typeface="Calibri"/>
              <a:cs typeface="Calibri"/>
              <a:sym typeface="Calibri"/>
            </a:endParaRPr>
          </a:p>
        </p:txBody>
      </p:sp>
      <p:sp>
        <p:nvSpPr>
          <p:cNvPr id="703" name="Google Shape;703;p19"/>
          <p:cNvSpPr txBox="1"/>
          <p:nvPr/>
        </p:nvSpPr>
        <p:spPr>
          <a:xfrm>
            <a:off x="859536" y="4978019"/>
            <a:ext cx="6784848" cy="65722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Statement 2 is the mistake, and it's the one that costs money. </a:t>
            </a:r>
            <a:r>
              <a:rPr b="1" i="0" lang="en-US" sz="1100" u="none" cap="none" strike="noStrike">
                <a:solidFill>
                  <a:srgbClr val="404040"/>
                </a:solidFill>
                <a:latin typeface="Inter"/>
                <a:ea typeface="Inter"/>
                <a:cs typeface="Inter"/>
                <a:sym typeface="Inter"/>
              </a:rPr>
              <a:t>At the same NOI, a higher cap rate means a lower price</a:t>
            </a:r>
            <a:r>
              <a:rPr b="0" i="0" lang="en-US" sz="1100" u="none" cap="none" strike="noStrike">
                <a:solidFill>
                  <a:srgbClr val="404040"/>
                </a:solidFill>
                <a:latin typeface="Inter"/>
                <a:ea typeface="Inter"/>
                <a:cs typeface="Inter"/>
                <a:sym typeface="Inter"/>
              </a:rPr>
              <a:t>, because the buyer wants more return on every dollar. Price = NOI ÷ cap rate, and dividing by a bigger number gives less.</a:t>
            </a:r>
            <a:endParaRPr b="0" i="0" sz="1100" u="none" cap="none" strike="noStrike">
              <a:solidFill>
                <a:schemeClr val="dk1"/>
              </a:solidFill>
              <a:latin typeface="Calibri"/>
              <a:ea typeface="Calibri"/>
              <a:cs typeface="Calibri"/>
              <a:sym typeface="Calibri"/>
            </a:endParaRPr>
          </a:p>
        </p:txBody>
      </p:sp>
      <p:sp>
        <p:nvSpPr>
          <p:cNvPr id="704" name="Google Shape;704;p19"/>
          <p:cNvSpPr txBox="1"/>
          <p:nvPr/>
        </p:nvSpPr>
        <p:spPr>
          <a:xfrm>
            <a:off x="859536" y="5671820"/>
            <a:ext cx="6784848" cy="491236"/>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5803D"/>
              </a:buClr>
              <a:buSzPts val="1100"/>
              <a:buFont typeface="Inter"/>
              <a:buNone/>
            </a:pPr>
            <a:r>
              <a:rPr b="1" i="0" lang="en-US" sz="1100" u="none" cap="none" strike="noStrike">
                <a:solidFill>
                  <a:srgbClr val="15803D"/>
                </a:solidFill>
                <a:latin typeface="Inter"/>
                <a:ea typeface="Inter"/>
                <a:cs typeface="Inter"/>
                <a:sym typeface="Inter"/>
              </a:rPr>
              <a:t>“A higher NOI at the same cap rate means the property is worth more. That's the long game.”</a:t>
            </a:r>
            <a:endParaRPr b="0" i="0" sz="1100" u="none" cap="none" strike="noStrike">
              <a:solidFill>
                <a:schemeClr val="dk1"/>
              </a:solidFill>
              <a:latin typeface="Calibri"/>
              <a:ea typeface="Calibri"/>
              <a:cs typeface="Calibri"/>
              <a:sym typeface="Calibri"/>
            </a:endParaRPr>
          </a:p>
        </p:txBody>
      </p:sp>
      <p:sp>
        <p:nvSpPr>
          <p:cNvPr id="705" name="Google Shape;705;p19"/>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p19"/>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puzzle-piece.png" id="707" name="Google Shape;707;p19"/>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708" name="Google Shape;708;p19"/>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THE ANSWER</a:t>
            </a:r>
            <a:endParaRPr b="0" i="0" sz="950" u="none" cap="none" strike="noStrike">
              <a:solidFill>
                <a:schemeClr val="dk1"/>
              </a:solidFill>
              <a:latin typeface="Calibri"/>
              <a:ea typeface="Calibri"/>
              <a:cs typeface="Calibri"/>
              <a:sym typeface="Calibri"/>
            </a:endParaRPr>
          </a:p>
        </p:txBody>
      </p:sp>
      <p:sp>
        <p:nvSpPr>
          <p:cNvPr id="709" name="Google Shape;709;p19"/>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The answer</a:t>
            </a:r>
            <a:endParaRPr b="0" i="0" sz="1800" u="none" cap="none" strike="noStrike">
              <a:solidFill>
                <a:schemeClr val="dk1"/>
              </a:solidFill>
              <a:latin typeface="Calibri"/>
              <a:ea typeface="Calibri"/>
              <a:cs typeface="Calibri"/>
              <a:sym typeface="Calibri"/>
            </a:endParaRPr>
          </a:p>
        </p:txBody>
      </p:sp>
      <p:sp>
        <p:nvSpPr>
          <p:cNvPr id="710" name="Google Shape;710;p19"/>
          <p:cNvSpPr/>
          <p:nvPr/>
        </p:nvSpPr>
        <p:spPr>
          <a:xfrm>
            <a:off x="8549640" y="3200400"/>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p19"/>
          <p:cNvSpPr/>
          <p:nvPr/>
        </p:nvSpPr>
        <p:spPr>
          <a:xfrm>
            <a:off x="8750808" y="3282696"/>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p19"/>
          <p:cNvSpPr txBox="1"/>
          <p:nvPr/>
        </p:nvSpPr>
        <p:spPr>
          <a:xfrm>
            <a:off x="8750808" y="3282696"/>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sp>
        <p:nvSpPr>
          <p:cNvPr id="713" name="Google Shape;713;p19"/>
          <p:cNvSpPr txBox="1"/>
          <p:nvPr/>
        </p:nvSpPr>
        <p:spPr>
          <a:xfrm>
            <a:off x="9189720" y="3200400"/>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NOI ÷ price</a:t>
            </a:r>
            <a:endParaRPr b="0" i="0" sz="1250" u="none" cap="none" strike="noStrike">
              <a:solidFill>
                <a:schemeClr val="dk1"/>
              </a:solidFill>
              <a:latin typeface="Calibri"/>
              <a:ea typeface="Calibri"/>
              <a:cs typeface="Calibri"/>
              <a:sym typeface="Calibri"/>
            </a:endParaRPr>
          </a:p>
        </p:txBody>
      </p:sp>
      <p:sp>
        <p:nvSpPr>
          <p:cNvPr id="714" name="Google Shape;714;p19"/>
          <p:cNvSpPr/>
          <p:nvPr/>
        </p:nvSpPr>
        <p:spPr>
          <a:xfrm>
            <a:off x="8549640" y="3785616"/>
            <a:ext cx="2816352" cy="475488"/>
          </a:xfrm>
          <a:prstGeom prst="roundRect">
            <a:avLst>
              <a:gd fmla="val 19231"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check-circle.png" id="715" name="Google Shape;715;p19"/>
          <p:cNvPicPr preferRelativeResize="0"/>
          <p:nvPr/>
        </p:nvPicPr>
        <p:blipFill rotWithShape="1">
          <a:blip r:embed="rId5">
            <a:alphaModFix/>
          </a:blip>
          <a:srcRect b="0" l="0" r="0" t="0"/>
          <a:stretch/>
        </p:blipFill>
        <p:spPr>
          <a:xfrm>
            <a:off x="8750808" y="3867912"/>
            <a:ext cx="310896" cy="310896"/>
          </a:xfrm>
          <a:prstGeom prst="rect">
            <a:avLst/>
          </a:prstGeom>
          <a:noFill/>
          <a:ln>
            <a:noFill/>
          </a:ln>
        </p:spPr>
      </p:pic>
      <p:sp>
        <p:nvSpPr>
          <p:cNvPr id="716" name="Google Shape;716;p19"/>
          <p:cNvSpPr txBox="1"/>
          <p:nvPr/>
        </p:nvSpPr>
        <p:spPr>
          <a:xfrm>
            <a:off x="9189720" y="3785616"/>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803D"/>
              </a:buClr>
              <a:buSzPts val="1250"/>
              <a:buFont typeface="Inter"/>
              <a:buNone/>
            </a:pPr>
            <a:r>
              <a:rPr b="1" i="0" lang="en-US" sz="1250" u="none" cap="none" strike="noStrike">
                <a:solidFill>
                  <a:srgbClr val="15803D"/>
                </a:solidFill>
                <a:latin typeface="Inter"/>
                <a:ea typeface="Inter"/>
                <a:cs typeface="Inter"/>
                <a:sym typeface="Inter"/>
              </a:rPr>
              <a:t>Higher rate, dearer</a:t>
            </a:r>
            <a:endParaRPr b="0" i="0" sz="1250" u="none" cap="none" strike="noStrike">
              <a:solidFill>
                <a:schemeClr val="dk1"/>
              </a:solidFill>
              <a:latin typeface="Calibri"/>
              <a:ea typeface="Calibri"/>
              <a:cs typeface="Calibri"/>
              <a:sym typeface="Calibri"/>
            </a:endParaRPr>
          </a:p>
        </p:txBody>
      </p:sp>
      <p:sp>
        <p:nvSpPr>
          <p:cNvPr id="717" name="Google Shape;717;p19"/>
          <p:cNvSpPr/>
          <p:nvPr/>
        </p:nvSpPr>
        <p:spPr>
          <a:xfrm>
            <a:off x="8549640" y="4370832"/>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8" name="Google Shape;718;p19"/>
          <p:cNvSpPr/>
          <p:nvPr/>
        </p:nvSpPr>
        <p:spPr>
          <a:xfrm>
            <a:off x="8750808" y="4453128"/>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9" name="Google Shape;719;p19"/>
          <p:cNvSpPr txBox="1"/>
          <p:nvPr/>
        </p:nvSpPr>
        <p:spPr>
          <a:xfrm>
            <a:off x="8750808" y="4453128"/>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sp>
        <p:nvSpPr>
          <p:cNvPr id="720" name="Google Shape;720;p19"/>
          <p:cNvSpPr txBox="1"/>
          <p:nvPr/>
        </p:nvSpPr>
        <p:spPr>
          <a:xfrm>
            <a:off x="9189720" y="4370832"/>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A full year of NOI</a:t>
            </a:r>
            <a:endParaRPr b="0" i="0" sz="1250" u="none" cap="none" strike="noStrike">
              <a:solidFill>
                <a:schemeClr val="dk1"/>
              </a:solidFill>
              <a:latin typeface="Calibri"/>
              <a:ea typeface="Calibri"/>
              <a:cs typeface="Calibri"/>
              <a:sym typeface="Calibri"/>
            </a:endParaRPr>
          </a:p>
        </p:txBody>
      </p:sp>
      <p:sp>
        <p:nvSpPr>
          <p:cNvPr id="721" name="Google Shape;721;p19"/>
          <p:cNvSpPr/>
          <p:nvPr/>
        </p:nvSpPr>
        <p:spPr>
          <a:xfrm>
            <a:off x="8549640" y="4956048"/>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2" name="Google Shape;722;p19"/>
          <p:cNvSpPr/>
          <p:nvPr/>
        </p:nvSpPr>
        <p:spPr>
          <a:xfrm>
            <a:off x="8750808" y="5038344"/>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3" name="Google Shape;723;p19"/>
          <p:cNvSpPr txBox="1"/>
          <p:nvPr/>
        </p:nvSpPr>
        <p:spPr>
          <a:xfrm>
            <a:off x="8750808" y="5038344"/>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sp>
        <p:nvSpPr>
          <p:cNvPr id="724" name="Google Shape;724;p19"/>
          <p:cNvSpPr txBox="1"/>
          <p:nvPr/>
        </p:nvSpPr>
        <p:spPr>
          <a:xfrm>
            <a:off x="9189720" y="4956048"/>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Also a multiple</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729" name="Shape 729"/>
        <p:cNvGrpSpPr/>
        <p:nvPr/>
      </p:nvGrpSpPr>
      <p:grpSpPr>
        <a:xfrm>
          <a:off x="0" y="0"/>
          <a:ext cx="0" cy="0"/>
          <a:chOff x="0" y="0"/>
          <a:chExt cx="0" cy="0"/>
        </a:xfrm>
      </p:grpSpPr>
      <p:sp>
        <p:nvSpPr>
          <p:cNvPr id="730" name="Google Shape;730;p20"/>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5 · IS THE MARKETING WORKING?</a:t>
            </a:r>
            <a:endParaRPr b="0" i="0" sz="1050" u="none" cap="none" strike="noStrike">
              <a:solidFill>
                <a:schemeClr val="dk1"/>
              </a:solidFill>
              <a:latin typeface="Calibri"/>
              <a:ea typeface="Calibri"/>
              <a:cs typeface="Calibri"/>
              <a:sym typeface="Calibri"/>
            </a:endParaRPr>
          </a:p>
        </p:txBody>
      </p:sp>
      <p:sp>
        <p:nvSpPr>
          <p:cNvPr id="731" name="Google Shape;731;p20"/>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Block 5: is the marketing working?</a:t>
            </a:r>
            <a:endParaRPr b="0" i="0" sz="3000" u="none" cap="none" strike="noStrike">
              <a:solidFill>
                <a:schemeClr val="dk1"/>
              </a:solidFill>
              <a:latin typeface="Calibri"/>
              <a:ea typeface="Calibri"/>
              <a:cs typeface="Calibri"/>
              <a:sym typeface="Calibri"/>
            </a:endParaRPr>
          </a:p>
        </p:txBody>
      </p:sp>
      <p:sp>
        <p:nvSpPr>
          <p:cNvPr id="732" name="Google Shape;732;p20"/>
          <p:cNvSpPr txBox="1"/>
          <p:nvPr/>
        </p:nvSpPr>
        <p:spPr>
          <a:xfrm>
            <a:off x="548640" y="1426464"/>
            <a:ext cx="1106424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1400"/>
              <a:buFont typeface="Inter"/>
              <a:buNone/>
            </a:pPr>
            <a:r>
              <a:rPr b="0" i="0" lang="en-US" sz="1400" u="none" cap="none" strike="noStrike">
                <a:solidFill>
                  <a:srgbClr val="004FAA"/>
                </a:solidFill>
                <a:latin typeface="Inter"/>
                <a:ea typeface="Inter"/>
                <a:cs typeface="Inter"/>
                <a:sym typeface="Inter"/>
              </a:rPr>
              <a:t>Five terms about the ad numbers an owner will quote at you: what attention costs, how a booking gets traced, how it gets counted, and whether the ads created it or just took the credit.</a:t>
            </a:r>
            <a:endParaRPr b="0" i="0" sz="1400" u="none" cap="none" strike="noStrike">
              <a:solidFill>
                <a:schemeClr val="dk1"/>
              </a:solidFill>
              <a:latin typeface="Calibri"/>
              <a:ea typeface="Calibri"/>
              <a:cs typeface="Calibri"/>
              <a:sym typeface="Calibri"/>
            </a:endParaRPr>
          </a:p>
        </p:txBody>
      </p:sp>
      <p:pic>
        <p:nvPicPr>
          <p:cNvPr descr="/home/claude/work/renderer/brand/wordmark.png" id="733" name="Google Shape;733;p20"/>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734" name="Google Shape;734;p20"/>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18 / 48</a:t>
            </a:r>
            <a:endParaRPr b="0" i="0" sz="900" u="none" cap="none" strike="noStrike">
              <a:solidFill>
                <a:schemeClr val="dk1"/>
              </a:solidFill>
              <a:latin typeface="Calibri"/>
              <a:ea typeface="Calibri"/>
              <a:cs typeface="Calibri"/>
              <a:sym typeface="Calibri"/>
            </a:endParaRPr>
          </a:p>
        </p:txBody>
      </p:sp>
      <p:sp>
        <p:nvSpPr>
          <p:cNvPr id="735" name="Google Shape;735;p20"/>
          <p:cNvSpPr/>
          <p:nvPr/>
        </p:nvSpPr>
        <p:spPr>
          <a:xfrm>
            <a:off x="548640" y="1920240"/>
            <a:ext cx="3545738" cy="2098548"/>
          </a:xfrm>
          <a:prstGeom prst="roundRect">
            <a:avLst>
              <a:gd fmla="val 522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6" name="Google Shape;736;p20"/>
          <p:cNvSpPr txBox="1"/>
          <p:nvPr/>
        </p:nvSpPr>
        <p:spPr>
          <a:xfrm>
            <a:off x="822960" y="2139696"/>
            <a:ext cx="73152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01</a:t>
            </a:r>
            <a:endParaRPr b="0" i="0" sz="1600" u="none" cap="none" strike="noStrike">
              <a:solidFill>
                <a:schemeClr val="dk1"/>
              </a:solidFill>
              <a:latin typeface="Calibri"/>
              <a:ea typeface="Calibri"/>
              <a:cs typeface="Calibri"/>
              <a:sym typeface="Calibri"/>
            </a:endParaRPr>
          </a:p>
        </p:txBody>
      </p:sp>
      <p:sp>
        <p:nvSpPr>
          <p:cNvPr id="737" name="Google Shape;737;p20"/>
          <p:cNvSpPr/>
          <p:nvPr/>
        </p:nvSpPr>
        <p:spPr>
          <a:xfrm>
            <a:off x="3399434" y="2121408"/>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eye.png" id="738" name="Google Shape;738;p20"/>
          <p:cNvPicPr preferRelativeResize="0"/>
          <p:nvPr/>
        </p:nvPicPr>
        <p:blipFill rotWithShape="1">
          <a:blip r:embed="rId4">
            <a:alphaModFix/>
          </a:blip>
          <a:srcRect b="0" l="0" r="0" t="0"/>
          <a:stretch/>
        </p:blipFill>
        <p:spPr>
          <a:xfrm>
            <a:off x="3491972" y="2213945"/>
            <a:ext cx="235549" cy="235549"/>
          </a:xfrm>
          <a:prstGeom prst="rect">
            <a:avLst/>
          </a:prstGeom>
          <a:noFill/>
          <a:ln>
            <a:noFill/>
          </a:ln>
        </p:spPr>
      </p:pic>
      <p:sp>
        <p:nvSpPr>
          <p:cNvPr id="739" name="Google Shape;739;p20"/>
          <p:cNvSpPr txBox="1"/>
          <p:nvPr/>
        </p:nvSpPr>
        <p:spPr>
          <a:xfrm>
            <a:off x="822960" y="2523744"/>
            <a:ext cx="2997098" cy="4572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700"/>
              <a:buFont typeface="Inter"/>
              <a:buNone/>
            </a:pPr>
            <a:r>
              <a:rPr b="1" i="0" lang="en-US" sz="1700" u="none" cap="none" strike="noStrike">
                <a:solidFill>
                  <a:srgbClr val="171717"/>
                </a:solidFill>
                <a:latin typeface="Inter"/>
                <a:ea typeface="Inter"/>
                <a:cs typeface="Inter"/>
                <a:sym typeface="Inter"/>
              </a:rPr>
              <a:t>CPM</a:t>
            </a:r>
            <a:endParaRPr b="0" i="0" sz="1700" u="none" cap="none" strike="noStrike">
              <a:solidFill>
                <a:schemeClr val="dk1"/>
              </a:solidFill>
              <a:latin typeface="Calibri"/>
              <a:ea typeface="Calibri"/>
              <a:cs typeface="Calibri"/>
              <a:sym typeface="Calibri"/>
            </a:endParaRPr>
          </a:p>
        </p:txBody>
      </p:sp>
      <p:sp>
        <p:nvSpPr>
          <p:cNvPr id="740" name="Google Shape;740;p20"/>
          <p:cNvSpPr txBox="1"/>
          <p:nvPr/>
        </p:nvSpPr>
        <p:spPr>
          <a:xfrm>
            <a:off x="822960" y="2999232"/>
            <a:ext cx="2997098" cy="86410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Cost per mille: the cost per thousand impressions.</a:t>
            </a:r>
            <a:endParaRPr b="0" i="0" sz="1150" u="none" cap="none" strike="noStrike">
              <a:solidFill>
                <a:schemeClr val="dk1"/>
              </a:solidFill>
              <a:latin typeface="Calibri"/>
              <a:ea typeface="Calibri"/>
              <a:cs typeface="Calibri"/>
              <a:sym typeface="Calibri"/>
            </a:endParaRPr>
          </a:p>
        </p:txBody>
      </p:sp>
      <p:sp>
        <p:nvSpPr>
          <p:cNvPr id="741" name="Google Shape;741;p20"/>
          <p:cNvSpPr/>
          <p:nvPr/>
        </p:nvSpPr>
        <p:spPr>
          <a:xfrm>
            <a:off x="4322978" y="1920240"/>
            <a:ext cx="3545738" cy="2098548"/>
          </a:xfrm>
          <a:prstGeom prst="roundRect">
            <a:avLst>
              <a:gd fmla="val 522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2" name="Google Shape;742;p20"/>
          <p:cNvSpPr txBox="1"/>
          <p:nvPr/>
        </p:nvSpPr>
        <p:spPr>
          <a:xfrm>
            <a:off x="4597298" y="2139696"/>
            <a:ext cx="73152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02</a:t>
            </a:r>
            <a:endParaRPr b="0" i="0" sz="1600" u="none" cap="none" strike="noStrike">
              <a:solidFill>
                <a:schemeClr val="dk1"/>
              </a:solidFill>
              <a:latin typeface="Calibri"/>
              <a:ea typeface="Calibri"/>
              <a:cs typeface="Calibri"/>
              <a:sym typeface="Calibri"/>
            </a:endParaRPr>
          </a:p>
        </p:txBody>
      </p:sp>
      <p:sp>
        <p:nvSpPr>
          <p:cNvPr id="743" name="Google Shape;743;p20"/>
          <p:cNvSpPr/>
          <p:nvPr/>
        </p:nvSpPr>
        <p:spPr>
          <a:xfrm>
            <a:off x="7173773" y="2121408"/>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link.png" id="744" name="Google Shape;744;p20"/>
          <p:cNvPicPr preferRelativeResize="0"/>
          <p:nvPr/>
        </p:nvPicPr>
        <p:blipFill rotWithShape="1">
          <a:blip r:embed="rId5">
            <a:alphaModFix/>
          </a:blip>
          <a:srcRect b="0" l="0" r="0" t="0"/>
          <a:stretch/>
        </p:blipFill>
        <p:spPr>
          <a:xfrm>
            <a:off x="7266310" y="2213945"/>
            <a:ext cx="235549" cy="235549"/>
          </a:xfrm>
          <a:prstGeom prst="rect">
            <a:avLst/>
          </a:prstGeom>
          <a:noFill/>
          <a:ln>
            <a:noFill/>
          </a:ln>
        </p:spPr>
      </p:pic>
      <p:sp>
        <p:nvSpPr>
          <p:cNvPr id="745" name="Google Shape;745;p20"/>
          <p:cNvSpPr txBox="1"/>
          <p:nvPr/>
        </p:nvSpPr>
        <p:spPr>
          <a:xfrm>
            <a:off x="4597298" y="2523744"/>
            <a:ext cx="2997098" cy="4572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700"/>
              <a:buFont typeface="Inter"/>
              <a:buNone/>
            </a:pPr>
            <a:r>
              <a:rPr b="1" i="0" lang="en-US" sz="1700" u="none" cap="none" strike="noStrike">
                <a:solidFill>
                  <a:srgbClr val="171717"/>
                </a:solidFill>
                <a:latin typeface="Inter"/>
                <a:ea typeface="Inter"/>
                <a:cs typeface="Inter"/>
                <a:sym typeface="Inter"/>
              </a:rPr>
              <a:t>UTM</a:t>
            </a:r>
            <a:endParaRPr b="0" i="0" sz="1700" u="none" cap="none" strike="noStrike">
              <a:solidFill>
                <a:schemeClr val="dk1"/>
              </a:solidFill>
              <a:latin typeface="Calibri"/>
              <a:ea typeface="Calibri"/>
              <a:cs typeface="Calibri"/>
              <a:sym typeface="Calibri"/>
            </a:endParaRPr>
          </a:p>
        </p:txBody>
      </p:sp>
      <p:sp>
        <p:nvSpPr>
          <p:cNvPr id="746" name="Google Shape;746;p20"/>
          <p:cNvSpPr txBox="1"/>
          <p:nvPr/>
        </p:nvSpPr>
        <p:spPr>
          <a:xfrm>
            <a:off x="4597298" y="2999232"/>
            <a:ext cx="2997098" cy="86410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Urchin Tracking Module: the tags that make a link traceable.</a:t>
            </a:r>
            <a:endParaRPr b="0" i="0" sz="1150" u="none" cap="none" strike="noStrike">
              <a:solidFill>
                <a:schemeClr val="dk1"/>
              </a:solidFill>
              <a:latin typeface="Calibri"/>
              <a:ea typeface="Calibri"/>
              <a:cs typeface="Calibri"/>
              <a:sym typeface="Calibri"/>
            </a:endParaRPr>
          </a:p>
        </p:txBody>
      </p:sp>
      <p:sp>
        <p:nvSpPr>
          <p:cNvPr id="747" name="Google Shape;747;p20"/>
          <p:cNvSpPr/>
          <p:nvPr/>
        </p:nvSpPr>
        <p:spPr>
          <a:xfrm>
            <a:off x="8097317" y="1920240"/>
            <a:ext cx="3545738" cy="2098548"/>
          </a:xfrm>
          <a:prstGeom prst="roundRect">
            <a:avLst>
              <a:gd fmla="val 522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8" name="Google Shape;748;p20"/>
          <p:cNvSpPr txBox="1"/>
          <p:nvPr/>
        </p:nvSpPr>
        <p:spPr>
          <a:xfrm>
            <a:off x="8371637" y="2139696"/>
            <a:ext cx="73152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03</a:t>
            </a:r>
            <a:endParaRPr b="0" i="0" sz="1600" u="none" cap="none" strike="noStrike">
              <a:solidFill>
                <a:schemeClr val="dk1"/>
              </a:solidFill>
              <a:latin typeface="Calibri"/>
              <a:ea typeface="Calibri"/>
              <a:cs typeface="Calibri"/>
              <a:sym typeface="Calibri"/>
            </a:endParaRPr>
          </a:p>
        </p:txBody>
      </p:sp>
      <p:sp>
        <p:nvSpPr>
          <p:cNvPr id="749" name="Google Shape;749;p20"/>
          <p:cNvSpPr/>
          <p:nvPr/>
        </p:nvSpPr>
        <p:spPr>
          <a:xfrm>
            <a:off x="10948111" y="2121408"/>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server.png" id="750" name="Google Shape;750;p20"/>
          <p:cNvPicPr preferRelativeResize="0"/>
          <p:nvPr/>
        </p:nvPicPr>
        <p:blipFill rotWithShape="1">
          <a:blip r:embed="rId6">
            <a:alphaModFix/>
          </a:blip>
          <a:srcRect b="0" l="0" r="0" t="0"/>
          <a:stretch/>
        </p:blipFill>
        <p:spPr>
          <a:xfrm>
            <a:off x="11040648" y="2213945"/>
            <a:ext cx="235549" cy="235549"/>
          </a:xfrm>
          <a:prstGeom prst="rect">
            <a:avLst/>
          </a:prstGeom>
          <a:noFill/>
          <a:ln>
            <a:noFill/>
          </a:ln>
        </p:spPr>
      </p:pic>
      <p:sp>
        <p:nvSpPr>
          <p:cNvPr id="751" name="Google Shape;751;p20"/>
          <p:cNvSpPr txBox="1"/>
          <p:nvPr/>
        </p:nvSpPr>
        <p:spPr>
          <a:xfrm>
            <a:off x="8371637" y="2523744"/>
            <a:ext cx="2997098" cy="4572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700"/>
              <a:buFont typeface="Inter"/>
              <a:buNone/>
            </a:pPr>
            <a:r>
              <a:rPr b="1" i="0" lang="en-US" sz="1700" u="none" cap="none" strike="noStrike">
                <a:solidFill>
                  <a:srgbClr val="171717"/>
                </a:solidFill>
                <a:latin typeface="Inter"/>
                <a:ea typeface="Inter"/>
                <a:cs typeface="Inter"/>
                <a:sym typeface="Inter"/>
              </a:rPr>
              <a:t>CAPI</a:t>
            </a:r>
            <a:endParaRPr b="0" i="0" sz="1700" u="none" cap="none" strike="noStrike">
              <a:solidFill>
                <a:schemeClr val="dk1"/>
              </a:solidFill>
              <a:latin typeface="Calibri"/>
              <a:ea typeface="Calibri"/>
              <a:cs typeface="Calibri"/>
              <a:sym typeface="Calibri"/>
            </a:endParaRPr>
          </a:p>
        </p:txBody>
      </p:sp>
      <p:sp>
        <p:nvSpPr>
          <p:cNvPr id="752" name="Google Shape;752;p20"/>
          <p:cNvSpPr txBox="1"/>
          <p:nvPr/>
        </p:nvSpPr>
        <p:spPr>
          <a:xfrm>
            <a:off x="8371637" y="2999232"/>
            <a:ext cx="2997098" cy="86410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Conversions API: counting the booking when the browser won't.</a:t>
            </a:r>
            <a:endParaRPr b="0" i="0" sz="1150" u="none" cap="none" strike="noStrike">
              <a:solidFill>
                <a:schemeClr val="dk1"/>
              </a:solidFill>
              <a:latin typeface="Calibri"/>
              <a:ea typeface="Calibri"/>
              <a:cs typeface="Calibri"/>
              <a:sym typeface="Calibri"/>
            </a:endParaRPr>
          </a:p>
        </p:txBody>
      </p:sp>
      <p:sp>
        <p:nvSpPr>
          <p:cNvPr id="753" name="Google Shape;753;p20"/>
          <p:cNvSpPr/>
          <p:nvPr/>
        </p:nvSpPr>
        <p:spPr>
          <a:xfrm>
            <a:off x="548640" y="4247388"/>
            <a:ext cx="3545738" cy="2098548"/>
          </a:xfrm>
          <a:prstGeom prst="roundRect">
            <a:avLst>
              <a:gd fmla="val 522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4" name="Google Shape;754;p20"/>
          <p:cNvSpPr txBox="1"/>
          <p:nvPr/>
        </p:nvSpPr>
        <p:spPr>
          <a:xfrm>
            <a:off x="822960" y="4466844"/>
            <a:ext cx="73152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04</a:t>
            </a:r>
            <a:endParaRPr b="0" i="0" sz="1600" u="none" cap="none" strike="noStrike">
              <a:solidFill>
                <a:schemeClr val="dk1"/>
              </a:solidFill>
              <a:latin typeface="Calibri"/>
              <a:ea typeface="Calibri"/>
              <a:cs typeface="Calibri"/>
              <a:sym typeface="Calibri"/>
            </a:endParaRPr>
          </a:p>
        </p:txBody>
      </p:sp>
      <p:sp>
        <p:nvSpPr>
          <p:cNvPr id="755" name="Google Shape;755;p20"/>
          <p:cNvSpPr/>
          <p:nvPr/>
        </p:nvSpPr>
        <p:spPr>
          <a:xfrm>
            <a:off x="3399434" y="4448556"/>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plus-circle.png" id="756" name="Google Shape;756;p20"/>
          <p:cNvPicPr preferRelativeResize="0"/>
          <p:nvPr/>
        </p:nvPicPr>
        <p:blipFill rotWithShape="1">
          <a:blip r:embed="rId7">
            <a:alphaModFix/>
          </a:blip>
          <a:srcRect b="0" l="0" r="0" t="0"/>
          <a:stretch/>
        </p:blipFill>
        <p:spPr>
          <a:xfrm>
            <a:off x="3491972" y="4541093"/>
            <a:ext cx="235549" cy="235549"/>
          </a:xfrm>
          <a:prstGeom prst="rect">
            <a:avLst/>
          </a:prstGeom>
          <a:noFill/>
          <a:ln>
            <a:noFill/>
          </a:ln>
        </p:spPr>
      </p:pic>
      <p:sp>
        <p:nvSpPr>
          <p:cNvPr id="757" name="Google Shape;757;p20"/>
          <p:cNvSpPr txBox="1"/>
          <p:nvPr/>
        </p:nvSpPr>
        <p:spPr>
          <a:xfrm>
            <a:off x="822960" y="4850892"/>
            <a:ext cx="2997098" cy="4572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700"/>
              <a:buFont typeface="Inter"/>
              <a:buNone/>
            </a:pPr>
            <a:r>
              <a:rPr b="1" i="0" lang="en-US" sz="1700" u="none" cap="none" strike="noStrike">
                <a:solidFill>
                  <a:srgbClr val="171717"/>
                </a:solidFill>
                <a:latin typeface="Inter"/>
                <a:ea typeface="Inter"/>
                <a:cs typeface="Inter"/>
                <a:sym typeface="Inter"/>
              </a:rPr>
              <a:t>Incrementality</a:t>
            </a:r>
            <a:endParaRPr b="0" i="0" sz="1700" u="none" cap="none" strike="noStrike">
              <a:solidFill>
                <a:schemeClr val="dk1"/>
              </a:solidFill>
              <a:latin typeface="Calibri"/>
              <a:ea typeface="Calibri"/>
              <a:cs typeface="Calibri"/>
              <a:sym typeface="Calibri"/>
            </a:endParaRPr>
          </a:p>
        </p:txBody>
      </p:sp>
      <p:sp>
        <p:nvSpPr>
          <p:cNvPr id="758" name="Google Shape;758;p20"/>
          <p:cNvSpPr txBox="1"/>
          <p:nvPr/>
        </p:nvSpPr>
        <p:spPr>
          <a:xfrm>
            <a:off x="822960" y="5326380"/>
            <a:ext cx="2997098" cy="86410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Did the ad cause the booking?</a:t>
            </a:r>
            <a:endParaRPr b="0" i="0" sz="1150" u="none" cap="none" strike="noStrike">
              <a:solidFill>
                <a:schemeClr val="dk1"/>
              </a:solidFill>
              <a:latin typeface="Calibri"/>
              <a:ea typeface="Calibri"/>
              <a:cs typeface="Calibri"/>
              <a:sym typeface="Calibri"/>
            </a:endParaRPr>
          </a:p>
        </p:txBody>
      </p:sp>
      <p:sp>
        <p:nvSpPr>
          <p:cNvPr id="759" name="Google Shape;759;p20"/>
          <p:cNvSpPr/>
          <p:nvPr/>
        </p:nvSpPr>
        <p:spPr>
          <a:xfrm>
            <a:off x="4322978" y="4247388"/>
            <a:ext cx="3545738" cy="2098548"/>
          </a:xfrm>
          <a:prstGeom prst="roundRect">
            <a:avLst>
              <a:gd fmla="val 522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0" name="Google Shape;760;p20"/>
          <p:cNvSpPr txBox="1"/>
          <p:nvPr/>
        </p:nvSpPr>
        <p:spPr>
          <a:xfrm>
            <a:off x="4597298" y="4466844"/>
            <a:ext cx="73152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05</a:t>
            </a:r>
            <a:endParaRPr b="0" i="0" sz="1600" u="none" cap="none" strike="noStrike">
              <a:solidFill>
                <a:schemeClr val="dk1"/>
              </a:solidFill>
              <a:latin typeface="Calibri"/>
              <a:ea typeface="Calibri"/>
              <a:cs typeface="Calibri"/>
              <a:sym typeface="Calibri"/>
            </a:endParaRPr>
          </a:p>
        </p:txBody>
      </p:sp>
      <p:sp>
        <p:nvSpPr>
          <p:cNvPr id="761" name="Google Shape;761;p20"/>
          <p:cNvSpPr/>
          <p:nvPr/>
        </p:nvSpPr>
        <p:spPr>
          <a:xfrm>
            <a:off x="7173773" y="4448556"/>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repeat.png" id="762" name="Google Shape;762;p20"/>
          <p:cNvPicPr preferRelativeResize="0"/>
          <p:nvPr/>
        </p:nvPicPr>
        <p:blipFill rotWithShape="1">
          <a:blip r:embed="rId8">
            <a:alphaModFix/>
          </a:blip>
          <a:srcRect b="0" l="0" r="0" t="0"/>
          <a:stretch/>
        </p:blipFill>
        <p:spPr>
          <a:xfrm>
            <a:off x="7266310" y="4541093"/>
            <a:ext cx="235549" cy="235549"/>
          </a:xfrm>
          <a:prstGeom prst="rect">
            <a:avLst/>
          </a:prstGeom>
          <a:noFill/>
          <a:ln>
            <a:noFill/>
          </a:ln>
        </p:spPr>
      </p:pic>
      <p:sp>
        <p:nvSpPr>
          <p:cNvPr id="763" name="Google Shape;763;p20"/>
          <p:cNvSpPr txBox="1"/>
          <p:nvPr/>
        </p:nvSpPr>
        <p:spPr>
          <a:xfrm>
            <a:off x="4597298" y="4850892"/>
            <a:ext cx="2997098" cy="4572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700"/>
              <a:buFont typeface="Inter"/>
              <a:buNone/>
            </a:pPr>
            <a:r>
              <a:rPr b="1" i="0" lang="en-US" sz="1700" u="none" cap="none" strike="noStrike">
                <a:solidFill>
                  <a:srgbClr val="171717"/>
                </a:solidFill>
                <a:latin typeface="Inter"/>
                <a:ea typeface="Inter"/>
                <a:cs typeface="Inter"/>
                <a:sym typeface="Inter"/>
              </a:rPr>
              <a:t>Cannibalization</a:t>
            </a:r>
            <a:endParaRPr b="0" i="0" sz="1700" u="none" cap="none" strike="noStrike">
              <a:solidFill>
                <a:schemeClr val="dk1"/>
              </a:solidFill>
              <a:latin typeface="Calibri"/>
              <a:ea typeface="Calibri"/>
              <a:cs typeface="Calibri"/>
              <a:sym typeface="Calibri"/>
            </a:endParaRPr>
          </a:p>
        </p:txBody>
      </p:sp>
      <p:sp>
        <p:nvSpPr>
          <p:cNvPr id="764" name="Google Shape;764;p20"/>
          <p:cNvSpPr txBox="1"/>
          <p:nvPr/>
        </p:nvSpPr>
        <p:spPr>
          <a:xfrm>
            <a:off x="4597298" y="5326380"/>
            <a:ext cx="2997098" cy="86410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When the promo moves revenue instead of adding it.</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769" name="Shape 769"/>
        <p:cNvGrpSpPr/>
        <p:nvPr/>
      </p:nvGrpSpPr>
      <p:grpSpPr>
        <a:xfrm>
          <a:off x="0" y="0"/>
          <a:ext cx="0" cy="0"/>
          <a:chOff x="0" y="0"/>
          <a:chExt cx="0" cy="0"/>
        </a:xfrm>
      </p:grpSpPr>
      <p:sp>
        <p:nvSpPr>
          <p:cNvPr id="770" name="Google Shape;770;p21"/>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5 · IS THE MARKETING WORKING?</a:t>
            </a:r>
            <a:endParaRPr b="0" i="0" sz="1050" u="none" cap="none" strike="noStrike">
              <a:solidFill>
                <a:schemeClr val="dk1"/>
              </a:solidFill>
              <a:latin typeface="Calibri"/>
              <a:ea typeface="Calibri"/>
              <a:cs typeface="Calibri"/>
              <a:sym typeface="Calibri"/>
            </a:endParaRPr>
          </a:p>
        </p:txBody>
      </p:sp>
      <p:pic>
        <p:nvPicPr>
          <p:cNvPr descr="/home/claude/work/renderer/brand/wordmark.png" id="771" name="Google Shape;771;p21"/>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772" name="Google Shape;772;p21"/>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19 / 48</a:t>
            </a:r>
            <a:endParaRPr b="0" i="0" sz="900" u="none" cap="none" strike="noStrike">
              <a:solidFill>
                <a:schemeClr val="dk1"/>
              </a:solidFill>
              <a:latin typeface="Calibri"/>
              <a:ea typeface="Calibri"/>
              <a:cs typeface="Calibri"/>
              <a:sym typeface="Calibri"/>
            </a:endParaRPr>
          </a:p>
        </p:txBody>
      </p:sp>
      <p:sp>
        <p:nvSpPr>
          <p:cNvPr id="773" name="Google Shape;773;p21"/>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CPM</a:t>
            </a:r>
            <a:r>
              <a:rPr b="0" i="0" lang="en-US" sz="1700" u="none" cap="none" strike="noStrike">
                <a:solidFill>
                  <a:srgbClr val="004FAA"/>
                </a:solidFill>
                <a:latin typeface="Inter"/>
                <a:ea typeface="Inter"/>
                <a:cs typeface="Inter"/>
                <a:sym typeface="Inter"/>
              </a:rPr>
              <a:t>  cost per mille: the cost per thousand impressions</a:t>
            </a:r>
            <a:endParaRPr b="0" i="0" sz="3000" u="none" cap="none" strike="noStrike">
              <a:solidFill>
                <a:schemeClr val="dk1"/>
              </a:solidFill>
              <a:latin typeface="Calibri"/>
              <a:ea typeface="Calibri"/>
              <a:cs typeface="Calibri"/>
              <a:sym typeface="Calibri"/>
            </a:endParaRPr>
          </a:p>
        </p:txBody>
      </p:sp>
      <p:sp>
        <p:nvSpPr>
          <p:cNvPr id="774" name="Google Shape;774;p21"/>
          <p:cNvSpPr/>
          <p:nvPr/>
        </p:nvSpPr>
        <p:spPr>
          <a:xfrm>
            <a:off x="5715000" y="1783080"/>
            <a:ext cx="5928055" cy="4526280"/>
          </a:xfrm>
          <a:prstGeom prst="roundRect">
            <a:avLst>
              <a:gd fmla="val 2424"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5" name="Google Shape;775;p21"/>
          <p:cNvSpPr/>
          <p:nvPr/>
        </p:nvSpPr>
        <p:spPr>
          <a:xfrm>
            <a:off x="548640" y="1783080"/>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book-closed.png" id="776" name="Google Shape;776;p21"/>
          <p:cNvPicPr preferRelativeResize="0"/>
          <p:nvPr/>
        </p:nvPicPr>
        <p:blipFill rotWithShape="1">
          <a:blip r:embed="rId4">
            <a:alphaModFix/>
          </a:blip>
          <a:srcRect b="0" l="0" r="0" t="0"/>
          <a:stretch/>
        </p:blipFill>
        <p:spPr>
          <a:xfrm>
            <a:off x="641177" y="1875617"/>
            <a:ext cx="235549" cy="235549"/>
          </a:xfrm>
          <a:prstGeom prst="rect">
            <a:avLst/>
          </a:prstGeom>
          <a:noFill/>
          <a:ln>
            <a:noFill/>
          </a:ln>
        </p:spPr>
      </p:pic>
      <p:sp>
        <p:nvSpPr>
          <p:cNvPr id="777" name="Google Shape;777;p21"/>
          <p:cNvSpPr txBox="1"/>
          <p:nvPr/>
        </p:nvSpPr>
        <p:spPr>
          <a:xfrm>
            <a:off x="1170432" y="1764792"/>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Dictionary</a:t>
            </a:r>
            <a:endParaRPr b="0" i="0" sz="1450" u="none" cap="none" strike="noStrike">
              <a:solidFill>
                <a:schemeClr val="dk1"/>
              </a:solidFill>
              <a:latin typeface="Calibri"/>
              <a:ea typeface="Calibri"/>
              <a:cs typeface="Calibri"/>
              <a:sym typeface="Calibri"/>
            </a:endParaRPr>
          </a:p>
        </p:txBody>
      </p:sp>
      <p:sp>
        <p:nvSpPr>
          <p:cNvPr id="778" name="Google Shape;778;p21"/>
          <p:cNvSpPr txBox="1"/>
          <p:nvPr/>
        </p:nvSpPr>
        <p:spPr>
          <a:xfrm>
            <a:off x="1170432" y="2075688"/>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Cost per thousand impressions — the ad number an owner is most likely to quote at you.</a:t>
            </a:r>
            <a:endParaRPr b="0" i="0" sz="1150" u="none" cap="none" strike="noStrike">
              <a:solidFill>
                <a:schemeClr val="dk1"/>
              </a:solidFill>
              <a:latin typeface="Calibri"/>
              <a:ea typeface="Calibri"/>
              <a:cs typeface="Calibri"/>
              <a:sym typeface="Calibri"/>
            </a:endParaRPr>
          </a:p>
        </p:txBody>
      </p:sp>
      <p:sp>
        <p:nvSpPr>
          <p:cNvPr id="779" name="Google Shape;779;p21"/>
          <p:cNvSpPr/>
          <p:nvPr/>
        </p:nvSpPr>
        <p:spPr>
          <a:xfrm>
            <a:off x="548640" y="3402711"/>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heart.png" id="780" name="Google Shape;780;p21"/>
          <p:cNvPicPr preferRelativeResize="0"/>
          <p:nvPr/>
        </p:nvPicPr>
        <p:blipFill rotWithShape="1">
          <a:blip r:embed="rId5">
            <a:alphaModFix/>
          </a:blip>
          <a:srcRect b="0" l="0" r="0" t="0"/>
          <a:stretch/>
        </p:blipFill>
        <p:spPr>
          <a:xfrm>
            <a:off x="641177" y="3495248"/>
            <a:ext cx="235549" cy="235549"/>
          </a:xfrm>
          <a:prstGeom prst="rect">
            <a:avLst/>
          </a:prstGeom>
          <a:noFill/>
          <a:ln>
            <a:noFill/>
          </a:ln>
        </p:spPr>
      </p:pic>
      <p:sp>
        <p:nvSpPr>
          <p:cNvPr id="781" name="Google Shape;781;p21"/>
          <p:cNvSpPr txBox="1"/>
          <p:nvPr/>
        </p:nvSpPr>
        <p:spPr>
          <a:xfrm>
            <a:off x="1170432" y="3384423"/>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Why the owner cares</a:t>
            </a:r>
            <a:endParaRPr b="0" i="0" sz="1450" u="none" cap="none" strike="noStrike">
              <a:solidFill>
                <a:schemeClr val="dk1"/>
              </a:solidFill>
              <a:latin typeface="Calibri"/>
              <a:ea typeface="Calibri"/>
              <a:cs typeface="Calibri"/>
              <a:sym typeface="Calibri"/>
            </a:endParaRPr>
          </a:p>
        </p:txBody>
      </p:sp>
      <p:sp>
        <p:nvSpPr>
          <p:cNvPr id="782" name="Google Shape;782;p21"/>
          <p:cNvSpPr txBox="1"/>
          <p:nvPr/>
        </p:nvSpPr>
        <p:spPr>
          <a:xfrm>
            <a:off x="1170432" y="3695319"/>
            <a:ext cx="4270248" cy="89839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It is the ad number they are most likely to quote at you, and the one we quote at each other. It is a price set by an auction nobody controls, and on its own it says what attention cost, not whether the ads brought bookings.</a:t>
            </a:r>
            <a:endParaRPr b="0" i="0" sz="1150" u="none" cap="none" strike="noStrike">
              <a:solidFill>
                <a:schemeClr val="dk1"/>
              </a:solidFill>
              <a:latin typeface="Calibri"/>
              <a:ea typeface="Calibri"/>
              <a:cs typeface="Calibri"/>
              <a:sym typeface="Calibri"/>
            </a:endParaRPr>
          </a:p>
        </p:txBody>
      </p:sp>
      <p:sp>
        <p:nvSpPr>
          <p:cNvPr id="783" name="Google Shape;783;p21"/>
          <p:cNvSpPr/>
          <p:nvPr/>
        </p:nvSpPr>
        <p:spPr>
          <a:xfrm>
            <a:off x="548640" y="5416677"/>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message-square.png" id="784" name="Google Shape;784;p21"/>
          <p:cNvPicPr preferRelativeResize="0"/>
          <p:nvPr/>
        </p:nvPicPr>
        <p:blipFill rotWithShape="1">
          <a:blip r:embed="rId6">
            <a:alphaModFix/>
          </a:blip>
          <a:srcRect b="0" l="0" r="0" t="0"/>
          <a:stretch/>
        </p:blipFill>
        <p:spPr>
          <a:xfrm>
            <a:off x="641177" y="5509214"/>
            <a:ext cx="235549" cy="235549"/>
          </a:xfrm>
          <a:prstGeom prst="rect">
            <a:avLst/>
          </a:prstGeom>
          <a:noFill/>
          <a:ln>
            <a:noFill/>
          </a:ln>
        </p:spPr>
      </p:pic>
      <p:sp>
        <p:nvSpPr>
          <p:cNvPr id="785" name="Google Shape;785;p21"/>
          <p:cNvSpPr txBox="1"/>
          <p:nvPr/>
        </p:nvSpPr>
        <p:spPr>
          <a:xfrm>
            <a:off x="1170432" y="5398389"/>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Contextual usage</a:t>
            </a:r>
            <a:endParaRPr b="0" i="0" sz="1450" u="none" cap="none" strike="noStrike">
              <a:solidFill>
                <a:schemeClr val="dk1"/>
              </a:solidFill>
              <a:latin typeface="Calibri"/>
              <a:ea typeface="Calibri"/>
              <a:cs typeface="Calibri"/>
              <a:sym typeface="Calibri"/>
            </a:endParaRPr>
          </a:p>
        </p:txBody>
      </p:sp>
      <p:sp>
        <p:nvSpPr>
          <p:cNvPr id="786" name="Google Shape;786;p21"/>
          <p:cNvSpPr txBox="1"/>
          <p:nvPr/>
        </p:nvSpPr>
        <p:spPr>
          <a:xfrm>
            <a:off x="1170432" y="5709285"/>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Your CPM went up this month, which usually means we're competing with more advertisers for the same people.</a:t>
            </a:r>
            <a:endParaRPr b="0" i="0" sz="1150" u="none" cap="none" strike="noStrike">
              <a:solidFill>
                <a:schemeClr val="dk1"/>
              </a:solidFill>
              <a:latin typeface="Calibri"/>
              <a:ea typeface="Calibri"/>
              <a:cs typeface="Calibri"/>
              <a:sym typeface="Calibri"/>
            </a:endParaRPr>
          </a:p>
        </p:txBody>
      </p:sp>
      <p:sp>
        <p:nvSpPr>
          <p:cNvPr id="787" name="Google Shape;787;p21"/>
          <p:cNvSpPr/>
          <p:nvPr/>
        </p:nvSpPr>
        <p:spPr>
          <a:xfrm>
            <a:off x="5989320" y="1984248"/>
            <a:ext cx="5379415" cy="438912"/>
          </a:xfrm>
          <a:prstGeom prst="roundRect">
            <a:avLst>
              <a:gd fmla="val 2083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8" name="Google Shape;788;p21"/>
          <p:cNvSpPr/>
          <p:nvPr/>
        </p:nvSpPr>
        <p:spPr>
          <a:xfrm>
            <a:off x="6080760" y="2029968"/>
            <a:ext cx="347472" cy="347472"/>
          </a:xfrm>
          <a:prstGeom prst="roundRect">
            <a:avLst>
              <a:gd fmla="val 28947" name="adj"/>
            </a:avLst>
          </a:prstGeom>
          <a:solidFill>
            <a:srgbClr val="FFFF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calculator.png" id="789" name="Google Shape;789;p21"/>
          <p:cNvPicPr preferRelativeResize="0"/>
          <p:nvPr/>
        </p:nvPicPr>
        <p:blipFill rotWithShape="1">
          <a:blip r:embed="rId7">
            <a:alphaModFix/>
          </a:blip>
          <a:srcRect b="0" l="0" r="0" t="0"/>
          <a:stretch/>
        </p:blipFill>
        <p:spPr>
          <a:xfrm>
            <a:off x="6157204" y="2106412"/>
            <a:ext cx="194584" cy="194584"/>
          </a:xfrm>
          <a:prstGeom prst="rect">
            <a:avLst/>
          </a:prstGeom>
          <a:noFill/>
          <a:ln>
            <a:noFill/>
          </a:ln>
        </p:spPr>
      </p:pic>
      <p:sp>
        <p:nvSpPr>
          <p:cNvPr id="790" name="Google Shape;790;p21"/>
          <p:cNvSpPr txBox="1"/>
          <p:nvPr/>
        </p:nvSpPr>
        <p:spPr>
          <a:xfrm>
            <a:off x="6556248" y="1984248"/>
            <a:ext cx="4693615" cy="43891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1200"/>
              <a:buFont typeface="Roboto Mono"/>
              <a:buNone/>
            </a:pPr>
            <a:r>
              <a:rPr b="1" i="0" lang="en-US" sz="1200" u="none" cap="none" strike="noStrike">
                <a:solidFill>
                  <a:srgbClr val="004FAA"/>
                </a:solidFill>
                <a:latin typeface="Roboto Mono"/>
                <a:ea typeface="Roboto Mono"/>
                <a:cs typeface="Roboto Mono"/>
                <a:sym typeface="Roboto Mono"/>
              </a:rPr>
              <a:t>(Ad spend ÷ Impressions) × 1,000</a:t>
            </a:r>
            <a:endParaRPr b="0" i="0" sz="1200" u="none" cap="none" strike="noStrike">
              <a:solidFill>
                <a:schemeClr val="dk1"/>
              </a:solidFill>
              <a:latin typeface="Calibri"/>
              <a:ea typeface="Calibri"/>
              <a:cs typeface="Calibri"/>
              <a:sym typeface="Calibri"/>
            </a:endParaRPr>
          </a:p>
        </p:txBody>
      </p:sp>
      <p:sp>
        <p:nvSpPr>
          <p:cNvPr id="791" name="Google Shape;791;p21"/>
          <p:cNvSpPr txBox="1"/>
          <p:nvPr/>
        </p:nvSpPr>
        <p:spPr>
          <a:xfrm>
            <a:off x="5989320" y="2532888"/>
            <a:ext cx="5379415" cy="54178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Lakeside Lodge's Meta ads spent </a:t>
            </a:r>
            <a:r>
              <a:rPr b="1" i="0" lang="en-US" sz="1100" u="none" cap="none" strike="noStrike">
                <a:solidFill>
                  <a:srgbClr val="404040"/>
                </a:solidFill>
                <a:latin typeface="Inter"/>
                <a:ea typeface="Inter"/>
                <a:cs typeface="Inter"/>
                <a:sym typeface="Inter"/>
              </a:rPr>
              <a:t>$4,500</a:t>
            </a:r>
            <a:r>
              <a:rPr b="0" i="0" lang="en-US" sz="1100" u="none" cap="none" strike="noStrike">
                <a:solidFill>
                  <a:srgbClr val="404040"/>
                </a:solidFill>
                <a:latin typeface="Inter"/>
                <a:ea typeface="Inter"/>
                <a:cs typeface="Inter"/>
                <a:sym typeface="Inter"/>
              </a:rPr>
              <a:t> last month and were shown </a:t>
            </a:r>
            <a:r>
              <a:rPr b="1" i="0" lang="en-US" sz="1100" u="none" cap="none" strike="noStrike">
                <a:solidFill>
                  <a:srgbClr val="404040"/>
                </a:solidFill>
                <a:latin typeface="Inter"/>
                <a:ea typeface="Inter"/>
                <a:cs typeface="Inter"/>
                <a:sym typeface="Inter"/>
              </a:rPr>
              <a:t>500,000</a:t>
            </a:r>
            <a:r>
              <a:rPr b="0" i="0" lang="en-US" sz="1100" u="none" cap="none" strike="noStrike">
                <a:solidFill>
                  <a:srgbClr val="404040"/>
                </a:solidFill>
                <a:latin typeface="Inter"/>
                <a:ea typeface="Inter"/>
                <a:cs typeface="Inter"/>
                <a:sym typeface="Inter"/>
              </a:rPr>
              <a:t> times. What was the CPM?</a:t>
            </a:r>
            <a:endParaRPr b="0" i="0" sz="1100" u="none" cap="none" strike="noStrike">
              <a:solidFill>
                <a:schemeClr val="dk1"/>
              </a:solidFill>
              <a:latin typeface="Calibri"/>
              <a:ea typeface="Calibri"/>
              <a:cs typeface="Calibri"/>
              <a:sym typeface="Calibri"/>
            </a:endParaRPr>
          </a:p>
        </p:txBody>
      </p:sp>
      <p:sp>
        <p:nvSpPr>
          <p:cNvPr id="792" name="Google Shape;792;p21"/>
          <p:cNvSpPr txBox="1"/>
          <p:nvPr/>
        </p:nvSpPr>
        <p:spPr>
          <a:xfrm>
            <a:off x="6172200" y="3129534"/>
            <a:ext cx="5196535" cy="2377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CPM = ($4,500 ÷ 500,000) × 1,000</a:t>
            </a:r>
            <a:endParaRPr b="0" i="0" sz="1100" u="none" cap="none" strike="noStrike">
              <a:solidFill>
                <a:schemeClr val="dk1"/>
              </a:solidFill>
              <a:latin typeface="Calibri"/>
              <a:ea typeface="Calibri"/>
              <a:cs typeface="Calibri"/>
              <a:sym typeface="Calibri"/>
            </a:endParaRPr>
          </a:p>
        </p:txBody>
      </p:sp>
      <p:sp>
        <p:nvSpPr>
          <p:cNvPr id="793" name="Google Shape;793;p21"/>
          <p:cNvSpPr/>
          <p:nvPr/>
        </p:nvSpPr>
        <p:spPr>
          <a:xfrm>
            <a:off x="5989320" y="3422142"/>
            <a:ext cx="5379415" cy="365760"/>
          </a:xfrm>
          <a:prstGeom prst="roundRect">
            <a:avLst>
              <a:gd fmla="val 25000"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check-circle.png" id="794" name="Google Shape;794;p21"/>
          <p:cNvPicPr preferRelativeResize="0"/>
          <p:nvPr/>
        </p:nvPicPr>
        <p:blipFill rotWithShape="1">
          <a:blip r:embed="rId8">
            <a:alphaModFix/>
          </a:blip>
          <a:srcRect b="0" l="0" r="0" t="0"/>
          <a:stretch/>
        </p:blipFill>
        <p:spPr>
          <a:xfrm>
            <a:off x="6117336" y="3486150"/>
            <a:ext cx="237744" cy="237744"/>
          </a:xfrm>
          <a:prstGeom prst="rect">
            <a:avLst/>
          </a:prstGeom>
          <a:noFill/>
          <a:ln>
            <a:noFill/>
          </a:ln>
        </p:spPr>
      </p:pic>
      <p:sp>
        <p:nvSpPr>
          <p:cNvPr id="795" name="Google Shape;795;p21"/>
          <p:cNvSpPr txBox="1"/>
          <p:nvPr/>
        </p:nvSpPr>
        <p:spPr>
          <a:xfrm>
            <a:off x="6464808" y="3422142"/>
            <a:ext cx="4830775"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1200"/>
              <a:buFont typeface="Inter"/>
              <a:buNone/>
            </a:pPr>
            <a:r>
              <a:rPr b="1" i="0" lang="en-US" sz="1200" u="none" cap="none" strike="noStrike">
                <a:solidFill>
                  <a:srgbClr val="15803D"/>
                </a:solidFill>
                <a:latin typeface="Inter"/>
                <a:ea typeface="Inter"/>
                <a:cs typeface="Inter"/>
                <a:sym typeface="Inter"/>
              </a:rPr>
              <a:t>Therefore, CPM = $9</a:t>
            </a:r>
            <a:endParaRPr b="0" i="0" sz="1200" u="none" cap="none" strike="noStrike">
              <a:solidFill>
                <a:schemeClr val="dk1"/>
              </a:solidFill>
              <a:latin typeface="Calibri"/>
              <a:ea typeface="Calibri"/>
              <a:cs typeface="Calibri"/>
              <a:sym typeface="Calibri"/>
            </a:endParaRPr>
          </a:p>
        </p:txBody>
      </p:sp>
      <p:sp>
        <p:nvSpPr>
          <p:cNvPr id="796" name="Google Shape;796;p21"/>
          <p:cNvSpPr txBox="1"/>
          <p:nvPr/>
        </p:nvSpPr>
        <p:spPr>
          <a:xfrm>
            <a:off x="5989320" y="3897630"/>
            <a:ext cx="5379415"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900"/>
              <a:buFont typeface="Roboto Mono"/>
              <a:buNone/>
            </a:pPr>
            <a:r>
              <a:rPr b="0" i="0" lang="en-US" sz="900" u="none" cap="none" strike="noStrike">
                <a:solidFill>
                  <a:srgbClr val="004FAA"/>
                </a:solidFill>
                <a:latin typeface="Roboto Mono"/>
                <a:ea typeface="Roboto Mono"/>
                <a:cs typeface="Roboto Mono"/>
                <a:sym typeface="Roboto Mono"/>
              </a:rPr>
              <a:t>WHY CPM MOVES, AND WHY WE CAN'T SET IT</a:t>
            </a:r>
            <a:endParaRPr b="0" i="0" sz="900" u="none" cap="none" strike="noStrike">
              <a:solidFill>
                <a:schemeClr val="dk1"/>
              </a:solidFill>
              <a:latin typeface="Calibri"/>
              <a:ea typeface="Calibri"/>
              <a:cs typeface="Calibri"/>
              <a:sym typeface="Calibri"/>
            </a:endParaRPr>
          </a:p>
        </p:txBody>
      </p:sp>
      <p:sp>
        <p:nvSpPr>
          <p:cNvPr id="797" name="Google Shape;797;p21"/>
          <p:cNvSpPr/>
          <p:nvPr/>
        </p:nvSpPr>
        <p:spPr>
          <a:xfrm>
            <a:off x="5989320" y="4171950"/>
            <a:ext cx="5379415" cy="566166"/>
          </a:xfrm>
          <a:prstGeom prst="roundRect">
            <a:avLst>
              <a:gd fmla="val 16151"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8" name="Google Shape;798;p21"/>
          <p:cNvSpPr txBox="1"/>
          <p:nvPr/>
        </p:nvSpPr>
        <p:spPr>
          <a:xfrm>
            <a:off x="6099048" y="4171950"/>
            <a:ext cx="329184" cy="56616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1</a:t>
            </a:r>
            <a:endParaRPr b="0" i="0" sz="1100" u="none" cap="none" strike="noStrike">
              <a:solidFill>
                <a:schemeClr val="dk1"/>
              </a:solidFill>
              <a:latin typeface="Calibri"/>
              <a:ea typeface="Calibri"/>
              <a:cs typeface="Calibri"/>
              <a:sym typeface="Calibri"/>
            </a:endParaRPr>
          </a:p>
        </p:txBody>
      </p:sp>
      <p:sp>
        <p:nvSpPr>
          <p:cNvPr id="799" name="Google Shape;799;p21"/>
          <p:cNvSpPr txBox="1"/>
          <p:nvPr/>
        </p:nvSpPr>
        <p:spPr>
          <a:xfrm>
            <a:off x="6519672" y="4226814"/>
            <a:ext cx="4739335" cy="192024"/>
          </a:xfrm>
          <a:prstGeom prst="rect">
            <a:avLst/>
          </a:prstGeom>
          <a:noFill/>
          <a:ln>
            <a:noFill/>
          </a:ln>
        </p:spPr>
        <p:txBody>
          <a:bodyPr anchorCtr="0" anchor="t" bIns="0" lIns="0" spcFirstLastPara="1" rIns="0" wrap="square" tIns="0">
            <a:noAutofit/>
          </a:bodyPr>
          <a:lstStyle/>
          <a:p>
            <a:pPr indent="0" lvl="0" marL="0" marR="0" rtl="0" algn="l">
              <a:lnSpc>
                <a:spcPct val="135047"/>
              </a:lnSpc>
              <a:spcBef>
                <a:spcPts val="0"/>
              </a:spcBef>
              <a:spcAft>
                <a:spcPts val="0"/>
              </a:spcAft>
              <a:buClr>
                <a:srgbClr val="171717"/>
              </a:buClr>
              <a:buSzPts val="1050"/>
              <a:buFont typeface="Inter"/>
              <a:buNone/>
            </a:pPr>
            <a:r>
              <a:rPr b="1" i="0" lang="en-US" sz="1050" u="none" cap="none" strike="noStrike">
                <a:solidFill>
                  <a:srgbClr val="171717"/>
                </a:solidFill>
                <a:latin typeface="Inter"/>
                <a:ea typeface="Inter"/>
                <a:cs typeface="Inter"/>
                <a:sym typeface="Inter"/>
              </a:rPr>
              <a:t>Meta is an auction, every second</a:t>
            </a:r>
            <a:endParaRPr b="0" i="0" sz="1050" u="none" cap="none" strike="noStrike">
              <a:solidFill>
                <a:schemeClr val="dk1"/>
              </a:solidFill>
              <a:latin typeface="Calibri"/>
              <a:ea typeface="Calibri"/>
              <a:cs typeface="Calibri"/>
              <a:sym typeface="Calibri"/>
            </a:endParaRPr>
          </a:p>
        </p:txBody>
      </p:sp>
      <p:sp>
        <p:nvSpPr>
          <p:cNvPr id="800" name="Google Shape;800;p21"/>
          <p:cNvSpPr txBox="1"/>
          <p:nvPr/>
        </p:nvSpPr>
        <p:spPr>
          <a:xfrm>
            <a:off x="6519672" y="4437126"/>
            <a:ext cx="4739335" cy="347472"/>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525252"/>
              </a:buClr>
              <a:buSzPts val="950"/>
              <a:buFont typeface="Inter"/>
              <a:buNone/>
            </a:pPr>
            <a:r>
              <a:rPr b="0" i="0" lang="en-US" sz="950" u="none" cap="none" strike="noStrike">
                <a:solidFill>
                  <a:srgbClr val="525252"/>
                </a:solidFill>
                <a:latin typeface="Inter"/>
                <a:ea typeface="Inter"/>
                <a:cs typeface="Inter"/>
                <a:sym typeface="Inter"/>
              </a:rPr>
              <a:t>Every impression is bid for. More advertisers in Q4, over the holidays or near a big launch, and the same budget buys fewer impressions.</a:t>
            </a:r>
            <a:endParaRPr b="0" i="0" sz="950" u="none" cap="none" strike="noStrike">
              <a:solidFill>
                <a:schemeClr val="dk1"/>
              </a:solidFill>
              <a:latin typeface="Calibri"/>
              <a:ea typeface="Calibri"/>
              <a:cs typeface="Calibri"/>
              <a:sym typeface="Calibri"/>
            </a:endParaRPr>
          </a:p>
        </p:txBody>
      </p:sp>
      <p:sp>
        <p:nvSpPr>
          <p:cNvPr id="801" name="Google Shape;801;p21"/>
          <p:cNvSpPr/>
          <p:nvPr/>
        </p:nvSpPr>
        <p:spPr>
          <a:xfrm>
            <a:off x="5989320" y="4792980"/>
            <a:ext cx="5379415" cy="566166"/>
          </a:xfrm>
          <a:prstGeom prst="roundRect">
            <a:avLst>
              <a:gd fmla="val 16151"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2" name="Google Shape;802;p21"/>
          <p:cNvSpPr txBox="1"/>
          <p:nvPr/>
        </p:nvSpPr>
        <p:spPr>
          <a:xfrm>
            <a:off x="6099048" y="4792980"/>
            <a:ext cx="329184" cy="56616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2</a:t>
            </a:r>
            <a:endParaRPr b="0" i="0" sz="1100" u="none" cap="none" strike="noStrike">
              <a:solidFill>
                <a:schemeClr val="dk1"/>
              </a:solidFill>
              <a:latin typeface="Calibri"/>
              <a:ea typeface="Calibri"/>
              <a:cs typeface="Calibri"/>
              <a:sym typeface="Calibri"/>
            </a:endParaRPr>
          </a:p>
        </p:txBody>
      </p:sp>
      <p:sp>
        <p:nvSpPr>
          <p:cNvPr id="803" name="Google Shape;803;p21"/>
          <p:cNvSpPr txBox="1"/>
          <p:nvPr/>
        </p:nvSpPr>
        <p:spPr>
          <a:xfrm>
            <a:off x="6519672" y="4902327"/>
            <a:ext cx="4739335" cy="192024"/>
          </a:xfrm>
          <a:prstGeom prst="rect">
            <a:avLst/>
          </a:prstGeom>
          <a:noFill/>
          <a:ln>
            <a:noFill/>
          </a:ln>
        </p:spPr>
        <p:txBody>
          <a:bodyPr anchorCtr="0" anchor="t" bIns="0" lIns="0" spcFirstLastPara="1" rIns="0" wrap="square" tIns="0">
            <a:noAutofit/>
          </a:bodyPr>
          <a:lstStyle/>
          <a:p>
            <a:pPr indent="0" lvl="0" marL="0" marR="0" rtl="0" algn="l">
              <a:lnSpc>
                <a:spcPct val="135047"/>
              </a:lnSpc>
              <a:spcBef>
                <a:spcPts val="0"/>
              </a:spcBef>
              <a:spcAft>
                <a:spcPts val="0"/>
              </a:spcAft>
              <a:buClr>
                <a:srgbClr val="171717"/>
              </a:buClr>
              <a:buSzPts val="1050"/>
              <a:buFont typeface="Inter"/>
              <a:buNone/>
            </a:pPr>
            <a:r>
              <a:rPr b="1" i="0" lang="en-US" sz="1050" u="none" cap="none" strike="noStrike">
                <a:solidFill>
                  <a:srgbClr val="171717"/>
                </a:solidFill>
                <a:latin typeface="Inter"/>
                <a:ea typeface="Inter"/>
                <a:cs typeface="Inter"/>
                <a:sym typeface="Inter"/>
              </a:rPr>
              <a:t>We don't control the auction</a:t>
            </a:r>
            <a:endParaRPr b="0" i="0" sz="1050" u="none" cap="none" strike="noStrike">
              <a:solidFill>
                <a:schemeClr val="dk1"/>
              </a:solidFill>
              <a:latin typeface="Calibri"/>
              <a:ea typeface="Calibri"/>
              <a:cs typeface="Calibri"/>
              <a:sym typeface="Calibri"/>
            </a:endParaRPr>
          </a:p>
        </p:txBody>
      </p:sp>
      <p:sp>
        <p:nvSpPr>
          <p:cNvPr id="804" name="Google Shape;804;p21"/>
          <p:cNvSpPr txBox="1"/>
          <p:nvPr/>
        </p:nvSpPr>
        <p:spPr>
          <a:xfrm>
            <a:off x="6519672" y="5112639"/>
            <a:ext cx="4739335" cy="192024"/>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525252"/>
              </a:buClr>
              <a:buSzPts val="950"/>
              <a:buFont typeface="Inter"/>
              <a:buNone/>
            </a:pPr>
            <a:r>
              <a:rPr b="0" i="0" lang="en-US" sz="950" u="none" cap="none" strike="noStrike">
                <a:solidFill>
                  <a:srgbClr val="525252"/>
                </a:solidFill>
                <a:latin typeface="Inter"/>
                <a:ea typeface="Inter"/>
                <a:cs typeface="Inter"/>
                <a:sym typeface="Inter"/>
              </a:rPr>
              <a:t>We control the creative, the audience and the timing.</a:t>
            </a:r>
            <a:endParaRPr b="0" i="0" sz="950" u="none" cap="none" strike="noStrike">
              <a:solidFill>
                <a:schemeClr val="dk1"/>
              </a:solidFill>
              <a:latin typeface="Calibri"/>
              <a:ea typeface="Calibri"/>
              <a:cs typeface="Calibri"/>
              <a:sym typeface="Calibri"/>
            </a:endParaRPr>
          </a:p>
        </p:txBody>
      </p:sp>
      <p:sp>
        <p:nvSpPr>
          <p:cNvPr id="805" name="Google Shape;805;p21"/>
          <p:cNvSpPr/>
          <p:nvPr/>
        </p:nvSpPr>
        <p:spPr>
          <a:xfrm>
            <a:off x="5989320" y="5414010"/>
            <a:ext cx="5379415" cy="566166"/>
          </a:xfrm>
          <a:prstGeom prst="roundRect">
            <a:avLst>
              <a:gd fmla="val 1615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6" name="Google Shape;806;p21"/>
          <p:cNvSpPr txBox="1"/>
          <p:nvPr/>
        </p:nvSpPr>
        <p:spPr>
          <a:xfrm>
            <a:off x="6099048" y="5414010"/>
            <a:ext cx="329184" cy="56616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3</a:t>
            </a:r>
            <a:endParaRPr b="0" i="0" sz="1100" u="none" cap="none" strike="noStrike">
              <a:solidFill>
                <a:schemeClr val="dk1"/>
              </a:solidFill>
              <a:latin typeface="Calibri"/>
              <a:ea typeface="Calibri"/>
              <a:cs typeface="Calibri"/>
              <a:sym typeface="Calibri"/>
            </a:endParaRPr>
          </a:p>
        </p:txBody>
      </p:sp>
      <p:sp>
        <p:nvSpPr>
          <p:cNvPr id="807" name="Google Shape;807;p21"/>
          <p:cNvSpPr txBox="1"/>
          <p:nvPr/>
        </p:nvSpPr>
        <p:spPr>
          <a:xfrm>
            <a:off x="6519672" y="5523357"/>
            <a:ext cx="4739335" cy="192024"/>
          </a:xfrm>
          <a:prstGeom prst="rect">
            <a:avLst/>
          </a:prstGeom>
          <a:noFill/>
          <a:ln>
            <a:noFill/>
          </a:ln>
        </p:spPr>
        <p:txBody>
          <a:bodyPr anchorCtr="0" anchor="t" bIns="0" lIns="0" spcFirstLastPara="1" rIns="0" wrap="square" tIns="0">
            <a:noAutofit/>
          </a:bodyPr>
          <a:lstStyle/>
          <a:p>
            <a:pPr indent="0" lvl="0" marL="0" marR="0" rtl="0" algn="l">
              <a:lnSpc>
                <a:spcPct val="135047"/>
              </a:lnSpc>
              <a:spcBef>
                <a:spcPts val="0"/>
              </a:spcBef>
              <a:spcAft>
                <a:spcPts val="0"/>
              </a:spcAft>
              <a:buClr>
                <a:srgbClr val="737373"/>
              </a:buClr>
              <a:buSzPts val="1050"/>
              <a:buFont typeface="Inter"/>
              <a:buNone/>
            </a:pPr>
            <a:r>
              <a:rPr b="1" i="0" lang="en-US" sz="1050" u="none" cap="none" strike="noStrike">
                <a:solidFill>
                  <a:srgbClr val="737373"/>
                </a:solidFill>
                <a:latin typeface="Inter"/>
                <a:ea typeface="Inter"/>
                <a:cs typeface="Inter"/>
                <a:sym typeface="Inter"/>
              </a:rPr>
              <a:t>HGM's own launch-condition band, directional</a:t>
            </a:r>
            <a:endParaRPr b="0" i="0" sz="1050" u="none" cap="none" strike="noStrike">
              <a:solidFill>
                <a:schemeClr val="dk1"/>
              </a:solidFill>
              <a:latin typeface="Calibri"/>
              <a:ea typeface="Calibri"/>
              <a:cs typeface="Calibri"/>
              <a:sym typeface="Calibri"/>
            </a:endParaRPr>
          </a:p>
        </p:txBody>
      </p:sp>
      <p:sp>
        <p:nvSpPr>
          <p:cNvPr id="808" name="Google Shape;808;p21"/>
          <p:cNvSpPr txBox="1"/>
          <p:nvPr/>
        </p:nvSpPr>
        <p:spPr>
          <a:xfrm>
            <a:off x="6519672" y="5733669"/>
            <a:ext cx="4739335" cy="192024"/>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525252"/>
              </a:buClr>
              <a:buSzPts val="950"/>
              <a:buFont typeface="Inter"/>
              <a:buNone/>
            </a:pPr>
            <a:r>
              <a:rPr b="0" i="0" lang="en-US" sz="950" u="none" cap="none" strike="noStrike">
                <a:solidFill>
                  <a:srgbClr val="525252"/>
                </a:solidFill>
                <a:latin typeface="Inter"/>
                <a:ea typeface="Inter"/>
                <a:cs typeface="Inter"/>
                <a:sym typeface="Inter"/>
              </a:rPr>
              <a:t>Discovery campaigns at $9 to $11 per thousand. Not a promise.</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813" name="Shape 813"/>
        <p:cNvGrpSpPr/>
        <p:nvPr/>
      </p:nvGrpSpPr>
      <p:grpSpPr>
        <a:xfrm>
          <a:off x="0" y="0"/>
          <a:ext cx="0" cy="0"/>
          <a:chOff x="0" y="0"/>
          <a:chExt cx="0" cy="0"/>
        </a:xfrm>
      </p:grpSpPr>
      <p:sp>
        <p:nvSpPr>
          <p:cNvPr id="814" name="Google Shape;814;p22"/>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5 · IS THE MARKETING WORKING?</a:t>
            </a:r>
            <a:endParaRPr b="0" i="0" sz="1050" u="none" cap="none" strike="noStrike">
              <a:solidFill>
                <a:schemeClr val="dk1"/>
              </a:solidFill>
              <a:latin typeface="Calibri"/>
              <a:ea typeface="Calibri"/>
              <a:cs typeface="Calibri"/>
              <a:sym typeface="Calibri"/>
            </a:endParaRPr>
          </a:p>
        </p:txBody>
      </p:sp>
      <p:pic>
        <p:nvPicPr>
          <p:cNvPr descr="/home/claude/work/renderer/brand/wordmark.png" id="815" name="Google Shape;815;p22"/>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816" name="Google Shape;816;p22"/>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20 / 48</a:t>
            </a:r>
            <a:endParaRPr b="0" i="0" sz="900" u="none" cap="none" strike="noStrike">
              <a:solidFill>
                <a:schemeClr val="dk1"/>
              </a:solidFill>
              <a:latin typeface="Calibri"/>
              <a:ea typeface="Calibri"/>
              <a:cs typeface="Calibri"/>
              <a:sym typeface="Calibri"/>
            </a:endParaRPr>
          </a:p>
        </p:txBody>
      </p:sp>
      <p:sp>
        <p:nvSpPr>
          <p:cNvPr id="817" name="Google Shape;817;p22"/>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UTM</a:t>
            </a:r>
            <a:r>
              <a:rPr b="0" i="0" lang="en-US" sz="1700" u="none" cap="none" strike="noStrike">
                <a:solidFill>
                  <a:srgbClr val="004FAA"/>
                </a:solidFill>
                <a:latin typeface="Inter"/>
                <a:ea typeface="Inter"/>
                <a:cs typeface="Inter"/>
                <a:sym typeface="Inter"/>
              </a:rPr>
              <a:t>  Urchin Tracking Module: the tags that make a link traceable</a:t>
            </a:r>
            <a:endParaRPr b="0" i="0" sz="3000" u="none" cap="none" strike="noStrike">
              <a:solidFill>
                <a:schemeClr val="dk1"/>
              </a:solidFill>
              <a:latin typeface="Calibri"/>
              <a:ea typeface="Calibri"/>
              <a:cs typeface="Calibri"/>
              <a:sym typeface="Calibri"/>
            </a:endParaRPr>
          </a:p>
        </p:txBody>
      </p:sp>
      <p:sp>
        <p:nvSpPr>
          <p:cNvPr id="818" name="Google Shape;818;p22"/>
          <p:cNvSpPr/>
          <p:nvPr/>
        </p:nvSpPr>
        <p:spPr>
          <a:xfrm>
            <a:off x="5715000" y="1783080"/>
            <a:ext cx="5928055" cy="3517011"/>
          </a:xfrm>
          <a:prstGeom prst="roundRect">
            <a:avLst>
              <a:gd fmla="val 312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9" name="Google Shape;819;p22"/>
          <p:cNvSpPr/>
          <p:nvPr/>
        </p:nvSpPr>
        <p:spPr>
          <a:xfrm>
            <a:off x="548640" y="1783080"/>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book-closed.png" id="820" name="Google Shape;820;p22"/>
          <p:cNvPicPr preferRelativeResize="0"/>
          <p:nvPr/>
        </p:nvPicPr>
        <p:blipFill rotWithShape="1">
          <a:blip r:embed="rId4">
            <a:alphaModFix/>
          </a:blip>
          <a:srcRect b="0" l="0" r="0" t="0"/>
          <a:stretch/>
        </p:blipFill>
        <p:spPr>
          <a:xfrm>
            <a:off x="641177" y="1875617"/>
            <a:ext cx="235549" cy="235549"/>
          </a:xfrm>
          <a:prstGeom prst="rect">
            <a:avLst/>
          </a:prstGeom>
          <a:noFill/>
          <a:ln>
            <a:noFill/>
          </a:ln>
        </p:spPr>
      </p:pic>
      <p:sp>
        <p:nvSpPr>
          <p:cNvPr id="821" name="Google Shape;821;p22"/>
          <p:cNvSpPr txBox="1"/>
          <p:nvPr/>
        </p:nvSpPr>
        <p:spPr>
          <a:xfrm>
            <a:off x="1170432" y="1764792"/>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Dictionary</a:t>
            </a:r>
            <a:endParaRPr b="0" i="0" sz="1450" u="none" cap="none" strike="noStrike">
              <a:solidFill>
                <a:schemeClr val="dk1"/>
              </a:solidFill>
              <a:latin typeface="Calibri"/>
              <a:ea typeface="Calibri"/>
              <a:cs typeface="Calibri"/>
              <a:sym typeface="Calibri"/>
            </a:endParaRPr>
          </a:p>
        </p:txBody>
      </p:sp>
      <p:sp>
        <p:nvSpPr>
          <p:cNvPr id="822" name="Google Shape;822;p22"/>
          <p:cNvSpPr txBox="1"/>
          <p:nvPr/>
        </p:nvSpPr>
        <p:spPr>
          <a:xfrm>
            <a:off x="1170432" y="2075688"/>
            <a:ext cx="4270248" cy="306896"/>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Link tags that make traffic traceable.</a:t>
            </a:r>
            <a:endParaRPr b="0" i="0" sz="1150" u="none" cap="none" strike="noStrike">
              <a:solidFill>
                <a:schemeClr val="dk1"/>
              </a:solidFill>
              <a:latin typeface="Calibri"/>
              <a:ea typeface="Calibri"/>
              <a:cs typeface="Calibri"/>
              <a:sym typeface="Calibri"/>
            </a:endParaRPr>
          </a:p>
        </p:txBody>
      </p:sp>
      <p:sp>
        <p:nvSpPr>
          <p:cNvPr id="823" name="Google Shape;823;p22"/>
          <p:cNvSpPr/>
          <p:nvPr/>
        </p:nvSpPr>
        <p:spPr>
          <a:xfrm>
            <a:off x="548640" y="2847499"/>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heart.png" id="824" name="Google Shape;824;p22"/>
          <p:cNvPicPr preferRelativeResize="0"/>
          <p:nvPr/>
        </p:nvPicPr>
        <p:blipFill rotWithShape="1">
          <a:blip r:embed="rId5">
            <a:alphaModFix/>
          </a:blip>
          <a:srcRect b="0" l="0" r="0" t="0"/>
          <a:stretch/>
        </p:blipFill>
        <p:spPr>
          <a:xfrm>
            <a:off x="641177" y="2940036"/>
            <a:ext cx="235549" cy="235549"/>
          </a:xfrm>
          <a:prstGeom prst="rect">
            <a:avLst/>
          </a:prstGeom>
          <a:noFill/>
          <a:ln>
            <a:noFill/>
          </a:ln>
        </p:spPr>
      </p:pic>
      <p:sp>
        <p:nvSpPr>
          <p:cNvPr id="825" name="Google Shape;825;p22"/>
          <p:cNvSpPr txBox="1"/>
          <p:nvPr/>
        </p:nvSpPr>
        <p:spPr>
          <a:xfrm>
            <a:off x="1170432" y="2829211"/>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Why the owner cares</a:t>
            </a:r>
            <a:endParaRPr b="0" i="0" sz="1450" u="none" cap="none" strike="noStrike">
              <a:solidFill>
                <a:schemeClr val="dk1"/>
              </a:solidFill>
              <a:latin typeface="Calibri"/>
              <a:ea typeface="Calibri"/>
              <a:cs typeface="Calibri"/>
              <a:sym typeface="Calibri"/>
            </a:endParaRPr>
          </a:p>
        </p:txBody>
      </p:sp>
      <p:sp>
        <p:nvSpPr>
          <p:cNvPr id="826" name="Google Shape;826;p22"/>
          <p:cNvSpPr txBox="1"/>
          <p:nvPr/>
        </p:nvSpPr>
        <p:spPr>
          <a:xfrm>
            <a:off x="1170432" y="3140107"/>
            <a:ext cx="4270248" cy="89839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It lets us show them which email or ad brought each booking, instead of asking them to take it on trust. At HGM every email link and every ad carries them, and on our own sites they are stamped onto the booking itself.</a:t>
            </a:r>
            <a:endParaRPr b="0" i="0" sz="1150" u="none" cap="none" strike="noStrike">
              <a:solidFill>
                <a:schemeClr val="dk1"/>
              </a:solidFill>
              <a:latin typeface="Calibri"/>
              <a:ea typeface="Calibri"/>
              <a:cs typeface="Calibri"/>
              <a:sym typeface="Calibri"/>
            </a:endParaRPr>
          </a:p>
        </p:txBody>
      </p:sp>
      <p:sp>
        <p:nvSpPr>
          <p:cNvPr id="827" name="Google Shape;827;p22"/>
          <p:cNvSpPr/>
          <p:nvPr/>
        </p:nvSpPr>
        <p:spPr>
          <a:xfrm>
            <a:off x="548640" y="4503420"/>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message-square.png" id="828" name="Google Shape;828;p22"/>
          <p:cNvPicPr preferRelativeResize="0"/>
          <p:nvPr/>
        </p:nvPicPr>
        <p:blipFill rotWithShape="1">
          <a:blip r:embed="rId6">
            <a:alphaModFix/>
          </a:blip>
          <a:srcRect b="0" l="0" r="0" t="0"/>
          <a:stretch/>
        </p:blipFill>
        <p:spPr>
          <a:xfrm>
            <a:off x="641177" y="4595957"/>
            <a:ext cx="235549" cy="235549"/>
          </a:xfrm>
          <a:prstGeom prst="rect">
            <a:avLst/>
          </a:prstGeom>
          <a:noFill/>
          <a:ln>
            <a:noFill/>
          </a:ln>
        </p:spPr>
      </p:pic>
      <p:sp>
        <p:nvSpPr>
          <p:cNvPr id="829" name="Google Shape;829;p22"/>
          <p:cNvSpPr txBox="1"/>
          <p:nvPr/>
        </p:nvSpPr>
        <p:spPr>
          <a:xfrm>
            <a:off x="1170432" y="4485132"/>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Contextual usage</a:t>
            </a:r>
            <a:endParaRPr b="0" i="0" sz="1450" u="none" cap="none" strike="noStrike">
              <a:solidFill>
                <a:schemeClr val="dk1"/>
              </a:solidFill>
              <a:latin typeface="Calibri"/>
              <a:ea typeface="Calibri"/>
              <a:cs typeface="Calibri"/>
              <a:sym typeface="Calibri"/>
            </a:endParaRPr>
          </a:p>
        </p:txBody>
      </p:sp>
      <p:sp>
        <p:nvSpPr>
          <p:cNvPr id="830" name="Google Shape;830;p22"/>
          <p:cNvSpPr txBox="1"/>
          <p:nvPr/>
        </p:nvSpPr>
        <p:spPr>
          <a:xfrm>
            <a:off x="1170432" y="4796028"/>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We tag every link with a UTM so we can see exactly which post or email brought each booking.</a:t>
            </a:r>
            <a:endParaRPr b="0" i="0" sz="1150" u="none" cap="none" strike="noStrike">
              <a:solidFill>
                <a:schemeClr val="dk1"/>
              </a:solidFill>
              <a:latin typeface="Calibri"/>
              <a:ea typeface="Calibri"/>
              <a:cs typeface="Calibri"/>
              <a:sym typeface="Calibri"/>
            </a:endParaRPr>
          </a:p>
        </p:txBody>
      </p:sp>
      <p:sp>
        <p:nvSpPr>
          <p:cNvPr id="831" name="Google Shape;831;p22"/>
          <p:cNvSpPr txBox="1"/>
          <p:nvPr/>
        </p:nvSpPr>
        <p:spPr>
          <a:xfrm>
            <a:off x="5989320" y="1984248"/>
            <a:ext cx="5379415"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900"/>
              <a:buFont typeface="Roboto Mono"/>
              <a:buNone/>
            </a:pPr>
            <a:r>
              <a:rPr b="0" i="0" lang="en-US" sz="900" u="none" cap="none" strike="noStrike">
                <a:solidFill>
                  <a:srgbClr val="004FAA"/>
                </a:solidFill>
                <a:latin typeface="Roboto Mono"/>
                <a:ea typeface="Roboto Mono"/>
                <a:cs typeface="Roboto Mono"/>
                <a:sym typeface="Roboto Mono"/>
              </a:rPr>
              <a:t>THE SAME TAGS ON AN EMAIL AND ON AN AD</a:t>
            </a:r>
            <a:endParaRPr b="0" i="0" sz="900" u="none" cap="none" strike="noStrike">
              <a:solidFill>
                <a:schemeClr val="dk1"/>
              </a:solidFill>
              <a:latin typeface="Calibri"/>
              <a:ea typeface="Calibri"/>
              <a:cs typeface="Calibri"/>
              <a:sym typeface="Calibri"/>
            </a:endParaRPr>
          </a:p>
        </p:txBody>
      </p:sp>
      <p:sp>
        <p:nvSpPr>
          <p:cNvPr id="832" name="Google Shape;832;p22"/>
          <p:cNvSpPr/>
          <p:nvPr/>
        </p:nvSpPr>
        <p:spPr>
          <a:xfrm>
            <a:off x="5989320" y="2258568"/>
            <a:ext cx="2598268" cy="2767203"/>
          </a:xfrm>
          <a:prstGeom prst="roundRect">
            <a:avLst>
              <a:gd fmla="val 3519"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mail.png" id="833" name="Google Shape;833;p22"/>
          <p:cNvPicPr preferRelativeResize="0"/>
          <p:nvPr/>
        </p:nvPicPr>
        <p:blipFill rotWithShape="1">
          <a:blip r:embed="rId7">
            <a:alphaModFix/>
          </a:blip>
          <a:srcRect b="0" l="0" r="0" t="0"/>
          <a:stretch/>
        </p:blipFill>
        <p:spPr>
          <a:xfrm>
            <a:off x="6208776" y="2459736"/>
            <a:ext cx="310896" cy="310896"/>
          </a:xfrm>
          <a:prstGeom prst="rect">
            <a:avLst/>
          </a:prstGeom>
          <a:noFill/>
          <a:ln>
            <a:noFill/>
          </a:ln>
        </p:spPr>
      </p:pic>
      <p:sp>
        <p:nvSpPr>
          <p:cNvPr id="834" name="Google Shape;834;p22"/>
          <p:cNvSpPr txBox="1"/>
          <p:nvPr/>
        </p:nvSpPr>
        <p:spPr>
          <a:xfrm>
            <a:off x="6629400" y="2459736"/>
            <a:ext cx="1729588" cy="310896"/>
          </a:xfrm>
          <a:prstGeom prst="rect">
            <a:avLst/>
          </a:prstGeom>
          <a:noFill/>
          <a:ln>
            <a:noFill/>
          </a:ln>
        </p:spPr>
        <p:txBody>
          <a:bodyPr anchorCtr="0" anchor="ctr" bIns="0" lIns="0" spcFirstLastPara="1" rIns="0" wrap="square" tIns="0">
            <a:noAutofit/>
          </a:bodyPr>
          <a:lstStyle/>
          <a:p>
            <a:pPr indent="0" lvl="0" marL="0" marR="0" rtl="0" algn="l">
              <a:lnSpc>
                <a:spcPct val="135040"/>
              </a:lnSpc>
              <a:spcBef>
                <a:spcPts val="0"/>
              </a:spcBef>
              <a:spcAft>
                <a:spcPts val="0"/>
              </a:spcAft>
              <a:buClr>
                <a:srgbClr val="404040"/>
              </a:buClr>
              <a:buSzPts val="1250"/>
              <a:buFont typeface="Inter"/>
              <a:buNone/>
            </a:pPr>
            <a:r>
              <a:rPr b="1" i="0" lang="en-US" sz="1250" u="none" cap="none" strike="noStrike">
                <a:solidFill>
                  <a:srgbClr val="404040"/>
                </a:solidFill>
                <a:latin typeface="Inter"/>
                <a:ea typeface="Inter"/>
                <a:cs typeface="Inter"/>
                <a:sym typeface="Inter"/>
              </a:rPr>
              <a:t>An email link</a:t>
            </a:r>
            <a:endParaRPr b="0" i="0" sz="1250" u="none" cap="none" strike="noStrike">
              <a:solidFill>
                <a:schemeClr val="dk1"/>
              </a:solidFill>
              <a:latin typeface="Calibri"/>
              <a:ea typeface="Calibri"/>
              <a:cs typeface="Calibri"/>
              <a:sym typeface="Calibri"/>
            </a:endParaRPr>
          </a:p>
        </p:txBody>
      </p:sp>
      <p:sp>
        <p:nvSpPr>
          <p:cNvPr id="835" name="Google Shape;835;p22"/>
          <p:cNvSpPr txBox="1"/>
          <p:nvPr/>
        </p:nvSpPr>
        <p:spPr>
          <a:xfrm>
            <a:off x="6208776" y="2916936"/>
            <a:ext cx="2159356" cy="1889379"/>
          </a:xfrm>
          <a:prstGeom prst="rect">
            <a:avLst/>
          </a:prstGeom>
          <a:noFill/>
          <a:ln>
            <a:noFill/>
          </a:ln>
        </p:spPr>
        <p:txBody>
          <a:bodyPr anchorCtr="0" anchor="t" bIns="0" lIns="0" spcFirstLastPara="1" rIns="0" wrap="square" tIns="0">
            <a:noAutofit/>
          </a:bodyPr>
          <a:lstStyle/>
          <a:p>
            <a:pPr indent="-152400" lvl="0" marL="152400" marR="0" rtl="0" algn="l">
              <a:lnSpc>
                <a:spcPct val="130000"/>
              </a:lnSpc>
              <a:spcBef>
                <a:spcPts val="0"/>
              </a:spcBef>
              <a:spcAft>
                <a:spcPts val="0"/>
              </a:spcAft>
              <a:buClr>
                <a:srgbClr val="404040"/>
              </a:buClr>
              <a:buSzPts val="1050"/>
              <a:buFont typeface="Inter"/>
              <a:buChar char="•"/>
            </a:pPr>
            <a:r>
              <a:rPr b="0" i="0" lang="en-US" sz="1050" u="none" cap="none" strike="noStrike">
                <a:solidFill>
                  <a:srgbClr val="404040"/>
                </a:solidFill>
                <a:latin typeface="Inter"/>
                <a:ea typeface="Inter"/>
                <a:cs typeface="Inter"/>
                <a:sym typeface="Inter"/>
              </a:rPr>
              <a:t>lakeside-lodge.example/?utm_source=email&amp;utm_medium=welcome-flow&amp;utm_campaign=email-1</a:t>
            </a:r>
            <a:endParaRPr b="0" i="0" sz="1050" u="none" cap="none" strike="noStrike">
              <a:solidFill>
                <a:schemeClr val="dk1"/>
              </a:solidFill>
              <a:latin typeface="Calibri"/>
              <a:ea typeface="Calibri"/>
              <a:cs typeface="Calibri"/>
              <a:sym typeface="Calibri"/>
            </a:endParaRPr>
          </a:p>
          <a:p>
            <a:pPr indent="-152400" lvl="0" marL="152400" marR="0" rtl="0" algn="l">
              <a:lnSpc>
                <a:spcPct val="130000"/>
              </a:lnSpc>
              <a:spcBef>
                <a:spcPts val="500"/>
              </a:spcBef>
              <a:spcAft>
                <a:spcPts val="0"/>
              </a:spcAft>
              <a:buClr>
                <a:srgbClr val="404040"/>
              </a:buClr>
              <a:buSzPts val="1050"/>
              <a:buFont typeface="Inter"/>
              <a:buChar char="•"/>
            </a:pPr>
            <a:r>
              <a:rPr b="0" i="0" lang="en-US" sz="1050" u="none" cap="none" strike="noStrike">
                <a:solidFill>
                  <a:srgbClr val="404040"/>
                </a:solidFill>
                <a:latin typeface="Inter"/>
                <a:ea typeface="Inter"/>
                <a:cs typeface="Inter"/>
                <a:sym typeface="Inter"/>
              </a:rPr>
              <a:t>The report reads: email / welcome flow / Email 1.</a:t>
            </a:r>
            <a:endParaRPr b="0" i="0" sz="1050" u="none" cap="none" strike="noStrike">
              <a:solidFill>
                <a:schemeClr val="dk1"/>
              </a:solidFill>
              <a:latin typeface="Calibri"/>
              <a:ea typeface="Calibri"/>
              <a:cs typeface="Calibri"/>
              <a:sym typeface="Calibri"/>
            </a:endParaRPr>
          </a:p>
          <a:p>
            <a:pPr indent="-152400" lvl="0" marL="152400" marR="0" rtl="0" algn="l">
              <a:lnSpc>
                <a:spcPct val="130000"/>
              </a:lnSpc>
              <a:spcBef>
                <a:spcPts val="500"/>
              </a:spcBef>
              <a:spcAft>
                <a:spcPts val="0"/>
              </a:spcAft>
              <a:buClr>
                <a:srgbClr val="404040"/>
              </a:buClr>
              <a:buSzPts val="1050"/>
              <a:buFont typeface="Inter"/>
              <a:buChar char="•"/>
            </a:pPr>
            <a:r>
              <a:rPr b="0" i="0" lang="en-US" sz="1050" u="none" cap="none" strike="noStrike">
                <a:solidFill>
                  <a:srgbClr val="404040"/>
                </a:solidFill>
                <a:latin typeface="Inter"/>
                <a:ea typeface="Inter"/>
                <a:cs typeface="Inter"/>
                <a:sym typeface="Inter"/>
              </a:rPr>
              <a:t>Sent from GoHighLevel, every link tagged.</a:t>
            </a:r>
            <a:endParaRPr b="0" i="0" sz="1050" u="none" cap="none" strike="noStrike">
              <a:solidFill>
                <a:schemeClr val="dk1"/>
              </a:solidFill>
              <a:latin typeface="Calibri"/>
              <a:ea typeface="Calibri"/>
              <a:cs typeface="Calibri"/>
              <a:sym typeface="Calibri"/>
            </a:endParaRPr>
          </a:p>
        </p:txBody>
      </p:sp>
      <p:sp>
        <p:nvSpPr>
          <p:cNvPr id="836" name="Google Shape;836;p22"/>
          <p:cNvSpPr/>
          <p:nvPr/>
        </p:nvSpPr>
        <p:spPr>
          <a:xfrm>
            <a:off x="8770468" y="2258568"/>
            <a:ext cx="2598268" cy="2767203"/>
          </a:xfrm>
          <a:prstGeom prst="roundRect">
            <a:avLst>
              <a:gd fmla="val 3519" name="adj"/>
            </a:avLst>
          </a:prstGeom>
          <a:solidFill>
            <a:srgbClr val="0066DE"/>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link-white.png" id="837" name="Google Shape;837;p22"/>
          <p:cNvPicPr preferRelativeResize="0"/>
          <p:nvPr/>
        </p:nvPicPr>
        <p:blipFill rotWithShape="1">
          <a:blip r:embed="rId8">
            <a:alphaModFix/>
          </a:blip>
          <a:srcRect b="0" l="0" r="0" t="0"/>
          <a:stretch/>
        </p:blipFill>
        <p:spPr>
          <a:xfrm>
            <a:off x="8989924" y="2459736"/>
            <a:ext cx="310896" cy="310896"/>
          </a:xfrm>
          <a:prstGeom prst="rect">
            <a:avLst/>
          </a:prstGeom>
          <a:noFill/>
          <a:ln>
            <a:noFill/>
          </a:ln>
        </p:spPr>
      </p:pic>
      <p:sp>
        <p:nvSpPr>
          <p:cNvPr id="838" name="Google Shape;838;p22"/>
          <p:cNvSpPr txBox="1"/>
          <p:nvPr/>
        </p:nvSpPr>
        <p:spPr>
          <a:xfrm>
            <a:off x="9410548" y="2459736"/>
            <a:ext cx="1729588" cy="310896"/>
          </a:xfrm>
          <a:prstGeom prst="rect">
            <a:avLst/>
          </a:prstGeom>
          <a:noFill/>
          <a:ln>
            <a:noFill/>
          </a:ln>
        </p:spPr>
        <p:txBody>
          <a:bodyPr anchorCtr="0" anchor="ctr" bIns="0" lIns="0" spcFirstLastPara="1" rIns="0" wrap="square" tIns="0">
            <a:noAutofit/>
          </a:bodyPr>
          <a:lstStyle/>
          <a:p>
            <a:pPr indent="0" lvl="0" marL="0" marR="0" rtl="0" algn="l">
              <a:lnSpc>
                <a:spcPct val="135040"/>
              </a:lnSpc>
              <a:spcBef>
                <a:spcPts val="0"/>
              </a:spcBef>
              <a:spcAft>
                <a:spcPts val="0"/>
              </a:spcAft>
              <a:buClr>
                <a:srgbClr val="FFFFFF"/>
              </a:buClr>
              <a:buSzPts val="1250"/>
              <a:buFont typeface="Inter"/>
              <a:buNone/>
            </a:pPr>
            <a:r>
              <a:rPr b="1" i="0" lang="en-US" sz="1250" u="none" cap="none" strike="noStrike">
                <a:solidFill>
                  <a:srgbClr val="FFFFFF"/>
                </a:solidFill>
                <a:latin typeface="Inter"/>
                <a:ea typeface="Inter"/>
                <a:cs typeface="Inter"/>
                <a:sym typeface="Inter"/>
              </a:rPr>
              <a:t>A Meta ad link</a:t>
            </a:r>
            <a:endParaRPr b="0" i="0" sz="1250" u="none" cap="none" strike="noStrike">
              <a:solidFill>
                <a:schemeClr val="dk1"/>
              </a:solidFill>
              <a:latin typeface="Calibri"/>
              <a:ea typeface="Calibri"/>
              <a:cs typeface="Calibri"/>
              <a:sym typeface="Calibri"/>
            </a:endParaRPr>
          </a:p>
        </p:txBody>
      </p:sp>
      <p:sp>
        <p:nvSpPr>
          <p:cNvPr id="839" name="Google Shape;839;p22"/>
          <p:cNvSpPr txBox="1"/>
          <p:nvPr/>
        </p:nvSpPr>
        <p:spPr>
          <a:xfrm>
            <a:off x="8989924" y="2916936"/>
            <a:ext cx="2159356" cy="1889379"/>
          </a:xfrm>
          <a:prstGeom prst="rect">
            <a:avLst/>
          </a:prstGeom>
          <a:noFill/>
          <a:ln>
            <a:noFill/>
          </a:ln>
        </p:spPr>
        <p:txBody>
          <a:bodyPr anchorCtr="0" anchor="t" bIns="0" lIns="0" spcFirstLastPara="1" rIns="0" wrap="square" tIns="0">
            <a:noAutofit/>
          </a:bodyPr>
          <a:lstStyle/>
          <a:p>
            <a:pPr indent="-152400" lvl="0" marL="152400" marR="0" rtl="0" algn="l">
              <a:lnSpc>
                <a:spcPct val="130000"/>
              </a:lnSpc>
              <a:spcBef>
                <a:spcPts val="0"/>
              </a:spcBef>
              <a:spcAft>
                <a:spcPts val="0"/>
              </a:spcAft>
              <a:buClr>
                <a:srgbClr val="FFFFFF"/>
              </a:buClr>
              <a:buSzPts val="1050"/>
              <a:buFont typeface="Inter"/>
              <a:buChar char="•"/>
            </a:pPr>
            <a:r>
              <a:rPr b="0" i="0" lang="en-US" sz="1050" u="none" cap="none" strike="noStrike">
                <a:solidFill>
                  <a:srgbClr val="FFFFFF"/>
                </a:solidFill>
                <a:latin typeface="Inter"/>
                <a:ea typeface="Inter"/>
                <a:cs typeface="Inter"/>
                <a:sym typeface="Inter"/>
              </a:rPr>
              <a:t>lakeside-lodge.example/?utm_source=facebook&amp;utm_medium=paid&amp;utm_campaign=retargeting</a:t>
            </a:r>
            <a:endParaRPr b="0" i="0" sz="1050" u="none" cap="none" strike="noStrike">
              <a:solidFill>
                <a:schemeClr val="dk1"/>
              </a:solidFill>
              <a:latin typeface="Calibri"/>
              <a:ea typeface="Calibri"/>
              <a:cs typeface="Calibri"/>
              <a:sym typeface="Calibri"/>
            </a:endParaRPr>
          </a:p>
          <a:p>
            <a:pPr indent="-152400" lvl="0" marL="152400" marR="0" rtl="0" algn="l">
              <a:lnSpc>
                <a:spcPct val="130000"/>
              </a:lnSpc>
              <a:spcBef>
                <a:spcPts val="500"/>
              </a:spcBef>
              <a:spcAft>
                <a:spcPts val="0"/>
              </a:spcAft>
              <a:buClr>
                <a:srgbClr val="FFFFFF"/>
              </a:buClr>
              <a:buSzPts val="1050"/>
              <a:buFont typeface="Inter"/>
              <a:buChar char="•"/>
            </a:pPr>
            <a:r>
              <a:rPr b="0" i="0" lang="en-US" sz="1050" u="none" cap="none" strike="noStrike">
                <a:solidFill>
                  <a:srgbClr val="FFFFFF"/>
                </a:solidFill>
                <a:latin typeface="Inter"/>
                <a:ea typeface="Inter"/>
                <a:cs typeface="Inter"/>
                <a:sym typeface="Inter"/>
              </a:rPr>
              <a:t>The report reads: facebook / paid / retargeting.</a:t>
            </a:r>
            <a:endParaRPr b="0" i="0" sz="1050" u="none" cap="none" strike="noStrike">
              <a:solidFill>
                <a:schemeClr val="dk1"/>
              </a:solidFill>
              <a:latin typeface="Calibri"/>
              <a:ea typeface="Calibri"/>
              <a:cs typeface="Calibri"/>
              <a:sym typeface="Calibri"/>
            </a:endParaRPr>
          </a:p>
          <a:p>
            <a:pPr indent="-152400" lvl="0" marL="152400" marR="0" rtl="0" algn="l">
              <a:lnSpc>
                <a:spcPct val="130000"/>
              </a:lnSpc>
              <a:spcBef>
                <a:spcPts val="500"/>
              </a:spcBef>
              <a:spcAft>
                <a:spcPts val="0"/>
              </a:spcAft>
              <a:buClr>
                <a:srgbClr val="FFFFFF"/>
              </a:buClr>
              <a:buSzPts val="1050"/>
              <a:buFont typeface="Inter"/>
              <a:buChar char="•"/>
            </a:pPr>
            <a:r>
              <a:rPr b="0" i="0" lang="en-US" sz="1050" u="none" cap="none" strike="noStrike">
                <a:solidFill>
                  <a:srgbClr val="FFFFFF"/>
                </a:solidFill>
                <a:latin typeface="Inter"/>
                <a:ea typeface="Inter"/>
                <a:cs typeface="Inter"/>
                <a:sym typeface="Inter"/>
              </a:rPr>
              <a:t>On our own sites the tags are written onto the booking record.</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844" name="Shape 844"/>
        <p:cNvGrpSpPr/>
        <p:nvPr/>
      </p:nvGrpSpPr>
      <p:grpSpPr>
        <a:xfrm>
          <a:off x="0" y="0"/>
          <a:ext cx="0" cy="0"/>
          <a:chOff x="0" y="0"/>
          <a:chExt cx="0" cy="0"/>
        </a:xfrm>
      </p:grpSpPr>
      <p:sp>
        <p:nvSpPr>
          <p:cNvPr id="845" name="Google Shape;845;p23"/>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5 · IS THE MARKETING WORKING?</a:t>
            </a:r>
            <a:endParaRPr b="0" i="0" sz="1050" u="none" cap="none" strike="noStrike">
              <a:solidFill>
                <a:schemeClr val="dk1"/>
              </a:solidFill>
              <a:latin typeface="Calibri"/>
              <a:ea typeface="Calibri"/>
              <a:cs typeface="Calibri"/>
              <a:sym typeface="Calibri"/>
            </a:endParaRPr>
          </a:p>
        </p:txBody>
      </p:sp>
      <p:pic>
        <p:nvPicPr>
          <p:cNvPr descr="/home/claude/work/renderer/brand/wordmark.png" id="846" name="Google Shape;846;p23"/>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847" name="Google Shape;847;p23"/>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21 / 48</a:t>
            </a:r>
            <a:endParaRPr b="0" i="0" sz="900" u="none" cap="none" strike="noStrike">
              <a:solidFill>
                <a:schemeClr val="dk1"/>
              </a:solidFill>
              <a:latin typeface="Calibri"/>
              <a:ea typeface="Calibri"/>
              <a:cs typeface="Calibri"/>
              <a:sym typeface="Calibri"/>
            </a:endParaRPr>
          </a:p>
        </p:txBody>
      </p:sp>
      <p:sp>
        <p:nvSpPr>
          <p:cNvPr id="848" name="Google Shape;848;p23"/>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CAPI</a:t>
            </a:r>
            <a:r>
              <a:rPr b="0" i="0" lang="en-US" sz="1700" u="none" cap="none" strike="noStrike">
                <a:solidFill>
                  <a:srgbClr val="004FAA"/>
                </a:solidFill>
                <a:latin typeface="Inter"/>
                <a:ea typeface="Inter"/>
                <a:cs typeface="Inter"/>
                <a:sym typeface="Inter"/>
              </a:rPr>
              <a:t>  conversions API: counting the booking when the browser won't</a:t>
            </a:r>
            <a:endParaRPr b="0" i="0" sz="3000" u="none" cap="none" strike="noStrike">
              <a:solidFill>
                <a:schemeClr val="dk1"/>
              </a:solidFill>
              <a:latin typeface="Calibri"/>
              <a:ea typeface="Calibri"/>
              <a:cs typeface="Calibri"/>
              <a:sym typeface="Calibri"/>
            </a:endParaRPr>
          </a:p>
        </p:txBody>
      </p:sp>
      <p:sp>
        <p:nvSpPr>
          <p:cNvPr id="849" name="Google Shape;849;p23"/>
          <p:cNvSpPr/>
          <p:nvPr/>
        </p:nvSpPr>
        <p:spPr>
          <a:xfrm>
            <a:off x="5715000" y="1783080"/>
            <a:ext cx="5928055" cy="3170301"/>
          </a:xfrm>
          <a:prstGeom prst="roundRect">
            <a:avLst>
              <a:gd fmla="val 34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0" name="Google Shape;850;p23"/>
          <p:cNvSpPr/>
          <p:nvPr/>
        </p:nvSpPr>
        <p:spPr>
          <a:xfrm>
            <a:off x="548640" y="1783080"/>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book-closed.png" id="851" name="Google Shape;851;p23"/>
          <p:cNvPicPr preferRelativeResize="0"/>
          <p:nvPr/>
        </p:nvPicPr>
        <p:blipFill rotWithShape="1">
          <a:blip r:embed="rId4">
            <a:alphaModFix/>
          </a:blip>
          <a:srcRect b="0" l="0" r="0" t="0"/>
          <a:stretch/>
        </p:blipFill>
        <p:spPr>
          <a:xfrm>
            <a:off x="641177" y="1875617"/>
            <a:ext cx="235549" cy="235549"/>
          </a:xfrm>
          <a:prstGeom prst="rect">
            <a:avLst/>
          </a:prstGeom>
          <a:noFill/>
          <a:ln>
            <a:noFill/>
          </a:ln>
        </p:spPr>
      </p:pic>
      <p:sp>
        <p:nvSpPr>
          <p:cNvPr id="852" name="Google Shape;852;p23"/>
          <p:cNvSpPr txBox="1"/>
          <p:nvPr/>
        </p:nvSpPr>
        <p:spPr>
          <a:xfrm>
            <a:off x="1170432" y="1764792"/>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Dictionary</a:t>
            </a:r>
            <a:endParaRPr b="0" i="0" sz="1450" u="none" cap="none" strike="noStrike">
              <a:solidFill>
                <a:schemeClr val="dk1"/>
              </a:solidFill>
              <a:latin typeface="Calibri"/>
              <a:ea typeface="Calibri"/>
              <a:cs typeface="Calibri"/>
              <a:sym typeface="Calibri"/>
            </a:endParaRPr>
          </a:p>
        </p:txBody>
      </p:sp>
      <p:sp>
        <p:nvSpPr>
          <p:cNvPr id="853" name="Google Shape;853;p23"/>
          <p:cNvSpPr txBox="1"/>
          <p:nvPr/>
        </p:nvSpPr>
        <p:spPr>
          <a:xfrm>
            <a:off x="1170432" y="2075688"/>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Server-side event sending, which survives the browser blocking the pixel.</a:t>
            </a:r>
            <a:endParaRPr b="0" i="0" sz="1150" u="none" cap="none" strike="noStrike">
              <a:solidFill>
                <a:schemeClr val="dk1"/>
              </a:solidFill>
              <a:latin typeface="Calibri"/>
              <a:ea typeface="Calibri"/>
              <a:cs typeface="Calibri"/>
              <a:sym typeface="Calibri"/>
            </a:endParaRPr>
          </a:p>
        </p:txBody>
      </p:sp>
      <p:sp>
        <p:nvSpPr>
          <p:cNvPr id="854" name="Google Shape;854;p23"/>
          <p:cNvSpPr/>
          <p:nvPr/>
        </p:nvSpPr>
        <p:spPr>
          <a:xfrm>
            <a:off x="548640" y="2899791"/>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heart.png" id="855" name="Google Shape;855;p23"/>
          <p:cNvPicPr preferRelativeResize="0"/>
          <p:nvPr/>
        </p:nvPicPr>
        <p:blipFill rotWithShape="1">
          <a:blip r:embed="rId5">
            <a:alphaModFix/>
          </a:blip>
          <a:srcRect b="0" l="0" r="0" t="0"/>
          <a:stretch/>
        </p:blipFill>
        <p:spPr>
          <a:xfrm>
            <a:off x="641177" y="2992328"/>
            <a:ext cx="235549" cy="235549"/>
          </a:xfrm>
          <a:prstGeom prst="rect">
            <a:avLst/>
          </a:prstGeom>
          <a:noFill/>
          <a:ln>
            <a:noFill/>
          </a:ln>
        </p:spPr>
      </p:pic>
      <p:sp>
        <p:nvSpPr>
          <p:cNvPr id="856" name="Google Shape;856;p23"/>
          <p:cNvSpPr txBox="1"/>
          <p:nvPr/>
        </p:nvSpPr>
        <p:spPr>
          <a:xfrm>
            <a:off x="1170432" y="2881503"/>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Why the owner cares</a:t>
            </a:r>
            <a:endParaRPr b="0" i="0" sz="1450" u="none" cap="none" strike="noStrike">
              <a:solidFill>
                <a:schemeClr val="dk1"/>
              </a:solidFill>
              <a:latin typeface="Calibri"/>
              <a:ea typeface="Calibri"/>
              <a:cs typeface="Calibri"/>
              <a:sym typeface="Calibri"/>
            </a:endParaRPr>
          </a:p>
        </p:txBody>
      </p:sp>
      <p:sp>
        <p:nvSpPr>
          <p:cNvPr id="857" name="Google Shape;857;p23"/>
          <p:cNvSpPr txBox="1"/>
          <p:nvPr/>
        </p:nvSpPr>
        <p:spPr>
          <a:xfrm>
            <a:off x="1170432" y="3192399"/>
            <a:ext cx="4270248" cy="701231"/>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It keeps bookings visible to the ad platform when a guest's browser blocks the pixel, so their campaigns are judged and tuned on real results.</a:t>
            </a:r>
            <a:endParaRPr b="0" i="0" sz="1150" u="none" cap="none" strike="noStrike">
              <a:solidFill>
                <a:schemeClr val="dk1"/>
              </a:solidFill>
              <a:latin typeface="Calibri"/>
              <a:ea typeface="Calibri"/>
              <a:cs typeface="Calibri"/>
              <a:sym typeface="Calibri"/>
            </a:endParaRPr>
          </a:p>
        </p:txBody>
      </p:sp>
      <p:sp>
        <p:nvSpPr>
          <p:cNvPr id="858" name="Google Shape;858;p23"/>
          <p:cNvSpPr/>
          <p:nvPr/>
        </p:nvSpPr>
        <p:spPr>
          <a:xfrm>
            <a:off x="548640" y="4213669"/>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message-square.png" id="859" name="Google Shape;859;p23"/>
          <p:cNvPicPr preferRelativeResize="0"/>
          <p:nvPr/>
        </p:nvPicPr>
        <p:blipFill rotWithShape="1">
          <a:blip r:embed="rId6">
            <a:alphaModFix/>
          </a:blip>
          <a:srcRect b="0" l="0" r="0" t="0"/>
          <a:stretch/>
        </p:blipFill>
        <p:spPr>
          <a:xfrm>
            <a:off x="641177" y="4306207"/>
            <a:ext cx="235549" cy="235549"/>
          </a:xfrm>
          <a:prstGeom prst="rect">
            <a:avLst/>
          </a:prstGeom>
          <a:noFill/>
          <a:ln>
            <a:noFill/>
          </a:ln>
        </p:spPr>
      </p:pic>
      <p:sp>
        <p:nvSpPr>
          <p:cNvPr id="860" name="Google Shape;860;p23"/>
          <p:cNvSpPr txBox="1"/>
          <p:nvPr/>
        </p:nvSpPr>
        <p:spPr>
          <a:xfrm>
            <a:off x="1170432" y="4195382"/>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Contextual usage</a:t>
            </a:r>
            <a:endParaRPr b="0" i="0" sz="1450" u="none" cap="none" strike="noStrike">
              <a:solidFill>
                <a:schemeClr val="dk1"/>
              </a:solidFill>
              <a:latin typeface="Calibri"/>
              <a:ea typeface="Calibri"/>
              <a:cs typeface="Calibri"/>
              <a:sym typeface="Calibri"/>
            </a:endParaRPr>
          </a:p>
        </p:txBody>
      </p:sp>
      <p:sp>
        <p:nvSpPr>
          <p:cNvPr id="861" name="Google Shape;861;p23"/>
          <p:cNvSpPr txBox="1"/>
          <p:nvPr/>
        </p:nvSpPr>
        <p:spPr>
          <a:xfrm>
            <a:off x="1170432" y="4506278"/>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With CAPI connected, bookings still get reported even when a guest's browser blocks the pixel.</a:t>
            </a:r>
            <a:endParaRPr b="0" i="0" sz="1150" u="none" cap="none" strike="noStrike">
              <a:solidFill>
                <a:schemeClr val="dk1"/>
              </a:solidFill>
              <a:latin typeface="Calibri"/>
              <a:ea typeface="Calibri"/>
              <a:cs typeface="Calibri"/>
              <a:sym typeface="Calibri"/>
            </a:endParaRPr>
          </a:p>
        </p:txBody>
      </p:sp>
      <p:sp>
        <p:nvSpPr>
          <p:cNvPr id="862" name="Google Shape;862;p23"/>
          <p:cNvSpPr txBox="1"/>
          <p:nvPr/>
        </p:nvSpPr>
        <p:spPr>
          <a:xfrm>
            <a:off x="5989320" y="1984248"/>
            <a:ext cx="5379415"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900"/>
              <a:buFont typeface="Roboto Mono"/>
              <a:buNone/>
            </a:pPr>
            <a:r>
              <a:rPr b="0" i="0" lang="en-US" sz="900" u="none" cap="none" strike="noStrike">
                <a:solidFill>
                  <a:srgbClr val="004FAA"/>
                </a:solidFill>
                <a:latin typeface="Roboto Mono"/>
                <a:ea typeface="Roboto Mono"/>
                <a:cs typeface="Roboto Mono"/>
                <a:sym typeface="Roboto Mono"/>
              </a:rPr>
              <a:t>TWO ROUTES TO META</a:t>
            </a:r>
            <a:endParaRPr b="0" i="0" sz="900" u="none" cap="none" strike="noStrike">
              <a:solidFill>
                <a:schemeClr val="dk1"/>
              </a:solidFill>
              <a:latin typeface="Calibri"/>
              <a:ea typeface="Calibri"/>
              <a:cs typeface="Calibri"/>
              <a:sym typeface="Calibri"/>
            </a:endParaRPr>
          </a:p>
        </p:txBody>
      </p:sp>
      <p:sp>
        <p:nvSpPr>
          <p:cNvPr id="863" name="Google Shape;863;p23"/>
          <p:cNvSpPr/>
          <p:nvPr/>
        </p:nvSpPr>
        <p:spPr>
          <a:xfrm>
            <a:off x="5989320" y="2258568"/>
            <a:ext cx="2598268" cy="2420493"/>
          </a:xfrm>
          <a:prstGeom prst="roundRect">
            <a:avLst>
              <a:gd fmla="val 3778"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globe.png" id="864" name="Google Shape;864;p23"/>
          <p:cNvPicPr preferRelativeResize="0"/>
          <p:nvPr/>
        </p:nvPicPr>
        <p:blipFill rotWithShape="1">
          <a:blip r:embed="rId7">
            <a:alphaModFix/>
          </a:blip>
          <a:srcRect b="0" l="0" r="0" t="0"/>
          <a:stretch/>
        </p:blipFill>
        <p:spPr>
          <a:xfrm>
            <a:off x="6208776" y="2459736"/>
            <a:ext cx="310896" cy="310896"/>
          </a:xfrm>
          <a:prstGeom prst="rect">
            <a:avLst/>
          </a:prstGeom>
          <a:noFill/>
          <a:ln>
            <a:noFill/>
          </a:ln>
        </p:spPr>
      </p:pic>
      <p:sp>
        <p:nvSpPr>
          <p:cNvPr id="865" name="Google Shape;865;p23"/>
          <p:cNvSpPr txBox="1"/>
          <p:nvPr/>
        </p:nvSpPr>
        <p:spPr>
          <a:xfrm>
            <a:off x="6629400" y="2459736"/>
            <a:ext cx="1729588" cy="310896"/>
          </a:xfrm>
          <a:prstGeom prst="rect">
            <a:avLst/>
          </a:prstGeom>
          <a:noFill/>
          <a:ln>
            <a:noFill/>
          </a:ln>
        </p:spPr>
        <p:txBody>
          <a:bodyPr anchorCtr="0" anchor="ctr" bIns="0" lIns="0" spcFirstLastPara="1" rIns="0" wrap="square" tIns="0">
            <a:noAutofit/>
          </a:bodyPr>
          <a:lstStyle/>
          <a:p>
            <a:pPr indent="0" lvl="0" marL="0" marR="0" rtl="0" algn="l">
              <a:lnSpc>
                <a:spcPct val="135040"/>
              </a:lnSpc>
              <a:spcBef>
                <a:spcPts val="0"/>
              </a:spcBef>
              <a:spcAft>
                <a:spcPts val="0"/>
              </a:spcAft>
              <a:buClr>
                <a:srgbClr val="404040"/>
              </a:buClr>
              <a:buSzPts val="1250"/>
              <a:buFont typeface="Inter"/>
              <a:buNone/>
            </a:pPr>
            <a:r>
              <a:rPr b="1" i="0" lang="en-US" sz="1250" u="none" cap="none" strike="noStrike">
                <a:solidFill>
                  <a:srgbClr val="404040"/>
                </a:solidFill>
                <a:latin typeface="Inter"/>
                <a:ea typeface="Inter"/>
                <a:cs typeface="Inter"/>
                <a:sym typeface="Inter"/>
              </a:rPr>
              <a:t>The browser: the pixel</a:t>
            </a:r>
            <a:endParaRPr b="0" i="0" sz="1250" u="none" cap="none" strike="noStrike">
              <a:solidFill>
                <a:schemeClr val="dk1"/>
              </a:solidFill>
              <a:latin typeface="Calibri"/>
              <a:ea typeface="Calibri"/>
              <a:cs typeface="Calibri"/>
              <a:sym typeface="Calibri"/>
            </a:endParaRPr>
          </a:p>
        </p:txBody>
      </p:sp>
      <p:sp>
        <p:nvSpPr>
          <p:cNvPr id="866" name="Google Shape;866;p23"/>
          <p:cNvSpPr txBox="1"/>
          <p:nvPr/>
        </p:nvSpPr>
        <p:spPr>
          <a:xfrm>
            <a:off x="6208776" y="2916936"/>
            <a:ext cx="2159356" cy="1542669"/>
          </a:xfrm>
          <a:prstGeom prst="rect">
            <a:avLst/>
          </a:prstGeom>
          <a:noFill/>
          <a:ln>
            <a:noFill/>
          </a:ln>
        </p:spPr>
        <p:txBody>
          <a:bodyPr anchorCtr="0" anchor="t" bIns="0" lIns="0" spcFirstLastPara="1" rIns="0" wrap="square" tIns="0">
            <a:noAutofit/>
          </a:bodyPr>
          <a:lstStyle/>
          <a:p>
            <a:pPr indent="-152400" lvl="0" marL="152400" marR="0" rtl="0" algn="l">
              <a:lnSpc>
                <a:spcPct val="130000"/>
              </a:lnSpc>
              <a:spcBef>
                <a:spcPts val="0"/>
              </a:spcBef>
              <a:spcAft>
                <a:spcPts val="0"/>
              </a:spcAft>
              <a:buClr>
                <a:srgbClr val="404040"/>
              </a:buClr>
              <a:buSzPts val="1050"/>
              <a:buFont typeface="Inter"/>
              <a:buChar char="•"/>
            </a:pPr>
            <a:r>
              <a:rPr b="0" i="0" lang="en-US" sz="1050" u="none" cap="none" strike="noStrike">
                <a:solidFill>
                  <a:srgbClr val="404040"/>
                </a:solidFill>
                <a:latin typeface="Inter"/>
                <a:ea typeface="Inter"/>
                <a:cs typeface="Inter"/>
                <a:sym typeface="Inter"/>
              </a:rPr>
              <a:t>Code on the booking page tells Meta “a booking happened”.</a:t>
            </a:r>
            <a:endParaRPr b="0" i="0" sz="1050" u="none" cap="none" strike="noStrike">
              <a:solidFill>
                <a:schemeClr val="dk1"/>
              </a:solidFill>
              <a:latin typeface="Calibri"/>
              <a:ea typeface="Calibri"/>
              <a:cs typeface="Calibri"/>
              <a:sym typeface="Calibri"/>
            </a:endParaRPr>
          </a:p>
          <a:p>
            <a:pPr indent="-152400" lvl="0" marL="152400" marR="0" rtl="0" algn="l">
              <a:lnSpc>
                <a:spcPct val="130000"/>
              </a:lnSpc>
              <a:spcBef>
                <a:spcPts val="500"/>
              </a:spcBef>
              <a:spcAft>
                <a:spcPts val="0"/>
              </a:spcAft>
              <a:buClr>
                <a:srgbClr val="404040"/>
              </a:buClr>
              <a:buSzPts val="1050"/>
              <a:buFont typeface="Inter"/>
              <a:buChar char="•"/>
            </a:pPr>
            <a:r>
              <a:rPr b="0" i="0" lang="en-US" sz="1050" u="none" cap="none" strike="noStrike">
                <a:solidFill>
                  <a:srgbClr val="404040"/>
                </a:solidFill>
                <a:latin typeface="Inter"/>
                <a:ea typeface="Inter"/>
                <a:cs typeface="Inter"/>
                <a:sym typeface="Inter"/>
              </a:rPr>
              <a:t>Blocked by ad blockers and phone privacy settings.</a:t>
            </a:r>
            <a:endParaRPr b="0" i="0" sz="1050" u="none" cap="none" strike="noStrike">
              <a:solidFill>
                <a:schemeClr val="dk1"/>
              </a:solidFill>
              <a:latin typeface="Calibri"/>
              <a:ea typeface="Calibri"/>
              <a:cs typeface="Calibri"/>
              <a:sym typeface="Calibri"/>
            </a:endParaRPr>
          </a:p>
          <a:p>
            <a:pPr indent="-152400" lvl="0" marL="152400" marR="0" rtl="0" algn="l">
              <a:lnSpc>
                <a:spcPct val="130000"/>
              </a:lnSpc>
              <a:spcBef>
                <a:spcPts val="500"/>
              </a:spcBef>
              <a:spcAft>
                <a:spcPts val="0"/>
              </a:spcAft>
              <a:buClr>
                <a:srgbClr val="404040"/>
              </a:buClr>
              <a:buSzPts val="1050"/>
              <a:buFont typeface="Inter"/>
              <a:buChar char="•"/>
            </a:pPr>
            <a:r>
              <a:rPr b="0" i="0" lang="en-US" sz="1050" u="none" cap="none" strike="noStrike">
                <a:solidFill>
                  <a:srgbClr val="404040"/>
                </a:solidFill>
                <a:latin typeface="Inter"/>
                <a:ea typeface="Inter"/>
                <a:cs typeface="Inter"/>
                <a:sym typeface="Inter"/>
              </a:rPr>
              <a:t>Some bookings never get counted.</a:t>
            </a:r>
            <a:endParaRPr b="0" i="0" sz="1050" u="none" cap="none" strike="noStrike">
              <a:solidFill>
                <a:schemeClr val="dk1"/>
              </a:solidFill>
              <a:latin typeface="Calibri"/>
              <a:ea typeface="Calibri"/>
              <a:cs typeface="Calibri"/>
              <a:sym typeface="Calibri"/>
            </a:endParaRPr>
          </a:p>
        </p:txBody>
      </p:sp>
      <p:sp>
        <p:nvSpPr>
          <p:cNvPr id="867" name="Google Shape;867;p23"/>
          <p:cNvSpPr/>
          <p:nvPr/>
        </p:nvSpPr>
        <p:spPr>
          <a:xfrm>
            <a:off x="8770468" y="2258568"/>
            <a:ext cx="2598268" cy="2420493"/>
          </a:xfrm>
          <a:prstGeom prst="roundRect">
            <a:avLst>
              <a:gd fmla="val 3778" name="adj"/>
            </a:avLst>
          </a:prstGeom>
          <a:solidFill>
            <a:srgbClr val="0066DE"/>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server-white.png" id="868" name="Google Shape;868;p23"/>
          <p:cNvPicPr preferRelativeResize="0"/>
          <p:nvPr/>
        </p:nvPicPr>
        <p:blipFill rotWithShape="1">
          <a:blip r:embed="rId8">
            <a:alphaModFix/>
          </a:blip>
          <a:srcRect b="0" l="0" r="0" t="0"/>
          <a:stretch/>
        </p:blipFill>
        <p:spPr>
          <a:xfrm>
            <a:off x="8989924" y="2459736"/>
            <a:ext cx="310896" cy="310896"/>
          </a:xfrm>
          <a:prstGeom prst="rect">
            <a:avLst/>
          </a:prstGeom>
          <a:noFill/>
          <a:ln>
            <a:noFill/>
          </a:ln>
        </p:spPr>
      </p:pic>
      <p:sp>
        <p:nvSpPr>
          <p:cNvPr id="869" name="Google Shape;869;p23"/>
          <p:cNvSpPr txBox="1"/>
          <p:nvPr/>
        </p:nvSpPr>
        <p:spPr>
          <a:xfrm>
            <a:off x="9410548" y="2459736"/>
            <a:ext cx="1729588" cy="310896"/>
          </a:xfrm>
          <a:prstGeom prst="rect">
            <a:avLst/>
          </a:prstGeom>
          <a:noFill/>
          <a:ln>
            <a:noFill/>
          </a:ln>
        </p:spPr>
        <p:txBody>
          <a:bodyPr anchorCtr="0" anchor="ctr" bIns="0" lIns="0" spcFirstLastPara="1" rIns="0" wrap="square" tIns="0">
            <a:noAutofit/>
          </a:bodyPr>
          <a:lstStyle/>
          <a:p>
            <a:pPr indent="0" lvl="0" marL="0" marR="0" rtl="0" algn="l">
              <a:lnSpc>
                <a:spcPct val="135040"/>
              </a:lnSpc>
              <a:spcBef>
                <a:spcPts val="0"/>
              </a:spcBef>
              <a:spcAft>
                <a:spcPts val="0"/>
              </a:spcAft>
              <a:buClr>
                <a:srgbClr val="FFFFFF"/>
              </a:buClr>
              <a:buSzPts val="1250"/>
              <a:buFont typeface="Inter"/>
              <a:buNone/>
            </a:pPr>
            <a:r>
              <a:rPr b="1" i="0" lang="en-US" sz="1250" u="none" cap="none" strike="noStrike">
                <a:solidFill>
                  <a:srgbClr val="FFFFFF"/>
                </a:solidFill>
                <a:latin typeface="Inter"/>
                <a:ea typeface="Inter"/>
                <a:cs typeface="Inter"/>
                <a:sym typeface="Inter"/>
              </a:rPr>
              <a:t>The server: CAPI</a:t>
            </a:r>
            <a:endParaRPr b="0" i="0" sz="1250" u="none" cap="none" strike="noStrike">
              <a:solidFill>
                <a:schemeClr val="dk1"/>
              </a:solidFill>
              <a:latin typeface="Calibri"/>
              <a:ea typeface="Calibri"/>
              <a:cs typeface="Calibri"/>
              <a:sym typeface="Calibri"/>
            </a:endParaRPr>
          </a:p>
        </p:txBody>
      </p:sp>
      <p:sp>
        <p:nvSpPr>
          <p:cNvPr id="870" name="Google Shape;870;p23"/>
          <p:cNvSpPr txBox="1"/>
          <p:nvPr/>
        </p:nvSpPr>
        <p:spPr>
          <a:xfrm>
            <a:off x="8989924" y="2916936"/>
            <a:ext cx="2159356" cy="1542669"/>
          </a:xfrm>
          <a:prstGeom prst="rect">
            <a:avLst/>
          </a:prstGeom>
          <a:noFill/>
          <a:ln>
            <a:noFill/>
          </a:ln>
        </p:spPr>
        <p:txBody>
          <a:bodyPr anchorCtr="0" anchor="t" bIns="0" lIns="0" spcFirstLastPara="1" rIns="0" wrap="square" tIns="0">
            <a:noAutofit/>
          </a:bodyPr>
          <a:lstStyle/>
          <a:p>
            <a:pPr indent="-152400" lvl="0" marL="152400" marR="0" rtl="0" algn="l">
              <a:lnSpc>
                <a:spcPct val="130000"/>
              </a:lnSpc>
              <a:spcBef>
                <a:spcPts val="0"/>
              </a:spcBef>
              <a:spcAft>
                <a:spcPts val="0"/>
              </a:spcAft>
              <a:buClr>
                <a:srgbClr val="FFFFFF"/>
              </a:buClr>
              <a:buSzPts val="1050"/>
              <a:buFont typeface="Inter"/>
              <a:buChar char="•"/>
            </a:pPr>
            <a:r>
              <a:rPr b="0" i="0" lang="en-US" sz="1050" u="none" cap="none" strike="noStrike">
                <a:solidFill>
                  <a:srgbClr val="FFFFFF"/>
                </a:solidFill>
                <a:latin typeface="Inter"/>
                <a:ea typeface="Inter"/>
                <a:cs typeface="Inter"/>
                <a:sym typeface="Inter"/>
              </a:rPr>
              <a:t>The booking engine tells Meta directly.</a:t>
            </a:r>
            <a:endParaRPr b="0" i="0" sz="1050" u="none" cap="none" strike="noStrike">
              <a:solidFill>
                <a:schemeClr val="dk1"/>
              </a:solidFill>
              <a:latin typeface="Calibri"/>
              <a:ea typeface="Calibri"/>
              <a:cs typeface="Calibri"/>
              <a:sym typeface="Calibri"/>
            </a:endParaRPr>
          </a:p>
          <a:p>
            <a:pPr indent="-152400" lvl="0" marL="152400" marR="0" rtl="0" algn="l">
              <a:lnSpc>
                <a:spcPct val="130000"/>
              </a:lnSpc>
              <a:spcBef>
                <a:spcPts val="500"/>
              </a:spcBef>
              <a:spcAft>
                <a:spcPts val="0"/>
              </a:spcAft>
              <a:buClr>
                <a:srgbClr val="FFFFFF"/>
              </a:buClr>
              <a:buSzPts val="1050"/>
              <a:buFont typeface="Inter"/>
              <a:buChar char="•"/>
            </a:pPr>
            <a:r>
              <a:rPr b="0" i="0" lang="en-US" sz="1050" u="none" cap="none" strike="noStrike">
                <a:solidFill>
                  <a:srgbClr val="FFFFFF"/>
                </a:solidFill>
                <a:latin typeface="Inter"/>
                <a:ea typeface="Inter"/>
                <a:cs typeface="Inter"/>
                <a:sym typeface="Inter"/>
              </a:rPr>
              <a:t>Nothing in the browser can block it.</a:t>
            </a:r>
            <a:endParaRPr b="0" i="0" sz="1050" u="none" cap="none" strike="noStrike">
              <a:solidFill>
                <a:schemeClr val="dk1"/>
              </a:solidFill>
              <a:latin typeface="Calibri"/>
              <a:ea typeface="Calibri"/>
              <a:cs typeface="Calibri"/>
              <a:sym typeface="Calibri"/>
            </a:endParaRPr>
          </a:p>
          <a:p>
            <a:pPr indent="-152400" lvl="0" marL="152400" marR="0" rtl="0" algn="l">
              <a:lnSpc>
                <a:spcPct val="130000"/>
              </a:lnSpc>
              <a:spcBef>
                <a:spcPts val="500"/>
              </a:spcBef>
              <a:spcAft>
                <a:spcPts val="0"/>
              </a:spcAft>
              <a:buClr>
                <a:srgbClr val="FFFFFF"/>
              </a:buClr>
              <a:buSzPts val="1050"/>
              <a:buFont typeface="Inter"/>
              <a:buChar char="•"/>
            </a:pPr>
            <a:r>
              <a:rPr b="0" i="0" lang="en-US" sz="1050" u="none" cap="none" strike="noStrike">
                <a:solidFill>
                  <a:srgbClr val="FFFFFF"/>
                </a:solidFill>
                <a:latin typeface="Inter"/>
                <a:ea typeface="Inter"/>
                <a:cs typeface="Inter"/>
                <a:sym typeface="Inter"/>
              </a:rPr>
              <a:t>A shared event ID, so one booking isn't counted twice.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875" name="Shape 875"/>
        <p:cNvGrpSpPr/>
        <p:nvPr/>
      </p:nvGrpSpPr>
      <p:grpSpPr>
        <a:xfrm>
          <a:off x="0" y="0"/>
          <a:ext cx="0" cy="0"/>
          <a:chOff x="0" y="0"/>
          <a:chExt cx="0" cy="0"/>
        </a:xfrm>
      </p:grpSpPr>
      <p:sp>
        <p:nvSpPr>
          <p:cNvPr id="876" name="Google Shape;876;p24"/>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5 · IS THE MARKETING WORKING?</a:t>
            </a:r>
            <a:endParaRPr b="0" i="0" sz="1050" u="none" cap="none" strike="noStrike">
              <a:solidFill>
                <a:schemeClr val="dk1"/>
              </a:solidFill>
              <a:latin typeface="Calibri"/>
              <a:ea typeface="Calibri"/>
              <a:cs typeface="Calibri"/>
              <a:sym typeface="Calibri"/>
            </a:endParaRPr>
          </a:p>
        </p:txBody>
      </p:sp>
      <p:pic>
        <p:nvPicPr>
          <p:cNvPr descr="/home/claude/work/renderer/brand/wordmark.png" id="877" name="Google Shape;877;p24"/>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878" name="Google Shape;878;p24"/>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22 / 48</a:t>
            </a:r>
            <a:endParaRPr b="0" i="0" sz="900" u="none" cap="none" strike="noStrike">
              <a:solidFill>
                <a:schemeClr val="dk1"/>
              </a:solidFill>
              <a:latin typeface="Calibri"/>
              <a:ea typeface="Calibri"/>
              <a:cs typeface="Calibri"/>
              <a:sym typeface="Calibri"/>
            </a:endParaRPr>
          </a:p>
        </p:txBody>
      </p:sp>
      <p:sp>
        <p:nvSpPr>
          <p:cNvPr id="879" name="Google Shape;879;p24"/>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Incrementality</a:t>
            </a:r>
            <a:r>
              <a:rPr b="0" i="0" lang="en-US" sz="1700" u="none" cap="none" strike="noStrike">
                <a:solidFill>
                  <a:srgbClr val="004FAA"/>
                </a:solidFill>
                <a:latin typeface="Inter"/>
                <a:ea typeface="Inter"/>
                <a:cs typeface="Inter"/>
                <a:sym typeface="Inter"/>
              </a:rPr>
              <a:t>  did the ad cause the booking?</a:t>
            </a:r>
            <a:endParaRPr b="0" i="0" sz="3000" u="none" cap="none" strike="noStrike">
              <a:solidFill>
                <a:schemeClr val="dk1"/>
              </a:solidFill>
              <a:latin typeface="Calibri"/>
              <a:ea typeface="Calibri"/>
              <a:cs typeface="Calibri"/>
              <a:sym typeface="Calibri"/>
            </a:endParaRPr>
          </a:p>
        </p:txBody>
      </p:sp>
      <p:sp>
        <p:nvSpPr>
          <p:cNvPr id="880" name="Google Shape;880;p24"/>
          <p:cNvSpPr/>
          <p:nvPr/>
        </p:nvSpPr>
        <p:spPr>
          <a:xfrm>
            <a:off x="5715000" y="1783080"/>
            <a:ext cx="5928055" cy="2780792"/>
          </a:xfrm>
          <a:prstGeom prst="roundRect">
            <a:avLst>
              <a:gd fmla="val 3946"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1" name="Google Shape;881;p24"/>
          <p:cNvSpPr/>
          <p:nvPr/>
        </p:nvSpPr>
        <p:spPr>
          <a:xfrm>
            <a:off x="548640" y="1783080"/>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book-closed.png" id="882" name="Google Shape;882;p24"/>
          <p:cNvPicPr preferRelativeResize="0"/>
          <p:nvPr/>
        </p:nvPicPr>
        <p:blipFill rotWithShape="1">
          <a:blip r:embed="rId4">
            <a:alphaModFix/>
          </a:blip>
          <a:srcRect b="0" l="0" r="0" t="0"/>
          <a:stretch/>
        </p:blipFill>
        <p:spPr>
          <a:xfrm>
            <a:off x="641177" y="1875617"/>
            <a:ext cx="235549" cy="235549"/>
          </a:xfrm>
          <a:prstGeom prst="rect">
            <a:avLst/>
          </a:prstGeom>
          <a:noFill/>
          <a:ln>
            <a:noFill/>
          </a:ln>
        </p:spPr>
      </p:pic>
      <p:sp>
        <p:nvSpPr>
          <p:cNvPr id="883" name="Google Shape;883;p24"/>
          <p:cNvSpPr txBox="1"/>
          <p:nvPr/>
        </p:nvSpPr>
        <p:spPr>
          <a:xfrm>
            <a:off x="1170432" y="1764792"/>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Dictionary</a:t>
            </a:r>
            <a:endParaRPr b="0" i="0" sz="1450" u="none" cap="none" strike="noStrike">
              <a:solidFill>
                <a:schemeClr val="dk1"/>
              </a:solidFill>
              <a:latin typeface="Calibri"/>
              <a:ea typeface="Calibri"/>
              <a:cs typeface="Calibri"/>
              <a:sym typeface="Calibri"/>
            </a:endParaRPr>
          </a:p>
        </p:txBody>
      </p:sp>
      <p:sp>
        <p:nvSpPr>
          <p:cNvPr id="884" name="Google Shape;884;p24"/>
          <p:cNvSpPr txBox="1"/>
          <p:nvPr/>
        </p:nvSpPr>
        <p:spPr>
          <a:xfrm>
            <a:off x="1170432" y="2075688"/>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Whether a booking actually happened because of the advertising, or would have happened anyway.</a:t>
            </a:r>
            <a:endParaRPr b="0" i="0" sz="1150" u="none" cap="none" strike="noStrike">
              <a:solidFill>
                <a:schemeClr val="dk1"/>
              </a:solidFill>
              <a:latin typeface="Calibri"/>
              <a:ea typeface="Calibri"/>
              <a:cs typeface="Calibri"/>
              <a:sym typeface="Calibri"/>
            </a:endParaRPr>
          </a:p>
        </p:txBody>
      </p:sp>
      <p:sp>
        <p:nvSpPr>
          <p:cNvPr id="885" name="Google Shape;885;p24"/>
          <p:cNvSpPr/>
          <p:nvPr/>
        </p:nvSpPr>
        <p:spPr>
          <a:xfrm>
            <a:off x="548640" y="2899791"/>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heart.png" id="886" name="Google Shape;886;p24"/>
          <p:cNvPicPr preferRelativeResize="0"/>
          <p:nvPr/>
        </p:nvPicPr>
        <p:blipFill rotWithShape="1">
          <a:blip r:embed="rId5">
            <a:alphaModFix/>
          </a:blip>
          <a:srcRect b="0" l="0" r="0" t="0"/>
          <a:stretch/>
        </p:blipFill>
        <p:spPr>
          <a:xfrm>
            <a:off x="641177" y="2992328"/>
            <a:ext cx="235549" cy="235549"/>
          </a:xfrm>
          <a:prstGeom prst="rect">
            <a:avLst/>
          </a:prstGeom>
          <a:noFill/>
          <a:ln>
            <a:noFill/>
          </a:ln>
        </p:spPr>
      </p:pic>
      <p:sp>
        <p:nvSpPr>
          <p:cNvPr id="887" name="Google Shape;887;p24"/>
          <p:cNvSpPr txBox="1"/>
          <p:nvPr/>
        </p:nvSpPr>
        <p:spPr>
          <a:xfrm>
            <a:off x="1170432" y="2881503"/>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Why the owner cares</a:t>
            </a:r>
            <a:endParaRPr b="0" i="0" sz="1450" u="none" cap="none" strike="noStrike">
              <a:solidFill>
                <a:schemeClr val="dk1"/>
              </a:solidFill>
              <a:latin typeface="Calibri"/>
              <a:ea typeface="Calibri"/>
              <a:cs typeface="Calibri"/>
              <a:sym typeface="Calibri"/>
            </a:endParaRPr>
          </a:p>
        </p:txBody>
      </p:sp>
      <p:sp>
        <p:nvSpPr>
          <p:cNvPr id="888" name="Google Shape;888;p24"/>
          <p:cNvSpPr txBox="1"/>
          <p:nvPr/>
        </p:nvSpPr>
        <p:spPr>
          <a:xfrm>
            <a:off x="1170432" y="3192399"/>
            <a:ext cx="4270248" cy="1095566"/>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It answers whether their ad money created bookings or only took credit for ones that were coming anyway. The way to know is a holdout: one group sees the campaign, a matched group is kept out of it, and the difference is the lift.</a:t>
            </a:r>
            <a:endParaRPr b="0" i="0" sz="1150" u="none" cap="none" strike="noStrike">
              <a:solidFill>
                <a:schemeClr val="dk1"/>
              </a:solidFill>
              <a:latin typeface="Calibri"/>
              <a:ea typeface="Calibri"/>
              <a:cs typeface="Calibri"/>
              <a:sym typeface="Calibri"/>
            </a:endParaRPr>
          </a:p>
        </p:txBody>
      </p:sp>
      <p:sp>
        <p:nvSpPr>
          <p:cNvPr id="889" name="Google Shape;889;p24"/>
          <p:cNvSpPr/>
          <p:nvPr/>
        </p:nvSpPr>
        <p:spPr>
          <a:xfrm>
            <a:off x="548640" y="4608005"/>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message-square.png" id="890" name="Google Shape;890;p24"/>
          <p:cNvPicPr preferRelativeResize="0"/>
          <p:nvPr/>
        </p:nvPicPr>
        <p:blipFill rotWithShape="1">
          <a:blip r:embed="rId6">
            <a:alphaModFix/>
          </a:blip>
          <a:srcRect b="0" l="0" r="0" t="0"/>
          <a:stretch/>
        </p:blipFill>
        <p:spPr>
          <a:xfrm>
            <a:off x="641177" y="4700542"/>
            <a:ext cx="235549" cy="235549"/>
          </a:xfrm>
          <a:prstGeom prst="rect">
            <a:avLst/>
          </a:prstGeom>
          <a:noFill/>
          <a:ln>
            <a:noFill/>
          </a:ln>
        </p:spPr>
      </p:pic>
      <p:sp>
        <p:nvSpPr>
          <p:cNvPr id="891" name="Google Shape;891;p24"/>
          <p:cNvSpPr txBox="1"/>
          <p:nvPr/>
        </p:nvSpPr>
        <p:spPr>
          <a:xfrm>
            <a:off x="1170432" y="4589717"/>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Contextual usage</a:t>
            </a:r>
            <a:endParaRPr b="0" i="0" sz="1450" u="none" cap="none" strike="noStrike">
              <a:solidFill>
                <a:schemeClr val="dk1"/>
              </a:solidFill>
              <a:latin typeface="Calibri"/>
              <a:ea typeface="Calibri"/>
              <a:cs typeface="Calibri"/>
              <a:sym typeface="Calibri"/>
            </a:endParaRPr>
          </a:p>
        </p:txBody>
      </p:sp>
      <p:sp>
        <p:nvSpPr>
          <p:cNvPr id="892" name="Google Shape;892;p24"/>
          <p:cNvSpPr txBox="1"/>
          <p:nvPr/>
        </p:nvSpPr>
        <p:spPr>
          <a:xfrm>
            <a:off x="1170432" y="4900613"/>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The real test is incrementality — did the ads bring in bookings that wouldn't have happened anyway?</a:t>
            </a:r>
            <a:endParaRPr b="0" i="0" sz="1150" u="none" cap="none" strike="noStrike">
              <a:solidFill>
                <a:schemeClr val="dk1"/>
              </a:solidFill>
              <a:latin typeface="Calibri"/>
              <a:ea typeface="Calibri"/>
              <a:cs typeface="Calibri"/>
              <a:sym typeface="Calibri"/>
            </a:endParaRPr>
          </a:p>
        </p:txBody>
      </p:sp>
      <p:sp>
        <p:nvSpPr>
          <p:cNvPr id="893" name="Google Shape;893;p24"/>
          <p:cNvSpPr txBox="1"/>
          <p:nvPr/>
        </p:nvSpPr>
        <p:spPr>
          <a:xfrm>
            <a:off x="5989320" y="1984248"/>
            <a:ext cx="5379415"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900"/>
              <a:buFont typeface="Roboto Mono"/>
              <a:buNone/>
            </a:pPr>
            <a:r>
              <a:rPr b="0" i="0" lang="en-US" sz="900" u="none" cap="none" strike="noStrike">
                <a:solidFill>
                  <a:srgbClr val="004FAA"/>
                </a:solidFill>
                <a:latin typeface="Roboto Mono"/>
                <a:ea typeface="Roboto Mono"/>
                <a:cs typeface="Roboto Mono"/>
                <a:sym typeface="Roboto Mono"/>
              </a:rPr>
              <a:t>ONE MONTH, ONE PROPERTY, TWO MATCHED AREAS</a:t>
            </a:r>
            <a:endParaRPr b="0" i="0" sz="900" u="none" cap="none" strike="noStrike">
              <a:solidFill>
                <a:schemeClr val="dk1"/>
              </a:solidFill>
              <a:latin typeface="Calibri"/>
              <a:ea typeface="Calibri"/>
              <a:cs typeface="Calibri"/>
              <a:sym typeface="Calibri"/>
            </a:endParaRPr>
          </a:p>
        </p:txBody>
      </p:sp>
      <p:sp>
        <p:nvSpPr>
          <p:cNvPr id="894" name="Google Shape;894;p24"/>
          <p:cNvSpPr txBox="1"/>
          <p:nvPr/>
        </p:nvSpPr>
        <p:spPr>
          <a:xfrm>
            <a:off x="5989320" y="2258568"/>
            <a:ext cx="2286000" cy="457200"/>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171717"/>
              </a:buClr>
              <a:buSzPts val="1050"/>
              <a:buFont typeface="Inter"/>
              <a:buNone/>
            </a:pPr>
            <a:r>
              <a:rPr b="1" i="0" lang="en-US" sz="1050" u="none" cap="none" strike="noStrike">
                <a:solidFill>
                  <a:srgbClr val="171717"/>
                </a:solidFill>
                <a:latin typeface="Inter"/>
                <a:ea typeface="Inter"/>
                <a:cs typeface="Inter"/>
                <a:sym typeface="Inter"/>
              </a:rPr>
              <a:t>Exposed area, ads on</a:t>
            </a:r>
            <a:endParaRPr b="0" i="0" sz="1050" u="none" cap="none" strike="noStrike">
              <a:solidFill>
                <a:schemeClr val="dk1"/>
              </a:solidFill>
              <a:latin typeface="Calibri"/>
              <a:ea typeface="Calibri"/>
              <a:cs typeface="Calibri"/>
              <a:sym typeface="Calibri"/>
            </a:endParaRPr>
          </a:p>
        </p:txBody>
      </p:sp>
      <p:sp>
        <p:nvSpPr>
          <p:cNvPr id="895" name="Google Shape;895;p24"/>
          <p:cNvSpPr/>
          <p:nvPr/>
        </p:nvSpPr>
        <p:spPr>
          <a:xfrm>
            <a:off x="8366760" y="2340864"/>
            <a:ext cx="1996135" cy="292608"/>
          </a:xfrm>
          <a:prstGeom prst="roundRect">
            <a:avLst>
              <a:gd fmla="val 1562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6" name="Google Shape;896;p24"/>
          <p:cNvSpPr txBox="1"/>
          <p:nvPr/>
        </p:nvSpPr>
        <p:spPr>
          <a:xfrm>
            <a:off x="10454335" y="2258568"/>
            <a:ext cx="1005840" cy="45720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000"/>
              <a:buFont typeface="Roboto Mono"/>
              <a:buNone/>
            </a:pPr>
            <a:r>
              <a:rPr b="1" i="0" lang="en-US" sz="1000" u="none" cap="none" strike="noStrike">
                <a:solidFill>
                  <a:srgbClr val="171717"/>
                </a:solidFill>
                <a:latin typeface="Roboto Mono"/>
                <a:ea typeface="Roboto Mono"/>
                <a:cs typeface="Roboto Mono"/>
                <a:sym typeface="Roboto Mono"/>
              </a:rPr>
              <a:t>50 bookings</a:t>
            </a:r>
            <a:endParaRPr b="0" i="0" sz="1000" u="none" cap="none" strike="noStrike">
              <a:solidFill>
                <a:schemeClr val="dk1"/>
              </a:solidFill>
              <a:latin typeface="Calibri"/>
              <a:ea typeface="Calibri"/>
              <a:cs typeface="Calibri"/>
              <a:sym typeface="Calibri"/>
            </a:endParaRPr>
          </a:p>
        </p:txBody>
      </p:sp>
      <p:sp>
        <p:nvSpPr>
          <p:cNvPr id="897" name="Google Shape;897;p24"/>
          <p:cNvSpPr txBox="1"/>
          <p:nvPr/>
        </p:nvSpPr>
        <p:spPr>
          <a:xfrm>
            <a:off x="5989320" y="2770632"/>
            <a:ext cx="2286000" cy="457200"/>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171717"/>
              </a:buClr>
              <a:buSzPts val="1050"/>
              <a:buFont typeface="Inter"/>
              <a:buNone/>
            </a:pPr>
            <a:r>
              <a:rPr b="1" i="0" lang="en-US" sz="1050" u="none" cap="none" strike="noStrike">
                <a:solidFill>
                  <a:srgbClr val="171717"/>
                </a:solidFill>
                <a:latin typeface="Inter"/>
                <a:ea typeface="Inter"/>
                <a:cs typeface="Inter"/>
                <a:sym typeface="Inter"/>
              </a:rPr>
              <a:t>Holdout area, ads off</a:t>
            </a:r>
            <a:endParaRPr b="0" i="0" sz="1050" u="none" cap="none" strike="noStrike">
              <a:solidFill>
                <a:schemeClr val="dk1"/>
              </a:solidFill>
              <a:latin typeface="Calibri"/>
              <a:ea typeface="Calibri"/>
              <a:cs typeface="Calibri"/>
              <a:sym typeface="Calibri"/>
            </a:endParaRPr>
          </a:p>
        </p:txBody>
      </p:sp>
      <p:sp>
        <p:nvSpPr>
          <p:cNvPr id="898" name="Google Shape;898;p24"/>
          <p:cNvSpPr/>
          <p:nvPr/>
        </p:nvSpPr>
        <p:spPr>
          <a:xfrm>
            <a:off x="8366760" y="2852928"/>
            <a:ext cx="598841" cy="292608"/>
          </a:xfrm>
          <a:prstGeom prst="roundRect">
            <a:avLst>
              <a:gd fmla="val 15625" name="adj"/>
            </a:avLst>
          </a:prstGeom>
          <a:solidFill>
            <a:srgbClr val="FEF2F2"/>
          </a:solidFill>
          <a:ln cap="flat" cmpd="sng" w="12700">
            <a:solidFill>
              <a:srgbClr val="F3C4C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9" name="Google Shape;899;p24"/>
          <p:cNvSpPr txBox="1"/>
          <p:nvPr/>
        </p:nvSpPr>
        <p:spPr>
          <a:xfrm>
            <a:off x="9057041" y="2770632"/>
            <a:ext cx="1005840" cy="45720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000"/>
              <a:buFont typeface="Roboto Mono"/>
              <a:buNone/>
            </a:pPr>
            <a:r>
              <a:rPr b="1" i="0" lang="en-US" sz="1000" u="none" cap="none" strike="noStrike">
                <a:solidFill>
                  <a:srgbClr val="171717"/>
                </a:solidFill>
                <a:latin typeface="Roboto Mono"/>
                <a:ea typeface="Roboto Mono"/>
                <a:cs typeface="Roboto Mono"/>
                <a:sym typeface="Roboto Mono"/>
              </a:rPr>
              <a:t>15 bookings</a:t>
            </a:r>
            <a:endParaRPr b="0" i="0" sz="1000" u="none" cap="none" strike="noStrike">
              <a:solidFill>
                <a:schemeClr val="dk1"/>
              </a:solidFill>
              <a:latin typeface="Calibri"/>
              <a:ea typeface="Calibri"/>
              <a:cs typeface="Calibri"/>
              <a:sym typeface="Calibri"/>
            </a:endParaRPr>
          </a:p>
        </p:txBody>
      </p:sp>
      <p:sp>
        <p:nvSpPr>
          <p:cNvPr id="900" name="Google Shape;900;p24"/>
          <p:cNvSpPr txBox="1"/>
          <p:nvPr/>
        </p:nvSpPr>
        <p:spPr>
          <a:xfrm>
            <a:off x="5989320" y="3282696"/>
            <a:ext cx="2286000" cy="457200"/>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171717"/>
              </a:buClr>
              <a:buSzPts val="1050"/>
              <a:buFont typeface="Inter"/>
              <a:buNone/>
            </a:pPr>
            <a:r>
              <a:rPr b="1" i="0" lang="en-US" sz="1050" u="none" cap="none" strike="noStrike">
                <a:solidFill>
                  <a:srgbClr val="171717"/>
                </a:solidFill>
                <a:latin typeface="Inter"/>
                <a:ea typeface="Inter"/>
                <a:cs typeface="Inter"/>
                <a:sym typeface="Inter"/>
              </a:rPr>
              <a:t>The lift: caused by the ads</a:t>
            </a:r>
            <a:endParaRPr b="0" i="0" sz="1050" u="none" cap="none" strike="noStrike">
              <a:solidFill>
                <a:schemeClr val="dk1"/>
              </a:solidFill>
              <a:latin typeface="Calibri"/>
              <a:ea typeface="Calibri"/>
              <a:cs typeface="Calibri"/>
              <a:sym typeface="Calibri"/>
            </a:endParaRPr>
          </a:p>
        </p:txBody>
      </p:sp>
      <p:sp>
        <p:nvSpPr>
          <p:cNvPr id="901" name="Google Shape;901;p24"/>
          <p:cNvSpPr/>
          <p:nvPr/>
        </p:nvSpPr>
        <p:spPr>
          <a:xfrm>
            <a:off x="8366760" y="3364992"/>
            <a:ext cx="1397295" cy="292608"/>
          </a:xfrm>
          <a:prstGeom prst="roundRect">
            <a:avLst>
              <a:gd fmla="val 15625" name="adj"/>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2" name="Google Shape;902;p24"/>
          <p:cNvSpPr txBox="1"/>
          <p:nvPr/>
        </p:nvSpPr>
        <p:spPr>
          <a:xfrm>
            <a:off x="9855495" y="3282696"/>
            <a:ext cx="1005840" cy="45720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000"/>
              <a:buFont typeface="Roboto Mono"/>
              <a:buNone/>
            </a:pPr>
            <a:r>
              <a:rPr b="1" i="0" lang="en-US" sz="1000" u="none" cap="none" strike="noStrike">
                <a:solidFill>
                  <a:srgbClr val="171717"/>
                </a:solidFill>
                <a:latin typeface="Roboto Mono"/>
                <a:ea typeface="Roboto Mono"/>
                <a:cs typeface="Roboto Mono"/>
                <a:sym typeface="Roboto Mono"/>
              </a:rPr>
              <a:t>35 bookings</a:t>
            </a:r>
            <a:endParaRPr b="0" i="0" sz="1000" u="none" cap="none" strike="noStrike">
              <a:solidFill>
                <a:schemeClr val="dk1"/>
              </a:solidFill>
              <a:latin typeface="Calibri"/>
              <a:ea typeface="Calibri"/>
              <a:cs typeface="Calibri"/>
              <a:sym typeface="Calibri"/>
            </a:endParaRPr>
          </a:p>
        </p:txBody>
      </p:sp>
      <p:sp>
        <p:nvSpPr>
          <p:cNvPr id="903" name="Google Shape;903;p24"/>
          <p:cNvSpPr txBox="1"/>
          <p:nvPr/>
        </p:nvSpPr>
        <p:spPr>
          <a:xfrm>
            <a:off x="5989320" y="3867912"/>
            <a:ext cx="5379415" cy="366776"/>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25252"/>
              </a:buClr>
              <a:buSzPts val="1000"/>
              <a:buFont typeface="Inter"/>
              <a:buNone/>
            </a:pPr>
            <a:r>
              <a:rPr b="0" i="0" lang="en-US" sz="1000" u="none" cap="none" strike="noStrike">
                <a:solidFill>
                  <a:srgbClr val="525252"/>
                </a:solidFill>
                <a:latin typeface="Inter"/>
                <a:ea typeface="Inter"/>
                <a:cs typeface="Inter"/>
                <a:sym typeface="Inter"/>
              </a:rPr>
              <a:t>Made-up numbers. The lift is the incremental part; Meta's report would have claimed all 50.</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908" name="Shape 908"/>
        <p:cNvGrpSpPr/>
        <p:nvPr/>
      </p:nvGrpSpPr>
      <p:grpSpPr>
        <a:xfrm>
          <a:off x="0" y="0"/>
          <a:ext cx="0" cy="0"/>
          <a:chOff x="0" y="0"/>
          <a:chExt cx="0" cy="0"/>
        </a:xfrm>
      </p:grpSpPr>
      <p:sp>
        <p:nvSpPr>
          <p:cNvPr id="909" name="Google Shape;909;p25"/>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5 · IS THE MARKETING WORKING?</a:t>
            </a:r>
            <a:endParaRPr b="0" i="0" sz="1050" u="none" cap="none" strike="noStrike">
              <a:solidFill>
                <a:schemeClr val="dk1"/>
              </a:solidFill>
              <a:latin typeface="Calibri"/>
              <a:ea typeface="Calibri"/>
              <a:cs typeface="Calibri"/>
              <a:sym typeface="Calibri"/>
            </a:endParaRPr>
          </a:p>
        </p:txBody>
      </p:sp>
      <p:pic>
        <p:nvPicPr>
          <p:cNvPr descr="/home/claude/work/renderer/brand/wordmark.png" id="910" name="Google Shape;910;p25"/>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911" name="Google Shape;911;p25"/>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23 / 48</a:t>
            </a:r>
            <a:endParaRPr b="0" i="0" sz="900" u="none" cap="none" strike="noStrike">
              <a:solidFill>
                <a:schemeClr val="dk1"/>
              </a:solidFill>
              <a:latin typeface="Calibri"/>
              <a:ea typeface="Calibri"/>
              <a:cs typeface="Calibri"/>
              <a:sym typeface="Calibri"/>
            </a:endParaRPr>
          </a:p>
        </p:txBody>
      </p:sp>
      <p:sp>
        <p:nvSpPr>
          <p:cNvPr id="912" name="Google Shape;912;p25"/>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Cannibalization</a:t>
            </a:r>
            <a:r>
              <a:rPr b="0" i="0" lang="en-US" sz="1700" u="none" cap="none" strike="noStrike">
                <a:solidFill>
                  <a:srgbClr val="004FAA"/>
                </a:solidFill>
                <a:latin typeface="Inter"/>
                <a:ea typeface="Inter"/>
                <a:cs typeface="Inter"/>
                <a:sym typeface="Inter"/>
              </a:rPr>
              <a:t>  when the promo moves revenue instead of adding it</a:t>
            </a:r>
            <a:endParaRPr b="0" i="0" sz="3000" u="none" cap="none" strike="noStrike">
              <a:solidFill>
                <a:schemeClr val="dk1"/>
              </a:solidFill>
              <a:latin typeface="Calibri"/>
              <a:ea typeface="Calibri"/>
              <a:cs typeface="Calibri"/>
              <a:sym typeface="Calibri"/>
            </a:endParaRPr>
          </a:p>
        </p:txBody>
      </p:sp>
      <p:sp>
        <p:nvSpPr>
          <p:cNvPr id="913" name="Google Shape;913;p25"/>
          <p:cNvSpPr/>
          <p:nvPr/>
        </p:nvSpPr>
        <p:spPr>
          <a:xfrm>
            <a:off x="5715000" y="1783080"/>
            <a:ext cx="5928055" cy="2780792"/>
          </a:xfrm>
          <a:prstGeom prst="roundRect">
            <a:avLst>
              <a:gd fmla="val 3946"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4" name="Google Shape;914;p25"/>
          <p:cNvSpPr/>
          <p:nvPr/>
        </p:nvSpPr>
        <p:spPr>
          <a:xfrm>
            <a:off x="548640" y="1783080"/>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book-closed.png" id="915" name="Google Shape;915;p25"/>
          <p:cNvPicPr preferRelativeResize="0"/>
          <p:nvPr/>
        </p:nvPicPr>
        <p:blipFill rotWithShape="1">
          <a:blip r:embed="rId4">
            <a:alphaModFix/>
          </a:blip>
          <a:srcRect b="0" l="0" r="0" t="0"/>
          <a:stretch/>
        </p:blipFill>
        <p:spPr>
          <a:xfrm>
            <a:off x="641177" y="1875617"/>
            <a:ext cx="235549" cy="235549"/>
          </a:xfrm>
          <a:prstGeom prst="rect">
            <a:avLst/>
          </a:prstGeom>
          <a:noFill/>
          <a:ln>
            <a:noFill/>
          </a:ln>
        </p:spPr>
      </p:pic>
      <p:sp>
        <p:nvSpPr>
          <p:cNvPr id="916" name="Google Shape;916;p25"/>
          <p:cNvSpPr txBox="1"/>
          <p:nvPr/>
        </p:nvSpPr>
        <p:spPr>
          <a:xfrm>
            <a:off x="1170432" y="1764792"/>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Dictionary</a:t>
            </a:r>
            <a:endParaRPr b="0" i="0" sz="1450" u="none" cap="none" strike="noStrike">
              <a:solidFill>
                <a:schemeClr val="dk1"/>
              </a:solidFill>
              <a:latin typeface="Calibri"/>
              <a:ea typeface="Calibri"/>
              <a:cs typeface="Calibri"/>
              <a:sym typeface="Calibri"/>
            </a:endParaRPr>
          </a:p>
        </p:txBody>
      </p:sp>
      <p:sp>
        <p:nvSpPr>
          <p:cNvPr id="917" name="Google Shape;917;p25"/>
          <p:cNvSpPr txBox="1"/>
          <p:nvPr/>
        </p:nvSpPr>
        <p:spPr>
          <a:xfrm>
            <a:off x="1170432" y="2075688"/>
            <a:ext cx="4270248" cy="89839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When an ad, promotion or channel takes bookings the resort would have gotten anyway, instead of creating new ones. The numbers look like growth, but revenue has only moved around, often at a higher cost.</a:t>
            </a:r>
            <a:endParaRPr b="0" i="0" sz="1150" u="none" cap="none" strike="noStrike">
              <a:solidFill>
                <a:schemeClr val="dk1"/>
              </a:solidFill>
              <a:latin typeface="Calibri"/>
              <a:ea typeface="Calibri"/>
              <a:cs typeface="Calibri"/>
              <a:sym typeface="Calibri"/>
            </a:endParaRPr>
          </a:p>
        </p:txBody>
      </p:sp>
      <p:sp>
        <p:nvSpPr>
          <p:cNvPr id="918" name="Google Shape;918;p25"/>
          <p:cNvSpPr/>
          <p:nvPr/>
        </p:nvSpPr>
        <p:spPr>
          <a:xfrm>
            <a:off x="548640" y="3294126"/>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heart.png" id="919" name="Google Shape;919;p25"/>
          <p:cNvPicPr preferRelativeResize="0"/>
          <p:nvPr/>
        </p:nvPicPr>
        <p:blipFill rotWithShape="1">
          <a:blip r:embed="rId5">
            <a:alphaModFix/>
          </a:blip>
          <a:srcRect b="0" l="0" r="0" t="0"/>
          <a:stretch/>
        </p:blipFill>
        <p:spPr>
          <a:xfrm>
            <a:off x="641177" y="3386663"/>
            <a:ext cx="235549" cy="235549"/>
          </a:xfrm>
          <a:prstGeom prst="rect">
            <a:avLst/>
          </a:prstGeom>
          <a:noFill/>
          <a:ln>
            <a:noFill/>
          </a:ln>
        </p:spPr>
      </p:pic>
      <p:sp>
        <p:nvSpPr>
          <p:cNvPr id="920" name="Google Shape;920;p25"/>
          <p:cNvSpPr txBox="1"/>
          <p:nvPr/>
        </p:nvSpPr>
        <p:spPr>
          <a:xfrm>
            <a:off x="1170432" y="3275838"/>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Why the owner cares</a:t>
            </a:r>
            <a:endParaRPr b="0" i="0" sz="1450" u="none" cap="none" strike="noStrike">
              <a:solidFill>
                <a:schemeClr val="dk1"/>
              </a:solidFill>
              <a:latin typeface="Calibri"/>
              <a:ea typeface="Calibri"/>
              <a:cs typeface="Calibri"/>
              <a:sym typeface="Calibri"/>
            </a:endParaRPr>
          </a:p>
        </p:txBody>
      </p:sp>
      <p:sp>
        <p:nvSpPr>
          <p:cNvPr id="921" name="Google Shape;921;p25"/>
          <p:cNvSpPr txBox="1"/>
          <p:nvPr/>
        </p:nvSpPr>
        <p:spPr>
          <a:xfrm>
            <a:off x="1170432" y="3586734"/>
            <a:ext cx="4270248" cy="89839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It makes marketing look like growth when revenue has only moved around, often at a higher cost. It is the same fear as incrementality, seen from the promotion's side. The fix is a fence: conditions on the discount.</a:t>
            </a:r>
            <a:endParaRPr b="0" i="0" sz="1150" u="none" cap="none" strike="noStrike">
              <a:solidFill>
                <a:schemeClr val="dk1"/>
              </a:solidFill>
              <a:latin typeface="Calibri"/>
              <a:ea typeface="Calibri"/>
              <a:cs typeface="Calibri"/>
              <a:sym typeface="Calibri"/>
            </a:endParaRPr>
          </a:p>
        </p:txBody>
      </p:sp>
      <p:sp>
        <p:nvSpPr>
          <p:cNvPr id="922" name="Google Shape;922;p25"/>
          <p:cNvSpPr/>
          <p:nvPr/>
        </p:nvSpPr>
        <p:spPr>
          <a:xfrm>
            <a:off x="548640" y="4805172"/>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message-square.png" id="923" name="Google Shape;923;p25"/>
          <p:cNvPicPr preferRelativeResize="0"/>
          <p:nvPr/>
        </p:nvPicPr>
        <p:blipFill rotWithShape="1">
          <a:blip r:embed="rId6">
            <a:alphaModFix/>
          </a:blip>
          <a:srcRect b="0" l="0" r="0" t="0"/>
          <a:stretch/>
        </p:blipFill>
        <p:spPr>
          <a:xfrm>
            <a:off x="641177" y="4897709"/>
            <a:ext cx="235549" cy="235549"/>
          </a:xfrm>
          <a:prstGeom prst="rect">
            <a:avLst/>
          </a:prstGeom>
          <a:noFill/>
          <a:ln>
            <a:noFill/>
          </a:ln>
        </p:spPr>
      </p:pic>
      <p:sp>
        <p:nvSpPr>
          <p:cNvPr id="924" name="Google Shape;924;p25"/>
          <p:cNvSpPr txBox="1"/>
          <p:nvPr/>
        </p:nvSpPr>
        <p:spPr>
          <a:xfrm>
            <a:off x="1170432" y="4786884"/>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Contextual usage</a:t>
            </a:r>
            <a:endParaRPr b="0" i="0" sz="1450" u="none" cap="none" strike="noStrike">
              <a:solidFill>
                <a:schemeClr val="dk1"/>
              </a:solidFill>
              <a:latin typeface="Calibri"/>
              <a:ea typeface="Calibri"/>
              <a:cs typeface="Calibri"/>
              <a:sym typeface="Calibri"/>
            </a:endParaRPr>
          </a:p>
        </p:txBody>
      </p:sp>
      <p:sp>
        <p:nvSpPr>
          <p:cNvPr id="925" name="Google Shape;925;p25"/>
          <p:cNvSpPr txBox="1"/>
          <p:nvPr/>
        </p:nvSpPr>
        <p:spPr>
          <a:xfrm>
            <a:off x="1170432" y="5097780"/>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Before we celebrate the promo, let's check for cannibalization — were those guests going to book anyway?</a:t>
            </a:r>
            <a:endParaRPr b="0" i="0" sz="1150" u="none" cap="none" strike="noStrike">
              <a:solidFill>
                <a:schemeClr val="dk1"/>
              </a:solidFill>
              <a:latin typeface="Calibri"/>
              <a:ea typeface="Calibri"/>
              <a:cs typeface="Calibri"/>
              <a:sym typeface="Calibri"/>
            </a:endParaRPr>
          </a:p>
        </p:txBody>
      </p:sp>
      <p:sp>
        <p:nvSpPr>
          <p:cNvPr id="926" name="Google Shape;926;p25"/>
          <p:cNvSpPr txBox="1"/>
          <p:nvPr/>
        </p:nvSpPr>
        <p:spPr>
          <a:xfrm>
            <a:off x="5989320" y="1984248"/>
            <a:ext cx="5379415"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900"/>
              <a:buFont typeface="Roboto Mono"/>
              <a:buNone/>
            </a:pPr>
            <a:r>
              <a:rPr b="0" i="0" lang="en-US" sz="900" u="none" cap="none" strike="noStrike">
                <a:solidFill>
                  <a:srgbClr val="004FAA"/>
                </a:solidFill>
                <a:latin typeface="Roboto Mono"/>
                <a:ea typeface="Roboto Mono"/>
                <a:cs typeface="Roboto Mono"/>
                <a:sym typeface="Roboto Mono"/>
              </a:rPr>
              <a:t>WHERE A 10% BOOK-DIRECT CODE'S 120 REDEMPTIONS LANDED</a:t>
            </a:r>
            <a:endParaRPr b="0" i="0" sz="900" u="none" cap="none" strike="noStrike">
              <a:solidFill>
                <a:schemeClr val="dk1"/>
              </a:solidFill>
              <a:latin typeface="Calibri"/>
              <a:ea typeface="Calibri"/>
              <a:cs typeface="Calibri"/>
              <a:sym typeface="Calibri"/>
            </a:endParaRPr>
          </a:p>
        </p:txBody>
      </p:sp>
      <p:sp>
        <p:nvSpPr>
          <p:cNvPr id="927" name="Google Shape;927;p25"/>
          <p:cNvSpPr txBox="1"/>
          <p:nvPr/>
        </p:nvSpPr>
        <p:spPr>
          <a:xfrm>
            <a:off x="5989320" y="2258568"/>
            <a:ext cx="2377440" cy="457200"/>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171717"/>
              </a:buClr>
              <a:buSzPts val="1050"/>
              <a:buFont typeface="Inter"/>
              <a:buNone/>
            </a:pPr>
            <a:r>
              <a:rPr b="1" i="0" lang="en-US" sz="1050" u="none" cap="none" strike="noStrike">
                <a:solidFill>
                  <a:srgbClr val="171717"/>
                </a:solidFill>
                <a:latin typeface="Inter"/>
                <a:ea typeface="Inter"/>
                <a:cs typeface="Inter"/>
                <a:sym typeface="Inter"/>
              </a:rPr>
              <a:t>Peak Saturdays, would have booked anyway</a:t>
            </a:r>
            <a:endParaRPr b="0" i="0" sz="1050" u="none" cap="none" strike="noStrike">
              <a:solidFill>
                <a:schemeClr val="dk1"/>
              </a:solidFill>
              <a:latin typeface="Calibri"/>
              <a:ea typeface="Calibri"/>
              <a:cs typeface="Calibri"/>
              <a:sym typeface="Calibri"/>
            </a:endParaRPr>
          </a:p>
        </p:txBody>
      </p:sp>
      <p:sp>
        <p:nvSpPr>
          <p:cNvPr id="928" name="Google Shape;928;p25"/>
          <p:cNvSpPr/>
          <p:nvPr/>
        </p:nvSpPr>
        <p:spPr>
          <a:xfrm>
            <a:off x="8458200" y="2340864"/>
            <a:ext cx="1428521" cy="292608"/>
          </a:xfrm>
          <a:prstGeom prst="roundRect">
            <a:avLst>
              <a:gd fmla="val 15625" name="adj"/>
            </a:avLst>
          </a:prstGeom>
          <a:solidFill>
            <a:srgbClr val="FEF2F2"/>
          </a:solidFill>
          <a:ln cap="flat" cmpd="sng" w="12700">
            <a:solidFill>
              <a:srgbClr val="F3C4C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9" name="Google Shape;929;p25"/>
          <p:cNvSpPr txBox="1"/>
          <p:nvPr/>
        </p:nvSpPr>
        <p:spPr>
          <a:xfrm>
            <a:off x="9978161" y="2258568"/>
            <a:ext cx="1005840" cy="45720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000"/>
              <a:buFont typeface="Roboto Mono"/>
              <a:buNone/>
            </a:pPr>
            <a:r>
              <a:rPr b="1" i="0" lang="en-US" sz="1000" u="none" cap="none" strike="noStrike">
                <a:solidFill>
                  <a:srgbClr val="171717"/>
                </a:solidFill>
                <a:latin typeface="Roboto Mono"/>
                <a:ea typeface="Roboto Mono"/>
                <a:cs typeface="Roboto Mono"/>
                <a:sym typeface="Roboto Mono"/>
              </a:rPr>
              <a:t>90</a:t>
            </a:r>
            <a:endParaRPr b="0" i="0" sz="1000" u="none" cap="none" strike="noStrike">
              <a:solidFill>
                <a:schemeClr val="dk1"/>
              </a:solidFill>
              <a:latin typeface="Calibri"/>
              <a:ea typeface="Calibri"/>
              <a:cs typeface="Calibri"/>
              <a:sym typeface="Calibri"/>
            </a:endParaRPr>
          </a:p>
        </p:txBody>
      </p:sp>
      <p:sp>
        <p:nvSpPr>
          <p:cNvPr id="930" name="Google Shape;930;p25"/>
          <p:cNvSpPr txBox="1"/>
          <p:nvPr/>
        </p:nvSpPr>
        <p:spPr>
          <a:xfrm>
            <a:off x="5989320" y="2770632"/>
            <a:ext cx="2377440" cy="457200"/>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171717"/>
              </a:buClr>
              <a:buSzPts val="1050"/>
              <a:buFont typeface="Inter"/>
              <a:buNone/>
            </a:pPr>
            <a:r>
              <a:rPr b="1" i="0" lang="en-US" sz="1050" u="none" cap="none" strike="noStrike">
                <a:solidFill>
                  <a:srgbClr val="171717"/>
                </a:solidFill>
                <a:latin typeface="Inter"/>
                <a:ea typeface="Inter"/>
                <a:cs typeface="Inter"/>
                <a:sym typeface="Inter"/>
              </a:rPr>
              <a:t>Soft dates, new bookings</a:t>
            </a:r>
            <a:endParaRPr b="0" i="0" sz="1050" u="none" cap="none" strike="noStrike">
              <a:solidFill>
                <a:schemeClr val="dk1"/>
              </a:solidFill>
              <a:latin typeface="Calibri"/>
              <a:ea typeface="Calibri"/>
              <a:cs typeface="Calibri"/>
              <a:sym typeface="Calibri"/>
            </a:endParaRPr>
          </a:p>
        </p:txBody>
      </p:sp>
      <p:sp>
        <p:nvSpPr>
          <p:cNvPr id="931" name="Google Shape;931;p25"/>
          <p:cNvSpPr/>
          <p:nvPr/>
        </p:nvSpPr>
        <p:spPr>
          <a:xfrm>
            <a:off x="8458200" y="2852928"/>
            <a:ext cx="476174" cy="292608"/>
          </a:xfrm>
          <a:prstGeom prst="roundRect">
            <a:avLst>
              <a:gd fmla="val 15625" name="adj"/>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2" name="Google Shape;932;p25"/>
          <p:cNvSpPr txBox="1"/>
          <p:nvPr/>
        </p:nvSpPr>
        <p:spPr>
          <a:xfrm>
            <a:off x="9025814" y="2770632"/>
            <a:ext cx="1005840" cy="45720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000"/>
              <a:buFont typeface="Roboto Mono"/>
              <a:buNone/>
            </a:pPr>
            <a:r>
              <a:rPr b="1" i="0" lang="en-US" sz="1000" u="none" cap="none" strike="noStrike">
                <a:solidFill>
                  <a:srgbClr val="171717"/>
                </a:solidFill>
                <a:latin typeface="Roboto Mono"/>
                <a:ea typeface="Roboto Mono"/>
                <a:cs typeface="Roboto Mono"/>
                <a:sym typeface="Roboto Mono"/>
              </a:rPr>
              <a:t>30</a:t>
            </a:r>
            <a:endParaRPr b="0" i="0" sz="1000" u="none" cap="none" strike="noStrike">
              <a:solidFill>
                <a:schemeClr val="dk1"/>
              </a:solidFill>
              <a:latin typeface="Calibri"/>
              <a:ea typeface="Calibri"/>
              <a:cs typeface="Calibri"/>
              <a:sym typeface="Calibri"/>
            </a:endParaRPr>
          </a:p>
        </p:txBody>
      </p:sp>
      <p:sp>
        <p:nvSpPr>
          <p:cNvPr id="933" name="Google Shape;933;p25"/>
          <p:cNvSpPr txBox="1"/>
          <p:nvPr/>
        </p:nvSpPr>
        <p:spPr>
          <a:xfrm>
            <a:off x="5989320" y="3282696"/>
            <a:ext cx="2377440" cy="457200"/>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171717"/>
              </a:buClr>
              <a:buSzPts val="1050"/>
              <a:buFont typeface="Inter"/>
              <a:buNone/>
            </a:pPr>
            <a:r>
              <a:rPr b="1" i="0" lang="en-US" sz="1050" u="none" cap="none" strike="noStrike">
                <a:solidFill>
                  <a:srgbClr val="171717"/>
                </a:solidFill>
                <a:latin typeface="Inter"/>
                <a:ea typeface="Inter"/>
                <a:cs typeface="Inter"/>
                <a:sym typeface="Inter"/>
              </a:rPr>
              <a:t>Given away: 10% on 90 stays, to win 30</a:t>
            </a:r>
            <a:endParaRPr b="0" i="0" sz="1050" u="none" cap="none" strike="noStrike">
              <a:solidFill>
                <a:schemeClr val="dk1"/>
              </a:solidFill>
              <a:latin typeface="Calibri"/>
              <a:ea typeface="Calibri"/>
              <a:cs typeface="Calibri"/>
              <a:sym typeface="Calibri"/>
            </a:endParaRPr>
          </a:p>
        </p:txBody>
      </p:sp>
      <p:sp>
        <p:nvSpPr>
          <p:cNvPr id="934" name="Google Shape;934;p25"/>
          <p:cNvSpPr/>
          <p:nvPr/>
        </p:nvSpPr>
        <p:spPr>
          <a:xfrm>
            <a:off x="8458200" y="3364992"/>
            <a:ext cx="1428521" cy="292608"/>
          </a:xfrm>
          <a:prstGeom prst="roundRect">
            <a:avLst>
              <a:gd fmla="val 15625" name="adj"/>
            </a:avLst>
          </a:prstGeom>
          <a:solidFill>
            <a:srgbClr val="FEFCE8"/>
          </a:solidFill>
          <a:ln cap="flat" cmpd="sng" w="12700">
            <a:solidFill>
              <a:srgbClr val="F0E1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5" name="Google Shape;935;p25"/>
          <p:cNvSpPr txBox="1"/>
          <p:nvPr/>
        </p:nvSpPr>
        <p:spPr>
          <a:xfrm>
            <a:off x="9978161" y="3282696"/>
            <a:ext cx="1005840" cy="45720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936" name="Google Shape;936;p25"/>
          <p:cNvSpPr txBox="1"/>
          <p:nvPr/>
        </p:nvSpPr>
        <p:spPr>
          <a:xfrm>
            <a:off x="5989320" y="3867912"/>
            <a:ext cx="5379415" cy="366776"/>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25252"/>
              </a:buClr>
              <a:buSzPts val="1000"/>
              <a:buFont typeface="Inter"/>
              <a:buNone/>
            </a:pPr>
            <a:r>
              <a:rPr b="0" i="0" lang="en-US" sz="1000" u="none" cap="none" strike="noStrike">
                <a:solidFill>
                  <a:srgbClr val="525252"/>
                </a:solidFill>
                <a:latin typeface="Inter"/>
                <a:ea typeface="Inter"/>
                <a:cs typeface="Inter"/>
                <a:sym typeface="Inter"/>
              </a:rPr>
              <a:t>The fence: blackout dates for weekends and holidays, soft dates only, owned channels only, a cap on depth and frequency, a real deadline, reset each season.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534"/>
        </a:solidFill>
      </p:bgPr>
    </p:bg>
    <p:spTree>
      <p:nvGrpSpPr>
        <p:cNvPr id="941" name="Shape 941"/>
        <p:cNvGrpSpPr/>
        <p:nvPr/>
      </p:nvGrpSpPr>
      <p:grpSpPr>
        <a:xfrm>
          <a:off x="0" y="0"/>
          <a:ext cx="0" cy="0"/>
          <a:chOff x="0" y="0"/>
          <a:chExt cx="0" cy="0"/>
        </a:xfrm>
      </p:grpSpPr>
      <p:sp>
        <p:nvSpPr>
          <p:cNvPr id="942" name="Google Shape;942;p26"/>
          <p:cNvSpPr txBox="1"/>
          <p:nvPr/>
        </p:nvSpPr>
        <p:spPr>
          <a:xfrm>
            <a:off x="548640" y="502920"/>
            <a:ext cx="5486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A9C9FF"/>
              </a:buClr>
              <a:buSzPts val="1050"/>
              <a:buFont typeface="Roboto Mono"/>
              <a:buNone/>
            </a:pPr>
            <a:r>
              <a:rPr b="0" i="0" lang="en-US" sz="1050" u="none" cap="none" strike="noStrike">
                <a:solidFill>
                  <a:srgbClr val="A9C9FF"/>
                </a:solidFill>
                <a:latin typeface="Roboto Mono"/>
                <a:ea typeface="Roboto Mono"/>
                <a:cs typeface="Roboto Mono"/>
                <a:sym typeface="Roboto Mono"/>
              </a:rPr>
              <a:t>PRACTICE · AFTER BLOCK 5</a:t>
            </a:r>
            <a:endParaRPr b="0" i="0" sz="1050" u="none" cap="none" strike="noStrike">
              <a:solidFill>
                <a:schemeClr val="dk1"/>
              </a:solidFill>
              <a:latin typeface="Calibri"/>
              <a:ea typeface="Calibri"/>
              <a:cs typeface="Calibri"/>
              <a:sym typeface="Calibri"/>
            </a:endParaRPr>
          </a:p>
        </p:txBody>
      </p:sp>
      <p:sp>
        <p:nvSpPr>
          <p:cNvPr id="943" name="Google Shape;943;p26"/>
          <p:cNvSpPr txBox="1"/>
          <p:nvPr/>
        </p:nvSpPr>
        <p:spPr>
          <a:xfrm>
            <a:off x="548640" y="914400"/>
            <a:ext cx="8229600" cy="86868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4000"/>
              <a:buFont typeface="Inter"/>
              <a:buNone/>
            </a:pPr>
            <a:r>
              <a:rPr b="1" i="0" lang="en-US" sz="4000" u="none" cap="none" strike="noStrike">
                <a:solidFill>
                  <a:srgbClr val="FFFFFF"/>
                </a:solidFill>
                <a:latin typeface="Inter"/>
                <a:ea typeface="Inter"/>
                <a:cs typeface="Inter"/>
                <a:sym typeface="Inter"/>
              </a:rPr>
              <a:t>Fill the blank</a:t>
            </a:r>
            <a:endParaRPr b="0" i="0" sz="4000" u="none" cap="none" strike="noStrike">
              <a:solidFill>
                <a:schemeClr val="dk1"/>
              </a:solidFill>
              <a:latin typeface="Calibri"/>
              <a:ea typeface="Calibri"/>
              <a:cs typeface="Calibri"/>
              <a:sym typeface="Calibri"/>
            </a:endParaRPr>
          </a:p>
        </p:txBody>
      </p:sp>
      <p:sp>
        <p:nvSpPr>
          <p:cNvPr id="944" name="Google Shape;944;p26"/>
          <p:cNvSpPr/>
          <p:nvPr/>
        </p:nvSpPr>
        <p:spPr>
          <a:xfrm>
            <a:off x="548640" y="2468880"/>
            <a:ext cx="8138160" cy="749808"/>
          </a:xfrm>
          <a:prstGeom prst="roundRect">
            <a:avLst>
              <a:gd fmla="val 12195" name="adj"/>
            </a:avLst>
          </a:prstGeom>
          <a:solidFill>
            <a:srgbClr val="002552"/>
          </a:solidFill>
          <a:ln cap="flat" cmpd="sng" w="12700">
            <a:solidFill>
              <a:srgbClr val="113A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edit-soft.png" id="945" name="Google Shape;945;p26"/>
          <p:cNvPicPr preferRelativeResize="0"/>
          <p:nvPr/>
        </p:nvPicPr>
        <p:blipFill rotWithShape="1">
          <a:blip r:embed="rId3">
            <a:alphaModFix/>
          </a:blip>
          <a:srcRect b="0" l="0" r="0" t="0"/>
          <a:stretch/>
        </p:blipFill>
        <p:spPr>
          <a:xfrm>
            <a:off x="841248" y="2697480"/>
            <a:ext cx="292608" cy="292608"/>
          </a:xfrm>
          <a:prstGeom prst="rect">
            <a:avLst/>
          </a:prstGeom>
          <a:noFill/>
          <a:ln>
            <a:noFill/>
          </a:ln>
        </p:spPr>
      </p:pic>
      <p:sp>
        <p:nvSpPr>
          <p:cNvPr id="946" name="Google Shape;946;p26"/>
          <p:cNvSpPr txBox="1"/>
          <p:nvPr/>
        </p:nvSpPr>
        <p:spPr>
          <a:xfrm>
            <a:off x="1371600" y="2560320"/>
            <a:ext cx="7132320" cy="566928"/>
          </a:xfrm>
          <a:prstGeom prst="rect">
            <a:avLst/>
          </a:prstGeom>
          <a:noFill/>
          <a:ln>
            <a:noFill/>
          </a:ln>
        </p:spPr>
        <p:txBody>
          <a:bodyPr anchorCtr="0" anchor="ctr" bIns="0" lIns="0" spcFirstLastPara="1" rIns="0" wrap="square" tIns="0">
            <a:noAutofit/>
          </a:bodyPr>
          <a:lstStyle/>
          <a:p>
            <a:pPr indent="0" lvl="0" marL="0" marR="0" rtl="0" algn="l">
              <a:lnSpc>
                <a:spcPct val="135037"/>
              </a:lnSpc>
              <a:spcBef>
                <a:spcPts val="0"/>
              </a:spcBef>
              <a:spcAft>
                <a:spcPts val="0"/>
              </a:spcAft>
              <a:buClr>
                <a:srgbClr val="FFFFFF"/>
              </a:buClr>
              <a:buSzPts val="1350"/>
              <a:buFont typeface="Inter"/>
              <a:buNone/>
            </a:pPr>
            <a:r>
              <a:rPr b="0" i="0" lang="en-US" sz="1350" u="none" cap="none" strike="noStrike">
                <a:solidFill>
                  <a:srgbClr val="FFFFFF"/>
                </a:solidFill>
                <a:latin typeface="Inter"/>
                <a:ea typeface="Inter"/>
                <a:cs typeface="Inter"/>
                <a:sym typeface="Inter"/>
              </a:rPr>
              <a:t>Five lines you'd say to an owner, each with a blank.</a:t>
            </a:r>
            <a:endParaRPr b="0" i="0" sz="1350" u="none" cap="none" strike="noStrike">
              <a:solidFill>
                <a:schemeClr val="dk1"/>
              </a:solidFill>
              <a:latin typeface="Calibri"/>
              <a:ea typeface="Calibri"/>
              <a:cs typeface="Calibri"/>
              <a:sym typeface="Calibri"/>
            </a:endParaRPr>
          </a:p>
        </p:txBody>
      </p:sp>
      <p:sp>
        <p:nvSpPr>
          <p:cNvPr id="947" name="Google Shape;947;p26"/>
          <p:cNvSpPr/>
          <p:nvPr/>
        </p:nvSpPr>
        <p:spPr>
          <a:xfrm>
            <a:off x="548640" y="3383280"/>
            <a:ext cx="8138160" cy="749808"/>
          </a:xfrm>
          <a:prstGeom prst="roundRect">
            <a:avLst>
              <a:gd fmla="val 12195" name="adj"/>
            </a:avLst>
          </a:prstGeom>
          <a:solidFill>
            <a:srgbClr val="002552"/>
          </a:solidFill>
          <a:ln cap="flat" cmpd="sng" w="12700">
            <a:solidFill>
              <a:srgbClr val="113A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list-soft.png" id="948" name="Google Shape;948;p26"/>
          <p:cNvPicPr preferRelativeResize="0"/>
          <p:nvPr/>
        </p:nvPicPr>
        <p:blipFill rotWithShape="1">
          <a:blip r:embed="rId4">
            <a:alphaModFix/>
          </a:blip>
          <a:srcRect b="0" l="0" r="0" t="0"/>
          <a:stretch/>
        </p:blipFill>
        <p:spPr>
          <a:xfrm>
            <a:off x="841248" y="3611880"/>
            <a:ext cx="292608" cy="292608"/>
          </a:xfrm>
          <a:prstGeom prst="rect">
            <a:avLst/>
          </a:prstGeom>
          <a:noFill/>
          <a:ln>
            <a:noFill/>
          </a:ln>
        </p:spPr>
      </p:pic>
      <p:sp>
        <p:nvSpPr>
          <p:cNvPr id="949" name="Google Shape;949;p26"/>
          <p:cNvSpPr txBox="1"/>
          <p:nvPr/>
        </p:nvSpPr>
        <p:spPr>
          <a:xfrm>
            <a:off x="1371600" y="3474720"/>
            <a:ext cx="7132320" cy="566928"/>
          </a:xfrm>
          <a:prstGeom prst="rect">
            <a:avLst/>
          </a:prstGeom>
          <a:noFill/>
          <a:ln>
            <a:noFill/>
          </a:ln>
        </p:spPr>
        <p:txBody>
          <a:bodyPr anchorCtr="0" anchor="ctr" bIns="0" lIns="0" spcFirstLastPara="1" rIns="0" wrap="square" tIns="0">
            <a:noAutofit/>
          </a:bodyPr>
          <a:lstStyle/>
          <a:p>
            <a:pPr indent="0" lvl="0" marL="0" marR="0" rtl="0" algn="l">
              <a:lnSpc>
                <a:spcPct val="135037"/>
              </a:lnSpc>
              <a:spcBef>
                <a:spcPts val="0"/>
              </a:spcBef>
              <a:spcAft>
                <a:spcPts val="0"/>
              </a:spcAft>
              <a:buClr>
                <a:srgbClr val="FFFFFF"/>
              </a:buClr>
              <a:buSzPts val="1350"/>
              <a:buFont typeface="Inter"/>
              <a:buNone/>
            </a:pPr>
            <a:r>
              <a:rPr b="0" i="0" lang="en-US" sz="1350" u="none" cap="none" strike="noStrike">
                <a:solidFill>
                  <a:srgbClr val="FFFFFF"/>
                </a:solidFill>
                <a:latin typeface="Inter"/>
                <a:ea typeface="Inter"/>
                <a:cs typeface="Inter"/>
                <a:sym typeface="Inter"/>
              </a:rPr>
              <a:t>Four ways to fill it. Hold up the number of the right one.</a:t>
            </a:r>
            <a:endParaRPr b="0" i="0" sz="1350" u="none" cap="none" strike="noStrike">
              <a:solidFill>
                <a:schemeClr val="dk1"/>
              </a:solidFill>
              <a:latin typeface="Calibri"/>
              <a:ea typeface="Calibri"/>
              <a:cs typeface="Calibri"/>
              <a:sym typeface="Calibri"/>
            </a:endParaRPr>
          </a:p>
        </p:txBody>
      </p:sp>
      <p:sp>
        <p:nvSpPr>
          <p:cNvPr id="950" name="Google Shape;950;p26"/>
          <p:cNvSpPr/>
          <p:nvPr/>
        </p:nvSpPr>
        <p:spPr>
          <a:xfrm>
            <a:off x="548640" y="4297680"/>
            <a:ext cx="8138160" cy="749808"/>
          </a:xfrm>
          <a:prstGeom prst="roundRect">
            <a:avLst>
              <a:gd fmla="val 12195" name="adj"/>
            </a:avLst>
          </a:prstGeom>
          <a:solidFill>
            <a:srgbClr val="002552"/>
          </a:solidFill>
          <a:ln cap="flat" cmpd="sng" w="12700">
            <a:solidFill>
              <a:srgbClr val="113A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check-circle-soft.png" id="951" name="Google Shape;951;p26"/>
          <p:cNvPicPr preferRelativeResize="0"/>
          <p:nvPr/>
        </p:nvPicPr>
        <p:blipFill rotWithShape="1">
          <a:blip r:embed="rId5">
            <a:alphaModFix/>
          </a:blip>
          <a:srcRect b="0" l="0" r="0" t="0"/>
          <a:stretch/>
        </p:blipFill>
        <p:spPr>
          <a:xfrm>
            <a:off x="841248" y="4526280"/>
            <a:ext cx="292608" cy="292608"/>
          </a:xfrm>
          <a:prstGeom prst="rect">
            <a:avLst/>
          </a:prstGeom>
          <a:noFill/>
          <a:ln>
            <a:noFill/>
          </a:ln>
        </p:spPr>
      </p:pic>
      <p:sp>
        <p:nvSpPr>
          <p:cNvPr id="952" name="Google Shape;952;p26"/>
          <p:cNvSpPr txBox="1"/>
          <p:nvPr/>
        </p:nvSpPr>
        <p:spPr>
          <a:xfrm>
            <a:off x="1371600" y="4389120"/>
            <a:ext cx="7132320" cy="566928"/>
          </a:xfrm>
          <a:prstGeom prst="rect">
            <a:avLst/>
          </a:prstGeom>
          <a:noFill/>
          <a:ln>
            <a:noFill/>
          </a:ln>
        </p:spPr>
        <p:txBody>
          <a:bodyPr anchorCtr="0" anchor="ctr" bIns="0" lIns="0" spcFirstLastPara="1" rIns="0" wrap="square" tIns="0">
            <a:noAutofit/>
          </a:bodyPr>
          <a:lstStyle/>
          <a:p>
            <a:pPr indent="0" lvl="0" marL="0" marR="0" rtl="0" algn="l">
              <a:lnSpc>
                <a:spcPct val="135037"/>
              </a:lnSpc>
              <a:spcBef>
                <a:spcPts val="0"/>
              </a:spcBef>
              <a:spcAft>
                <a:spcPts val="0"/>
              </a:spcAft>
              <a:buClr>
                <a:srgbClr val="FFFFFF"/>
              </a:buClr>
              <a:buSzPts val="1350"/>
              <a:buFont typeface="Inter"/>
              <a:buNone/>
            </a:pPr>
            <a:r>
              <a:rPr b="0" i="0" lang="en-US" sz="1350" u="none" cap="none" strike="noStrike">
                <a:solidFill>
                  <a:srgbClr val="FFFFFF"/>
                </a:solidFill>
                <a:latin typeface="Inter"/>
                <a:ea typeface="Inter"/>
                <a:cs typeface="Inter"/>
                <a:sym typeface="Inter"/>
              </a:rPr>
              <a:t>Three, two, one, vote. The finished line is one worth keeping.</a:t>
            </a:r>
            <a:endParaRPr b="0" i="0" sz="1350" u="none" cap="none" strike="noStrike">
              <a:solidFill>
                <a:schemeClr val="dk1"/>
              </a:solidFill>
              <a:latin typeface="Calibri"/>
              <a:ea typeface="Calibri"/>
              <a:cs typeface="Calibri"/>
              <a:sym typeface="Calibri"/>
            </a:endParaRPr>
          </a:p>
        </p:txBody>
      </p:sp>
      <p:sp>
        <p:nvSpPr>
          <p:cNvPr id="953" name="Google Shape;953;p26"/>
          <p:cNvSpPr txBox="1"/>
          <p:nvPr/>
        </p:nvSpPr>
        <p:spPr>
          <a:xfrm>
            <a:off x="548640" y="626364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A9C9FF"/>
              </a:buClr>
              <a:buSzPts val="1050"/>
              <a:buFont typeface="Roboto Mono"/>
              <a:buNone/>
            </a:pPr>
            <a:r>
              <a:rPr b="0" i="0" lang="en-US" sz="1050" u="none" cap="none" strike="noStrike">
                <a:solidFill>
                  <a:srgbClr val="A9C9FF"/>
                </a:solidFill>
                <a:latin typeface="Roboto Mono"/>
                <a:ea typeface="Roboto Mono"/>
                <a:cs typeface="Roboto Mono"/>
                <a:sym typeface="Roboto Mono"/>
              </a:rPr>
              <a:t>The owners, their properties and every number here are made up.</a:t>
            </a:r>
            <a:endParaRPr b="0" i="0" sz="1050" u="none" cap="none" strike="noStrike">
              <a:solidFill>
                <a:schemeClr val="dk1"/>
              </a:solidFill>
              <a:latin typeface="Calibri"/>
              <a:ea typeface="Calibri"/>
              <a:cs typeface="Calibri"/>
              <a:sym typeface="Calibri"/>
            </a:endParaRPr>
          </a:p>
        </p:txBody>
      </p:sp>
      <p:pic>
        <p:nvPicPr>
          <p:cNvPr descr="/home/claude/work/renderer/assets/hero-edit.png" id="954" name="Google Shape;954;p26"/>
          <p:cNvPicPr preferRelativeResize="0"/>
          <p:nvPr/>
        </p:nvPicPr>
        <p:blipFill rotWithShape="1">
          <a:blip r:embed="rId3">
            <a:alphaModFix/>
          </a:blip>
          <a:srcRect b="0" l="0" r="0" t="0"/>
          <a:stretch/>
        </p:blipFill>
        <p:spPr>
          <a:xfrm>
            <a:off x="9418320" y="640080"/>
            <a:ext cx="2011680" cy="201168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959" name="Shape 959"/>
        <p:cNvGrpSpPr/>
        <p:nvPr/>
      </p:nvGrpSpPr>
      <p:grpSpPr>
        <a:xfrm>
          <a:off x="0" y="0"/>
          <a:ext cx="0" cy="0"/>
          <a:chOff x="0" y="0"/>
          <a:chExt cx="0" cy="0"/>
        </a:xfrm>
      </p:grpSpPr>
      <p:sp>
        <p:nvSpPr>
          <p:cNvPr id="960" name="Google Shape;960;p27"/>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FILL THE LINE · 1 OF 5</a:t>
            </a:r>
            <a:endParaRPr b="0" i="0" sz="1050" u="none" cap="none" strike="noStrike">
              <a:solidFill>
                <a:schemeClr val="dk1"/>
              </a:solidFill>
              <a:latin typeface="Calibri"/>
              <a:ea typeface="Calibri"/>
              <a:cs typeface="Calibri"/>
              <a:sym typeface="Calibri"/>
            </a:endParaRPr>
          </a:p>
        </p:txBody>
      </p:sp>
      <p:sp>
        <p:nvSpPr>
          <p:cNvPr id="961" name="Google Shape;961;p27"/>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Fill the blank</a:t>
            </a:r>
            <a:endParaRPr b="0" i="0" sz="3000" u="none" cap="none" strike="noStrike">
              <a:solidFill>
                <a:schemeClr val="dk1"/>
              </a:solidFill>
              <a:latin typeface="Calibri"/>
              <a:ea typeface="Calibri"/>
              <a:cs typeface="Calibri"/>
              <a:sym typeface="Calibri"/>
            </a:endParaRPr>
          </a:p>
        </p:txBody>
      </p:sp>
      <p:pic>
        <p:nvPicPr>
          <p:cNvPr descr="/home/claude/work/renderer/brand/wordmark.png" id="962" name="Google Shape;962;p27"/>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963" name="Google Shape;963;p27"/>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25 / 48</a:t>
            </a:r>
            <a:endParaRPr b="0" i="0" sz="900" u="none" cap="none" strike="noStrike">
              <a:solidFill>
                <a:schemeClr val="dk1"/>
              </a:solidFill>
              <a:latin typeface="Calibri"/>
              <a:ea typeface="Calibri"/>
              <a:cs typeface="Calibri"/>
              <a:sym typeface="Calibri"/>
            </a:endParaRPr>
          </a:p>
        </p:txBody>
      </p:sp>
      <p:sp>
        <p:nvSpPr>
          <p:cNvPr id="964" name="Google Shape;964;p27"/>
          <p:cNvSpPr/>
          <p:nvPr/>
        </p:nvSpPr>
        <p:spPr>
          <a:xfrm>
            <a:off x="548640" y="1481328"/>
            <a:ext cx="7406640" cy="4828032"/>
          </a:xfrm>
          <a:prstGeom prst="roundRect">
            <a:avLst>
              <a:gd fmla="val 2273"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5" name="Google Shape;965;p27"/>
          <p:cNvSpPr txBox="1"/>
          <p:nvPr/>
        </p:nvSpPr>
        <p:spPr>
          <a:xfrm>
            <a:off x="859536" y="1719072"/>
            <a:ext cx="6784848"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004FAA"/>
              </a:buClr>
              <a:buSzPts val="950"/>
              <a:buFont typeface="Roboto Mono"/>
              <a:buNone/>
            </a:pPr>
            <a:r>
              <a:rPr b="0" i="0" lang="en-US" sz="950" u="none" cap="none" strike="noStrike">
                <a:solidFill>
                  <a:srgbClr val="004FAA"/>
                </a:solidFill>
                <a:latin typeface="Roboto Mono"/>
                <a:ea typeface="Roboto Mono"/>
                <a:cs typeface="Roboto Mono"/>
                <a:sym typeface="Roboto Mono"/>
              </a:rPr>
              <a:t>FILL THE LINE · 1 OF 5</a:t>
            </a:r>
            <a:endParaRPr b="0" i="0" sz="950" u="none" cap="none" strike="noStrike">
              <a:solidFill>
                <a:schemeClr val="dk1"/>
              </a:solidFill>
              <a:latin typeface="Calibri"/>
              <a:ea typeface="Calibri"/>
              <a:cs typeface="Calibri"/>
              <a:sym typeface="Calibri"/>
            </a:endParaRPr>
          </a:p>
        </p:txBody>
      </p:sp>
      <p:sp>
        <p:nvSpPr>
          <p:cNvPr id="966" name="Google Shape;966;p27"/>
          <p:cNvSpPr txBox="1"/>
          <p:nvPr/>
        </p:nvSpPr>
        <p:spPr>
          <a:xfrm>
            <a:off x="859536" y="2029968"/>
            <a:ext cx="6784848" cy="10083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71717"/>
              </a:buClr>
              <a:buSzPts val="2600"/>
              <a:buFont typeface="Inter"/>
              <a:buNone/>
            </a:pPr>
            <a:r>
              <a:rPr b="1" i="0" lang="en-US" sz="2600" u="none" cap="none" strike="noStrike">
                <a:solidFill>
                  <a:srgbClr val="171717"/>
                </a:solidFill>
                <a:latin typeface="Inter"/>
                <a:ea typeface="Inter"/>
                <a:cs typeface="Inter"/>
                <a:sym typeface="Inter"/>
              </a:rPr>
              <a:t>“Your CPM went up this month, which usually means ___.”</a:t>
            </a:r>
            <a:endParaRPr b="0" i="0" sz="2600" u="none" cap="none" strike="noStrike">
              <a:solidFill>
                <a:schemeClr val="dk1"/>
              </a:solidFill>
              <a:latin typeface="Calibri"/>
              <a:ea typeface="Calibri"/>
              <a:cs typeface="Calibri"/>
              <a:sym typeface="Calibri"/>
            </a:endParaRPr>
          </a:p>
        </p:txBody>
      </p:sp>
      <p:sp>
        <p:nvSpPr>
          <p:cNvPr id="967" name="Google Shape;967;p27"/>
          <p:cNvSpPr txBox="1"/>
          <p:nvPr/>
        </p:nvSpPr>
        <p:spPr>
          <a:xfrm>
            <a:off x="859536" y="3166364"/>
            <a:ext cx="6784848" cy="26860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25252"/>
              </a:buClr>
              <a:buSzPts val="1300"/>
              <a:buFont typeface="Inter"/>
              <a:buNone/>
            </a:pPr>
            <a:r>
              <a:rPr b="0" i="0" lang="en-US" sz="1300" u="none" cap="none" strike="noStrike">
                <a:solidFill>
                  <a:srgbClr val="525252"/>
                </a:solidFill>
                <a:latin typeface="Inter"/>
                <a:ea typeface="Inter"/>
                <a:cs typeface="Inter"/>
                <a:sym typeface="Inter"/>
              </a:rPr>
              <a:t>Said to Marisol, about Lakeside Lodge's Meta report.</a:t>
            </a:r>
            <a:endParaRPr b="0" i="0" sz="1300" u="none" cap="none" strike="noStrike">
              <a:solidFill>
                <a:schemeClr val="dk1"/>
              </a:solidFill>
              <a:latin typeface="Calibri"/>
              <a:ea typeface="Calibri"/>
              <a:cs typeface="Calibri"/>
              <a:sym typeface="Calibri"/>
            </a:endParaRPr>
          </a:p>
        </p:txBody>
      </p:sp>
      <p:sp>
        <p:nvSpPr>
          <p:cNvPr id="968" name="Google Shape;968;p27"/>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9" name="Google Shape;969;p27"/>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edit.png" id="970" name="Google Shape;970;p27"/>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971" name="Google Shape;971;p27"/>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FILL THE LINE · 1 OF 5</a:t>
            </a:r>
            <a:endParaRPr b="0" i="0" sz="950" u="none" cap="none" strike="noStrike">
              <a:solidFill>
                <a:schemeClr val="dk1"/>
              </a:solidFill>
              <a:latin typeface="Calibri"/>
              <a:ea typeface="Calibri"/>
              <a:cs typeface="Calibri"/>
              <a:sym typeface="Calibri"/>
            </a:endParaRPr>
          </a:p>
        </p:txBody>
      </p:sp>
      <p:sp>
        <p:nvSpPr>
          <p:cNvPr id="972" name="Google Shape;972;p27"/>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Cast your vote</a:t>
            </a:r>
            <a:endParaRPr b="0" i="0" sz="1800" u="none" cap="none" strike="noStrike">
              <a:solidFill>
                <a:schemeClr val="dk1"/>
              </a:solidFill>
              <a:latin typeface="Calibri"/>
              <a:ea typeface="Calibri"/>
              <a:cs typeface="Calibri"/>
              <a:sym typeface="Calibri"/>
            </a:endParaRPr>
          </a:p>
        </p:txBody>
      </p:sp>
      <p:sp>
        <p:nvSpPr>
          <p:cNvPr id="973" name="Google Shape;973;p27"/>
          <p:cNvSpPr/>
          <p:nvPr/>
        </p:nvSpPr>
        <p:spPr>
          <a:xfrm>
            <a:off x="8549640" y="3200400"/>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4" name="Google Shape;974;p27"/>
          <p:cNvSpPr/>
          <p:nvPr/>
        </p:nvSpPr>
        <p:spPr>
          <a:xfrm>
            <a:off x="8750808" y="3282696"/>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5" name="Google Shape;975;p27"/>
          <p:cNvSpPr txBox="1"/>
          <p:nvPr/>
        </p:nvSpPr>
        <p:spPr>
          <a:xfrm>
            <a:off x="8750808" y="3282696"/>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sp>
        <p:nvSpPr>
          <p:cNvPr id="976" name="Google Shape;976;p27"/>
          <p:cNvSpPr txBox="1"/>
          <p:nvPr/>
        </p:nvSpPr>
        <p:spPr>
          <a:xfrm>
            <a:off x="9189720" y="3200400"/>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1125"/>
              <a:buFont typeface="Inter"/>
              <a:buNone/>
            </a:pPr>
            <a:r>
              <a:rPr b="1" i="0" lang="en-US" sz="1125" u="none" cap="none" strike="noStrike">
                <a:solidFill>
                  <a:srgbClr val="171717"/>
                </a:solidFill>
                <a:latin typeface="Inter"/>
                <a:ea typeface="Inter"/>
                <a:cs typeface="Inter"/>
                <a:sym typeface="Inter"/>
              </a:rPr>
              <a:t>the ads stopped working</a:t>
            </a:r>
            <a:endParaRPr b="0" i="0" sz="1125" u="none" cap="none" strike="noStrike">
              <a:solidFill>
                <a:schemeClr val="dk1"/>
              </a:solidFill>
              <a:latin typeface="Calibri"/>
              <a:ea typeface="Calibri"/>
              <a:cs typeface="Calibri"/>
              <a:sym typeface="Calibri"/>
            </a:endParaRPr>
          </a:p>
        </p:txBody>
      </p:sp>
      <p:sp>
        <p:nvSpPr>
          <p:cNvPr id="977" name="Google Shape;977;p27"/>
          <p:cNvSpPr/>
          <p:nvPr/>
        </p:nvSpPr>
        <p:spPr>
          <a:xfrm>
            <a:off x="8549640" y="3785616"/>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8" name="Google Shape;978;p27"/>
          <p:cNvSpPr/>
          <p:nvPr/>
        </p:nvSpPr>
        <p:spPr>
          <a:xfrm>
            <a:off x="8750808" y="3867912"/>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9" name="Google Shape;979;p27"/>
          <p:cNvSpPr txBox="1"/>
          <p:nvPr/>
        </p:nvSpPr>
        <p:spPr>
          <a:xfrm>
            <a:off x="8750808" y="3867912"/>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sp>
        <p:nvSpPr>
          <p:cNvPr id="980" name="Google Shape;980;p27"/>
          <p:cNvSpPr txBox="1"/>
          <p:nvPr/>
        </p:nvSpPr>
        <p:spPr>
          <a:xfrm>
            <a:off x="9189720" y="3785616"/>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1125"/>
              <a:buFont typeface="Inter"/>
              <a:buNone/>
            </a:pPr>
            <a:r>
              <a:rPr b="1" i="0" lang="en-US" sz="1125" u="none" cap="none" strike="noStrike">
                <a:solidFill>
                  <a:srgbClr val="171717"/>
                </a:solidFill>
                <a:latin typeface="Inter"/>
                <a:ea typeface="Inter"/>
                <a:cs typeface="Inter"/>
                <a:sym typeface="Inter"/>
              </a:rPr>
              <a:t>more advertisers, same people</a:t>
            </a:r>
            <a:endParaRPr b="0" i="0" sz="1125" u="none" cap="none" strike="noStrike">
              <a:solidFill>
                <a:schemeClr val="dk1"/>
              </a:solidFill>
              <a:latin typeface="Calibri"/>
              <a:ea typeface="Calibri"/>
              <a:cs typeface="Calibri"/>
              <a:sym typeface="Calibri"/>
            </a:endParaRPr>
          </a:p>
        </p:txBody>
      </p:sp>
      <p:sp>
        <p:nvSpPr>
          <p:cNvPr id="981" name="Google Shape;981;p27"/>
          <p:cNvSpPr/>
          <p:nvPr/>
        </p:nvSpPr>
        <p:spPr>
          <a:xfrm>
            <a:off x="8549640" y="4370832"/>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2" name="Google Shape;982;p27"/>
          <p:cNvSpPr/>
          <p:nvPr/>
        </p:nvSpPr>
        <p:spPr>
          <a:xfrm>
            <a:off x="8750808" y="4453128"/>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3" name="Google Shape;983;p27"/>
          <p:cNvSpPr txBox="1"/>
          <p:nvPr/>
        </p:nvSpPr>
        <p:spPr>
          <a:xfrm>
            <a:off x="8750808" y="4453128"/>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sp>
        <p:nvSpPr>
          <p:cNvPr id="984" name="Google Shape;984;p27"/>
          <p:cNvSpPr txBox="1"/>
          <p:nvPr/>
        </p:nvSpPr>
        <p:spPr>
          <a:xfrm>
            <a:off x="9189720" y="4370832"/>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1125"/>
              <a:buFont typeface="Inter"/>
              <a:buNone/>
            </a:pPr>
            <a:r>
              <a:rPr b="1" i="0" lang="en-US" sz="1125" u="none" cap="none" strike="noStrike">
                <a:solidFill>
                  <a:srgbClr val="171717"/>
                </a:solidFill>
                <a:latin typeface="Inter"/>
                <a:ea typeface="Inter"/>
                <a:cs typeface="Inter"/>
                <a:sym typeface="Inter"/>
              </a:rPr>
              <a:t>Meta raised its fees</a:t>
            </a:r>
            <a:endParaRPr b="0" i="0" sz="1125" u="none" cap="none" strike="noStrike">
              <a:solidFill>
                <a:schemeClr val="dk1"/>
              </a:solidFill>
              <a:latin typeface="Calibri"/>
              <a:ea typeface="Calibri"/>
              <a:cs typeface="Calibri"/>
              <a:sym typeface="Calibri"/>
            </a:endParaRPr>
          </a:p>
        </p:txBody>
      </p:sp>
      <p:sp>
        <p:nvSpPr>
          <p:cNvPr id="985" name="Google Shape;985;p27"/>
          <p:cNvSpPr/>
          <p:nvPr/>
        </p:nvSpPr>
        <p:spPr>
          <a:xfrm>
            <a:off x="8549640" y="4956048"/>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p27"/>
          <p:cNvSpPr/>
          <p:nvPr/>
        </p:nvSpPr>
        <p:spPr>
          <a:xfrm>
            <a:off x="8750808" y="5038344"/>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7" name="Google Shape;987;p27"/>
          <p:cNvSpPr txBox="1"/>
          <p:nvPr/>
        </p:nvSpPr>
        <p:spPr>
          <a:xfrm>
            <a:off x="8750808" y="5038344"/>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sp>
        <p:nvSpPr>
          <p:cNvPr id="988" name="Google Shape;988;p27"/>
          <p:cNvSpPr txBox="1"/>
          <p:nvPr/>
        </p:nvSpPr>
        <p:spPr>
          <a:xfrm>
            <a:off x="9189720" y="4956048"/>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1125"/>
              <a:buFont typeface="Inter"/>
              <a:buNone/>
            </a:pPr>
            <a:r>
              <a:rPr b="1" i="0" lang="en-US" sz="1125" u="none" cap="none" strike="noStrike">
                <a:solidFill>
                  <a:srgbClr val="171717"/>
                </a:solidFill>
                <a:latin typeface="Inter"/>
                <a:ea typeface="Inter"/>
                <a:cs typeface="Inter"/>
                <a:sym typeface="Inter"/>
              </a:rPr>
              <a:t>the pixel is broken</a:t>
            </a:r>
            <a:endParaRPr b="0" i="0" sz="1125" u="none" cap="none" strike="noStrike">
              <a:solidFill>
                <a:schemeClr val="dk1"/>
              </a:solidFill>
              <a:latin typeface="Calibri"/>
              <a:ea typeface="Calibri"/>
              <a:cs typeface="Calibri"/>
              <a:sym typeface="Calibri"/>
            </a:endParaRPr>
          </a:p>
        </p:txBody>
      </p:sp>
      <p:sp>
        <p:nvSpPr>
          <p:cNvPr id="989" name="Google Shape;989;p27"/>
          <p:cNvSpPr txBox="1"/>
          <p:nvPr/>
        </p:nvSpPr>
        <p:spPr>
          <a:xfrm>
            <a:off x="8549640" y="5522976"/>
            <a:ext cx="2816352" cy="548640"/>
          </a:xfrm>
          <a:prstGeom prst="rect">
            <a:avLst/>
          </a:prstGeom>
          <a:noFill/>
          <a:ln>
            <a:noFill/>
          </a:ln>
        </p:spPr>
        <p:txBody>
          <a:bodyPr anchorCtr="0" anchor="t" bIns="0" lIns="0" spcFirstLastPara="1" rIns="0" wrap="square" tIns="0">
            <a:noAutofit/>
          </a:bodyPr>
          <a:lstStyle/>
          <a:p>
            <a:pPr indent="0" lvl="0" marL="0" marR="0" rtl="0" algn="l">
              <a:lnSpc>
                <a:spcPct val="135047"/>
              </a:lnSpc>
              <a:spcBef>
                <a:spcPts val="0"/>
              </a:spcBef>
              <a:spcAft>
                <a:spcPts val="0"/>
              </a:spcAft>
              <a:buClr>
                <a:srgbClr val="737373"/>
              </a:buClr>
              <a:buSzPts val="1050"/>
              <a:buFont typeface="Inter"/>
              <a:buNone/>
            </a:pPr>
            <a:r>
              <a:rPr b="0" i="0" lang="en-US" sz="1050" u="none" cap="none" strike="noStrike">
                <a:solidFill>
                  <a:srgbClr val="737373"/>
                </a:solidFill>
                <a:latin typeface="Inter"/>
                <a:ea typeface="Inter"/>
                <a:cs typeface="Inter"/>
                <a:sym typeface="Inter"/>
              </a:rPr>
              <a:t>Vote first. Then the answer.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994" name="Shape 994"/>
        <p:cNvGrpSpPr/>
        <p:nvPr/>
      </p:nvGrpSpPr>
      <p:grpSpPr>
        <a:xfrm>
          <a:off x="0" y="0"/>
          <a:ext cx="0" cy="0"/>
          <a:chOff x="0" y="0"/>
          <a:chExt cx="0" cy="0"/>
        </a:xfrm>
      </p:grpSpPr>
      <p:sp>
        <p:nvSpPr>
          <p:cNvPr id="995" name="Google Shape;995;p28"/>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FILL THE LINE · 1 OF 5</a:t>
            </a:r>
            <a:endParaRPr b="0" i="0" sz="1050" u="none" cap="none" strike="noStrike">
              <a:solidFill>
                <a:schemeClr val="dk1"/>
              </a:solidFill>
              <a:latin typeface="Calibri"/>
              <a:ea typeface="Calibri"/>
              <a:cs typeface="Calibri"/>
              <a:sym typeface="Calibri"/>
            </a:endParaRPr>
          </a:p>
        </p:txBody>
      </p:sp>
      <p:sp>
        <p:nvSpPr>
          <p:cNvPr id="996" name="Google Shape;996;p28"/>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Fill the blank</a:t>
            </a:r>
            <a:endParaRPr b="0" i="0" sz="3000" u="none" cap="none" strike="noStrike">
              <a:solidFill>
                <a:schemeClr val="dk1"/>
              </a:solidFill>
              <a:latin typeface="Calibri"/>
              <a:ea typeface="Calibri"/>
              <a:cs typeface="Calibri"/>
              <a:sym typeface="Calibri"/>
            </a:endParaRPr>
          </a:p>
        </p:txBody>
      </p:sp>
      <p:pic>
        <p:nvPicPr>
          <p:cNvPr descr="/home/claude/work/renderer/brand/wordmark.png" id="997" name="Google Shape;997;p28"/>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998" name="Google Shape;998;p28"/>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26 / 48</a:t>
            </a:r>
            <a:endParaRPr b="0" i="0" sz="900" u="none" cap="none" strike="noStrike">
              <a:solidFill>
                <a:schemeClr val="dk1"/>
              </a:solidFill>
              <a:latin typeface="Calibri"/>
              <a:ea typeface="Calibri"/>
              <a:cs typeface="Calibri"/>
              <a:sym typeface="Calibri"/>
            </a:endParaRPr>
          </a:p>
        </p:txBody>
      </p:sp>
      <p:sp>
        <p:nvSpPr>
          <p:cNvPr id="999" name="Google Shape;999;p28"/>
          <p:cNvSpPr/>
          <p:nvPr/>
        </p:nvSpPr>
        <p:spPr>
          <a:xfrm>
            <a:off x="548640" y="1481328"/>
            <a:ext cx="7406640" cy="2686304"/>
          </a:xfrm>
          <a:prstGeom prst="roundRect">
            <a:avLst>
              <a:gd fmla="val 4085"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0" name="Google Shape;1000;p28"/>
          <p:cNvSpPr txBox="1"/>
          <p:nvPr/>
        </p:nvSpPr>
        <p:spPr>
          <a:xfrm>
            <a:off x="859536" y="1719072"/>
            <a:ext cx="6784848" cy="75336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71717"/>
              </a:buClr>
              <a:buSzPts val="2200"/>
              <a:buFont typeface="Inter"/>
              <a:buNone/>
            </a:pPr>
            <a:r>
              <a:rPr b="1" i="0" lang="en-US" sz="2200" u="none" cap="none" strike="noStrike">
                <a:solidFill>
                  <a:srgbClr val="171717"/>
                </a:solidFill>
                <a:latin typeface="Inter"/>
                <a:ea typeface="Inter"/>
                <a:cs typeface="Inter"/>
                <a:sym typeface="Inter"/>
              </a:rPr>
              <a:t>“Your CPM went up this month, which usually means ___.”</a:t>
            </a:r>
            <a:endParaRPr b="0" i="0" sz="2200" u="none" cap="none" strike="noStrike">
              <a:solidFill>
                <a:schemeClr val="dk1"/>
              </a:solidFill>
              <a:latin typeface="Calibri"/>
              <a:ea typeface="Calibri"/>
              <a:cs typeface="Calibri"/>
              <a:sym typeface="Calibri"/>
            </a:endParaRPr>
          </a:p>
        </p:txBody>
      </p:sp>
      <p:sp>
        <p:nvSpPr>
          <p:cNvPr id="1001" name="Google Shape;1001;p28"/>
          <p:cNvSpPr/>
          <p:nvPr/>
        </p:nvSpPr>
        <p:spPr>
          <a:xfrm>
            <a:off x="548640" y="4350512"/>
            <a:ext cx="7406640" cy="1958848"/>
          </a:xfrm>
          <a:prstGeom prst="roundRect">
            <a:avLst>
              <a:gd fmla="val 5602"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2" name="Google Shape;1002;p28"/>
          <p:cNvSpPr txBox="1"/>
          <p:nvPr/>
        </p:nvSpPr>
        <p:spPr>
          <a:xfrm>
            <a:off x="859536" y="4533392"/>
            <a:ext cx="6784848"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900"/>
              <a:buFont typeface="Roboto Mono"/>
              <a:buNone/>
            </a:pPr>
            <a:r>
              <a:rPr b="0" i="0" lang="en-US" sz="900" u="none" cap="none" strike="noStrike">
                <a:solidFill>
                  <a:srgbClr val="15803D"/>
                </a:solidFill>
                <a:latin typeface="Roboto Mono"/>
                <a:ea typeface="Roboto Mono"/>
                <a:cs typeface="Roboto Mono"/>
                <a:sym typeface="Roboto Mono"/>
              </a:rPr>
              <a:t>WHY</a:t>
            </a:r>
            <a:endParaRPr b="0" i="0" sz="900" u="none" cap="none" strike="noStrike">
              <a:solidFill>
                <a:schemeClr val="dk1"/>
              </a:solidFill>
              <a:latin typeface="Calibri"/>
              <a:ea typeface="Calibri"/>
              <a:cs typeface="Calibri"/>
              <a:sym typeface="Calibri"/>
            </a:endParaRPr>
          </a:p>
        </p:txBody>
      </p:sp>
      <p:sp>
        <p:nvSpPr>
          <p:cNvPr id="1003" name="Google Shape;1003;p28"/>
          <p:cNvSpPr txBox="1"/>
          <p:nvPr/>
        </p:nvSpPr>
        <p:spPr>
          <a:xfrm>
            <a:off x="859536" y="4789424"/>
            <a:ext cx="6784848" cy="84582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1" i="0" lang="en-US" sz="1100" u="none" cap="none" strike="noStrike">
                <a:solidFill>
                  <a:srgbClr val="404040"/>
                </a:solidFill>
                <a:latin typeface="Inter"/>
                <a:ea typeface="Inter"/>
                <a:cs typeface="Inter"/>
                <a:sym typeface="Inter"/>
              </a:rPr>
              <a:t>CPM is the price of attention in an auction.</a:t>
            </a:r>
            <a:r>
              <a:rPr b="0" i="0" lang="en-US" sz="1100" u="none" cap="none" strike="noStrike">
                <a:solidFill>
                  <a:srgbClr val="404040"/>
                </a:solidFill>
                <a:latin typeface="Inter"/>
                <a:ea typeface="Inter"/>
                <a:cs typeface="Inter"/>
                <a:sym typeface="Inter"/>
              </a:rPr>
              <a:t> When it rises, more advertisers are bidding for the same people: Q4, the holidays, a big launch nearby. It says nothing on its own about whether the ads worked (that's CPB and the holdout), Meta has no fee to raise, and a broken pixel changes what gets reported, not what an impression costs.</a:t>
            </a:r>
            <a:endParaRPr b="0" i="0" sz="1100" u="none" cap="none" strike="noStrike">
              <a:solidFill>
                <a:schemeClr val="dk1"/>
              </a:solidFill>
              <a:latin typeface="Calibri"/>
              <a:ea typeface="Calibri"/>
              <a:cs typeface="Calibri"/>
              <a:sym typeface="Calibri"/>
            </a:endParaRPr>
          </a:p>
        </p:txBody>
      </p:sp>
      <p:sp>
        <p:nvSpPr>
          <p:cNvPr id="1004" name="Google Shape;1004;p28"/>
          <p:cNvSpPr txBox="1"/>
          <p:nvPr/>
        </p:nvSpPr>
        <p:spPr>
          <a:xfrm>
            <a:off x="859536" y="5671820"/>
            <a:ext cx="6784848" cy="491236"/>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5803D"/>
              </a:buClr>
              <a:buSzPts val="1100"/>
              <a:buFont typeface="Inter"/>
              <a:buNone/>
            </a:pPr>
            <a:r>
              <a:rPr b="1" i="0" lang="en-US" sz="1100" u="none" cap="none" strike="noStrike">
                <a:solidFill>
                  <a:srgbClr val="15803D"/>
                </a:solidFill>
                <a:latin typeface="Inter"/>
                <a:ea typeface="Inter"/>
                <a:cs typeface="Inter"/>
                <a:sym typeface="Inter"/>
              </a:rPr>
              <a:t>“Your CPM went up this month, which usually means we're competing with more advertisers for the same people.”</a:t>
            </a:r>
            <a:endParaRPr b="0" i="0" sz="1100" u="none" cap="none" strike="noStrike">
              <a:solidFill>
                <a:schemeClr val="dk1"/>
              </a:solidFill>
              <a:latin typeface="Calibri"/>
              <a:ea typeface="Calibri"/>
              <a:cs typeface="Calibri"/>
              <a:sym typeface="Calibri"/>
            </a:endParaRPr>
          </a:p>
        </p:txBody>
      </p:sp>
      <p:sp>
        <p:nvSpPr>
          <p:cNvPr id="1005" name="Google Shape;1005;p28"/>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6" name="Google Shape;1006;p28"/>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edit.png" id="1007" name="Google Shape;1007;p28"/>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1008" name="Google Shape;1008;p28"/>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THE ANSWER</a:t>
            </a:r>
            <a:endParaRPr b="0" i="0" sz="950" u="none" cap="none" strike="noStrike">
              <a:solidFill>
                <a:schemeClr val="dk1"/>
              </a:solidFill>
              <a:latin typeface="Calibri"/>
              <a:ea typeface="Calibri"/>
              <a:cs typeface="Calibri"/>
              <a:sym typeface="Calibri"/>
            </a:endParaRPr>
          </a:p>
        </p:txBody>
      </p:sp>
      <p:sp>
        <p:nvSpPr>
          <p:cNvPr id="1009" name="Google Shape;1009;p28"/>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The answer</a:t>
            </a:r>
            <a:endParaRPr b="0" i="0" sz="1800" u="none" cap="none" strike="noStrike">
              <a:solidFill>
                <a:schemeClr val="dk1"/>
              </a:solidFill>
              <a:latin typeface="Calibri"/>
              <a:ea typeface="Calibri"/>
              <a:cs typeface="Calibri"/>
              <a:sym typeface="Calibri"/>
            </a:endParaRPr>
          </a:p>
        </p:txBody>
      </p:sp>
      <p:sp>
        <p:nvSpPr>
          <p:cNvPr id="1010" name="Google Shape;1010;p28"/>
          <p:cNvSpPr/>
          <p:nvPr/>
        </p:nvSpPr>
        <p:spPr>
          <a:xfrm>
            <a:off x="8549640" y="3200400"/>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1" name="Google Shape;1011;p28"/>
          <p:cNvSpPr/>
          <p:nvPr/>
        </p:nvSpPr>
        <p:spPr>
          <a:xfrm>
            <a:off x="8750808" y="3282696"/>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2" name="Google Shape;1012;p28"/>
          <p:cNvSpPr txBox="1"/>
          <p:nvPr/>
        </p:nvSpPr>
        <p:spPr>
          <a:xfrm>
            <a:off x="8750808" y="3282696"/>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sp>
        <p:nvSpPr>
          <p:cNvPr id="1013" name="Google Shape;1013;p28"/>
          <p:cNvSpPr txBox="1"/>
          <p:nvPr/>
        </p:nvSpPr>
        <p:spPr>
          <a:xfrm>
            <a:off x="9189720" y="3200400"/>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the ads stopped working</a:t>
            </a:r>
            <a:endParaRPr b="0" i="0" sz="1250" u="none" cap="none" strike="noStrike">
              <a:solidFill>
                <a:schemeClr val="dk1"/>
              </a:solidFill>
              <a:latin typeface="Calibri"/>
              <a:ea typeface="Calibri"/>
              <a:cs typeface="Calibri"/>
              <a:sym typeface="Calibri"/>
            </a:endParaRPr>
          </a:p>
        </p:txBody>
      </p:sp>
      <p:sp>
        <p:nvSpPr>
          <p:cNvPr id="1014" name="Google Shape;1014;p28"/>
          <p:cNvSpPr/>
          <p:nvPr/>
        </p:nvSpPr>
        <p:spPr>
          <a:xfrm>
            <a:off x="8549640" y="3785616"/>
            <a:ext cx="2816352" cy="475488"/>
          </a:xfrm>
          <a:prstGeom prst="roundRect">
            <a:avLst>
              <a:gd fmla="val 19231"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check-circle.png" id="1015" name="Google Shape;1015;p28"/>
          <p:cNvPicPr preferRelativeResize="0"/>
          <p:nvPr/>
        </p:nvPicPr>
        <p:blipFill rotWithShape="1">
          <a:blip r:embed="rId5">
            <a:alphaModFix/>
          </a:blip>
          <a:srcRect b="0" l="0" r="0" t="0"/>
          <a:stretch/>
        </p:blipFill>
        <p:spPr>
          <a:xfrm>
            <a:off x="8750808" y="3867912"/>
            <a:ext cx="310896" cy="310896"/>
          </a:xfrm>
          <a:prstGeom prst="rect">
            <a:avLst/>
          </a:prstGeom>
          <a:noFill/>
          <a:ln>
            <a:noFill/>
          </a:ln>
        </p:spPr>
      </p:pic>
      <p:sp>
        <p:nvSpPr>
          <p:cNvPr id="1016" name="Google Shape;1016;p28"/>
          <p:cNvSpPr txBox="1"/>
          <p:nvPr/>
        </p:nvSpPr>
        <p:spPr>
          <a:xfrm>
            <a:off x="9189720" y="3785616"/>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803D"/>
              </a:buClr>
              <a:buSzPts val="1250"/>
              <a:buFont typeface="Inter"/>
              <a:buNone/>
            </a:pPr>
            <a:r>
              <a:rPr b="1" i="0" lang="en-US" sz="1250" u="none" cap="none" strike="noStrike">
                <a:solidFill>
                  <a:srgbClr val="15803D"/>
                </a:solidFill>
                <a:latin typeface="Inter"/>
                <a:ea typeface="Inter"/>
                <a:cs typeface="Inter"/>
                <a:sym typeface="Inter"/>
              </a:rPr>
              <a:t>more advertisers, same people</a:t>
            </a:r>
            <a:endParaRPr b="0" i="0" sz="1250" u="none" cap="none" strike="noStrike">
              <a:solidFill>
                <a:schemeClr val="dk1"/>
              </a:solidFill>
              <a:latin typeface="Calibri"/>
              <a:ea typeface="Calibri"/>
              <a:cs typeface="Calibri"/>
              <a:sym typeface="Calibri"/>
            </a:endParaRPr>
          </a:p>
        </p:txBody>
      </p:sp>
      <p:sp>
        <p:nvSpPr>
          <p:cNvPr id="1017" name="Google Shape;1017;p28"/>
          <p:cNvSpPr/>
          <p:nvPr/>
        </p:nvSpPr>
        <p:spPr>
          <a:xfrm>
            <a:off x="8549640" y="4370832"/>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8" name="Google Shape;1018;p28"/>
          <p:cNvSpPr/>
          <p:nvPr/>
        </p:nvSpPr>
        <p:spPr>
          <a:xfrm>
            <a:off x="8750808" y="4453128"/>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9" name="Google Shape;1019;p28"/>
          <p:cNvSpPr txBox="1"/>
          <p:nvPr/>
        </p:nvSpPr>
        <p:spPr>
          <a:xfrm>
            <a:off x="8750808" y="4453128"/>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sp>
        <p:nvSpPr>
          <p:cNvPr id="1020" name="Google Shape;1020;p28"/>
          <p:cNvSpPr txBox="1"/>
          <p:nvPr/>
        </p:nvSpPr>
        <p:spPr>
          <a:xfrm>
            <a:off x="9189720" y="4370832"/>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Meta raised its fees</a:t>
            </a:r>
            <a:endParaRPr b="0" i="0" sz="1250" u="none" cap="none" strike="noStrike">
              <a:solidFill>
                <a:schemeClr val="dk1"/>
              </a:solidFill>
              <a:latin typeface="Calibri"/>
              <a:ea typeface="Calibri"/>
              <a:cs typeface="Calibri"/>
              <a:sym typeface="Calibri"/>
            </a:endParaRPr>
          </a:p>
        </p:txBody>
      </p:sp>
      <p:sp>
        <p:nvSpPr>
          <p:cNvPr id="1021" name="Google Shape;1021;p28"/>
          <p:cNvSpPr/>
          <p:nvPr/>
        </p:nvSpPr>
        <p:spPr>
          <a:xfrm>
            <a:off x="8549640" y="4956048"/>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2" name="Google Shape;1022;p28"/>
          <p:cNvSpPr/>
          <p:nvPr/>
        </p:nvSpPr>
        <p:spPr>
          <a:xfrm>
            <a:off x="8750808" y="5038344"/>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3" name="Google Shape;1023;p28"/>
          <p:cNvSpPr txBox="1"/>
          <p:nvPr/>
        </p:nvSpPr>
        <p:spPr>
          <a:xfrm>
            <a:off x="8750808" y="5038344"/>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sp>
        <p:nvSpPr>
          <p:cNvPr id="1024" name="Google Shape;1024;p28"/>
          <p:cNvSpPr txBox="1"/>
          <p:nvPr/>
        </p:nvSpPr>
        <p:spPr>
          <a:xfrm>
            <a:off x="9189720" y="4956048"/>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the pixel is broken</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029" name="Shape 1029"/>
        <p:cNvGrpSpPr/>
        <p:nvPr/>
      </p:nvGrpSpPr>
      <p:grpSpPr>
        <a:xfrm>
          <a:off x="0" y="0"/>
          <a:ext cx="0" cy="0"/>
          <a:chOff x="0" y="0"/>
          <a:chExt cx="0" cy="0"/>
        </a:xfrm>
      </p:grpSpPr>
      <p:sp>
        <p:nvSpPr>
          <p:cNvPr id="1030" name="Google Shape;1030;p29"/>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FILL THE LINE · 2 OF 5</a:t>
            </a:r>
            <a:endParaRPr b="0" i="0" sz="1050" u="none" cap="none" strike="noStrike">
              <a:solidFill>
                <a:schemeClr val="dk1"/>
              </a:solidFill>
              <a:latin typeface="Calibri"/>
              <a:ea typeface="Calibri"/>
              <a:cs typeface="Calibri"/>
              <a:sym typeface="Calibri"/>
            </a:endParaRPr>
          </a:p>
        </p:txBody>
      </p:sp>
      <p:sp>
        <p:nvSpPr>
          <p:cNvPr id="1031" name="Google Shape;1031;p29"/>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Fill the blank</a:t>
            </a:r>
            <a:endParaRPr b="0" i="0" sz="3000" u="none" cap="none" strike="noStrike">
              <a:solidFill>
                <a:schemeClr val="dk1"/>
              </a:solidFill>
              <a:latin typeface="Calibri"/>
              <a:ea typeface="Calibri"/>
              <a:cs typeface="Calibri"/>
              <a:sym typeface="Calibri"/>
            </a:endParaRPr>
          </a:p>
        </p:txBody>
      </p:sp>
      <p:pic>
        <p:nvPicPr>
          <p:cNvPr descr="/home/claude/work/renderer/brand/wordmark.png" id="1032" name="Google Shape;1032;p29"/>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033" name="Google Shape;1033;p29"/>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27 / 48</a:t>
            </a:r>
            <a:endParaRPr b="0" i="0" sz="900" u="none" cap="none" strike="noStrike">
              <a:solidFill>
                <a:schemeClr val="dk1"/>
              </a:solidFill>
              <a:latin typeface="Calibri"/>
              <a:ea typeface="Calibri"/>
              <a:cs typeface="Calibri"/>
              <a:sym typeface="Calibri"/>
            </a:endParaRPr>
          </a:p>
        </p:txBody>
      </p:sp>
      <p:sp>
        <p:nvSpPr>
          <p:cNvPr id="1034" name="Google Shape;1034;p29"/>
          <p:cNvSpPr/>
          <p:nvPr/>
        </p:nvSpPr>
        <p:spPr>
          <a:xfrm>
            <a:off x="548640" y="1481328"/>
            <a:ext cx="7406640" cy="4828032"/>
          </a:xfrm>
          <a:prstGeom prst="roundRect">
            <a:avLst>
              <a:gd fmla="val 2273"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5" name="Google Shape;1035;p29"/>
          <p:cNvSpPr txBox="1"/>
          <p:nvPr/>
        </p:nvSpPr>
        <p:spPr>
          <a:xfrm>
            <a:off x="859536" y="1719072"/>
            <a:ext cx="6784848"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004FAA"/>
              </a:buClr>
              <a:buSzPts val="950"/>
              <a:buFont typeface="Roboto Mono"/>
              <a:buNone/>
            </a:pPr>
            <a:r>
              <a:rPr b="0" i="0" lang="en-US" sz="950" u="none" cap="none" strike="noStrike">
                <a:solidFill>
                  <a:srgbClr val="004FAA"/>
                </a:solidFill>
                <a:latin typeface="Roboto Mono"/>
                <a:ea typeface="Roboto Mono"/>
                <a:cs typeface="Roboto Mono"/>
                <a:sym typeface="Roboto Mono"/>
              </a:rPr>
              <a:t>FILL THE LINE · 2 OF 5</a:t>
            </a:r>
            <a:endParaRPr b="0" i="0" sz="950" u="none" cap="none" strike="noStrike">
              <a:solidFill>
                <a:schemeClr val="dk1"/>
              </a:solidFill>
              <a:latin typeface="Calibri"/>
              <a:ea typeface="Calibri"/>
              <a:cs typeface="Calibri"/>
              <a:sym typeface="Calibri"/>
            </a:endParaRPr>
          </a:p>
        </p:txBody>
      </p:sp>
      <p:sp>
        <p:nvSpPr>
          <p:cNvPr id="1036" name="Google Shape;1036;p29"/>
          <p:cNvSpPr txBox="1"/>
          <p:nvPr/>
        </p:nvSpPr>
        <p:spPr>
          <a:xfrm>
            <a:off x="859536" y="2029968"/>
            <a:ext cx="6784848" cy="10083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71717"/>
              </a:buClr>
              <a:buSzPts val="2600"/>
              <a:buFont typeface="Inter"/>
              <a:buNone/>
            </a:pPr>
            <a:r>
              <a:rPr b="1" i="0" lang="en-US" sz="2600" u="none" cap="none" strike="noStrike">
                <a:solidFill>
                  <a:srgbClr val="171717"/>
                </a:solidFill>
                <a:latin typeface="Inter"/>
                <a:ea typeface="Inter"/>
                <a:cs typeface="Inter"/>
                <a:sym typeface="Inter"/>
              </a:rPr>
              <a:t>“We tag every link with a UTM so we can see ___.”</a:t>
            </a:r>
            <a:endParaRPr b="0" i="0" sz="2600" u="none" cap="none" strike="noStrike">
              <a:solidFill>
                <a:schemeClr val="dk1"/>
              </a:solidFill>
              <a:latin typeface="Calibri"/>
              <a:ea typeface="Calibri"/>
              <a:cs typeface="Calibri"/>
              <a:sym typeface="Calibri"/>
            </a:endParaRPr>
          </a:p>
        </p:txBody>
      </p:sp>
      <p:sp>
        <p:nvSpPr>
          <p:cNvPr id="1037" name="Google Shape;1037;p29"/>
          <p:cNvSpPr txBox="1"/>
          <p:nvPr/>
        </p:nvSpPr>
        <p:spPr>
          <a:xfrm>
            <a:off x="859536" y="3166364"/>
            <a:ext cx="6784848" cy="26860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25252"/>
              </a:buClr>
              <a:buSzPts val="1300"/>
              <a:buFont typeface="Inter"/>
              <a:buNone/>
            </a:pPr>
            <a:r>
              <a:rPr b="0" i="0" lang="en-US" sz="1300" u="none" cap="none" strike="noStrike">
                <a:solidFill>
                  <a:srgbClr val="525252"/>
                </a:solidFill>
                <a:latin typeface="Inter"/>
                <a:ea typeface="Inter"/>
                <a:cs typeface="Inter"/>
                <a:sym typeface="Inter"/>
              </a:rPr>
              <a:t>Said to Priya, who asked what the long links in her emails are for.</a:t>
            </a:r>
            <a:endParaRPr b="0" i="0" sz="1300" u="none" cap="none" strike="noStrike">
              <a:solidFill>
                <a:schemeClr val="dk1"/>
              </a:solidFill>
              <a:latin typeface="Calibri"/>
              <a:ea typeface="Calibri"/>
              <a:cs typeface="Calibri"/>
              <a:sym typeface="Calibri"/>
            </a:endParaRPr>
          </a:p>
        </p:txBody>
      </p:sp>
      <p:sp>
        <p:nvSpPr>
          <p:cNvPr id="1038" name="Google Shape;1038;p29"/>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9" name="Google Shape;1039;p29"/>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edit.png" id="1040" name="Google Shape;1040;p29"/>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1041" name="Google Shape;1041;p29"/>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FILL THE LINE · 2 OF 5</a:t>
            </a:r>
            <a:endParaRPr b="0" i="0" sz="950" u="none" cap="none" strike="noStrike">
              <a:solidFill>
                <a:schemeClr val="dk1"/>
              </a:solidFill>
              <a:latin typeface="Calibri"/>
              <a:ea typeface="Calibri"/>
              <a:cs typeface="Calibri"/>
              <a:sym typeface="Calibri"/>
            </a:endParaRPr>
          </a:p>
        </p:txBody>
      </p:sp>
      <p:sp>
        <p:nvSpPr>
          <p:cNvPr id="1042" name="Google Shape;1042;p29"/>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Cast your vote</a:t>
            </a:r>
            <a:endParaRPr b="0" i="0" sz="1800" u="none" cap="none" strike="noStrike">
              <a:solidFill>
                <a:schemeClr val="dk1"/>
              </a:solidFill>
              <a:latin typeface="Calibri"/>
              <a:ea typeface="Calibri"/>
              <a:cs typeface="Calibri"/>
              <a:sym typeface="Calibri"/>
            </a:endParaRPr>
          </a:p>
        </p:txBody>
      </p:sp>
      <p:sp>
        <p:nvSpPr>
          <p:cNvPr id="1043" name="Google Shape;1043;p29"/>
          <p:cNvSpPr/>
          <p:nvPr/>
        </p:nvSpPr>
        <p:spPr>
          <a:xfrm>
            <a:off x="8549640" y="3200400"/>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4" name="Google Shape;1044;p29"/>
          <p:cNvSpPr/>
          <p:nvPr/>
        </p:nvSpPr>
        <p:spPr>
          <a:xfrm>
            <a:off x="8750808" y="3282696"/>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5" name="Google Shape;1045;p29"/>
          <p:cNvSpPr txBox="1"/>
          <p:nvPr/>
        </p:nvSpPr>
        <p:spPr>
          <a:xfrm>
            <a:off x="8750808" y="3282696"/>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sp>
        <p:nvSpPr>
          <p:cNvPr id="1046" name="Google Shape;1046;p29"/>
          <p:cNvSpPr txBox="1"/>
          <p:nvPr/>
        </p:nvSpPr>
        <p:spPr>
          <a:xfrm>
            <a:off x="9189720" y="3200400"/>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1125"/>
              <a:buFont typeface="Inter"/>
              <a:buNone/>
            </a:pPr>
            <a:r>
              <a:rPr b="1" i="0" lang="en-US" sz="1125" u="none" cap="none" strike="noStrike">
                <a:solidFill>
                  <a:srgbClr val="171717"/>
                </a:solidFill>
                <a:latin typeface="Inter"/>
                <a:ea typeface="Inter"/>
                <a:cs typeface="Inter"/>
                <a:sym typeface="Inter"/>
              </a:rPr>
              <a:t>which post or email brought it</a:t>
            </a:r>
            <a:endParaRPr b="0" i="0" sz="1125" u="none" cap="none" strike="noStrike">
              <a:solidFill>
                <a:schemeClr val="dk1"/>
              </a:solidFill>
              <a:latin typeface="Calibri"/>
              <a:ea typeface="Calibri"/>
              <a:cs typeface="Calibri"/>
              <a:sym typeface="Calibri"/>
            </a:endParaRPr>
          </a:p>
        </p:txBody>
      </p:sp>
      <p:sp>
        <p:nvSpPr>
          <p:cNvPr id="1047" name="Google Shape;1047;p29"/>
          <p:cNvSpPr/>
          <p:nvPr/>
        </p:nvSpPr>
        <p:spPr>
          <a:xfrm>
            <a:off x="8549640" y="3785616"/>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8" name="Google Shape;1048;p29"/>
          <p:cNvSpPr/>
          <p:nvPr/>
        </p:nvSpPr>
        <p:spPr>
          <a:xfrm>
            <a:off x="8750808" y="3867912"/>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9" name="Google Shape;1049;p29"/>
          <p:cNvSpPr txBox="1"/>
          <p:nvPr/>
        </p:nvSpPr>
        <p:spPr>
          <a:xfrm>
            <a:off x="8750808" y="3867912"/>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sp>
        <p:nvSpPr>
          <p:cNvPr id="1050" name="Google Shape;1050;p29"/>
          <p:cNvSpPr txBox="1"/>
          <p:nvPr/>
        </p:nvSpPr>
        <p:spPr>
          <a:xfrm>
            <a:off x="9189720" y="3785616"/>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1125"/>
              <a:buFont typeface="Inter"/>
              <a:buNone/>
            </a:pPr>
            <a:r>
              <a:rPr b="1" i="0" lang="en-US" sz="1125" u="none" cap="none" strike="noStrike">
                <a:solidFill>
                  <a:srgbClr val="171717"/>
                </a:solidFill>
                <a:latin typeface="Inter"/>
                <a:ea typeface="Inter"/>
                <a:cs typeface="Inter"/>
                <a:sym typeface="Inter"/>
              </a:rPr>
              <a:t>how many saw the ad</a:t>
            </a:r>
            <a:endParaRPr b="0" i="0" sz="1125" u="none" cap="none" strike="noStrike">
              <a:solidFill>
                <a:schemeClr val="dk1"/>
              </a:solidFill>
              <a:latin typeface="Calibri"/>
              <a:ea typeface="Calibri"/>
              <a:cs typeface="Calibri"/>
              <a:sym typeface="Calibri"/>
            </a:endParaRPr>
          </a:p>
        </p:txBody>
      </p:sp>
      <p:sp>
        <p:nvSpPr>
          <p:cNvPr id="1051" name="Google Shape;1051;p29"/>
          <p:cNvSpPr/>
          <p:nvPr/>
        </p:nvSpPr>
        <p:spPr>
          <a:xfrm>
            <a:off x="8549640" y="4370832"/>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2" name="Google Shape;1052;p29"/>
          <p:cNvSpPr/>
          <p:nvPr/>
        </p:nvSpPr>
        <p:spPr>
          <a:xfrm>
            <a:off x="8750808" y="4453128"/>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3" name="Google Shape;1053;p29"/>
          <p:cNvSpPr txBox="1"/>
          <p:nvPr/>
        </p:nvSpPr>
        <p:spPr>
          <a:xfrm>
            <a:off x="8750808" y="4453128"/>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sp>
        <p:nvSpPr>
          <p:cNvPr id="1054" name="Google Shape;1054;p29"/>
          <p:cNvSpPr txBox="1"/>
          <p:nvPr/>
        </p:nvSpPr>
        <p:spPr>
          <a:xfrm>
            <a:off x="9189720" y="4370832"/>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1125"/>
              <a:buFont typeface="Inter"/>
              <a:buNone/>
            </a:pPr>
            <a:r>
              <a:rPr b="1" i="0" lang="en-US" sz="1125" u="none" cap="none" strike="noStrike">
                <a:solidFill>
                  <a:srgbClr val="171717"/>
                </a:solidFill>
                <a:latin typeface="Inter"/>
                <a:ea typeface="Inter"/>
                <a:cs typeface="Inter"/>
                <a:sym typeface="Inter"/>
              </a:rPr>
              <a:t>if the pixel was blocked</a:t>
            </a:r>
            <a:endParaRPr b="0" i="0" sz="1125" u="none" cap="none" strike="noStrike">
              <a:solidFill>
                <a:schemeClr val="dk1"/>
              </a:solidFill>
              <a:latin typeface="Calibri"/>
              <a:ea typeface="Calibri"/>
              <a:cs typeface="Calibri"/>
              <a:sym typeface="Calibri"/>
            </a:endParaRPr>
          </a:p>
        </p:txBody>
      </p:sp>
      <p:sp>
        <p:nvSpPr>
          <p:cNvPr id="1055" name="Google Shape;1055;p29"/>
          <p:cNvSpPr/>
          <p:nvPr/>
        </p:nvSpPr>
        <p:spPr>
          <a:xfrm>
            <a:off x="8549640" y="4956048"/>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6" name="Google Shape;1056;p29"/>
          <p:cNvSpPr/>
          <p:nvPr/>
        </p:nvSpPr>
        <p:spPr>
          <a:xfrm>
            <a:off x="8750808" y="5038344"/>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7" name="Google Shape;1057;p29"/>
          <p:cNvSpPr txBox="1"/>
          <p:nvPr/>
        </p:nvSpPr>
        <p:spPr>
          <a:xfrm>
            <a:off x="8750808" y="5038344"/>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sp>
        <p:nvSpPr>
          <p:cNvPr id="1058" name="Google Shape;1058;p29"/>
          <p:cNvSpPr txBox="1"/>
          <p:nvPr/>
        </p:nvSpPr>
        <p:spPr>
          <a:xfrm>
            <a:off x="9189720" y="4956048"/>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1125"/>
              <a:buFont typeface="Inter"/>
              <a:buNone/>
            </a:pPr>
            <a:r>
              <a:rPr b="1" i="0" lang="en-US" sz="1125" u="none" cap="none" strike="noStrike">
                <a:solidFill>
                  <a:srgbClr val="171717"/>
                </a:solidFill>
                <a:latin typeface="Inter"/>
                <a:ea typeface="Inter"/>
                <a:cs typeface="Inter"/>
                <a:sym typeface="Inter"/>
              </a:rPr>
              <a:t>what the OTAs charge</a:t>
            </a:r>
            <a:endParaRPr b="0" i="0" sz="1125" u="none" cap="none" strike="noStrike">
              <a:solidFill>
                <a:schemeClr val="dk1"/>
              </a:solidFill>
              <a:latin typeface="Calibri"/>
              <a:ea typeface="Calibri"/>
              <a:cs typeface="Calibri"/>
              <a:sym typeface="Calibri"/>
            </a:endParaRPr>
          </a:p>
        </p:txBody>
      </p:sp>
      <p:sp>
        <p:nvSpPr>
          <p:cNvPr id="1059" name="Google Shape;1059;p29"/>
          <p:cNvSpPr txBox="1"/>
          <p:nvPr/>
        </p:nvSpPr>
        <p:spPr>
          <a:xfrm>
            <a:off x="8549640" y="5522976"/>
            <a:ext cx="2816352" cy="548640"/>
          </a:xfrm>
          <a:prstGeom prst="rect">
            <a:avLst/>
          </a:prstGeom>
          <a:noFill/>
          <a:ln>
            <a:noFill/>
          </a:ln>
        </p:spPr>
        <p:txBody>
          <a:bodyPr anchorCtr="0" anchor="t" bIns="0" lIns="0" spcFirstLastPara="1" rIns="0" wrap="square" tIns="0">
            <a:noAutofit/>
          </a:bodyPr>
          <a:lstStyle/>
          <a:p>
            <a:pPr indent="0" lvl="0" marL="0" marR="0" rtl="0" algn="l">
              <a:lnSpc>
                <a:spcPct val="135047"/>
              </a:lnSpc>
              <a:spcBef>
                <a:spcPts val="0"/>
              </a:spcBef>
              <a:spcAft>
                <a:spcPts val="0"/>
              </a:spcAft>
              <a:buClr>
                <a:srgbClr val="737373"/>
              </a:buClr>
              <a:buSzPts val="1050"/>
              <a:buFont typeface="Inter"/>
              <a:buNone/>
            </a:pPr>
            <a:r>
              <a:rPr b="0" i="0" lang="en-US" sz="1050" u="none" cap="none" strike="noStrike">
                <a:solidFill>
                  <a:srgbClr val="737373"/>
                </a:solidFill>
                <a:latin typeface="Inter"/>
                <a:ea typeface="Inter"/>
                <a:cs typeface="Inter"/>
                <a:sym typeface="Inter"/>
              </a:rPr>
              <a:t>Vote first. Then the answer.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064" name="Shape 1064"/>
        <p:cNvGrpSpPr/>
        <p:nvPr/>
      </p:nvGrpSpPr>
      <p:grpSpPr>
        <a:xfrm>
          <a:off x="0" y="0"/>
          <a:ext cx="0" cy="0"/>
          <a:chOff x="0" y="0"/>
          <a:chExt cx="0" cy="0"/>
        </a:xfrm>
      </p:grpSpPr>
      <p:sp>
        <p:nvSpPr>
          <p:cNvPr id="1065" name="Google Shape;1065;p30"/>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FILL THE LINE · 2 OF 5</a:t>
            </a:r>
            <a:endParaRPr b="0" i="0" sz="1050" u="none" cap="none" strike="noStrike">
              <a:solidFill>
                <a:schemeClr val="dk1"/>
              </a:solidFill>
              <a:latin typeface="Calibri"/>
              <a:ea typeface="Calibri"/>
              <a:cs typeface="Calibri"/>
              <a:sym typeface="Calibri"/>
            </a:endParaRPr>
          </a:p>
        </p:txBody>
      </p:sp>
      <p:sp>
        <p:nvSpPr>
          <p:cNvPr id="1066" name="Google Shape;1066;p30"/>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Fill the blank</a:t>
            </a:r>
            <a:endParaRPr b="0" i="0" sz="3000" u="none" cap="none" strike="noStrike">
              <a:solidFill>
                <a:schemeClr val="dk1"/>
              </a:solidFill>
              <a:latin typeface="Calibri"/>
              <a:ea typeface="Calibri"/>
              <a:cs typeface="Calibri"/>
              <a:sym typeface="Calibri"/>
            </a:endParaRPr>
          </a:p>
        </p:txBody>
      </p:sp>
      <p:pic>
        <p:nvPicPr>
          <p:cNvPr descr="/home/claude/work/renderer/brand/wordmark.png" id="1067" name="Google Shape;1067;p30"/>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068" name="Google Shape;1068;p30"/>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28 / 48</a:t>
            </a:r>
            <a:endParaRPr b="0" i="0" sz="900" u="none" cap="none" strike="noStrike">
              <a:solidFill>
                <a:schemeClr val="dk1"/>
              </a:solidFill>
              <a:latin typeface="Calibri"/>
              <a:ea typeface="Calibri"/>
              <a:cs typeface="Calibri"/>
              <a:sym typeface="Calibri"/>
            </a:endParaRPr>
          </a:p>
        </p:txBody>
      </p:sp>
      <p:sp>
        <p:nvSpPr>
          <p:cNvPr id="1069" name="Google Shape;1069;p30"/>
          <p:cNvSpPr/>
          <p:nvPr/>
        </p:nvSpPr>
        <p:spPr>
          <a:xfrm>
            <a:off x="548640" y="1481328"/>
            <a:ext cx="7406640" cy="2874899"/>
          </a:xfrm>
          <a:prstGeom prst="roundRect">
            <a:avLst>
              <a:gd fmla="val 3817"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0" name="Google Shape;1070;p30"/>
          <p:cNvSpPr txBox="1"/>
          <p:nvPr/>
        </p:nvSpPr>
        <p:spPr>
          <a:xfrm>
            <a:off x="859536" y="1719072"/>
            <a:ext cx="6784848" cy="75336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71717"/>
              </a:buClr>
              <a:buSzPts val="2200"/>
              <a:buFont typeface="Inter"/>
              <a:buNone/>
            </a:pPr>
            <a:r>
              <a:rPr b="1" i="0" lang="en-US" sz="2200" u="none" cap="none" strike="noStrike">
                <a:solidFill>
                  <a:srgbClr val="171717"/>
                </a:solidFill>
                <a:latin typeface="Inter"/>
                <a:ea typeface="Inter"/>
                <a:cs typeface="Inter"/>
                <a:sym typeface="Inter"/>
              </a:rPr>
              <a:t>“We tag every link with a UTM so we can see ___.”</a:t>
            </a:r>
            <a:endParaRPr b="0" i="0" sz="2200" u="none" cap="none" strike="noStrike">
              <a:solidFill>
                <a:schemeClr val="dk1"/>
              </a:solidFill>
              <a:latin typeface="Calibri"/>
              <a:ea typeface="Calibri"/>
              <a:cs typeface="Calibri"/>
              <a:sym typeface="Calibri"/>
            </a:endParaRPr>
          </a:p>
        </p:txBody>
      </p:sp>
      <p:sp>
        <p:nvSpPr>
          <p:cNvPr id="1071" name="Google Shape;1071;p30"/>
          <p:cNvSpPr/>
          <p:nvPr/>
        </p:nvSpPr>
        <p:spPr>
          <a:xfrm>
            <a:off x="548640" y="4539107"/>
            <a:ext cx="7406640" cy="1770253"/>
          </a:xfrm>
          <a:prstGeom prst="roundRect">
            <a:avLst>
              <a:gd fmla="val 6198"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2" name="Google Shape;1072;p30"/>
          <p:cNvSpPr txBox="1"/>
          <p:nvPr/>
        </p:nvSpPr>
        <p:spPr>
          <a:xfrm>
            <a:off x="859536" y="4721987"/>
            <a:ext cx="6784848"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900"/>
              <a:buFont typeface="Roboto Mono"/>
              <a:buNone/>
            </a:pPr>
            <a:r>
              <a:rPr b="0" i="0" lang="en-US" sz="900" u="none" cap="none" strike="noStrike">
                <a:solidFill>
                  <a:srgbClr val="15803D"/>
                </a:solidFill>
                <a:latin typeface="Roboto Mono"/>
                <a:ea typeface="Roboto Mono"/>
                <a:cs typeface="Roboto Mono"/>
                <a:sym typeface="Roboto Mono"/>
              </a:rPr>
              <a:t>WHY</a:t>
            </a:r>
            <a:endParaRPr b="0" i="0" sz="900" u="none" cap="none" strike="noStrike">
              <a:solidFill>
                <a:schemeClr val="dk1"/>
              </a:solidFill>
              <a:latin typeface="Calibri"/>
              <a:ea typeface="Calibri"/>
              <a:cs typeface="Calibri"/>
              <a:sym typeface="Calibri"/>
            </a:endParaRPr>
          </a:p>
        </p:txBody>
      </p:sp>
      <p:sp>
        <p:nvSpPr>
          <p:cNvPr id="1073" name="Google Shape;1073;p30"/>
          <p:cNvSpPr txBox="1"/>
          <p:nvPr/>
        </p:nvSpPr>
        <p:spPr>
          <a:xfrm>
            <a:off x="859536" y="4978019"/>
            <a:ext cx="6784848" cy="65722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1" i="0" lang="en-US" sz="1100" u="none" cap="none" strike="noStrike">
                <a:solidFill>
                  <a:srgbClr val="404040"/>
                </a:solidFill>
                <a:latin typeface="Inter"/>
                <a:ea typeface="Inter"/>
                <a:cs typeface="Inter"/>
                <a:sym typeface="Inter"/>
              </a:rPr>
              <a:t>A UTM tags the link, so the booking engine can say where the click came from.</a:t>
            </a:r>
            <a:r>
              <a:rPr b="0" i="0" lang="en-US" sz="1100" u="none" cap="none" strike="noStrike">
                <a:solidFill>
                  <a:srgbClr val="404040"/>
                </a:solidFill>
                <a:latin typeface="Inter"/>
                <a:ea typeface="Inter"/>
                <a:cs typeface="Inter"/>
                <a:sym typeface="Inter"/>
              </a:rPr>
              <a:t> That's the source of each booking: this post, that email. Impressions are Meta's count, not the link's; a blocked pixel is what CAPI is for; the OTAs' prices are rate shopping.</a:t>
            </a:r>
            <a:endParaRPr b="0" i="0" sz="1100" u="none" cap="none" strike="noStrike">
              <a:solidFill>
                <a:schemeClr val="dk1"/>
              </a:solidFill>
              <a:latin typeface="Calibri"/>
              <a:ea typeface="Calibri"/>
              <a:cs typeface="Calibri"/>
              <a:sym typeface="Calibri"/>
            </a:endParaRPr>
          </a:p>
        </p:txBody>
      </p:sp>
      <p:sp>
        <p:nvSpPr>
          <p:cNvPr id="1074" name="Google Shape;1074;p30"/>
          <p:cNvSpPr txBox="1"/>
          <p:nvPr/>
        </p:nvSpPr>
        <p:spPr>
          <a:xfrm>
            <a:off x="859536" y="5671820"/>
            <a:ext cx="6784848" cy="491236"/>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5803D"/>
              </a:buClr>
              <a:buSzPts val="1100"/>
              <a:buFont typeface="Inter"/>
              <a:buNone/>
            </a:pPr>
            <a:r>
              <a:rPr b="1" i="0" lang="en-US" sz="1100" u="none" cap="none" strike="noStrike">
                <a:solidFill>
                  <a:srgbClr val="15803D"/>
                </a:solidFill>
                <a:latin typeface="Inter"/>
                <a:ea typeface="Inter"/>
                <a:cs typeface="Inter"/>
                <a:sym typeface="Inter"/>
              </a:rPr>
              <a:t>“We tag every link with a UTM so we can see exactly which post or email brought each booking.”</a:t>
            </a:r>
            <a:endParaRPr b="0" i="0" sz="1100" u="none" cap="none" strike="noStrike">
              <a:solidFill>
                <a:schemeClr val="dk1"/>
              </a:solidFill>
              <a:latin typeface="Calibri"/>
              <a:ea typeface="Calibri"/>
              <a:cs typeface="Calibri"/>
              <a:sym typeface="Calibri"/>
            </a:endParaRPr>
          </a:p>
        </p:txBody>
      </p:sp>
      <p:sp>
        <p:nvSpPr>
          <p:cNvPr id="1075" name="Google Shape;1075;p30"/>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6" name="Google Shape;1076;p30"/>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edit.png" id="1077" name="Google Shape;1077;p30"/>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1078" name="Google Shape;1078;p30"/>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THE ANSWER</a:t>
            </a:r>
            <a:endParaRPr b="0" i="0" sz="950" u="none" cap="none" strike="noStrike">
              <a:solidFill>
                <a:schemeClr val="dk1"/>
              </a:solidFill>
              <a:latin typeface="Calibri"/>
              <a:ea typeface="Calibri"/>
              <a:cs typeface="Calibri"/>
              <a:sym typeface="Calibri"/>
            </a:endParaRPr>
          </a:p>
        </p:txBody>
      </p:sp>
      <p:sp>
        <p:nvSpPr>
          <p:cNvPr id="1079" name="Google Shape;1079;p30"/>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The answer</a:t>
            </a:r>
            <a:endParaRPr b="0" i="0" sz="1800" u="none" cap="none" strike="noStrike">
              <a:solidFill>
                <a:schemeClr val="dk1"/>
              </a:solidFill>
              <a:latin typeface="Calibri"/>
              <a:ea typeface="Calibri"/>
              <a:cs typeface="Calibri"/>
              <a:sym typeface="Calibri"/>
            </a:endParaRPr>
          </a:p>
        </p:txBody>
      </p:sp>
      <p:sp>
        <p:nvSpPr>
          <p:cNvPr id="1080" name="Google Shape;1080;p30"/>
          <p:cNvSpPr/>
          <p:nvPr/>
        </p:nvSpPr>
        <p:spPr>
          <a:xfrm>
            <a:off x="8549640" y="3200400"/>
            <a:ext cx="2816352" cy="475488"/>
          </a:xfrm>
          <a:prstGeom prst="roundRect">
            <a:avLst>
              <a:gd fmla="val 19231"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check-circle.png" id="1081" name="Google Shape;1081;p30"/>
          <p:cNvPicPr preferRelativeResize="0"/>
          <p:nvPr/>
        </p:nvPicPr>
        <p:blipFill rotWithShape="1">
          <a:blip r:embed="rId5">
            <a:alphaModFix/>
          </a:blip>
          <a:srcRect b="0" l="0" r="0" t="0"/>
          <a:stretch/>
        </p:blipFill>
        <p:spPr>
          <a:xfrm>
            <a:off x="8750808" y="3282696"/>
            <a:ext cx="310896" cy="310896"/>
          </a:xfrm>
          <a:prstGeom prst="rect">
            <a:avLst/>
          </a:prstGeom>
          <a:noFill/>
          <a:ln>
            <a:noFill/>
          </a:ln>
        </p:spPr>
      </p:pic>
      <p:sp>
        <p:nvSpPr>
          <p:cNvPr id="1082" name="Google Shape;1082;p30"/>
          <p:cNvSpPr txBox="1"/>
          <p:nvPr/>
        </p:nvSpPr>
        <p:spPr>
          <a:xfrm>
            <a:off x="9189720" y="3200400"/>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803D"/>
              </a:buClr>
              <a:buSzPts val="1250"/>
              <a:buFont typeface="Inter"/>
              <a:buNone/>
            </a:pPr>
            <a:r>
              <a:rPr b="1" i="0" lang="en-US" sz="1250" u="none" cap="none" strike="noStrike">
                <a:solidFill>
                  <a:srgbClr val="15803D"/>
                </a:solidFill>
                <a:latin typeface="Inter"/>
                <a:ea typeface="Inter"/>
                <a:cs typeface="Inter"/>
                <a:sym typeface="Inter"/>
              </a:rPr>
              <a:t>which post or email brought it</a:t>
            </a:r>
            <a:endParaRPr b="0" i="0" sz="1250" u="none" cap="none" strike="noStrike">
              <a:solidFill>
                <a:schemeClr val="dk1"/>
              </a:solidFill>
              <a:latin typeface="Calibri"/>
              <a:ea typeface="Calibri"/>
              <a:cs typeface="Calibri"/>
              <a:sym typeface="Calibri"/>
            </a:endParaRPr>
          </a:p>
        </p:txBody>
      </p:sp>
      <p:sp>
        <p:nvSpPr>
          <p:cNvPr id="1083" name="Google Shape;1083;p30"/>
          <p:cNvSpPr/>
          <p:nvPr/>
        </p:nvSpPr>
        <p:spPr>
          <a:xfrm>
            <a:off x="8549640" y="3785616"/>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4" name="Google Shape;1084;p30"/>
          <p:cNvSpPr/>
          <p:nvPr/>
        </p:nvSpPr>
        <p:spPr>
          <a:xfrm>
            <a:off x="8750808" y="3867912"/>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5" name="Google Shape;1085;p30"/>
          <p:cNvSpPr txBox="1"/>
          <p:nvPr/>
        </p:nvSpPr>
        <p:spPr>
          <a:xfrm>
            <a:off x="8750808" y="3867912"/>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sp>
        <p:nvSpPr>
          <p:cNvPr id="1086" name="Google Shape;1086;p30"/>
          <p:cNvSpPr txBox="1"/>
          <p:nvPr/>
        </p:nvSpPr>
        <p:spPr>
          <a:xfrm>
            <a:off x="9189720" y="3785616"/>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how many saw the ad</a:t>
            </a:r>
            <a:endParaRPr b="0" i="0" sz="1250" u="none" cap="none" strike="noStrike">
              <a:solidFill>
                <a:schemeClr val="dk1"/>
              </a:solidFill>
              <a:latin typeface="Calibri"/>
              <a:ea typeface="Calibri"/>
              <a:cs typeface="Calibri"/>
              <a:sym typeface="Calibri"/>
            </a:endParaRPr>
          </a:p>
        </p:txBody>
      </p:sp>
      <p:sp>
        <p:nvSpPr>
          <p:cNvPr id="1087" name="Google Shape;1087;p30"/>
          <p:cNvSpPr/>
          <p:nvPr/>
        </p:nvSpPr>
        <p:spPr>
          <a:xfrm>
            <a:off x="8549640" y="4370832"/>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8" name="Google Shape;1088;p30"/>
          <p:cNvSpPr/>
          <p:nvPr/>
        </p:nvSpPr>
        <p:spPr>
          <a:xfrm>
            <a:off x="8750808" y="4453128"/>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9" name="Google Shape;1089;p30"/>
          <p:cNvSpPr txBox="1"/>
          <p:nvPr/>
        </p:nvSpPr>
        <p:spPr>
          <a:xfrm>
            <a:off x="8750808" y="4453128"/>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sp>
        <p:nvSpPr>
          <p:cNvPr id="1090" name="Google Shape;1090;p30"/>
          <p:cNvSpPr txBox="1"/>
          <p:nvPr/>
        </p:nvSpPr>
        <p:spPr>
          <a:xfrm>
            <a:off x="9189720" y="4370832"/>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if the pixel was blocked</a:t>
            </a:r>
            <a:endParaRPr b="0" i="0" sz="1250" u="none" cap="none" strike="noStrike">
              <a:solidFill>
                <a:schemeClr val="dk1"/>
              </a:solidFill>
              <a:latin typeface="Calibri"/>
              <a:ea typeface="Calibri"/>
              <a:cs typeface="Calibri"/>
              <a:sym typeface="Calibri"/>
            </a:endParaRPr>
          </a:p>
        </p:txBody>
      </p:sp>
      <p:sp>
        <p:nvSpPr>
          <p:cNvPr id="1091" name="Google Shape;1091;p30"/>
          <p:cNvSpPr/>
          <p:nvPr/>
        </p:nvSpPr>
        <p:spPr>
          <a:xfrm>
            <a:off x="8549640" y="4956048"/>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2" name="Google Shape;1092;p30"/>
          <p:cNvSpPr/>
          <p:nvPr/>
        </p:nvSpPr>
        <p:spPr>
          <a:xfrm>
            <a:off x="8750808" y="5038344"/>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3" name="Google Shape;1093;p30"/>
          <p:cNvSpPr txBox="1"/>
          <p:nvPr/>
        </p:nvSpPr>
        <p:spPr>
          <a:xfrm>
            <a:off x="8750808" y="5038344"/>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sp>
        <p:nvSpPr>
          <p:cNvPr id="1094" name="Google Shape;1094;p30"/>
          <p:cNvSpPr txBox="1"/>
          <p:nvPr/>
        </p:nvSpPr>
        <p:spPr>
          <a:xfrm>
            <a:off x="9189720" y="4956048"/>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what the OTAs charge</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099" name="Shape 1099"/>
        <p:cNvGrpSpPr/>
        <p:nvPr/>
      </p:nvGrpSpPr>
      <p:grpSpPr>
        <a:xfrm>
          <a:off x="0" y="0"/>
          <a:ext cx="0" cy="0"/>
          <a:chOff x="0" y="0"/>
          <a:chExt cx="0" cy="0"/>
        </a:xfrm>
      </p:grpSpPr>
      <p:sp>
        <p:nvSpPr>
          <p:cNvPr id="1100" name="Google Shape;1100;p31"/>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FILL THE LINE · 3 OF 5</a:t>
            </a:r>
            <a:endParaRPr b="0" i="0" sz="1050" u="none" cap="none" strike="noStrike">
              <a:solidFill>
                <a:schemeClr val="dk1"/>
              </a:solidFill>
              <a:latin typeface="Calibri"/>
              <a:ea typeface="Calibri"/>
              <a:cs typeface="Calibri"/>
              <a:sym typeface="Calibri"/>
            </a:endParaRPr>
          </a:p>
        </p:txBody>
      </p:sp>
      <p:sp>
        <p:nvSpPr>
          <p:cNvPr id="1101" name="Google Shape;1101;p31"/>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Fill the blank</a:t>
            </a:r>
            <a:endParaRPr b="0" i="0" sz="3000" u="none" cap="none" strike="noStrike">
              <a:solidFill>
                <a:schemeClr val="dk1"/>
              </a:solidFill>
              <a:latin typeface="Calibri"/>
              <a:ea typeface="Calibri"/>
              <a:cs typeface="Calibri"/>
              <a:sym typeface="Calibri"/>
            </a:endParaRPr>
          </a:p>
        </p:txBody>
      </p:sp>
      <p:pic>
        <p:nvPicPr>
          <p:cNvPr descr="/home/claude/work/renderer/brand/wordmark.png" id="1102" name="Google Shape;1102;p31"/>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103" name="Google Shape;1103;p31"/>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29 / 48</a:t>
            </a:r>
            <a:endParaRPr b="0" i="0" sz="900" u="none" cap="none" strike="noStrike">
              <a:solidFill>
                <a:schemeClr val="dk1"/>
              </a:solidFill>
              <a:latin typeface="Calibri"/>
              <a:ea typeface="Calibri"/>
              <a:cs typeface="Calibri"/>
              <a:sym typeface="Calibri"/>
            </a:endParaRPr>
          </a:p>
        </p:txBody>
      </p:sp>
      <p:sp>
        <p:nvSpPr>
          <p:cNvPr id="1104" name="Google Shape;1104;p31"/>
          <p:cNvSpPr/>
          <p:nvPr/>
        </p:nvSpPr>
        <p:spPr>
          <a:xfrm>
            <a:off x="548640" y="1481328"/>
            <a:ext cx="7406640" cy="4828032"/>
          </a:xfrm>
          <a:prstGeom prst="roundRect">
            <a:avLst>
              <a:gd fmla="val 2273"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5" name="Google Shape;1105;p31"/>
          <p:cNvSpPr txBox="1"/>
          <p:nvPr/>
        </p:nvSpPr>
        <p:spPr>
          <a:xfrm>
            <a:off x="859536" y="1719072"/>
            <a:ext cx="6784848"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004FAA"/>
              </a:buClr>
              <a:buSzPts val="950"/>
              <a:buFont typeface="Roboto Mono"/>
              <a:buNone/>
            </a:pPr>
            <a:r>
              <a:rPr b="0" i="0" lang="en-US" sz="950" u="none" cap="none" strike="noStrike">
                <a:solidFill>
                  <a:srgbClr val="004FAA"/>
                </a:solidFill>
                <a:latin typeface="Roboto Mono"/>
                <a:ea typeface="Roboto Mono"/>
                <a:cs typeface="Roboto Mono"/>
                <a:sym typeface="Roboto Mono"/>
              </a:rPr>
              <a:t>FILL THE LINE · 3 OF 5</a:t>
            </a:r>
            <a:endParaRPr b="0" i="0" sz="950" u="none" cap="none" strike="noStrike">
              <a:solidFill>
                <a:schemeClr val="dk1"/>
              </a:solidFill>
              <a:latin typeface="Calibri"/>
              <a:ea typeface="Calibri"/>
              <a:cs typeface="Calibri"/>
              <a:sym typeface="Calibri"/>
            </a:endParaRPr>
          </a:p>
        </p:txBody>
      </p:sp>
      <p:sp>
        <p:nvSpPr>
          <p:cNvPr id="1106" name="Google Shape;1106;p31"/>
          <p:cNvSpPr txBox="1"/>
          <p:nvPr/>
        </p:nvSpPr>
        <p:spPr>
          <a:xfrm>
            <a:off x="859536" y="2029968"/>
            <a:ext cx="6784848" cy="10083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71717"/>
              </a:buClr>
              <a:buSzPts val="2600"/>
              <a:buFont typeface="Inter"/>
              <a:buNone/>
            </a:pPr>
            <a:r>
              <a:rPr b="1" i="0" lang="en-US" sz="2600" u="none" cap="none" strike="noStrike">
                <a:solidFill>
                  <a:srgbClr val="171717"/>
                </a:solidFill>
                <a:latin typeface="Inter"/>
                <a:ea typeface="Inter"/>
                <a:cs typeface="Inter"/>
                <a:sym typeface="Inter"/>
              </a:rPr>
              <a:t>“With CAPI connected, bookings still get reported even when ___.”</a:t>
            </a:r>
            <a:endParaRPr b="0" i="0" sz="2600" u="none" cap="none" strike="noStrike">
              <a:solidFill>
                <a:schemeClr val="dk1"/>
              </a:solidFill>
              <a:latin typeface="Calibri"/>
              <a:ea typeface="Calibri"/>
              <a:cs typeface="Calibri"/>
              <a:sym typeface="Calibri"/>
            </a:endParaRPr>
          </a:p>
        </p:txBody>
      </p:sp>
      <p:sp>
        <p:nvSpPr>
          <p:cNvPr id="1107" name="Google Shape;1107;p31"/>
          <p:cNvSpPr txBox="1"/>
          <p:nvPr/>
        </p:nvSpPr>
        <p:spPr>
          <a:xfrm>
            <a:off x="859536" y="3166364"/>
            <a:ext cx="6784848" cy="26860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25252"/>
              </a:buClr>
              <a:buSzPts val="1300"/>
              <a:buFont typeface="Inter"/>
              <a:buNone/>
            </a:pPr>
            <a:r>
              <a:rPr b="0" i="0" lang="en-US" sz="1300" u="none" cap="none" strike="noStrike">
                <a:solidFill>
                  <a:srgbClr val="525252"/>
                </a:solidFill>
                <a:latin typeface="Inter"/>
                <a:ea typeface="Inter"/>
                <a:cs typeface="Inter"/>
                <a:sym typeface="Inter"/>
              </a:rPr>
              <a:t>Said to Ines, whose developer has just set it up.</a:t>
            </a:r>
            <a:endParaRPr b="0" i="0" sz="1300" u="none" cap="none" strike="noStrike">
              <a:solidFill>
                <a:schemeClr val="dk1"/>
              </a:solidFill>
              <a:latin typeface="Calibri"/>
              <a:ea typeface="Calibri"/>
              <a:cs typeface="Calibri"/>
              <a:sym typeface="Calibri"/>
            </a:endParaRPr>
          </a:p>
        </p:txBody>
      </p:sp>
      <p:sp>
        <p:nvSpPr>
          <p:cNvPr id="1108" name="Google Shape;1108;p31"/>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9" name="Google Shape;1109;p31"/>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edit.png" id="1110" name="Google Shape;1110;p31"/>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1111" name="Google Shape;1111;p31"/>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FILL THE LINE · 3 OF 5</a:t>
            </a:r>
            <a:endParaRPr b="0" i="0" sz="950" u="none" cap="none" strike="noStrike">
              <a:solidFill>
                <a:schemeClr val="dk1"/>
              </a:solidFill>
              <a:latin typeface="Calibri"/>
              <a:ea typeface="Calibri"/>
              <a:cs typeface="Calibri"/>
              <a:sym typeface="Calibri"/>
            </a:endParaRPr>
          </a:p>
        </p:txBody>
      </p:sp>
      <p:sp>
        <p:nvSpPr>
          <p:cNvPr id="1112" name="Google Shape;1112;p31"/>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Cast your vote</a:t>
            </a:r>
            <a:endParaRPr b="0" i="0" sz="1800" u="none" cap="none" strike="noStrike">
              <a:solidFill>
                <a:schemeClr val="dk1"/>
              </a:solidFill>
              <a:latin typeface="Calibri"/>
              <a:ea typeface="Calibri"/>
              <a:cs typeface="Calibri"/>
              <a:sym typeface="Calibri"/>
            </a:endParaRPr>
          </a:p>
        </p:txBody>
      </p:sp>
      <p:sp>
        <p:nvSpPr>
          <p:cNvPr id="1113" name="Google Shape;1113;p31"/>
          <p:cNvSpPr/>
          <p:nvPr/>
        </p:nvSpPr>
        <p:spPr>
          <a:xfrm>
            <a:off x="8549640" y="3200400"/>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4" name="Google Shape;1114;p31"/>
          <p:cNvSpPr/>
          <p:nvPr/>
        </p:nvSpPr>
        <p:spPr>
          <a:xfrm>
            <a:off x="8750808" y="3282696"/>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5" name="Google Shape;1115;p31"/>
          <p:cNvSpPr txBox="1"/>
          <p:nvPr/>
        </p:nvSpPr>
        <p:spPr>
          <a:xfrm>
            <a:off x="8750808" y="3282696"/>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sp>
        <p:nvSpPr>
          <p:cNvPr id="1116" name="Google Shape;1116;p31"/>
          <p:cNvSpPr txBox="1"/>
          <p:nvPr/>
        </p:nvSpPr>
        <p:spPr>
          <a:xfrm>
            <a:off x="9189720" y="3200400"/>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1125"/>
              <a:buFont typeface="Inter"/>
              <a:buNone/>
            </a:pPr>
            <a:r>
              <a:rPr b="1" i="0" lang="en-US" sz="1125" u="none" cap="none" strike="noStrike">
                <a:solidFill>
                  <a:srgbClr val="171717"/>
                </a:solidFill>
                <a:latin typeface="Inter"/>
                <a:ea typeface="Inter"/>
                <a:cs typeface="Inter"/>
                <a:sym typeface="Inter"/>
              </a:rPr>
              <a:t>the owner forgets to tell us</a:t>
            </a:r>
            <a:endParaRPr b="0" i="0" sz="1125" u="none" cap="none" strike="noStrike">
              <a:solidFill>
                <a:schemeClr val="dk1"/>
              </a:solidFill>
              <a:latin typeface="Calibri"/>
              <a:ea typeface="Calibri"/>
              <a:cs typeface="Calibri"/>
              <a:sym typeface="Calibri"/>
            </a:endParaRPr>
          </a:p>
        </p:txBody>
      </p:sp>
      <p:sp>
        <p:nvSpPr>
          <p:cNvPr id="1117" name="Google Shape;1117;p31"/>
          <p:cNvSpPr/>
          <p:nvPr/>
        </p:nvSpPr>
        <p:spPr>
          <a:xfrm>
            <a:off x="8549640" y="3785616"/>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8" name="Google Shape;1118;p31"/>
          <p:cNvSpPr/>
          <p:nvPr/>
        </p:nvSpPr>
        <p:spPr>
          <a:xfrm>
            <a:off x="8750808" y="3867912"/>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9" name="Google Shape;1119;p31"/>
          <p:cNvSpPr txBox="1"/>
          <p:nvPr/>
        </p:nvSpPr>
        <p:spPr>
          <a:xfrm>
            <a:off x="8750808" y="3867912"/>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sp>
        <p:nvSpPr>
          <p:cNvPr id="1120" name="Google Shape;1120;p31"/>
          <p:cNvSpPr txBox="1"/>
          <p:nvPr/>
        </p:nvSpPr>
        <p:spPr>
          <a:xfrm>
            <a:off x="9189720" y="3785616"/>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1125"/>
              <a:buFont typeface="Inter"/>
              <a:buNone/>
            </a:pPr>
            <a:r>
              <a:rPr b="1" i="0" lang="en-US" sz="1125" u="none" cap="none" strike="noStrike">
                <a:solidFill>
                  <a:srgbClr val="171717"/>
                </a:solidFill>
                <a:latin typeface="Inter"/>
                <a:ea typeface="Inter"/>
                <a:cs typeface="Inter"/>
                <a:sym typeface="Inter"/>
              </a:rPr>
              <a:t>the booking engine is down</a:t>
            </a:r>
            <a:endParaRPr b="0" i="0" sz="1125" u="none" cap="none" strike="noStrike">
              <a:solidFill>
                <a:schemeClr val="dk1"/>
              </a:solidFill>
              <a:latin typeface="Calibri"/>
              <a:ea typeface="Calibri"/>
              <a:cs typeface="Calibri"/>
              <a:sym typeface="Calibri"/>
            </a:endParaRPr>
          </a:p>
        </p:txBody>
      </p:sp>
      <p:sp>
        <p:nvSpPr>
          <p:cNvPr id="1121" name="Google Shape;1121;p31"/>
          <p:cNvSpPr/>
          <p:nvPr/>
        </p:nvSpPr>
        <p:spPr>
          <a:xfrm>
            <a:off x="8549640" y="4370832"/>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2" name="Google Shape;1122;p31"/>
          <p:cNvSpPr/>
          <p:nvPr/>
        </p:nvSpPr>
        <p:spPr>
          <a:xfrm>
            <a:off x="8750808" y="4453128"/>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3" name="Google Shape;1123;p31"/>
          <p:cNvSpPr txBox="1"/>
          <p:nvPr/>
        </p:nvSpPr>
        <p:spPr>
          <a:xfrm>
            <a:off x="8750808" y="4453128"/>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sp>
        <p:nvSpPr>
          <p:cNvPr id="1124" name="Google Shape;1124;p31"/>
          <p:cNvSpPr txBox="1"/>
          <p:nvPr/>
        </p:nvSpPr>
        <p:spPr>
          <a:xfrm>
            <a:off x="9189720" y="4370832"/>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1125"/>
              <a:buFont typeface="Inter"/>
              <a:buNone/>
            </a:pPr>
            <a:r>
              <a:rPr b="1" i="0" lang="en-US" sz="1125" u="none" cap="none" strike="noStrike">
                <a:solidFill>
                  <a:srgbClr val="171717"/>
                </a:solidFill>
                <a:latin typeface="Inter"/>
                <a:ea typeface="Inter"/>
                <a:cs typeface="Inter"/>
                <a:sym typeface="Inter"/>
              </a:rPr>
              <a:t>the browser blocks the pixel</a:t>
            </a:r>
            <a:endParaRPr b="0" i="0" sz="1125" u="none" cap="none" strike="noStrike">
              <a:solidFill>
                <a:schemeClr val="dk1"/>
              </a:solidFill>
              <a:latin typeface="Calibri"/>
              <a:ea typeface="Calibri"/>
              <a:cs typeface="Calibri"/>
              <a:sym typeface="Calibri"/>
            </a:endParaRPr>
          </a:p>
        </p:txBody>
      </p:sp>
      <p:sp>
        <p:nvSpPr>
          <p:cNvPr id="1125" name="Google Shape;1125;p31"/>
          <p:cNvSpPr/>
          <p:nvPr/>
        </p:nvSpPr>
        <p:spPr>
          <a:xfrm>
            <a:off x="8549640" y="4956048"/>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6" name="Google Shape;1126;p31"/>
          <p:cNvSpPr/>
          <p:nvPr/>
        </p:nvSpPr>
        <p:spPr>
          <a:xfrm>
            <a:off x="8750808" y="5038344"/>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7" name="Google Shape;1127;p31"/>
          <p:cNvSpPr txBox="1"/>
          <p:nvPr/>
        </p:nvSpPr>
        <p:spPr>
          <a:xfrm>
            <a:off x="8750808" y="5038344"/>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sp>
        <p:nvSpPr>
          <p:cNvPr id="1128" name="Google Shape;1128;p31"/>
          <p:cNvSpPr txBox="1"/>
          <p:nvPr/>
        </p:nvSpPr>
        <p:spPr>
          <a:xfrm>
            <a:off x="9189720" y="4956048"/>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1125"/>
              <a:buFont typeface="Inter"/>
              <a:buNone/>
            </a:pPr>
            <a:r>
              <a:rPr b="1" i="0" lang="en-US" sz="1125" u="none" cap="none" strike="noStrike">
                <a:solidFill>
                  <a:srgbClr val="171717"/>
                </a:solidFill>
                <a:latin typeface="Inter"/>
                <a:ea typeface="Inter"/>
                <a:cs typeface="Inter"/>
                <a:sym typeface="Inter"/>
              </a:rPr>
              <a:t>the guest books by phone</a:t>
            </a:r>
            <a:endParaRPr b="0" i="0" sz="1125" u="none" cap="none" strike="noStrike">
              <a:solidFill>
                <a:schemeClr val="dk1"/>
              </a:solidFill>
              <a:latin typeface="Calibri"/>
              <a:ea typeface="Calibri"/>
              <a:cs typeface="Calibri"/>
              <a:sym typeface="Calibri"/>
            </a:endParaRPr>
          </a:p>
        </p:txBody>
      </p:sp>
      <p:sp>
        <p:nvSpPr>
          <p:cNvPr id="1129" name="Google Shape;1129;p31"/>
          <p:cNvSpPr txBox="1"/>
          <p:nvPr/>
        </p:nvSpPr>
        <p:spPr>
          <a:xfrm>
            <a:off x="8549640" y="5522976"/>
            <a:ext cx="2816352" cy="548640"/>
          </a:xfrm>
          <a:prstGeom prst="rect">
            <a:avLst/>
          </a:prstGeom>
          <a:noFill/>
          <a:ln>
            <a:noFill/>
          </a:ln>
        </p:spPr>
        <p:txBody>
          <a:bodyPr anchorCtr="0" anchor="t" bIns="0" lIns="0" spcFirstLastPara="1" rIns="0" wrap="square" tIns="0">
            <a:noAutofit/>
          </a:bodyPr>
          <a:lstStyle/>
          <a:p>
            <a:pPr indent="0" lvl="0" marL="0" marR="0" rtl="0" algn="l">
              <a:lnSpc>
                <a:spcPct val="135047"/>
              </a:lnSpc>
              <a:spcBef>
                <a:spcPts val="0"/>
              </a:spcBef>
              <a:spcAft>
                <a:spcPts val="0"/>
              </a:spcAft>
              <a:buClr>
                <a:srgbClr val="737373"/>
              </a:buClr>
              <a:buSzPts val="1050"/>
              <a:buFont typeface="Inter"/>
              <a:buNone/>
            </a:pPr>
            <a:r>
              <a:rPr b="0" i="0" lang="en-US" sz="1050" u="none" cap="none" strike="noStrike">
                <a:solidFill>
                  <a:srgbClr val="737373"/>
                </a:solidFill>
                <a:latin typeface="Inter"/>
                <a:ea typeface="Inter"/>
                <a:cs typeface="Inter"/>
                <a:sym typeface="Inter"/>
              </a:rPr>
              <a:t>Vote first. Then the answer.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134" name="Shape 1134"/>
        <p:cNvGrpSpPr/>
        <p:nvPr/>
      </p:nvGrpSpPr>
      <p:grpSpPr>
        <a:xfrm>
          <a:off x="0" y="0"/>
          <a:ext cx="0" cy="0"/>
          <a:chOff x="0" y="0"/>
          <a:chExt cx="0" cy="0"/>
        </a:xfrm>
      </p:grpSpPr>
      <p:sp>
        <p:nvSpPr>
          <p:cNvPr id="1135" name="Google Shape;1135;p32"/>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FILL THE LINE · 3 OF 5</a:t>
            </a:r>
            <a:endParaRPr b="0" i="0" sz="1050" u="none" cap="none" strike="noStrike">
              <a:solidFill>
                <a:schemeClr val="dk1"/>
              </a:solidFill>
              <a:latin typeface="Calibri"/>
              <a:ea typeface="Calibri"/>
              <a:cs typeface="Calibri"/>
              <a:sym typeface="Calibri"/>
            </a:endParaRPr>
          </a:p>
        </p:txBody>
      </p:sp>
      <p:sp>
        <p:nvSpPr>
          <p:cNvPr id="1136" name="Google Shape;1136;p32"/>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Fill the blank</a:t>
            </a:r>
            <a:endParaRPr b="0" i="0" sz="3000" u="none" cap="none" strike="noStrike">
              <a:solidFill>
                <a:schemeClr val="dk1"/>
              </a:solidFill>
              <a:latin typeface="Calibri"/>
              <a:ea typeface="Calibri"/>
              <a:cs typeface="Calibri"/>
              <a:sym typeface="Calibri"/>
            </a:endParaRPr>
          </a:p>
        </p:txBody>
      </p:sp>
      <p:pic>
        <p:nvPicPr>
          <p:cNvPr descr="/home/claude/work/renderer/brand/wordmark.png" id="1137" name="Google Shape;1137;p32"/>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138" name="Google Shape;1138;p32"/>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30 / 48</a:t>
            </a:r>
            <a:endParaRPr b="0" i="0" sz="900" u="none" cap="none" strike="noStrike">
              <a:solidFill>
                <a:schemeClr val="dk1"/>
              </a:solidFill>
              <a:latin typeface="Calibri"/>
              <a:ea typeface="Calibri"/>
              <a:cs typeface="Calibri"/>
              <a:sym typeface="Calibri"/>
            </a:endParaRPr>
          </a:p>
        </p:txBody>
      </p:sp>
      <p:sp>
        <p:nvSpPr>
          <p:cNvPr id="1139" name="Google Shape;1139;p32"/>
          <p:cNvSpPr/>
          <p:nvPr/>
        </p:nvSpPr>
        <p:spPr>
          <a:xfrm>
            <a:off x="548640" y="1481328"/>
            <a:ext cx="7406640" cy="2686304"/>
          </a:xfrm>
          <a:prstGeom prst="roundRect">
            <a:avLst>
              <a:gd fmla="val 4085"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0" name="Google Shape;1140;p32"/>
          <p:cNvSpPr txBox="1"/>
          <p:nvPr/>
        </p:nvSpPr>
        <p:spPr>
          <a:xfrm>
            <a:off x="859536" y="1719072"/>
            <a:ext cx="6784848" cy="75336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71717"/>
              </a:buClr>
              <a:buSzPts val="2200"/>
              <a:buFont typeface="Inter"/>
              <a:buNone/>
            </a:pPr>
            <a:r>
              <a:rPr b="1" i="0" lang="en-US" sz="2200" u="none" cap="none" strike="noStrike">
                <a:solidFill>
                  <a:srgbClr val="171717"/>
                </a:solidFill>
                <a:latin typeface="Inter"/>
                <a:ea typeface="Inter"/>
                <a:cs typeface="Inter"/>
                <a:sym typeface="Inter"/>
              </a:rPr>
              <a:t>“With CAPI connected, bookings still get reported even when ___.”</a:t>
            </a:r>
            <a:endParaRPr b="0" i="0" sz="2200" u="none" cap="none" strike="noStrike">
              <a:solidFill>
                <a:schemeClr val="dk1"/>
              </a:solidFill>
              <a:latin typeface="Calibri"/>
              <a:ea typeface="Calibri"/>
              <a:cs typeface="Calibri"/>
              <a:sym typeface="Calibri"/>
            </a:endParaRPr>
          </a:p>
        </p:txBody>
      </p:sp>
      <p:sp>
        <p:nvSpPr>
          <p:cNvPr id="1141" name="Google Shape;1141;p32"/>
          <p:cNvSpPr/>
          <p:nvPr/>
        </p:nvSpPr>
        <p:spPr>
          <a:xfrm>
            <a:off x="548640" y="4350512"/>
            <a:ext cx="7406640" cy="1958848"/>
          </a:xfrm>
          <a:prstGeom prst="roundRect">
            <a:avLst>
              <a:gd fmla="val 5602"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2" name="Google Shape;1142;p32"/>
          <p:cNvSpPr txBox="1"/>
          <p:nvPr/>
        </p:nvSpPr>
        <p:spPr>
          <a:xfrm>
            <a:off x="859536" y="4533392"/>
            <a:ext cx="6784848"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900"/>
              <a:buFont typeface="Roboto Mono"/>
              <a:buNone/>
            </a:pPr>
            <a:r>
              <a:rPr b="0" i="0" lang="en-US" sz="900" u="none" cap="none" strike="noStrike">
                <a:solidFill>
                  <a:srgbClr val="15803D"/>
                </a:solidFill>
                <a:latin typeface="Roboto Mono"/>
                <a:ea typeface="Roboto Mono"/>
                <a:cs typeface="Roboto Mono"/>
                <a:sym typeface="Roboto Mono"/>
              </a:rPr>
              <a:t>WHY</a:t>
            </a:r>
            <a:endParaRPr b="0" i="0" sz="900" u="none" cap="none" strike="noStrike">
              <a:solidFill>
                <a:schemeClr val="dk1"/>
              </a:solidFill>
              <a:latin typeface="Calibri"/>
              <a:ea typeface="Calibri"/>
              <a:cs typeface="Calibri"/>
              <a:sym typeface="Calibri"/>
            </a:endParaRPr>
          </a:p>
        </p:txBody>
      </p:sp>
      <p:sp>
        <p:nvSpPr>
          <p:cNvPr id="1143" name="Google Shape;1143;p32"/>
          <p:cNvSpPr txBox="1"/>
          <p:nvPr/>
        </p:nvSpPr>
        <p:spPr>
          <a:xfrm>
            <a:off x="859536" y="4789424"/>
            <a:ext cx="6784848" cy="84582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1" i="0" lang="en-US" sz="1100" u="none" cap="none" strike="noStrike">
                <a:solidFill>
                  <a:srgbClr val="404040"/>
                </a:solidFill>
                <a:latin typeface="Inter"/>
                <a:ea typeface="Inter"/>
                <a:cs typeface="Inter"/>
                <a:sym typeface="Inter"/>
              </a:rPr>
              <a:t>CAPI sends the booking from the server, so it doesn't depend on the guest's browser.</a:t>
            </a:r>
            <a:r>
              <a:rPr b="0" i="0" lang="en-US" sz="1100" u="none" cap="none" strike="noStrike">
                <a:solidFill>
                  <a:srgbClr val="404040"/>
                </a:solidFill>
                <a:latin typeface="Inter"/>
                <a:ea typeface="Inter"/>
                <a:cs typeface="Inter"/>
                <a:sym typeface="Inter"/>
              </a:rPr>
              <a:t> The pixel is browser-side and can be blocked; the server route survives that. It can't report a booking the engine never took, and it isn't a substitute for the owner telling us anything.</a:t>
            </a:r>
            <a:endParaRPr b="0" i="0" sz="1100" u="none" cap="none" strike="noStrike">
              <a:solidFill>
                <a:schemeClr val="dk1"/>
              </a:solidFill>
              <a:latin typeface="Calibri"/>
              <a:ea typeface="Calibri"/>
              <a:cs typeface="Calibri"/>
              <a:sym typeface="Calibri"/>
            </a:endParaRPr>
          </a:p>
        </p:txBody>
      </p:sp>
      <p:sp>
        <p:nvSpPr>
          <p:cNvPr id="1144" name="Google Shape;1144;p32"/>
          <p:cNvSpPr txBox="1"/>
          <p:nvPr/>
        </p:nvSpPr>
        <p:spPr>
          <a:xfrm>
            <a:off x="859536" y="5671820"/>
            <a:ext cx="6784848" cy="491236"/>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5803D"/>
              </a:buClr>
              <a:buSzPts val="1100"/>
              <a:buFont typeface="Inter"/>
              <a:buNone/>
            </a:pPr>
            <a:r>
              <a:rPr b="1" i="0" lang="en-US" sz="1100" u="none" cap="none" strike="noStrike">
                <a:solidFill>
                  <a:srgbClr val="15803D"/>
                </a:solidFill>
                <a:latin typeface="Inter"/>
                <a:ea typeface="Inter"/>
                <a:cs typeface="Inter"/>
                <a:sym typeface="Inter"/>
              </a:rPr>
              <a:t>“With CAPI connected, bookings still get reported even when a guest's browser blocks the pixel.”</a:t>
            </a:r>
            <a:endParaRPr b="0" i="0" sz="1100" u="none" cap="none" strike="noStrike">
              <a:solidFill>
                <a:schemeClr val="dk1"/>
              </a:solidFill>
              <a:latin typeface="Calibri"/>
              <a:ea typeface="Calibri"/>
              <a:cs typeface="Calibri"/>
              <a:sym typeface="Calibri"/>
            </a:endParaRPr>
          </a:p>
        </p:txBody>
      </p:sp>
      <p:sp>
        <p:nvSpPr>
          <p:cNvPr id="1145" name="Google Shape;1145;p32"/>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6" name="Google Shape;1146;p32"/>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edit.png" id="1147" name="Google Shape;1147;p32"/>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1148" name="Google Shape;1148;p32"/>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THE ANSWER</a:t>
            </a:r>
            <a:endParaRPr b="0" i="0" sz="950" u="none" cap="none" strike="noStrike">
              <a:solidFill>
                <a:schemeClr val="dk1"/>
              </a:solidFill>
              <a:latin typeface="Calibri"/>
              <a:ea typeface="Calibri"/>
              <a:cs typeface="Calibri"/>
              <a:sym typeface="Calibri"/>
            </a:endParaRPr>
          </a:p>
        </p:txBody>
      </p:sp>
      <p:sp>
        <p:nvSpPr>
          <p:cNvPr id="1149" name="Google Shape;1149;p32"/>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The answer</a:t>
            </a:r>
            <a:endParaRPr b="0" i="0" sz="1800" u="none" cap="none" strike="noStrike">
              <a:solidFill>
                <a:schemeClr val="dk1"/>
              </a:solidFill>
              <a:latin typeface="Calibri"/>
              <a:ea typeface="Calibri"/>
              <a:cs typeface="Calibri"/>
              <a:sym typeface="Calibri"/>
            </a:endParaRPr>
          </a:p>
        </p:txBody>
      </p:sp>
      <p:sp>
        <p:nvSpPr>
          <p:cNvPr id="1150" name="Google Shape;1150;p32"/>
          <p:cNvSpPr/>
          <p:nvPr/>
        </p:nvSpPr>
        <p:spPr>
          <a:xfrm>
            <a:off x="8549640" y="3200400"/>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1" name="Google Shape;1151;p32"/>
          <p:cNvSpPr/>
          <p:nvPr/>
        </p:nvSpPr>
        <p:spPr>
          <a:xfrm>
            <a:off x="8750808" y="3282696"/>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2" name="Google Shape;1152;p32"/>
          <p:cNvSpPr txBox="1"/>
          <p:nvPr/>
        </p:nvSpPr>
        <p:spPr>
          <a:xfrm>
            <a:off x="8750808" y="3282696"/>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sp>
        <p:nvSpPr>
          <p:cNvPr id="1153" name="Google Shape;1153;p32"/>
          <p:cNvSpPr txBox="1"/>
          <p:nvPr/>
        </p:nvSpPr>
        <p:spPr>
          <a:xfrm>
            <a:off x="9189720" y="3200400"/>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the owner forgets to tell us</a:t>
            </a:r>
            <a:endParaRPr b="0" i="0" sz="1250" u="none" cap="none" strike="noStrike">
              <a:solidFill>
                <a:schemeClr val="dk1"/>
              </a:solidFill>
              <a:latin typeface="Calibri"/>
              <a:ea typeface="Calibri"/>
              <a:cs typeface="Calibri"/>
              <a:sym typeface="Calibri"/>
            </a:endParaRPr>
          </a:p>
        </p:txBody>
      </p:sp>
      <p:sp>
        <p:nvSpPr>
          <p:cNvPr id="1154" name="Google Shape;1154;p32"/>
          <p:cNvSpPr/>
          <p:nvPr/>
        </p:nvSpPr>
        <p:spPr>
          <a:xfrm>
            <a:off x="8549640" y="3785616"/>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5" name="Google Shape;1155;p32"/>
          <p:cNvSpPr/>
          <p:nvPr/>
        </p:nvSpPr>
        <p:spPr>
          <a:xfrm>
            <a:off x="8750808" y="3867912"/>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6" name="Google Shape;1156;p32"/>
          <p:cNvSpPr txBox="1"/>
          <p:nvPr/>
        </p:nvSpPr>
        <p:spPr>
          <a:xfrm>
            <a:off x="8750808" y="3867912"/>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sp>
        <p:nvSpPr>
          <p:cNvPr id="1157" name="Google Shape;1157;p32"/>
          <p:cNvSpPr txBox="1"/>
          <p:nvPr/>
        </p:nvSpPr>
        <p:spPr>
          <a:xfrm>
            <a:off x="9189720" y="3785616"/>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the booking engine is down</a:t>
            </a:r>
            <a:endParaRPr b="0" i="0" sz="1250" u="none" cap="none" strike="noStrike">
              <a:solidFill>
                <a:schemeClr val="dk1"/>
              </a:solidFill>
              <a:latin typeface="Calibri"/>
              <a:ea typeface="Calibri"/>
              <a:cs typeface="Calibri"/>
              <a:sym typeface="Calibri"/>
            </a:endParaRPr>
          </a:p>
        </p:txBody>
      </p:sp>
      <p:sp>
        <p:nvSpPr>
          <p:cNvPr id="1158" name="Google Shape;1158;p32"/>
          <p:cNvSpPr/>
          <p:nvPr/>
        </p:nvSpPr>
        <p:spPr>
          <a:xfrm>
            <a:off x="8549640" y="4370832"/>
            <a:ext cx="2816352" cy="475488"/>
          </a:xfrm>
          <a:prstGeom prst="roundRect">
            <a:avLst>
              <a:gd fmla="val 19231"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check-circle.png" id="1159" name="Google Shape;1159;p32"/>
          <p:cNvPicPr preferRelativeResize="0"/>
          <p:nvPr/>
        </p:nvPicPr>
        <p:blipFill rotWithShape="1">
          <a:blip r:embed="rId5">
            <a:alphaModFix/>
          </a:blip>
          <a:srcRect b="0" l="0" r="0" t="0"/>
          <a:stretch/>
        </p:blipFill>
        <p:spPr>
          <a:xfrm>
            <a:off x="8750808" y="4453128"/>
            <a:ext cx="310896" cy="310896"/>
          </a:xfrm>
          <a:prstGeom prst="rect">
            <a:avLst/>
          </a:prstGeom>
          <a:noFill/>
          <a:ln>
            <a:noFill/>
          </a:ln>
        </p:spPr>
      </p:pic>
      <p:sp>
        <p:nvSpPr>
          <p:cNvPr id="1160" name="Google Shape;1160;p32"/>
          <p:cNvSpPr txBox="1"/>
          <p:nvPr/>
        </p:nvSpPr>
        <p:spPr>
          <a:xfrm>
            <a:off x="9189720" y="4370832"/>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803D"/>
              </a:buClr>
              <a:buSzPts val="1250"/>
              <a:buFont typeface="Inter"/>
              <a:buNone/>
            </a:pPr>
            <a:r>
              <a:rPr b="1" i="0" lang="en-US" sz="1250" u="none" cap="none" strike="noStrike">
                <a:solidFill>
                  <a:srgbClr val="15803D"/>
                </a:solidFill>
                <a:latin typeface="Inter"/>
                <a:ea typeface="Inter"/>
                <a:cs typeface="Inter"/>
                <a:sym typeface="Inter"/>
              </a:rPr>
              <a:t>the browser blocks the pixel</a:t>
            </a:r>
            <a:endParaRPr b="0" i="0" sz="1250" u="none" cap="none" strike="noStrike">
              <a:solidFill>
                <a:schemeClr val="dk1"/>
              </a:solidFill>
              <a:latin typeface="Calibri"/>
              <a:ea typeface="Calibri"/>
              <a:cs typeface="Calibri"/>
              <a:sym typeface="Calibri"/>
            </a:endParaRPr>
          </a:p>
        </p:txBody>
      </p:sp>
      <p:sp>
        <p:nvSpPr>
          <p:cNvPr id="1161" name="Google Shape;1161;p32"/>
          <p:cNvSpPr/>
          <p:nvPr/>
        </p:nvSpPr>
        <p:spPr>
          <a:xfrm>
            <a:off x="8549640" y="4956048"/>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2" name="Google Shape;1162;p32"/>
          <p:cNvSpPr/>
          <p:nvPr/>
        </p:nvSpPr>
        <p:spPr>
          <a:xfrm>
            <a:off x="8750808" y="5038344"/>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3" name="Google Shape;1163;p32"/>
          <p:cNvSpPr txBox="1"/>
          <p:nvPr/>
        </p:nvSpPr>
        <p:spPr>
          <a:xfrm>
            <a:off x="8750808" y="5038344"/>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sp>
        <p:nvSpPr>
          <p:cNvPr id="1164" name="Google Shape;1164;p32"/>
          <p:cNvSpPr txBox="1"/>
          <p:nvPr/>
        </p:nvSpPr>
        <p:spPr>
          <a:xfrm>
            <a:off x="9189720" y="4956048"/>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the guest books by phone</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169" name="Shape 1169"/>
        <p:cNvGrpSpPr/>
        <p:nvPr/>
      </p:nvGrpSpPr>
      <p:grpSpPr>
        <a:xfrm>
          <a:off x="0" y="0"/>
          <a:ext cx="0" cy="0"/>
          <a:chOff x="0" y="0"/>
          <a:chExt cx="0" cy="0"/>
        </a:xfrm>
      </p:grpSpPr>
      <p:sp>
        <p:nvSpPr>
          <p:cNvPr id="1170" name="Google Shape;1170;p33"/>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FILL THE LINE · 4 OF 5</a:t>
            </a:r>
            <a:endParaRPr b="0" i="0" sz="1050" u="none" cap="none" strike="noStrike">
              <a:solidFill>
                <a:schemeClr val="dk1"/>
              </a:solidFill>
              <a:latin typeface="Calibri"/>
              <a:ea typeface="Calibri"/>
              <a:cs typeface="Calibri"/>
              <a:sym typeface="Calibri"/>
            </a:endParaRPr>
          </a:p>
        </p:txBody>
      </p:sp>
      <p:sp>
        <p:nvSpPr>
          <p:cNvPr id="1171" name="Google Shape;1171;p33"/>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Fill the blank</a:t>
            </a:r>
            <a:endParaRPr b="0" i="0" sz="3000" u="none" cap="none" strike="noStrike">
              <a:solidFill>
                <a:schemeClr val="dk1"/>
              </a:solidFill>
              <a:latin typeface="Calibri"/>
              <a:ea typeface="Calibri"/>
              <a:cs typeface="Calibri"/>
              <a:sym typeface="Calibri"/>
            </a:endParaRPr>
          </a:p>
        </p:txBody>
      </p:sp>
      <p:pic>
        <p:nvPicPr>
          <p:cNvPr descr="/home/claude/work/renderer/brand/wordmark.png" id="1172" name="Google Shape;1172;p33"/>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173" name="Google Shape;1173;p33"/>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31 / 48</a:t>
            </a:r>
            <a:endParaRPr b="0" i="0" sz="900" u="none" cap="none" strike="noStrike">
              <a:solidFill>
                <a:schemeClr val="dk1"/>
              </a:solidFill>
              <a:latin typeface="Calibri"/>
              <a:ea typeface="Calibri"/>
              <a:cs typeface="Calibri"/>
              <a:sym typeface="Calibri"/>
            </a:endParaRPr>
          </a:p>
        </p:txBody>
      </p:sp>
      <p:sp>
        <p:nvSpPr>
          <p:cNvPr id="1174" name="Google Shape;1174;p33"/>
          <p:cNvSpPr/>
          <p:nvPr/>
        </p:nvSpPr>
        <p:spPr>
          <a:xfrm>
            <a:off x="548640" y="1481328"/>
            <a:ext cx="7406640" cy="4828032"/>
          </a:xfrm>
          <a:prstGeom prst="roundRect">
            <a:avLst>
              <a:gd fmla="val 2273"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5" name="Google Shape;1175;p33"/>
          <p:cNvSpPr txBox="1"/>
          <p:nvPr/>
        </p:nvSpPr>
        <p:spPr>
          <a:xfrm>
            <a:off x="859536" y="1719072"/>
            <a:ext cx="6784848"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004FAA"/>
              </a:buClr>
              <a:buSzPts val="950"/>
              <a:buFont typeface="Roboto Mono"/>
              <a:buNone/>
            </a:pPr>
            <a:r>
              <a:rPr b="0" i="0" lang="en-US" sz="950" u="none" cap="none" strike="noStrike">
                <a:solidFill>
                  <a:srgbClr val="004FAA"/>
                </a:solidFill>
                <a:latin typeface="Roboto Mono"/>
                <a:ea typeface="Roboto Mono"/>
                <a:cs typeface="Roboto Mono"/>
                <a:sym typeface="Roboto Mono"/>
              </a:rPr>
              <a:t>FILL THE LINE · 4 OF 5</a:t>
            </a:r>
            <a:endParaRPr b="0" i="0" sz="950" u="none" cap="none" strike="noStrike">
              <a:solidFill>
                <a:schemeClr val="dk1"/>
              </a:solidFill>
              <a:latin typeface="Calibri"/>
              <a:ea typeface="Calibri"/>
              <a:cs typeface="Calibri"/>
              <a:sym typeface="Calibri"/>
            </a:endParaRPr>
          </a:p>
        </p:txBody>
      </p:sp>
      <p:sp>
        <p:nvSpPr>
          <p:cNvPr id="1176" name="Google Shape;1176;p33"/>
          <p:cNvSpPr txBox="1"/>
          <p:nvPr/>
        </p:nvSpPr>
        <p:spPr>
          <a:xfrm>
            <a:off x="859536" y="2029968"/>
            <a:ext cx="6784848" cy="14211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71717"/>
              </a:buClr>
              <a:buSzPts val="2600"/>
              <a:buFont typeface="Inter"/>
              <a:buNone/>
            </a:pPr>
            <a:r>
              <a:rPr b="1" i="0" lang="en-US" sz="2600" u="none" cap="none" strike="noStrike">
                <a:solidFill>
                  <a:srgbClr val="171717"/>
                </a:solidFill>
                <a:latin typeface="Inter"/>
                <a:ea typeface="Inter"/>
                <a:cs typeface="Inter"/>
                <a:sym typeface="Inter"/>
              </a:rPr>
              <a:t>“The real question is incrementality: did the ads bring in bookings that ___?”</a:t>
            </a:r>
            <a:endParaRPr b="0" i="0" sz="2600" u="none" cap="none" strike="noStrike">
              <a:solidFill>
                <a:schemeClr val="dk1"/>
              </a:solidFill>
              <a:latin typeface="Calibri"/>
              <a:ea typeface="Calibri"/>
              <a:cs typeface="Calibri"/>
              <a:sym typeface="Calibri"/>
            </a:endParaRPr>
          </a:p>
        </p:txBody>
      </p:sp>
      <p:sp>
        <p:nvSpPr>
          <p:cNvPr id="1177" name="Google Shape;1177;p33"/>
          <p:cNvSpPr txBox="1"/>
          <p:nvPr/>
        </p:nvSpPr>
        <p:spPr>
          <a:xfrm>
            <a:off x="859536" y="3579114"/>
            <a:ext cx="6784848" cy="26860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25252"/>
              </a:buClr>
              <a:buSzPts val="1300"/>
              <a:buFont typeface="Inter"/>
              <a:buNone/>
            </a:pPr>
            <a:r>
              <a:rPr b="0" i="0" lang="en-US" sz="1300" u="none" cap="none" strike="noStrike">
                <a:solidFill>
                  <a:srgbClr val="525252"/>
                </a:solidFill>
                <a:latin typeface="Inter"/>
                <a:ea typeface="Inter"/>
                <a:cs typeface="Inter"/>
                <a:sym typeface="Inter"/>
              </a:rPr>
              <a:t>Said to Theo, who wants to know if the ads are worth it.</a:t>
            </a:r>
            <a:endParaRPr b="0" i="0" sz="1300" u="none" cap="none" strike="noStrike">
              <a:solidFill>
                <a:schemeClr val="dk1"/>
              </a:solidFill>
              <a:latin typeface="Calibri"/>
              <a:ea typeface="Calibri"/>
              <a:cs typeface="Calibri"/>
              <a:sym typeface="Calibri"/>
            </a:endParaRPr>
          </a:p>
        </p:txBody>
      </p:sp>
      <p:sp>
        <p:nvSpPr>
          <p:cNvPr id="1178" name="Google Shape;1178;p33"/>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9" name="Google Shape;1179;p33"/>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edit.png" id="1180" name="Google Shape;1180;p33"/>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1181" name="Google Shape;1181;p33"/>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FILL THE LINE · 4 OF 5</a:t>
            </a:r>
            <a:endParaRPr b="0" i="0" sz="950" u="none" cap="none" strike="noStrike">
              <a:solidFill>
                <a:schemeClr val="dk1"/>
              </a:solidFill>
              <a:latin typeface="Calibri"/>
              <a:ea typeface="Calibri"/>
              <a:cs typeface="Calibri"/>
              <a:sym typeface="Calibri"/>
            </a:endParaRPr>
          </a:p>
        </p:txBody>
      </p:sp>
      <p:sp>
        <p:nvSpPr>
          <p:cNvPr id="1182" name="Google Shape;1182;p33"/>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Cast your vote</a:t>
            </a:r>
            <a:endParaRPr b="0" i="0" sz="1800" u="none" cap="none" strike="noStrike">
              <a:solidFill>
                <a:schemeClr val="dk1"/>
              </a:solidFill>
              <a:latin typeface="Calibri"/>
              <a:ea typeface="Calibri"/>
              <a:cs typeface="Calibri"/>
              <a:sym typeface="Calibri"/>
            </a:endParaRPr>
          </a:p>
        </p:txBody>
      </p:sp>
      <p:sp>
        <p:nvSpPr>
          <p:cNvPr id="1183" name="Google Shape;1183;p33"/>
          <p:cNvSpPr/>
          <p:nvPr/>
        </p:nvSpPr>
        <p:spPr>
          <a:xfrm>
            <a:off x="8549640" y="3200400"/>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4" name="Google Shape;1184;p33"/>
          <p:cNvSpPr/>
          <p:nvPr/>
        </p:nvSpPr>
        <p:spPr>
          <a:xfrm>
            <a:off x="8750808" y="3282696"/>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5" name="Google Shape;1185;p33"/>
          <p:cNvSpPr txBox="1"/>
          <p:nvPr/>
        </p:nvSpPr>
        <p:spPr>
          <a:xfrm>
            <a:off x="8750808" y="3282696"/>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sp>
        <p:nvSpPr>
          <p:cNvPr id="1186" name="Google Shape;1186;p33"/>
          <p:cNvSpPr txBox="1"/>
          <p:nvPr/>
        </p:nvSpPr>
        <p:spPr>
          <a:xfrm>
            <a:off x="9189720" y="3200400"/>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1125"/>
              <a:buFont typeface="Inter"/>
              <a:buNone/>
            </a:pPr>
            <a:r>
              <a:rPr b="1" i="0" lang="en-US" sz="1125" u="none" cap="none" strike="noStrike">
                <a:solidFill>
                  <a:srgbClr val="171717"/>
                </a:solidFill>
                <a:latin typeface="Inter"/>
                <a:ea typeface="Inter"/>
                <a:cs typeface="Inter"/>
                <a:sym typeface="Inter"/>
              </a:rPr>
              <a:t>cost less than the OTA</a:t>
            </a:r>
            <a:endParaRPr b="0" i="0" sz="1125" u="none" cap="none" strike="noStrike">
              <a:solidFill>
                <a:schemeClr val="dk1"/>
              </a:solidFill>
              <a:latin typeface="Calibri"/>
              <a:ea typeface="Calibri"/>
              <a:cs typeface="Calibri"/>
              <a:sym typeface="Calibri"/>
            </a:endParaRPr>
          </a:p>
        </p:txBody>
      </p:sp>
      <p:sp>
        <p:nvSpPr>
          <p:cNvPr id="1187" name="Google Shape;1187;p33"/>
          <p:cNvSpPr/>
          <p:nvPr/>
        </p:nvSpPr>
        <p:spPr>
          <a:xfrm>
            <a:off x="8549640" y="3785616"/>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8" name="Google Shape;1188;p33"/>
          <p:cNvSpPr/>
          <p:nvPr/>
        </p:nvSpPr>
        <p:spPr>
          <a:xfrm>
            <a:off x="8750808" y="3867912"/>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9" name="Google Shape;1189;p33"/>
          <p:cNvSpPr txBox="1"/>
          <p:nvPr/>
        </p:nvSpPr>
        <p:spPr>
          <a:xfrm>
            <a:off x="8750808" y="3867912"/>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sp>
        <p:nvSpPr>
          <p:cNvPr id="1190" name="Google Shape;1190;p33"/>
          <p:cNvSpPr txBox="1"/>
          <p:nvPr/>
        </p:nvSpPr>
        <p:spPr>
          <a:xfrm>
            <a:off x="9189720" y="3785616"/>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1125"/>
              <a:buFont typeface="Inter"/>
              <a:buNone/>
            </a:pPr>
            <a:r>
              <a:rPr b="1" i="0" lang="en-US" sz="1125" u="none" cap="none" strike="noStrike">
                <a:solidFill>
                  <a:srgbClr val="171717"/>
                </a:solidFill>
                <a:latin typeface="Inter"/>
                <a:ea typeface="Inter"/>
                <a:cs typeface="Inter"/>
                <a:sym typeface="Inter"/>
              </a:rPr>
              <a:t>came in on a promo code</a:t>
            </a:r>
            <a:endParaRPr b="0" i="0" sz="1125" u="none" cap="none" strike="noStrike">
              <a:solidFill>
                <a:schemeClr val="dk1"/>
              </a:solidFill>
              <a:latin typeface="Calibri"/>
              <a:ea typeface="Calibri"/>
              <a:cs typeface="Calibri"/>
              <a:sym typeface="Calibri"/>
            </a:endParaRPr>
          </a:p>
        </p:txBody>
      </p:sp>
      <p:sp>
        <p:nvSpPr>
          <p:cNvPr id="1191" name="Google Shape;1191;p33"/>
          <p:cNvSpPr/>
          <p:nvPr/>
        </p:nvSpPr>
        <p:spPr>
          <a:xfrm>
            <a:off x="8549640" y="4370832"/>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2" name="Google Shape;1192;p33"/>
          <p:cNvSpPr/>
          <p:nvPr/>
        </p:nvSpPr>
        <p:spPr>
          <a:xfrm>
            <a:off x="8750808" y="4453128"/>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3" name="Google Shape;1193;p33"/>
          <p:cNvSpPr txBox="1"/>
          <p:nvPr/>
        </p:nvSpPr>
        <p:spPr>
          <a:xfrm>
            <a:off x="8750808" y="4453128"/>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sp>
        <p:nvSpPr>
          <p:cNvPr id="1194" name="Google Shape;1194;p33"/>
          <p:cNvSpPr txBox="1"/>
          <p:nvPr/>
        </p:nvSpPr>
        <p:spPr>
          <a:xfrm>
            <a:off x="9189720" y="4370832"/>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1125"/>
              <a:buFont typeface="Inter"/>
              <a:buNone/>
            </a:pPr>
            <a:r>
              <a:rPr b="1" i="0" lang="en-US" sz="1125" u="none" cap="none" strike="noStrike">
                <a:solidFill>
                  <a:srgbClr val="171717"/>
                </a:solidFill>
                <a:latin typeface="Inter"/>
                <a:ea typeface="Inter"/>
                <a:cs typeface="Inter"/>
                <a:sym typeface="Inter"/>
              </a:rPr>
              <a:t>the pixel could see</a:t>
            </a:r>
            <a:endParaRPr b="0" i="0" sz="1125" u="none" cap="none" strike="noStrike">
              <a:solidFill>
                <a:schemeClr val="dk1"/>
              </a:solidFill>
              <a:latin typeface="Calibri"/>
              <a:ea typeface="Calibri"/>
              <a:cs typeface="Calibri"/>
              <a:sym typeface="Calibri"/>
            </a:endParaRPr>
          </a:p>
        </p:txBody>
      </p:sp>
      <p:sp>
        <p:nvSpPr>
          <p:cNvPr id="1195" name="Google Shape;1195;p33"/>
          <p:cNvSpPr/>
          <p:nvPr/>
        </p:nvSpPr>
        <p:spPr>
          <a:xfrm>
            <a:off x="8549640" y="4956048"/>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6" name="Google Shape;1196;p33"/>
          <p:cNvSpPr/>
          <p:nvPr/>
        </p:nvSpPr>
        <p:spPr>
          <a:xfrm>
            <a:off x="8750808" y="5038344"/>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7" name="Google Shape;1197;p33"/>
          <p:cNvSpPr txBox="1"/>
          <p:nvPr/>
        </p:nvSpPr>
        <p:spPr>
          <a:xfrm>
            <a:off x="8750808" y="5038344"/>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sp>
        <p:nvSpPr>
          <p:cNvPr id="1198" name="Google Shape;1198;p33"/>
          <p:cNvSpPr txBox="1"/>
          <p:nvPr/>
        </p:nvSpPr>
        <p:spPr>
          <a:xfrm>
            <a:off x="9189720" y="4956048"/>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1125"/>
              <a:buFont typeface="Inter"/>
              <a:buNone/>
            </a:pPr>
            <a:r>
              <a:rPr b="1" i="0" lang="en-US" sz="1125" u="none" cap="none" strike="noStrike">
                <a:solidFill>
                  <a:srgbClr val="171717"/>
                </a:solidFill>
                <a:latin typeface="Inter"/>
                <a:ea typeface="Inter"/>
                <a:cs typeface="Inter"/>
                <a:sym typeface="Inter"/>
              </a:rPr>
              <a:t>wouldn't have happened anyway</a:t>
            </a:r>
            <a:endParaRPr b="0" i="0" sz="1125" u="none" cap="none" strike="noStrike">
              <a:solidFill>
                <a:schemeClr val="dk1"/>
              </a:solidFill>
              <a:latin typeface="Calibri"/>
              <a:ea typeface="Calibri"/>
              <a:cs typeface="Calibri"/>
              <a:sym typeface="Calibri"/>
            </a:endParaRPr>
          </a:p>
        </p:txBody>
      </p:sp>
      <p:sp>
        <p:nvSpPr>
          <p:cNvPr id="1199" name="Google Shape;1199;p33"/>
          <p:cNvSpPr txBox="1"/>
          <p:nvPr/>
        </p:nvSpPr>
        <p:spPr>
          <a:xfrm>
            <a:off x="8549640" y="5522976"/>
            <a:ext cx="2816352" cy="548640"/>
          </a:xfrm>
          <a:prstGeom prst="rect">
            <a:avLst/>
          </a:prstGeom>
          <a:noFill/>
          <a:ln>
            <a:noFill/>
          </a:ln>
        </p:spPr>
        <p:txBody>
          <a:bodyPr anchorCtr="0" anchor="t" bIns="0" lIns="0" spcFirstLastPara="1" rIns="0" wrap="square" tIns="0">
            <a:noAutofit/>
          </a:bodyPr>
          <a:lstStyle/>
          <a:p>
            <a:pPr indent="0" lvl="0" marL="0" marR="0" rtl="0" algn="l">
              <a:lnSpc>
                <a:spcPct val="135047"/>
              </a:lnSpc>
              <a:spcBef>
                <a:spcPts val="0"/>
              </a:spcBef>
              <a:spcAft>
                <a:spcPts val="0"/>
              </a:spcAft>
              <a:buClr>
                <a:srgbClr val="737373"/>
              </a:buClr>
              <a:buSzPts val="1050"/>
              <a:buFont typeface="Inter"/>
              <a:buNone/>
            </a:pPr>
            <a:r>
              <a:rPr b="0" i="0" lang="en-US" sz="1050" u="none" cap="none" strike="noStrike">
                <a:solidFill>
                  <a:srgbClr val="737373"/>
                </a:solidFill>
                <a:latin typeface="Inter"/>
                <a:ea typeface="Inter"/>
                <a:cs typeface="Inter"/>
                <a:sym typeface="Inter"/>
              </a:rPr>
              <a:t>Vote first. Then the answer.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204" name="Shape 1204"/>
        <p:cNvGrpSpPr/>
        <p:nvPr/>
      </p:nvGrpSpPr>
      <p:grpSpPr>
        <a:xfrm>
          <a:off x="0" y="0"/>
          <a:ext cx="0" cy="0"/>
          <a:chOff x="0" y="0"/>
          <a:chExt cx="0" cy="0"/>
        </a:xfrm>
      </p:grpSpPr>
      <p:sp>
        <p:nvSpPr>
          <p:cNvPr id="1205" name="Google Shape;1205;p34"/>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FILL THE LINE · 4 OF 5</a:t>
            </a:r>
            <a:endParaRPr b="0" i="0" sz="1050" u="none" cap="none" strike="noStrike">
              <a:solidFill>
                <a:schemeClr val="dk1"/>
              </a:solidFill>
              <a:latin typeface="Calibri"/>
              <a:ea typeface="Calibri"/>
              <a:cs typeface="Calibri"/>
              <a:sym typeface="Calibri"/>
            </a:endParaRPr>
          </a:p>
        </p:txBody>
      </p:sp>
      <p:sp>
        <p:nvSpPr>
          <p:cNvPr id="1206" name="Google Shape;1206;p34"/>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Fill the blank</a:t>
            </a:r>
            <a:endParaRPr b="0" i="0" sz="3000" u="none" cap="none" strike="noStrike">
              <a:solidFill>
                <a:schemeClr val="dk1"/>
              </a:solidFill>
              <a:latin typeface="Calibri"/>
              <a:ea typeface="Calibri"/>
              <a:cs typeface="Calibri"/>
              <a:sym typeface="Calibri"/>
            </a:endParaRPr>
          </a:p>
        </p:txBody>
      </p:sp>
      <p:pic>
        <p:nvPicPr>
          <p:cNvPr descr="/home/claude/work/renderer/brand/wordmark.png" id="1207" name="Google Shape;1207;p34"/>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208" name="Google Shape;1208;p34"/>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32 / 48</a:t>
            </a:r>
            <a:endParaRPr b="0" i="0" sz="900" u="none" cap="none" strike="noStrike">
              <a:solidFill>
                <a:schemeClr val="dk1"/>
              </a:solidFill>
              <a:latin typeface="Calibri"/>
              <a:ea typeface="Calibri"/>
              <a:cs typeface="Calibri"/>
              <a:sym typeface="Calibri"/>
            </a:endParaRPr>
          </a:p>
        </p:txBody>
      </p:sp>
      <p:sp>
        <p:nvSpPr>
          <p:cNvPr id="1209" name="Google Shape;1209;p34"/>
          <p:cNvSpPr/>
          <p:nvPr/>
        </p:nvSpPr>
        <p:spPr>
          <a:xfrm>
            <a:off x="548640" y="1481328"/>
            <a:ext cx="7406640" cy="2874899"/>
          </a:xfrm>
          <a:prstGeom prst="roundRect">
            <a:avLst>
              <a:gd fmla="val 3817"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0" name="Google Shape;1210;p34"/>
          <p:cNvSpPr txBox="1"/>
          <p:nvPr/>
        </p:nvSpPr>
        <p:spPr>
          <a:xfrm>
            <a:off x="859536" y="1719072"/>
            <a:ext cx="6784848" cy="75336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71717"/>
              </a:buClr>
              <a:buSzPts val="2200"/>
              <a:buFont typeface="Inter"/>
              <a:buNone/>
            </a:pPr>
            <a:r>
              <a:rPr b="1" i="0" lang="en-US" sz="2200" u="none" cap="none" strike="noStrike">
                <a:solidFill>
                  <a:srgbClr val="171717"/>
                </a:solidFill>
                <a:latin typeface="Inter"/>
                <a:ea typeface="Inter"/>
                <a:cs typeface="Inter"/>
                <a:sym typeface="Inter"/>
              </a:rPr>
              <a:t>“The real question is incrementality: did the ads bring in bookings that ___?”</a:t>
            </a:r>
            <a:endParaRPr b="0" i="0" sz="2200" u="none" cap="none" strike="noStrike">
              <a:solidFill>
                <a:schemeClr val="dk1"/>
              </a:solidFill>
              <a:latin typeface="Calibri"/>
              <a:ea typeface="Calibri"/>
              <a:cs typeface="Calibri"/>
              <a:sym typeface="Calibri"/>
            </a:endParaRPr>
          </a:p>
        </p:txBody>
      </p:sp>
      <p:sp>
        <p:nvSpPr>
          <p:cNvPr id="1211" name="Google Shape;1211;p34"/>
          <p:cNvSpPr/>
          <p:nvPr/>
        </p:nvSpPr>
        <p:spPr>
          <a:xfrm>
            <a:off x="548640" y="4539107"/>
            <a:ext cx="7406640" cy="1770253"/>
          </a:xfrm>
          <a:prstGeom prst="roundRect">
            <a:avLst>
              <a:gd fmla="val 6198"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2" name="Google Shape;1212;p34"/>
          <p:cNvSpPr txBox="1"/>
          <p:nvPr/>
        </p:nvSpPr>
        <p:spPr>
          <a:xfrm>
            <a:off x="859536" y="4721987"/>
            <a:ext cx="6784848"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900"/>
              <a:buFont typeface="Roboto Mono"/>
              <a:buNone/>
            </a:pPr>
            <a:r>
              <a:rPr b="0" i="0" lang="en-US" sz="900" u="none" cap="none" strike="noStrike">
                <a:solidFill>
                  <a:srgbClr val="15803D"/>
                </a:solidFill>
                <a:latin typeface="Roboto Mono"/>
                <a:ea typeface="Roboto Mono"/>
                <a:cs typeface="Roboto Mono"/>
                <a:sym typeface="Roboto Mono"/>
              </a:rPr>
              <a:t>WHY</a:t>
            </a:r>
            <a:endParaRPr b="0" i="0" sz="900" u="none" cap="none" strike="noStrike">
              <a:solidFill>
                <a:schemeClr val="dk1"/>
              </a:solidFill>
              <a:latin typeface="Calibri"/>
              <a:ea typeface="Calibri"/>
              <a:cs typeface="Calibri"/>
              <a:sym typeface="Calibri"/>
            </a:endParaRPr>
          </a:p>
        </p:txBody>
      </p:sp>
      <p:sp>
        <p:nvSpPr>
          <p:cNvPr id="1213" name="Google Shape;1213;p34"/>
          <p:cNvSpPr txBox="1"/>
          <p:nvPr/>
        </p:nvSpPr>
        <p:spPr>
          <a:xfrm>
            <a:off x="859536" y="4978019"/>
            <a:ext cx="6784848" cy="65722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1" i="0" lang="en-US" sz="1100" u="none" cap="none" strike="noStrike">
                <a:solidFill>
                  <a:srgbClr val="404040"/>
                </a:solidFill>
                <a:latin typeface="Inter"/>
                <a:ea typeface="Inter"/>
                <a:cs typeface="Inter"/>
                <a:sym typeface="Inter"/>
              </a:rPr>
              <a:t>Incrementality asks what the ads added, not what they touched.</a:t>
            </a:r>
            <a:r>
              <a:rPr b="0" i="0" lang="en-US" sz="1100" u="none" cap="none" strike="noStrike">
                <a:solidFill>
                  <a:srgbClr val="404040"/>
                </a:solidFill>
                <a:latin typeface="Inter"/>
                <a:ea typeface="Inter"/>
                <a:cs typeface="Inter"/>
                <a:sym typeface="Inter"/>
              </a:rPr>
              <a:t> A booking can be cheaper than an OTA's cut, carry a promo code and be seen by the pixel, and still be one that was coming anyway. The holdout is how you find out.</a:t>
            </a:r>
            <a:endParaRPr b="0" i="0" sz="1100" u="none" cap="none" strike="noStrike">
              <a:solidFill>
                <a:schemeClr val="dk1"/>
              </a:solidFill>
              <a:latin typeface="Calibri"/>
              <a:ea typeface="Calibri"/>
              <a:cs typeface="Calibri"/>
              <a:sym typeface="Calibri"/>
            </a:endParaRPr>
          </a:p>
        </p:txBody>
      </p:sp>
      <p:sp>
        <p:nvSpPr>
          <p:cNvPr id="1214" name="Google Shape;1214;p34"/>
          <p:cNvSpPr txBox="1"/>
          <p:nvPr/>
        </p:nvSpPr>
        <p:spPr>
          <a:xfrm>
            <a:off x="859536" y="5671820"/>
            <a:ext cx="6784848" cy="491236"/>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5803D"/>
              </a:buClr>
              <a:buSzPts val="1100"/>
              <a:buFont typeface="Inter"/>
              <a:buNone/>
            </a:pPr>
            <a:r>
              <a:rPr b="1" i="0" lang="en-US" sz="1100" u="none" cap="none" strike="noStrike">
                <a:solidFill>
                  <a:srgbClr val="15803D"/>
                </a:solidFill>
                <a:latin typeface="Inter"/>
                <a:ea typeface="Inter"/>
                <a:cs typeface="Inter"/>
                <a:sym typeface="Inter"/>
              </a:rPr>
              <a:t>“The real question is incrementality: did the ads bring in bookings that wouldn't have happened anyway?”</a:t>
            </a:r>
            <a:endParaRPr b="0" i="0" sz="1100" u="none" cap="none" strike="noStrike">
              <a:solidFill>
                <a:schemeClr val="dk1"/>
              </a:solidFill>
              <a:latin typeface="Calibri"/>
              <a:ea typeface="Calibri"/>
              <a:cs typeface="Calibri"/>
              <a:sym typeface="Calibri"/>
            </a:endParaRPr>
          </a:p>
        </p:txBody>
      </p:sp>
      <p:sp>
        <p:nvSpPr>
          <p:cNvPr id="1215" name="Google Shape;1215;p34"/>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6" name="Google Shape;1216;p34"/>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edit.png" id="1217" name="Google Shape;1217;p34"/>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1218" name="Google Shape;1218;p34"/>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THE ANSWER</a:t>
            </a:r>
            <a:endParaRPr b="0" i="0" sz="950" u="none" cap="none" strike="noStrike">
              <a:solidFill>
                <a:schemeClr val="dk1"/>
              </a:solidFill>
              <a:latin typeface="Calibri"/>
              <a:ea typeface="Calibri"/>
              <a:cs typeface="Calibri"/>
              <a:sym typeface="Calibri"/>
            </a:endParaRPr>
          </a:p>
        </p:txBody>
      </p:sp>
      <p:sp>
        <p:nvSpPr>
          <p:cNvPr id="1219" name="Google Shape;1219;p34"/>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The answer</a:t>
            </a:r>
            <a:endParaRPr b="0" i="0" sz="1800" u="none" cap="none" strike="noStrike">
              <a:solidFill>
                <a:schemeClr val="dk1"/>
              </a:solidFill>
              <a:latin typeface="Calibri"/>
              <a:ea typeface="Calibri"/>
              <a:cs typeface="Calibri"/>
              <a:sym typeface="Calibri"/>
            </a:endParaRPr>
          </a:p>
        </p:txBody>
      </p:sp>
      <p:sp>
        <p:nvSpPr>
          <p:cNvPr id="1220" name="Google Shape;1220;p34"/>
          <p:cNvSpPr/>
          <p:nvPr/>
        </p:nvSpPr>
        <p:spPr>
          <a:xfrm>
            <a:off x="8549640" y="3200400"/>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1" name="Google Shape;1221;p34"/>
          <p:cNvSpPr/>
          <p:nvPr/>
        </p:nvSpPr>
        <p:spPr>
          <a:xfrm>
            <a:off x="8750808" y="3282696"/>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2" name="Google Shape;1222;p34"/>
          <p:cNvSpPr txBox="1"/>
          <p:nvPr/>
        </p:nvSpPr>
        <p:spPr>
          <a:xfrm>
            <a:off x="8750808" y="3282696"/>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sp>
        <p:nvSpPr>
          <p:cNvPr id="1223" name="Google Shape;1223;p34"/>
          <p:cNvSpPr txBox="1"/>
          <p:nvPr/>
        </p:nvSpPr>
        <p:spPr>
          <a:xfrm>
            <a:off x="9189720" y="3200400"/>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cost less than the OTA</a:t>
            </a:r>
            <a:endParaRPr b="0" i="0" sz="1250" u="none" cap="none" strike="noStrike">
              <a:solidFill>
                <a:schemeClr val="dk1"/>
              </a:solidFill>
              <a:latin typeface="Calibri"/>
              <a:ea typeface="Calibri"/>
              <a:cs typeface="Calibri"/>
              <a:sym typeface="Calibri"/>
            </a:endParaRPr>
          </a:p>
        </p:txBody>
      </p:sp>
      <p:sp>
        <p:nvSpPr>
          <p:cNvPr id="1224" name="Google Shape;1224;p34"/>
          <p:cNvSpPr/>
          <p:nvPr/>
        </p:nvSpPr>
        <p:spPr>
          <a:xfrm>
            <a:off x="8549640" y="3785616"/>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5" name="Google Shape;1225;p34"/>
          <p:cNvSpPr/>
          <p:nvPr/>
        </p:nvSpPr>
        <p:spPr>
          <a:xfrm>
            <a:off x="8750808" y="3867912"/>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6" name="Google Shape;1226;p34"/>
          <p:cNvSpPr txBox="1"/>
          <p:nvPr/>
        </p:nvSpPr>
        <p:spPr>
          <a:xfrm>
            <a:off x="8750808" y="3867912"/>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sp>
        <p:nvSpPr>
          <p:cNvPr id="1227" name="Google Shape;1227;p34"/>
          <p:cNvSpPr txBox="1"/>
          <p:nvPr/>
        </p:nvSpPr>
        <p:spPr>
          <a:xfrm>
            <a:off x="9189720" y="3785616"/>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came in on a promo code</a:t>
            </a:r>
            <a:endParaRPr b="0" i="0" sz="1250" u="none" cap="none" strike="noStrike">
              <a:solidFill>
                <a:schemeClr val="dk1"/>
              </a:solidFill>
              <a:latin typeface="Calibri"/>
              <a:ea typeface="Calibri"/>
              <a:cs typeface="Calibri"/>
              <a:sym typeface="Calibri"/>
            </a:endParaRPr>
          </a:p>
        </p:txBody>
      </p:sp>
      <p:sp>
        <p:nvSpPr>
          <p:cNvPr id="1228" name="Google Shape;1228;p34"/>
          <p:cNvSpPr/>
          <p:nvPr/>
        </p:nvSpPr>
        <p:spPr>
          <a:xfrm>
            <a:off x="8549640" y="4370832"/>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9" name="Google Shape;1229;p34"/>
          <p:cNvSpPr/>
          <p:nvPr/>
        </p:nvSpPr>
        <p:spPr>
          <a:xfrm>
            <a:off x="8750808" y="4453128"/>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0" name="Google Shape;1230;p34"/>
          <p:cNvSpPr txBox="1"/>
          <p:nvPr/>
        </p:nvSpPr>
        <p:spPr>
          <a:xfrm>
            <a:off x="8750808" y="4453128"/>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sp>
        <p:nvSpPr>
          <p:cNvPr id="1231" name="Google Shape;1231;p34"/>
          <p:cNvSpPr txBox="1"/>
          <p:nvPr/>
        </p:nvSpPr>
        <p:spPr>
          <a:xfrm>
            <a:off x="9189720" y="4370832"/>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the pixel could see</a:t>
            </a:r>
            <a:endParaRPr b="0" i="0" sz="1250" u="none" cap="none" strike="noStrike">
              <a:solidFill>
                <a:schemeClr val="dk1"/>
              </a:solidFill>
              <a:latin typeface="Calibri"/>
              <a:ea typeface="Calibri"/>
              <a:cs typeface="Calibri"/>
              <a:sym typeface="Calibri"/>
            </a:endParaRPr>
          </a:p>
        </p:txBody>
      </p:sp>
      <p:sp>
        <p:nvSpPr>
          <p:cNvPr id="1232" name="Google Shape;1232;p34"/>
          <p:cNvSpPr/>
          <p:nvPr/>
        </p:nvSpPr>
        <p:spPr>
          <a:xfrm>
            <a:off x="8549640" y="4956048"/>
            <a:ext cx="2816352" cy="475488"/>
          </a:xfrm>
          <a:prstGeom prst="roundRect">
            <a:avLst>
              <a:gd fmla="val 19231"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check-circle.png" id="1233" name="Google Shape;1233;p34"/>
          <p:cNvPicPr preferRelativeResize="0"/>
          <p:nvPr/>
        </p:nvPicPr>
        <p:blipFill rotWithShape="1">
          <a:blip r:embed="rId5">
            <a:alphaModFix/>
          </a:blip>
          <a:srcRect b="0" l="0" r="0" t="0"/>
          <a:stretch/>
        </p:blipFill>
        <p:spPr>
          <a:xfrm>
            <a:off x="8750808" y="5038344"/>
            <a:ext cx="310896" cy="310896"/>
          </a:xfrm>
          <a:prstGeom prst="rect">
            <a:avLst/>
          </a:prstGeom>
          <a:noFill/>
          <a:ln>
            <a:noFill/>
          </a:ln>
        </p:spPr>
      </p:pic>
      <p:sp>
        <p:nvSpPr>
          <p:cNvPr id="1234" name="Google Shape;1234;p34"/>
          <p:cNvSpPr txBox="1"/>
          <p:nvPr/>
        </p:nvSpPr>
        <p:spPr>
          <a:xfrm>
            <a:off x="9189720" y="4956048"/>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803D"/>
              </a:buClr>
              <a:buSzPts val="1250"/>
              <a:buFont typeface="Inter"/>
              <a:buNone/>
            </a:pPr>
            <a:r>
              <a:rPr b="1" i="0" lang="en-US" sz="1250" u="none" cap="none" strike="noStrike">
                <a:solidFill>
                  <a:srgbClr val="15803D"/>
                </a:solidFill>
                <a:latin typeface="Inter"/>
                <a:ea typeface="Inter"/>
                <a:cs typeface="Inter"/>
                <a:sym typeface="Inter"/>
              </a:rPr>
              <a:t>wouldn't have happened anyway</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239" name="Shape 1239"/>
        <p:cNvGrpSpPr/>
        <p:nvPr/>
      </p:nvGrpSpPr>
      <p:grpSpPr>
        <a:xfrm>
          <a:off x="0" y="0"/>
          <a:ext cx="0" cy="0"/>
          <a:chOff x="0" y="0"/>
          <a:chExt cx="0" cy="0"/>
        </a:xfrm>
      </p:grpSpPr>
      <p:sp>
        <p:nvSpPr>
          <p:cNvPr id="1240" name="Google Shape;1240;p35"/>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FILL THE LINE · 5 OF 5</a:t>
            </a:r>
            <a:endParaRPr b="0" i="0" sz="1050" u="none" cap="none" strike="noStrike">
              <a:solidFill>
                <a:schemeClr val="dk1"/>
              </a:solidFill>
              <a:latin typeface="Calibri"/>
              <a:ea typeface="Calibri"/>
              <a:cs typeface="Calibri"/>
              <a:sym typeface="Calibri"/>
            </a:endParaRPr>
          </a:p>
        </p:txBody>
      </p:sp>
      <p:sp>
        <p:nvSpPr>
          <p:cNvPr id="1241" name="Google Shape;1241;p35"/>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Fill the blank</a:t>
            </a:r>
            <a:endParaRPr b="0" i="0" sz="3000" u="none" cap="none" strike="noStrike">
              <a:solidFill>
                <a:schemeClr val="dk1"/>
              </a:solidFill>
              <a:latin typeface="Calibri"/>
              <a:ea typeface="Calibri"/>
              <a:cs typeface="Calibri"/>
              <a:sym typeface="Calibri"/>
            </a:endParaRPr>
          </a:p>
        </p:txBody>
      </p:sp>
      <p:pic>
        <p:nvPicPr>
          <p:cNvPr descr="/home/claude/work/renderer/brand/wordmark.png" id="1242" name="Google Shape;1242;p35"/>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243" name="Google Shape;1243;p35"/>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33 / 48</a:t>
            </a:r>
            <a:endParaRPr b="0" i="0" sz="900" u="none" cap="none" strike="noStrike">
              <a:solidFill>
                <a:schemeClr val="dk1"/>
              </a:solidFill>
              <a:latin typeface="Calibri"/>
              <a:ea typeface="Calibri"/>
              <a:cs typeface="Calibri"/>
              <a:sym typeface="Calibri"/>
            </a:endParaRPr>
          </a:p>
        </p:txBody>
      </p:sp>
      <p:sp>
        <p:nvSpPr>
          <p:cNvPr id="1244" name="Google Shape;1244;p35"/>
          <p:cNvSpPr/>
          <p:nvPr/>
        </p:nvSpPr>
        <p:spPr>
          <a:xfrm>
            <a:off x="548640" y="1481328"/>
            <a:ext cx="7406640" cy="4828032"/>
          </a:xfrm>
          <a:prstGeom prst="roundRect">
            <a:avLst>
              <a:gd fmla="val 2273"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5" name="Google Shape;1245;p35"/>
          <p:cNvSpPr txBox="1"/>
          <p:nvPr/>
        </p:nvSpPr>
        <p:spPr>
          <a:xfrm>
            <a:off x="859536" y="1719072"/>
            <a:ext cx="6784848"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004FAA"/>
              </a:buClr>
              <a:buSzPts val="950"/>
              <a:buFont typeface="Roboto Mono"/>
              <a:buNone/>
            </a:pPr>
            <a:r>
              <a:rPr b="0" i="0" lang="en-US" sz="950" u="none" cap="none" strike="noStrike">
                <a:solidFill>
                  <a:srgbClr val="004FAA"/>
                </a:solidFill>
                <a:latin typeface="Roboto Mono"/>
                <a:ea typeface="Roboto Mono"/>
                <a:cs typeface="Roboto Mono"/>
                <a:sym typeface="Roboto Mono"/>
              </a:rPr>
              <a:t>FILL THE LINE · 5 OF 5</a:t>
            </a:r>
            <a:endParaRPr b="0" i="0" sz="950" u="none" cap="none" strike="noStrike">
              <a:solidFill>
                <a:schemeClr val="dk1"/>
              </a:solidFill>
              <a:latin typeface="Calibri"/>
              <a:ea typeface="Calibri"/>
              <a:cs typeface="Calibri"/>
              <a:sym typeface="Calibri"/>
            </a:endParaRPr>
          </a:p>
        </p:txBody>
      </p:sp>
      <p:sp>
        <p:nvSpPr>
          <p:cNvPr id="1246" name="Google Shape;1246;p35"/>
          <p:cNvSpPr txBox="1"/>
          <p:nvPr/>
        </p:nvSpPr>
        <p:spPr>
          <a:xfrm>
            <a:off x="859536" y="2029968"/>
            <a:ext cx="6784848" cy="14211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71717"/>
              </a:buClr>
              <a:buSzPts val="2600"/>
              <a:buFont typeface="Inter"/>
              <a:buNone/>
            </a:pPr>
            <a:r>
              <a:rPr b="1" i="0" lang="en-US" sz="2600" u="none" cap="none" strike="noStrike">
                <a:solidFill>
                  <a:srgbClr val="171717"/>
                </a:solidFill>
                <a:latin typeface="Inter"/>
                <a:ea typeface="Inter"/>
                <a:cs typeface="Inter"/>
                <a:sym typeface="Inter"/>
              </a:rPr>
              <a:t>“Before we celebrate the promo, let's check for cannibalization: were those guests ___?”</a:t>
            </a:r>
            <a:endParaRPr b="0" i="0" sz="2600" u="none" cap="none" strike="noStrike">
              <a:solidFill>
                <a:schemeClr val="dk1"/>
              </a:solidFill>
              <a:latin typeface="Calibri"/>
              <a:ea typeface="Calibri"/>
              <a:cs typeface="Calibri"/>
              <a:sym typeface="Calibri"/>
            </a:endParaRPr>
          </a:p>
        </p:txBody>
      </p:sp>
      <p:sp>
        <p:nvSpPr>
          <p:cNvPr id="1247" name="Google Shape;1247;p35"/>
          <p:cNvSpPr txBox="1"/>
          <p:nvPr/>
        </p:nvSpPr>
        <p:spPr>
          <a:xfrm>
            <a:off x="859536" y="3579114"/>
            <a:ext cx="6784848" cy="49149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25252"/>
              </a:buClr>
              <a:buSzPts val="1300"/>
              <a:buFont typeface="Inter"/>
              <a:buNone/>
            </a:pPr>
            <a:r>
              <a:rPr b="0" i="0" lang="en-US" sz="1300" u="none" cap="none" strike="noStrike">
                <a:solidFill>
                  <a:srgbClr val="525252"/>
                </a:solidFill>
                <a:latin typeface="Inter"/>
                <a:ea typeface="Inter"/>
                <a:cs typeface="Inter"/>
                <a:sym typeface="Inter"/>
              </a:rPr>
              <a:t>Said to Walt, whose 15%-off code did 60 redemptions last month, most of them on Saturdays that sell out anyway.</a:t>
            </a:r>
            <a:endParaRPr b="0" i="0" sz="1300" u="none" cap="none" strike="noStrike">
              <a:solidFill>
                <a:schemeClr val="dk1"/>
              </a:solidFill>
              <a:latin typeface="Calibri"/>
              <a:ea typeface="Calibri"/>
              <a:cs typeface="Calibri"/>
              <a:sym typeface="Calibri"/>
            </a:endParaRPr>
          </a:p>
        </p:txBody>
      </p:sp>
      <p:sp>
        <p:nvSpPr>
          <p:cNvPr id="1248" name="Google Shape;1248;p35"/>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9" name="Google Shape;1249;p35"/>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edit.png" id="1250" name="Google Shape;1250;p35"/>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1251" name="Google Shape;1251;p35"/>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FILL THE LINE · 5 OF 5</a:t>
            </a:r>
            <a:endParaRPr b="0" i="0" sz="950" u="none" cap="none" strike="noStrike">
              <a:solidFill>
                <a:schemeClr val="dk1"/>
              </a:solidFill>
              <a:latin typeface="Calibri"/>
              <a:ea typeface="Calibri"/>
              <a:cs typeface="Calibri"/>
              <a:sym typeface="Calibri"/>
            </a:endParaRPr>
          </a:p>
        </p:txBody>
      </p:sp>
      <p:sp>
        <p:nvSpPr>
          <p:cNvPr id="1252" name="Google Shape;1252;p35"/>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Cast your vote</a:t>
            </a:r>
            <a:endParaRPr b="0" i="0" sz="1800" u="none" cap="none" strike="noStrike">
              <a:solidFill>
                <a:schemeClr val="dk1"/>
              </a:solidFill>
              <a:latin typeface="Calibri"/>
              <a:ea typeface="Calibri"/>
              <a:cs typeface="Calibri"/>
              <a:sym typeface="Calibri"/>
            </a:endParaRPr>
          </a:p>
        </p:txBody>
      </p:sp>
      <p:sp>
        <p:nvSpPr>
          <p:cNvPr id="1253" name="Google Shape;1253;p35"/>
          <p:cNvSpPr/>
          <p:nvPr/>
        </p:nvSpPr>
        <p:spPr>
          <a:xfrm>
            <a:off x="8549640" y="3200400"/>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4" name="Google Shape;1254;p35"/>
          <p:cNvSpPr/>
          <p:nvPr/>
        </p:nvSpPr>
        <p:spPr>
          <a:xfrm>
            <a:off x="8750808" y="3282696"/>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5" name="Google Shape;1255;p35"/>
          <p:cNvSpPr txBox="1"/>
          <p:nvPr/>
        </p:nvSpPr>
        <p:spPr>
          <a:xfrm>
            <a:off x="8750808" y="3282696"/>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sp>
        <p:nvSpPr>
          <p:cNvPr id="1256" name="Google Shape;1256;p35"/>
          <p:cNvSpPr txBox="1"/>
          <p:nvPr/>
        </p:nvSpPr>
        <p:spPr>
          <a:xfrm>
            <a:off x="9189720" y="3200400"/>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going to book anyway</a:t>
            </a:r>
            <a:endParaRPr b="0" i="0" sz="1250" u="none" cap="none" strike="noStrike">
              <a:solidFill>
                <a:schemeClr val="dk1"/>
              </a:solidFill>
              <a:latin typeface="Calibri"/>
              <a:ea typeface="Calibri"/>
              <a:cs typeface="Calibri"/>
              <a:sym typeface="Calibri"/>
            </a:endParaRPr>
          </a:p>
        </p:txBody>
      </p:sp>
      <p:sp>
        <p:nvSpPr>
          <p:cNvPr id="1257" name="Google Shape;1257;p35"/>
          <p:cNvSpPr/>
          <p:nvPr/>
        </p:nvSpPr>
        <p:spPr>
          <a:xfrm>
            <a:off x="8549640" y="3785616"/>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8" name="Google Shape;1258;p35"/>
          <p:cNvSpPr/>
          <p:nvPr/>
        </p:nvSpPr>
        <p:spPr>
          <a:xfrm>
            <a:off x="8750808" y="3867912"/>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9" name="Google Shape;1259;p35"/>
          <p:cNvSpPr txBox="1"/>
          <p:nvPr/>
        </p:nvSpPr>
        <p:spPr>
          <a:xfrm>
            <a:off x="8750808" y="3867912"/>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sp>
        <p:nvSpPr>
          <p:cNvPr id="1260" name="Google Shape;1260;p35"/>
          <p:cNvSpPr txBox="1"/>
          <p:nvPr/>
        </p:nvSpPr>
        <p:spPr>
          <a:xfrm>
            <a:off x="9189720" y="3785616"/>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new to the property</a:t>
            </a:r>
            <a:endParaRPr b="0" i="0" sz="1250" u="none" cap="none" strike="noStrike">
              <a:solidFill>
                <a:schemeClr val="dk1"/>
              </a:solidFill>
              <a:latin typeface="Calibri"/>
              <a:ea typeface="Calibri"/>
              <a:cs typeface="Calibri"/>
              <a:sym typeface="Calibri"/>
            </a:endParaRPr>
          </a:p>
        </p:txBody>
      </p:sp>
      <p:sp>
        <p:nvSpPr>
          <p:cNvPr id="1261" name="Google Shape;1261;p35"/>
          <p:cNvSpPr/>
          <p:nvPr/>
        </p:nvSpPr>
        <p:spPr>
          <a:xfrm>
            <a:off x="8549640" y="4370832"/>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2" name="Google Shape;1262;p35"/>
          <p:cNvSpPr/>
          <p:nvPr/>
        </p:nvSpPr>
        <p:spPr>
          <a:xfrm>
            <a:off x="8750808" y="4453128"/>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3" name="Google Shape;1263;p35"/>
          <p:cNvSpPr txBox="1"/>
          <p:nvPr/>
        </p:nvSpPr>
        <p:spPr>
          <a:xfrm>
            <a:off x="8750808" y="4453128"/>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sp>
        <p:nvSpPr>
          <p:cNvPr id="1264" name="Google Shape;1264;p35"/>
          <p:cNvSpPr txBox="1"/>
          <p:nvPr/>
        </p:nvSpPr>
        <p:spPr>
          <a:xfrm>
            <a:off x="9189720" y="4370832"/>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on the OTAs first</a:t>
            </a:r>
            <a:endParaRPr b="0" i="0" sz="1250" u="none" cap="none" strike="noStrike">
              <a:solidFill>
                <a:schemeClr val="dk1"/>
              </a:solidFill>
              <a:latin typeface="Calibri"/>
              <a:ea typeface="Calibri"/>
              <a:cs typeface="Calibri"/>
              <a:sym typeface="Calibri"/>
            </a:endParaRPr>
          </a:p>
        </p:txBody>
      </p:sp>
      <p:sp>
        <p:nvSpPr>
          <p:cNvPr id="1265" name="Google Shape;1265;p35"/>
          <p:cNvSpPr/>
          <p:nvPr/>
        </p:nvSpPr>
        <p:spPr>
          <a:xfrm>
            <a:off x="8549640" y="4956048"/>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6" name="Google Shape;1266;p35"/>
          <p:cNvSpPr/>
          <p:nvPr/>
        </p:nvSpPr>
        <p:spPr>
          <a:xfrm>
            <a:off x="8750808" y="5038344"/>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7" name="Google Shape;1267;p35"/>
          <p:cNvSpPr txBox="1"/>
          <p:nvPr/>
        </p:nvSpPr>
        <p:spPr>
          <a:xfrm>
            <a:off x="8750808" y="5038344"/>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sp>
        <p:nvSpPr>
          <p:cNvPr id="1268" name="Google Shape;1268;p35"/>
          <p:cNvSpPr txBox="1"/>
          <p:nvPr/>
        </p:nvSpPr>
        <p:spPr>
          <a:xfrm>
            <a:off x="9189720" y="4956048"/>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staying on a weekend</a:t>
            </a:r>
            <a:endParaRPr b="0" i="0" sz="1250" u="none" cap="none" strike="noStrike">
              <a:solidFill>
                <a:schemeClr val="dk1"/>
              </a:solidFill>
              <a:latin typeface="Calibri"/>
              <a:ea typeface="Calibri"/>
              <a:cs typeface="Calibri"/>
              <a:sym typeface="Calibri"/>
            </a:endParaRPr>
          </a:p>
        </p:txBody>
      </p:sp>
      <p:sp>
        <p:nvSpPr>
          <p:cNvPr id="1269" name="Google Shape;1269;p35"/>
          <p:cNvSpPr txBox="1"/>
          <p:nvPr/>
        </p:nvSpPr>
        <p:spPr>
          <a:xfrm>
            <a:off x="8549640" y="5522976"/>
            <a:ext cx="2816352" cy="548640"/>
          </a:xfrm>
          <a:prstGeom prst="rect">
            <a:avLst/>
          </a:prstGeom>
          <a:noFill/>
          <a:ln>
            <a:noFill/>
          </a:ln>
        </p:spPr>
        <p:txBody>
          <a:bodyPr anchorCtr="0" anchor="t" bIns="0" lIns="0" spcFirstLastPara="1" rIns="0" wrap="square" tIns="0">
            <a:noAutofit/>
          </a:bodyPr>
          <a:lstStyle/>
          <a:p>
            <a:pPr indent="0" lvl="0" marL="0" marR="0" rtl="0" algn="l">
              <a:lnSpc>
                <a:spcPct val="135047"/>
              </a:lnSpc>
              <a:spcBef>
                <a:spcPts val="0"/>
              </a:spcBef>
              <a:spcAft>
                <a:spcPts val="0"/>
              </a:spcAft>
              <a:buClr>
                <a:srgbClr val="737373"/>
              </a:buClr>
              <a:buSzPts val="1050"/>
              <a:buFont typeface="Inter"/>
              <a:buNone/>
            </a:pPr>
            <a:r>
              <a:rPr b="0" i="0" lang="en-US" sz="1050" u="none" cap="none" strike="noStrike">
                <a:solidFill>
                  <a:srgbClr val="737373"/>
                </a:solidFill>
                <a:latin typeface="Inter"/>
                <a:ea typeface="Inter"/>
                <a:cs typeface="Inter"/>
                <a:sym typeface="Inter"/>
              </a:rPr>
              <a:t>Vote first. Then the answer.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274" name="Shape 1274"/>
        <p:cNvGrpSpPr/>
        <p:nvPr/>
      </p:nvGrpSpPr>
      <p:grpSpPr>
        <a:xfrm>
          <a:off x="0" y="0"/>
          <a:ext cx="0" cy="0"/>
          <a:chOff x="0" y="0"/>
          <a:chExt cx="0" cy="0"/>
        </a:xfrm>
      </p:grpSpPr>
      <p:sp>
        <p:nvSpPr>
          <p:cNvPr id="1275" name="Google Shape;1275;p36"/>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FILL THE LINE · 5 OF 5</a:t>
            </a:r>
            <a:endParaRPr b="0" i="0" sz="1050" u="none" cap="none" strike="noStrike">
              <a:solidFill>
                <a:schemeClr val="dk1"/>
              </a:solidFill>
              <a:latin typeface="Calibri"/>
              <a:ea typeface="Calibri"/>
              <a:cs typeface="Calibri"/>
              <a:sym typeface="Calibri"/>
            </a:endParaRPr>
          </a:p>
        </p:txBody>
      </p:sp>
      <p:sp>
        <p:nvSpPr>
          <p:cNvPr id="1276" name="Google Shape;1276;p36"/>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Fill the blank</a:t>
            </a:r>
            <a:endParaRPr b="0" i="0" sz="3000" u="none" cap="none" strike="noStrike">
              <a:solidFill>
                <a:schemeClr val="dk1"/>
              </a:solidFill>
              <a:latin typeface="Calibri"/>
              <a:ea typeface="Calibri"/>
              <a:cs typeface="Calibri"/>
              <a:sym typeface="Calibri"/>
            </a:endParaRPr>
          </a:p>
        </p:txBody>
      </p:sp>
      <p:pic>
        <p:nvPicPr>
          <p:cNvPr descr="/home/claude/work/renderer/brand/wordmark.png" id="1277" name="Google Shape;1277;p36"/>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278" name="Google Shape;1278;p36"/>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34 / 48</a:t>
            </a:r>
            <a:endParaRPr b="0" i="0" sz="900" u="none" cap="none" strike="noStrike">
              <a:solidFill>
                <a:schemeClr val="dk1"/>
              </a:solidFill>
              <a:latin typeface="Calibri"/>
              <a:ea typeface="Calibri"/>
              <a:cs typeface="Calibri"/>
              <a:sym typeface="Calibri"/>
            </a:endParaRPr>
          </a:p>
        </p:txBody>
      </p:sp>
      <p:sp>
        <p:nvSpPr>
          <p:cNvPr id="1279" name="Google Shape;1279;p36"/>
          <p:cNvSpPr/>
          <p:nvPr/>
        </p:nvSpPr>
        <p:spPr>
          <a:xfrm>
            <a:off x="548640" y="1481328"/>
            <a:ext cx="7406640" cy="2686304"/>
          </a:xfrm>
          <a:prstGeom prst="roundRect">
            <a:avLst>
              <a:gd fmla="val 4085"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0" name="Google Shape;1280;p36"/>
          <p:cNvSpPr txBox="1"/>
          <p:nvPr/>
        </p:nvSpPr>
        <p:spPr>
          <a:xfrm>
            <a:off x="859536" y="1719072"/>
            <a:ext cx="6784848" cy="110261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71717"/>
              </a:buClr>
              <a:buSzPts val="2200"/>
              <a:buFont typeface="Inter"/>
              <a:buNone/>
            </a:pPr>
            <a:r>
              <a:rPr b="1" i="0" lang="en-US" sz="2200" u="none" cap="none" strike="noStrike">
                <a:solidFill>
                  <a:srgbClr val="171717"/>
                </a:solidFill>
                <a:latin typeface="Inter"/>
                <a:ea typeface="Inter"/>
                <a:cs typeface="Inter"/>
                <a:sym typeface="Inter"/>
              </a:rPr>
              <a:t>“Before we celebrate the promo, let's check for cannibalization: were those guests ___?”</a:t>
            </a:r>
            <a:endParaRPr b="0" i="0" sz="2200" u="none" cap="none" strike="noStrike">
              <a:solidFill>
                <a:schemeClr val="dk1"/>
              </a:solidFill>
              <a:latin typeface="Calibri"/>
              <a:ea typeface="Calibri"/>
              <a:cs typeface="Calibri"/>
              <a:sym typeface="Calibri"/>
            </a:endParaRPr>
          </a:p>
        </p:txBody>
      </p:sp>
      <p:sp>
        <p:nvSpPr>
          <p:cNvPr id="1281" name="Google Shape;1281;p36"/>
          <p:cNvSpPr/>
          <p:nvPr/>
        </p:nvSpPr>
        <p:spPr>
          <a:xfrm>
            <a:off x="548640" y="4350512"/>
            <a:ext cx="7406640" cy="1958848"/>
          </a:xfrm>
          <a:prstGeom prst="roundRect">
            <a:avLst>
              <a:gd fmla="val 5602"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2" name="Google Shape;1282;p36"/>
          <p:cNvSpPr txBox="1"/>
          <p:nvPr/>
        </p:nvSpPr>
        <p:spPr>
          <a:xfrm>
            <a:off x="859536" y="4533392"/>
            <a:ext cx="6784848"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900"/>
              <a:buFont typeface="Roboto Mono"/>
              <a:buNone/>
            </a:pPr>
            <a:r>
              <a:rPr b="0" i="0" lang="en-US" sz="900" u="none" cap="none" strike="noStrike">
                <a:solidFill>
                  <a:srgbClr val="15803D"/>
                </a:solidFill>
                <a:latin typeface="Roboto Mono"/>
                <a:ea typeface="Roboto Mono"/>
                <a:cs typeface="Roboto Mono"/>
                <a:sym typeface="Roboto Mono"/>
              </a:rPr>
              <a:t>WHY</a:t>
            </a:r>
            <a:endParaRPr b="0" i="0" sz="900" u="none" cap="none" strike="noStrike">
              <a:solidFill>
                <a:schemeClr val="dk1"/>
              </a:solidFill>
              <a:latin typeface="Calibri"/>
              <a:ea typeface="Calibri"/>
              <a:cs typeface="Calibri"/>
              <a:sym typeface="Calibri"/>
            </a:endParaRPr>
          </a:p>
        </p:txBody>
      </p:sp>
      <p:sp>
        <p:nvSpPr>
          <p:cNvPr id="1283" name="Google Shape;1283;p36"/>
          <p:cNvSpPr txBox="1"/>
          <p:nvPr/>
        </p:nvSpPr>
        <p:spPr>
          <a:xfrm>
            <a:off x="859536" y="4789424"/>
            <a:ext cx="6784848" cy="84582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1" i="0" lang="en-US" sz="1100" u="none" cap="none" strike="noStrike">
                <a:solidFill>
                  <a:srgbClr val="404040"/>
                </a:solidFill>
                <a:latin typeface="Inter"/>
                <a:ea typeface="Inter"/>
                <a:cs typeface="Inter"/>
                <a:sym typeface="Inter"/>
              </a:rPr>
              <a:t>Cannibalization is a discount given to a booking that was coming anyway.</a:t>
            </a:r>
            <a:r>
              <a:rPr b="0" i="0" lang="en-US" sz="1100" u="none" cap="none" strike="noStrike">
                <a:solidFill>
                  <a:srgbClr val="404040"/>
                </a:solidFill>
                <a:latin typeface="Inter"/>
                <a:ea typeface="Inter"/>
                <a:cs typeface="Inter"/>
                <a:sym typeface="Inter"/>
              </a:rPr>
              <a:t> Walt's Saturdays sell out at full rate, so most of those 60 redemptions moved revenue and gave 15% away. Whether the guests were new, on an OTA or on a weekend doesn't settle it; whether they'd have booked without the code does. Point the code at the soft dates.</a:t>
            </a:r>
            <a:endParaRPr b="0" i="0" sz="1100" u="none" cap="none" strike="noStrike">
              <a:solidFill>
                <a:schemeClr val="dk1"/>
              </a:solidFill>
              <a:latin typeface="Calibri"/>
              <a:ea typeface="Calibri"/>
              <a:cs typeface="Calibri"/>
              <a:sym typeface="Calibri"/>
            </a:endParaRPr>
          </a:p>
        </p:txBody>
      </p:sp>
      <p:sp>
        <p:nvSpPr>
          <p:cNvPr id="1284" name="Google Shape;1284;p36"/>
          <p:cNvSpPr txBox="1"/>
          <p:nvPr/>
        </p:nvSpPr>
        <p:spPr>
          <a:xfrm>
            <a:off x="859536" y="5671820"/>
            <a:ext cx="6784848" cy="491236"/>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5803D"/>
              </a:buClr>
              <a:buSzPts val="1100"/>
              <a:buFont typeface="Inter"/>
              <a:buNone/>
            </a:pPr>
            <a:r>
              <a:rPr b="1" i="0" lang="en-US" sz="1100" u="none" cap="none" strike="noStrike">
                <a:solidFill>
                  <a:srgbClr val="15803D"/>
                </a:solidFill>
                <a:latin typeface="Inter"/>
                <a:ea typeface="Inter"/>
                <a:cs typeface="Inter"/>
                <a:sym typeface="Inter"/>
              </a:rPr>
              <a:t>“Before we celebrate the promo, let's check for cannibalization: were those guests going to book anyway?”</a:t>
            </a:r>
            <a:endParaRPr b="0" i="0" sz="1100" u="none" cap="none" strike="noStrike">
              <a:solidFill>
                <a:schemeClr val="dk1"/>
              </a:solidFill>
              <a:latin typeface="Calibri"/>
              <a:ea typeface="Calibri"/>
              <a:cs typeface="Calibri"/>
              <a:sym typeface="Calibri"/>
            </a:endParaRPr>
          </a:p>
        </p:txBody>
      </p:sp>
      <p:sp>
        <p:nvSpPr>
          <p:cNvPr id="1285" name="Google Shape;1285;p36"/>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6" name="Google Shape;1286;p36"/>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edit.png" id="1287" name="Google Shape;1287;p36"/>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1288" name="Google Shape;1288;p36"/>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THE ANSWER</a:t>
            </a:r>
            <a:endParaRPr b="0" i="0" sz="950" u="none" cap="none" strike="noStrike">
              <a:solidFill>
                <a:schemeClr val="dk1"/>
              </a:solidFill>
              <a:latin typeface="Calibri"/>
              <a:ea typeface="Calibri"/>
              <a:cs typeface="Calibri"/>
              <a:sym typeface="Calibri"/>
            </a:endParaRPr>
          </a:p>
        </p:txBody>
      </p:sp>
      <p:sp>
        <p:nvSpPr>
          <p:cNvPr id="1289" name="Google Shape;1289;p36"/>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The answer</a:t>
            </a:r>
            <a:endParaRPr b="0" i="0" sz="1800" u="none" cap="none" strike="noStrike">
              <a:solidFill>
                <a:schemeClr val="dk1"/>
              </a:solidFill>
              <a:latin typeface="Calibri"/>
              <a:ea typeface="Calibri"/>
              <a:cs typeface="Calibri"/>
              <a:sym typeface="Calibri"/>
            </a:endParaRPr>
          </a:p>
        </p:txBody>
      </p:sp>
      <p:sp>
        <p:nvSpPr>
          <p:cNvPr id="1290" name="Google Shape;1290;p36"/>
          <p:cNvSpPr/>
          <p:nvPr/>
        </p:nvSpPr>
        <p:spPr>
          <a:xfrm>
            <a:off x="8549640" y="3200400"/>
            <a:ext cx="2816352" cy="475488"/>
          </a:xfrm>
          <a:prstGeom prst="roundRect">
            <a:avLst>
              <a:gd fmla="val 19231"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check-circle.png" id="1291" name="Google Shape;1291;p36"/>
          <p:cNvPicPr preferRelativeResize="0"/>
          <p:nvPr/>
        </p:nvPicPr>
        <p:blipFill rotWithShape="1">
          <a:blip r:embed="rId5">
            <a:alphaModFix/>
          </a:blip>
          <a:srcRect b="0" l="0" r="0" t="0"/>
          <a:stretch/>
        </p:blipFill>
        <p:spPr>
          <a:xfrm>
            <a:off x="8750808" y="3282696"/>
            <a:ext cx="310896" cy="310896"/>
          </a:xfrm>
          <a:prstGeom prst="rect">
            <a:avLst/>
          </a:prstGeom>
          <a:noFill/>
          <a:ln>
            <a:noFill/>
          </a:ln>
        </p:spPr>
      </p:pic>
      <p:sp>
        <p:nvSpPr>
          <p:cNvPr id="1292" name="Google Shape;1292;p36"/>
          <p:cNvSpPr txBox="1"/>
          <p:nvPr/>
        </p:nvSpPr>
        <p:spPr>
          <a:xfrm>
            <a:off x="9189720" y="3200400"/>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803D"/>
              </a:buClr>
              <a:buSzPts val="1250"/>
              <a:buFont typeface="Inter"/>
              <a:buNone/>
            </a:pPr>
            <a:r>
              <a:rPr b="1" i="0" lang="en-US" sz="1250" u="none" cap="none" strike="noStrike">
                <a:solidFill>
                  <a:srgbClr val="15803D"/>
                </a:solidFill>
                <a:latin typeface="Inter"/>
                <a:ea typeface="Inter"/>
                <a:cs typeface="Inter"/>
                <a:sym typeface="Inter"/>
              </a:rPr>
              <a:t>going to book anyway</a:t>
            </a:r>
            <a:endParaRPr b="0" i="0" sz="1250" u="none" cap="none" strike="noStrike">
              <a:solidFill>
                <a:schemeClr val="dk1"/>
              </a:solidFill>
              <a:latin typeface="Calibri"/>
              <a:ea typeface="Calibri"/>
              <a:cs typeface="Calibri"/>
              <a:sym typeface="Calibri"/>
            </a:endParaRPr>
          </a:p>
        </p:txBody>
      </p:sp>
      <p:sp>
        <p:nvSpPr>
          <p:cNvPr id="1293" name="Google Shape;1293;p36"/>
          <p:cNvSpPr/>
          <p:nvPr/>
        </p:nvSpPr>
        <p:spPr>
          <a:xfrm>
            <a:off x="8549640" y="3785616"/>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4" name="Google Shape;1294;p36"/>
          <p:cNvSpPr/>
          <p:nvPr/>
        </p:nvSpPr>
        <p:spPr>
          <a:xfrm>
            <a:off x="8750808" y="3867912"/>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5" name="Google Shape;1295;p36"/>
          <p:cNvSpPr txBox="1"/>
          <p:nvPr/>
        </p:nvSpPr>
        <p:spPr>
          <a:xfrm>
            <a:off x="8750808" y="3867912"/>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sp>
        <p:nvSpPr>
          <p:cNvPr id="1296" name="Google Shape;1296;p36"/>
          <p:cNvSpPr txBox="1"/>
          <p:nvPr/>
        </p:nvSpPr>
        <p:spPr>
          <a:xfrm>
            <a:off x="9189720" y="3785616"/>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new to the property</a:t>
            </a:r>
            <a:endParaRPr b="0" i="0" sz="1250" u="none" cap="none" strike="noStrike">
              <a:solidFill>
                <a:schemeClr val="dk1"/>
              </a:solidFill>
              <a:latin typeface="Calibri"/>
              <a:ea typeface="Calibri"/>
              <a:cs typeface="Calibri"/>
              <a:sym typeface="Calibri"/>
            </a:endParaRPr>
          </a:p>
        </p:txBody>
      </p:sp>
      <p:sp>
        <p:nvSpPr>
          <p:cNvPr id="1297" name="Google Shape;1297;p36"/>
          <p:cNvSpPr/>
          <p:nvPr/>
        </p:nvSpPr>
        <p:spPr>
          <a:xfrm>
            <a:off x="8549640" y="4370832"/>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8" name="Google Shape;1298;p36"/>
          <p:cNvSpPr/>
          <p:nvPr/>
        </p:nvSpPr>
        <p:spPr>
          <a:xfrm>
            <a:off x="8750808" y="4453128"/>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9" name="Google Shape;1299;p36"/>
          <p:cNvSpPr txBox="1"/>
          <p:nvPr/>
        </p:nvSpPr>
        <p:spPr>
          <a:xfrm>
            <a:off x="8750808" y="4453128"/>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sp>
        <p:nvSpPr>
          <p:cNvPr id="1300" name="Google Shape;1300;p36"/>
          <p:cNvSpPr txBox="1"/>
          <p:nvPr/>
        </p:nvSpPr>
        <p:spPr>
          <a:xfrm>
            <a:off x="9189720" y="4370832"/>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on the OTAs first</a:t>
            </a:r>
            <a:endParaRPr b="0" i="0" sz="1250" u="none" cap="none" strike="noStrike">
              <a:solidFill>
                <a:schemeClr val="dk1"/>
              </a:solidFill>
              <a:latin typeface="Calibri"/>
              <a:ea typeface="Calibri"/>
              <a:cs typeface="Calibri"/>
              <a:sym typeface="Calibri"/>
            </a:endParaRPr>
          </a:p>
        </p:txBody>
      </p:sp>
      <p:sp>
        <p:nvSpPr>
          <p:cNvPr id="1301" name="Google Shape;1301;p36"/>
          <p:cNvSpPr/>
          <p:nvPr/>
        </p:nvSpPr>
        <p:spPr>
          <a:xfrm>
            <a:off x="8549640" y="4956048"/>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2" name="Google Shape;1302;p36"/>
          <p:cNvSpPr/>
          <p:nvPr/>
        </p:nvSpPr>
        <p:spPr>
          <a:xfrm>
            <a:off x="8750808" y="5038344"/>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3" name="Google Shape;1303;p36"/>
          <p:cNvSpPr txBox="1"/>
          <p:nvPr/>
        </p:nvSpPr>
        <p:spPr>
          <a:xfrm>
            <a:off x="8750808" y="5038344"/>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sp>
        <p:nvSpPr>
          <p:cNvPr id="1304" name="Google Shape;1304;p36"/>
          <p:cNvSpPr txBox="1"/>
          <p:nvPr/>
        </p:nvSpPr>
        <p:spPr>
          <a:xfrm>
            <a:off x="9189720" y="4956048"/>
            <a:ext cx="2029968"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staying on a weekend</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309" name="Shape 1309"/>
        <p:cNvGrpSpPr/>
        <p:nvPr/>
      </p:nvGrpSpPr>
      <p:grpSpPr>
        <a:xfrm>
          <a:off x="0" y="0"/>
          <a:ext cx="0" cy="0"/>
          <a:chOff x="0" y="0"/>
          <a:chExt cx="0" cy="0"/>
        </a:xfrm>
      </p:grpSpPr>
      <p:sp>
        <p:nvSpPr>
          <p:cNvPr id="1310" name="Google Shape;1310;p37"/>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6 · THE STACK</a:t>
            </a:r>
            <a:endParaRPr b="0" i="0" sz="1050" u="none" cap="none" strike="noStrike">
              <a:solidFill>
                <a:schemeClr val="dk1"/>
              </a:solidFill>
              <a:latin typeface="Calibri"/>
              <a:ea typeface="Calibri"/>
              <a:cs typeface="Calibri"/>
              <a:sym typeface="Calibri"/>
            </a:endParaRPr>
          </a:p>
        </p:txBody>
      </p:sp>
      <p:sp>
        <p:nvSpPr>
          <p:cNvPr id="1311" name="Google Shape;1311;p37"/>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Block 6: the stack</a:t>
            </a:r>
            <a:endParaRPr b="0" i="0" sz="3000" u="none" cap="none" strike="noStrike">
              <a:solidFill>
                <a:schemeClr val="dk1"/>
              </a:solidFill>
              <a:latin typeface="Calibri"/>
              <a:ea typeface="Calibri"/>
              <a:cs typeface="Calibri"/>
              <a:sym typeface="Calibri"/>
            </a:endParaRPr>
          </a:p>
        </p:txBody>
      </p:sp>
      <p:sp>
        <p:nvSpPr>
          <p:cNvPr id="1312" name="Google Shape;1312;p37"/>
          <p:cNvSpPr txBox="1"/>
          <p:nvPr/>
        </p:nvSpPr>
        <p:spPr>
          <a:xfrm>
            <a:off x="548640" y="1426464"/>
            <a:ext cx="1106424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1400"/>
              <a:buFont typeface="Inter"/>
              <a:buNone/>
            </a:pPr>
            <a:r>
              <a:rPr b="0" i="0" lang="en-US" sz="1400" u="none" cap="none" strike="noStrike">
                <a:solidFill>
                  <a:srgbClr val="004FAA"/>
                </a:solidFill>
                <a:latin typeface="Inter"/>
                <a:ea typeface="Inter"/>
                <a:cs typeface="Inter"/>
                <a:sym typeface="Inter"/>
              </a:rPr>
              <a:t>Five terms about the systems a property runs on, and the names you'll hear.</a:t>
            </a:r>
            <a:endParaRPr b="0" i="0" sz="1400" u="none" cap="none" strike="noStrike">
              <a:solidFill>
                <a:schemeClr val="dk1"/>
              </a:solidFill>
              <a:latin typeface="Calibri"/>
              <a:ea typeface="Calibri"/>
              <a:cs typeface="Calibri"/>
              <a:sym typeface="Calibri"/>
            </a:endParaRPr>
          </a:p>
        </p:txBody>
      </p:sp>
      <p:pic>
        <p:nvPicPr>
          <p:cNvPr descr="/home/claude/work/renderer/brand/wordmark.png" id="1313" name="Google Shape;1313;p37"/>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314" name="Google Shape;1314;p37"/>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35 / 48</a:t>
            </a:r>
            <a:endParaRPr b="0" i="0" sz="900" u="none" cap="none" strike="noStrike">
              <a:solidFill>
                <a:schemeClr val="dk1"/>
              </a:solidFill>
              <a:latin typeface="Calibri"/>
              <a:ea typeface="Calibri"/>
              <a:cs typeface="Calibri"/>
              <a:sym typeface="Calibri"/>
            </a:endParaRPr>
          </a:p>
        </p:txBody>
      </p:sp>
      <p:sp>
        <p:nvSpPr>
          <p:cNvPr id="1315" name="Google Shape;1315;p37"/>
          <p:cNvSpPr/>
          <p:nvPr/>
        </p:nvSpPr>
        <p:spPr>
          <a:xfrm>
            <a:off x="548640" y="1920240"/>
            <a:ext cx="3545738" cy="2098548"/>
          </a:xfrm>
          <a:prstGeom prst="roundRect">
            <a:avLst>
              <a:gd fmla="val 522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6" name="Google Shape;1316;p37"/>
          <p:cNvSpPr txBox="1"/>
          <p:nvPr/>
        </p:nvSpPr>
        <p:spPr>
          <a:xfrm>
            <a:off x="822960" y="2139696"/>
            <a:ext cx="73152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01</a:t>
            </a:r>
            <a:endParaRPr b="0" i="0" sz="1600" u="none" cap="none" strike="noStrike">
              <a:solidFill>
                <a:schemeClr val="dk1"/>
              </a:solidFill>
              <a:latin typeface="Calibri"/>
              <a:ea typeface="Calibri"/>
              <a:cs typeface="Calibri"/>
              <a:sym typeface="Calibri"/>
            </a:endParaRPr>
          </a:p>
        </p:txBody>
      </p:sp>
      <p:sp>
        <p:nvSpPr>
          <p:cNvPr id="1317" name="Google Shape;1317;p37"/>
          <p:cNvSpPr/>
          <p:nvPr/>
        </p:nvSpPr>
        <p:spPr>
          <a:xfrm>
            <a:off x="3399434" y="2121408"/>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grid.png" id="1318" name="Google Shape;1318;p37"/>
          <p:cNvPicPr preferRelativeResize="0"/>
          <p:nvPr/>
        </p:nvPicPr>
        <p:blipFill rotWithShape="1">
          <a:blip r:embed="rId4">
            <a:alphaModFix/>
          </a:blip>
          <a:srcRect b="0" l="0" r="0" t="0"/>
          <a:stretch/>
        </p:blipFill>
        <p:spPr>
          <a:xfrm>
            <a:off x="3491972" y="2213945"/>
            <a:ext cx="235549" cy="235549"/>
          </a:xfrm>
          <a:prstGeom prst="rect">
            <a:avLst/>
          </a:prstGeom>
          <a:noFill/>
          <a:ln>
            <a:noFill/>
          </a:ln>
        </p:spPr>
      </p:pic>
      <p:sp>
        <p:nvSpPr>
          <p:cNvPr id="1319" name="Google Shape;1319;p37"/>
          <p:cNvSpPr txBox="1"/>
          <p:nvPr/>
        </p:nvSpPr>
        <p:spPr>
          <a:xfrm>
            <a:off x="822960" y="2523744"/>
            <a:ext cx="2997098" cy="86868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700"/>
              <a:buFont typeface="Inter"/>
              <a:buNone/>
            </a:pPr>
            <a:r>
              <a:rPr b="1" i="0" lang="en-US" sz="1700" u="none" cap="none" strike="noStrike">
                <a:solidFill>
                  <a:srgbClr val="171717"/>
                </a:solidFill>
                <a:latin typeface="Inter"/>
                <a:ea typeface="Inter"/>
                <a:cs typeface="Inter"/>
                <a:sym typeface="Inter"/>
              </a:rPr>
              <a:t>The tools map</a:t>
            </a:r>
            <a:endParaRPr b="0" i="0" sz="1700" u="none" cap="none" strike="noStrike">
              <a:solidFill>
                <a:schemeClr val="dk1"/>
              </a:solidFill>
              <a:latin typeface="Calibri"/>
              <a:ea typeface="Calibri"/>
              <a:cs typeface="Calibri"/>
              <a:sym typeface="Calibri"/>
            </a:endParaRPr>
          </a:p>
        </p:txBody>
      </p:sp>
      <p:sp>
        <p:nvSpPr>
          <p:cNvPr id="1320" name="Google Shape;1320;p37"/>
          <p:cNvSpPr txBox="1"/>
          <p:nvPr/>
        </p:nvSpPr>
        <p:spPr>
          <a:xfrm>
            <a:off x="822960" y="3410712"/>
            <a:ext cx="2997098" cy="45262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PMS, channel manager, booking engine, dynamic pricing: one slide each.</a:t>
            </a:r>
            <a:endParaRPr b="0" i="0" sz="1150" u="none" cap="none" strike="noStrike">
              <a:solidFill>
                <a:schemeClr val="dk1"/>
              </a:solidFill>
              <a:latin typeface="Calibri"/>
              <a:ea typeface="Calibri"/>
              <a:cs typeface="Calibri"/>
              <a:sym typeface="Calibri"/>
            </a:endParaRPr>
          </a:p>
        </p:txBody>
      </p:sp>
      <p:sp>
        <p:nvSpPr>
          <p:cNvPr id="1321" name="Google Shape;1321;p37"/>
          <p:cNvSpPr/>
          <p:nvPr/>
        </p:nvSpPr>
        <p:spPr>
          <a:xfrm>
            <a:off x="4322978" y="1920240"/>
            <a:ext cx="3545738" cy="2098548"/>
          </a:xfrm>
          <a:prstGeom prst="roundRect">
            <a:avLst>
              <a:gd fmla="val 522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2" name="Google Shape;1322;p37"/>
          <p:cNvSpPr txBox="1"/>
          <p:nvPr/>
        </p:nvSpPr>
        <p:spPr>
          <a:xfrm>
            <a:off x="4597298" y="2139696"/>
            <a:ext cx="73152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02</a:t>
            </a:r>
            <a:endParaRPr b="0" i="0" sz="1600" u="none" cap="none" strike="noStrike">
              <a:solidFill>
                <a:schemeClr val="dk1"/>
              </a:solidFill>
              <a:latin typeface="Calibri"/>
              <a:ea typeface="Calibri"/>
              <a:cs typeface="Calibri"/>
              <a:sym typeface="Calibri"/>
            </a:endParaRPr>
          </a:p>
        </p:txBody>
      </p:sp>
      <p:sp>
        <p:nvSpPr>
          <p:cNvPr id="1323" name="Google Shape;1323;p37"/>
          <p:cNvSpPr/>
          <p:nvPr/>
        </p:nvSpPr>
        <p:spPr>
          <a:xfrm>
            <a:off x="7173773" y="2121408"/>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search-md.png" id="1324" name="Google Shape;1324;p37"/>
          <p:cNvPicPr preferRelativeResize="0"/>
          <p:nvPr/>
        </p:nvPicPr>
        <p:blipFill rotWithShape="1">
          <a:blip r:embed="rId5">
            <a:alphaModFix/>
          </a:blip>
          <a:srcRect b="0" l="0" r="0" t="0"/>
          <a:stretch/>
        </p:blipFill>
        <p:spPr>
          <a:xfrm>
            <a:off x="7266310" y="2213945"/>
            <a:ext cx="235549" cy="235549"/>
          </a:xfrm>
          <a:prstGeom prst="rect">
            <a:avLst/>
          </a:prstGeom>
          <a:noFill/>
          <a:ln>
            <a:noFill/>
          </a:ln>
        </p:spPr>
      </p:pic>
      <p:sp>
        <p:nvSpPr>
          <p:cNvPr id="1325" name="Google Shape;1325;p37"/>
          <p:cNvSpPr txBox="1"/>
          <p:nvPr/>
        </p:nvSpPr>
        <p:spPr>
          <a:xfrm>
            <a:off x="4597298" y="2523744"/>
            <a:ext cx="2997098" cy="86868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700"/>
              <a:buFont typeface="Inter"/>
              <a:buNone/>
            </a:pPr>
            <a:r>
              <a:rPr b="1" i="0" lang="en-US" sz="1700" u="none" cap="none" strike="noStrike">
                <a:solidFill>
                  <a:srgbClr val="171717"/>
                </a:solidFill>
                <a:latin typeface="Inter"/>
                <a:ea typeface="Inter"/>
                <a:cs typeface="Inter"/>
                <a:sym typeface="Inter"/>
              </a:rPr>
              <a:t>Rate shopping and market intelligence tools</a:t>
            </a:r>
            <a:endParaRPr b="0" i="0" sz="1700" u="none" cap="none" strike="noStrike">
              <a:solidFill>
                <a:schemeClr val="dk1"/>
              </a:solidFill>
              <a:latin typeface="Calibri"/>
              <a:ea typeface="Calibri"/>
              <a:cs typeface="Calibri"/>
              <a:sym typeface="Calibri"/>
            </a:endParaRPr>
          </a:p>
        </p:txBody>
      </p:sp>
      <p:sp>
        <p:nvSpPr>
          <p:cNvPr id="1326" name="Google Shape;1326;p37"/>
          <p:cNvSpPr txBox="1"/>
          <p:nvPr/>
        </p:nvSpPr>
        <p:spPr>
          <a:xfrm>
            <a:off x="4597298" y="3410712"/>
            <a:ext cx="2997098" cy="45262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What the neighbours charge tonight.</a:t>
            </a:r>
            <a:endParaRPr b="0" i="0" sz="1150" u="none" cap="none" strike="noStrike">
              <a:solidFill>
                <a:schemeClr val="dk1"/>
              </a:solidFill>
              <a:latin typeface="Calibri"/>
              <a:ea typeface="Calibri"/>
              <a:cs typeface="Calibri"/>
              <a:sym typeface="Calibri"/>
            </a:endParaRPr>
          </a:p>
        </p:txBody>
      </p:sp>
      <p:sp>
        <p:nvSpPr>
          <p:cNvPr id="1327" name="Google Shape;1327;p37"/>
          <p:cNvSpPr/>
          <p:nvPr/>
        </p:nvSpPr>
        <p:spPr>
          <a:xfrm>
            <a:off x="8097317" y="1920240"/>
            <a:ext cx="3545738" cy="2098548"/>
          </a:xfrm>
          <a:prstGeom prst="roundRect">
            <a:avLst>
              <a:gd fmla="val 522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8" name="Google Shape;1328;p37"/>
          <p:cNvSpPr txBox="1"/>
          <p:nvPr/>
        </p:nvSpPr>
        <p:spPr>
          <a:xfrm>
            <a:off x="8371637" y="2139696"/>
            <a:ext cx="73152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03</a:t>
            </a:r>
            <a:endParaRPr b="0" i="0" sz="1600" u="none" cap="none" strike="noStrike">
              <a:solidFill>
                <a:schemeClr val="dk1"/>
              </a:solidFill>
              <a:latin typeface="Calibri"/>
              <a:ea typeface="Calibri"/>
              <a:cs typeface="Calibri"/>
              <a:sym typeface="Calibri"/>
            </a:endParaRPr>
          </a:p>
        </p:txBody>
      </p:sp>
      <p:sp>
        <p:nvSpPr>
          <p:cNvPr id="1329" name="Google Shape;1329;p37"/>
          <p:cNvSpPr/>
          <p:nvPr/>
        </p:nvSpPr>
        <p:spPr>
          <a:xfrm>
            <a:off x="10948111" y="2121408"/>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users.png" id="1330" name="Google Shape;1330;p37"/>
          <p:cNvPicPr preferRelativeResize="0"/>
          <p:nvPr/>
        </p:nvPicPr>
        <p:blipFill rotWithShape="1">
          <a:blip r:embed="rId6">
            <a:alphaModFix/>
          </a:blip>
          <a:srcRect b="0" l="0" r="0" t="0"/>
          <a:stretch/>
        </p:blipFill>
        <p:spPr>
          <a:xfrm>
            <a:off x="11040648" y="2213945"/>
            <a:ext cx="235549" cy="235549"/>
          </a:xfrm>
          <a:prstGeom prst="rect">
            <a:avLst/>
          </a:prstGeom>
          <a:noFill/>
          <a:ln>
            <a:noFill/>
          </a:ln>
        </p:spPr>
      </p:pic>
      <p:sp>
        <p:nvSpPr>
          <p:cNvPr id="1331" name="Google Shape;1331;p37"/>
          <p:cNvSpPr txBox="1"/>
          <p:nvPr/>
        </p:nvSpPr>
        <p:spPr>
          <a:xfrm>
            <a:off x="8371637" y="2523744"/>
            <a:ext cx="2997098" cy="86868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700"/>
              <a:buFont typeface="Inter"/>
              <a:buNone/>
            </a:pPr>
            <a:r>
              <a:rPr b="1" i="0" lang="en-US" sz="1700" u="none" cap="none" strike="noStrike">
                <a:solidFill>
                  <a:srgbClr val="171717"/>
                </a:solidFill>
                <a:latin typeface="Inter"/>
                <a:ea typeface="Inter"/>
                <a:cs typeface="Inter"/>
                <a:sym typeface="Inter"/>
              </a:rPr>
              <a:t>CRM tools</a:t>
            </a:r>
            <a:endParaRPr b="0" i="0" sz="1700" u="none" cap="none" strike="noStrike">
              <a:solidFill>
                <a:schemeClr val="dk1"/>
              </a:solidFill>
              <a:latin typeface="Calibri"/>
              <a:ea typeface="Calibri"/>
              <a:cs typeface="Calibri"/>
              <a:sym typeface="Calibri"/>
            </a:endParaRPr>
          </a:p>
        </p:txBody>
      </p:sp>
      <p:sp>
        <p:nvSpPr>
          <p:cNvPr id="1332" name="Google Shape;1332;p37"/>
          <p:cNvSpPr txBox="1"/>
          <p:nvPr/>
        </p:nvSpPr>
        <p:spPr>
          <a:xfrm>
            <a:off x="8371637" y="3410712"/>
            <a:ext cx="2997098" cy="45262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Customer relationship management: where the guest list lives.</a:t>
            </a:r>
            <a:endParaRPr b="0" i="0" sz="1150" u="none" cap="none" strike="noStrike">
              <a:solidFill>
                <a:schemeClr val="dk1"/>
              </a:solidFill>
              <a:latin typeface="Calibri"/>
              <a:ea typeface="Calibri"/>
              <a:cs typeface="Calibri"/>
              <a:sym typeface="Calibri"/>
            </a:endParaRPr>
          </a:p>
        </p:txBody>
      </p:sp>
      <p:sp>
        <p:nvSpPr>
          <p:cNvPr id="1333" name="Google Shape;1333;p37"/>
          <p:cNvSpPr/>
          <p:nvPr/>
        </p:nvSpPr>
        <p:spPr>
          <a:xfrm>
            <a:off x="548640" y="4247388"/>
            <a:ext cx="3545738" cy="2098548"/>
          </a:xfrm>
          <a:prstGeom prst="roundRect">
            <a:avLst>
              <a:gd fmla="val 522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4" name="Google Shape;1334;p37"/>
          <p:cNvSpPr txBox="1"/>
          <p:nvPr/>
        </p:nvSpPr>
        <p:spPr>
          <a:xfrm>
            <a:off x="822960" y="4466844"/>
            <a:ext cx="73152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04</a:t>
            </a:r>
            <a:endParaRPr b="0" i="0" sz="1600" u="none" cap="none" strike="noStrike">
              <a:solidFill>
                <a:schemeClr val="dk1"/>
              </a:solidFill>
              <a:latin typeface="Calibri"/>
              <a:ea typeface="Calibri"/>
              <a:cs typeface="Calibri"/>
              <a:sym typeface="Calibri"/>
            </a:endParaRPr>
          </a:p>
        </p:txBody>
      </p:sp>
      <p:sp>
        <p:nvSpPr>
          <p:cNvPr id="1335" name="Google Shape;1335;p37"/>
          <p:cNvSpPr/>
          <p:nvPr/>
        </p:nvSpPr>
        <p:spPr>
          <a:xfrm>
            <a:off x="3399434" y="4448556"/>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message-chat.png" id="1336" name="Google Shape;1336;p37"/>
          <p:cNvPicPr preferRelativeResize="0"/>
          <p:nvPr/>
        </p:nvPicPr>
        <p:blipFill rotWithShape="1">
          <a:blip r:embed="rId7">
            <a:alphaModFix/>
          </a:blip>
          <a:srcRect b="0" l="0" r="0" t="0"/>
          <a:stretch/>
        </p:blipFill>
        <p:spPr>
          <a:xfrm>
            <a:off x="3491972" y="4541093"/>
            <a:ext cx="235549" cy="235549"/>
          </a:xfrm>
          <a:prstGeom prst="rect">
            <a:avLst/>
          </a:prstGeom>
          <a:noFill/>
          <a:ln>
            <a:noFill/>
          </a:ln>
        </p:spPr>
      </p:pic>
      <p:sp>
        <p:nvSpPr>
          <p:cNvPr id="1337" name="Google Shape;1337;p37"/>
          <p:cNvSpPr txBox="1"/>
          <p:nvPr/>
        </p:nvSpPr>
        <p:spPr>
          <a:xfrm>
            <a:off x="822960" y="4850892"/>
            <a:ext cx="2997098" cy="86868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700"/>
              <a:buFont typeface="Inter"/>
              <a:buNone/>
            </a:pPr>
            <a:r>
              <a:rPr b="1" i="0" lang="en-US" sz="1700" u="none" cap="none" strike="noStrike">
                <a:solidFill>
                  <a:srgbClr val="171717"/>
                </a:solidFill>
                <a:latin typeface="Inter"/>
                <a:ea typeface="Inter"/>
                <a:cs typeface="Inter"/>
                <a:sym typeface="Inter"/>
              </a:rPr>
              <a:t>Guest messaging tools</a:t>
            </a:r>
            <a:endParaRPr b="0" i="0" sz="1700" u="none" cap="none" strike="noStrike">
              <a:solidFill>
                <a:schemeClr val="dk1"/>
              </a:solidFill>
              <a:latin typeface="Calibri"/>
              <a:ea typeface="Calibri"/>
              <a:cs typeface="Calibri"/>
              <a:sym typeface="Calibri"/>
            </a:endParaRPr>
          </a:p>
        </p:txBody>
      </p:sp>
      <p:sp>
        <p:nvSpPr>
          <p:cNvPr id="1338" name="Google Shape;1338;p37"/>
          <p:cNvSpPr txBox="1"/>
          <p:nvPr/>
        </p:nvSpPr>
        <p:spPr>
          <a:xfrm>
            <a:off x="822960" y="5737860"/>
            <a:ext cx="2997098" cy="45262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Texts and chats around the stay.</a:t>
            </a:r>
            <a:endParaRPr b="0" i="0" sz="1150" u="none" cap="none" strike="noStrike">
              <a:solidFill>
                <a:schemeClr val="dk1"/>
              </a:solidFill>
              <a:latin typeface="Calibri"/>
              <a:ea typeface="Calibri"/>
              <a:cs typeface="Calibri"/>
              <a:sym typeface="Calibri"/>
            </a:endParaRPr>
          </a:p>
        </p:txBody>
      </p:sp>
      <p:sp>
        <p:nvSpPr>
          <p:cNvPr id="1339" name="Google Shape;1339;p37"/>
          <p:cNvSpPr/>
          <p:nvPr/>
        </p:nvSpPr>
        <p:spPr>
          <a:xfrm>
            <a:off x="4322978" y="4247388"/>
            <a:ext cx="3545738" cy="2098548"/>
          </a:xfrm>
          <a:prstGeom prst="roundRect">
            <a:avLst>
              <a:gd fmla="val 522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0" name="Google Shape;1340;p37"/>
          <p:cNvSpPr txBox="1"/>
          <p:nvPr/>
        </p:nvSpPr>
        <p:spPr>
          <a:xfrm>
            <a:off x="4597298" y="4466844"/>
            <a:ext cx="73152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05</a:t>
            </a:r>
            <a:endParaRPr b="0" i="0" sz="1600" u="none" cap="none" strike="noStrike">
              <a:solidFill>
                <a:schemeClr val="dk1"/>
              </a:solidFill>
              <a:latin typeface="Calibri"/>
              <a:ea typeface="Calibri"/>
              <a:cs typeface="Calibri"/>
              <a:sym typeface="Calibri"/>
            </a:endParaRPr>
          </a:p>
        </p:txBody>
      </p:sp>
      <p:sp>
        <p:nvSpPr>
          <p:cNvPr id="1341" name="Google Shape;1341;p37"/>
          <p:cNvSpPr/>
          <p:nvPr/>
        </p:nvSpPr>
        <p:spPr>
          <a:xfrm>
            <a:off x="7173773" y="4448556"/>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gift.png" id="1342" name="Google Shape;1342;p37"/>
          <p:cNvPicPr preferRelativeResize="0"/>
          <p:nvPr/>
        </p:nvPicPr>
        <p:blipFill rotWithShape="1">
          <a:blip r:embed="rId8">
            <a:alphaModFix/>
          </a:blip>
          <a:srcRect b="0" l="0" r="0" t="0"/>
          <a:stretch/>
        </p:blipFill>
        <p:spPr>
          <a:xfrm>
            <a:off x="7266310" y="4541093"/>
            <a:ext cx="235549" cy="235549"/>
          </a:xfrm>
          <a:prstGeom prst="rect">
            <a:avLst/>
          </a:prstGeom>
          <a:noFill/>
          <a:ln>
            <a:noFill/>
          </a:ln>
        </p:spPr>
      </p:pic>
      <p:sp>
        <p:nvSpPr>
          <p:cNvPr id="1343" name="Google Shape;1343;p37"/>
          <p:cNvSpPr txBox="1"/>
          <p:nvPr/>
        </p:nvSpPr>
        <p:spPr>
          <a:xfrm>
            <a:off x="4597298" y="4850892"/>
            <a:ext cx="2997098" cy="86868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700"/>
              <a:buFont typeface="Inter"/>
              <a:buNone/>
            </a:pPr>
            <a:r>
              <a:rPr b="1" i="0" lang="en-US" sz="1700" u="none" cap="none" strike="noStrike">
                <a:solidFill>
                  <a:srgbClr val="171717"/>
                </a:solidFill>
                <a:latin typeface="Inter"/>
                <a:ea typeface="Inter"/>
                <a:cs typeface="Inter"/>
                <a:sym typeface="Inter"/>
              </a:rPr>
              <a:t>Upsell tools</a:t>
            </a:r>
            <a:endParaRPr b="0" i="0" sz="1700" u="none" cap="none" strike="noStrike">
              <a:solidFill>
                <a:schemeClr val="dk1"/>
              </a:solidFill>
              <a:latin typeface="Calibri"/>
              <a:ea typeface="Calibri"/>
              <a:cs typeface="Calibri"/>
              <a:sym typeface="Calibri"/>
            </a:endParaRPr>
          </a:p>
        </p:txBody>
      </p:sp>
      <p:sp>
        <p:nvSpPr>
          <p:cNvPr id="1344" name="Google Shape;1344;p37"/>
          <p:cNvSpPr txBox="1"/>
          <p:nvPr/>
        </p:nvSpPr>
        <p:spPr>
          <a:xfrm>
            <a:off x="4597298" y="5737860"/>
            <a:ext cx="2997098" cy="45262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The upgrade sold before the guest arrives.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349" name="Shape 1349"/>
        <p:cNvGrpSpPr/>
        <p:nvPr/>
      </p:nvGrpSpPr>
      <p:grpSpPr>
        <a:xfrm>
          <a:off x="0" y="0"/>
          <a:ext cx="0" cy="0"/>
          <a:chOff x="0" y="0"/>
          <a:chExt cx="0" cy="0"/>
        </a:xfrm>
      </p:grpSpPr>
      <p:sp>
        <p:nvSpPr>
          <p:cNvPr id="1350" name="Google Shape;1350;p38"/>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6 · THE STACK</a:t>
            </a:r>
            <a:endParaRPr b="0" i="0" sz="1050" u="none" cap="none" strike="noStrike">
              <a:solidFill>
                <a:schemeClr val="dk1"/>
              </a:solidFill>
              <a:latin typeface="Calibri"/>
              <a:ea typeface="Calibri"/>
              <a:cs typeface="Calibri"/>
              <a:sym typeface="Calibri"/>
            </a:endParaRPr>
          </a:p>
        </p:txBody>
      </p:sp>
      <p:pic>
        <p:nvPicPr>
          <p:cNvPr descr="/home/claude/work/renderer/brand/wordmark.png" id="1351" name="Google Shape;1351;p38"/>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352" name="Google Shape;1352;p38"/>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36 / 48</a:t>
            </a:r>
            <a:endParaRPr b="0" i="0" sz="900" u="none" cap="none" strike="noStrike">
              <a:solidFill>
                <a:schemeClr val="dk1"/>
              </a:solidFill>
              <a:latin typeface="Calibri"/>
              <a:ea typeface="Calibri"/>
              <a:cs typeface="Calibri"/>
              <a:sym typeface="Calibri"/>
            </a:endParaRPr>
          </a:p>
        </p:txBody>
      </p:sp>
      <p:sp>
        <p:nvSpPr>
          <p:cNvPr id="1353" name="Google Shape;1353;p38"/>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PMS</a:t>
            </a:r>
            <a:r>
              <a:rPr b="0" i="0" lang="en-US" sz="1700" u="none" cap="none" strike="noStrike">
                <a:solidFill>
                  <a:srgbClr val="004FAA"/>
                </a:solidFill>
                <a:latin typeface="Inter"/>
                <a:ea typeface="Inter"/>
                <a:cs typeface="Inter"/>
                <a:sym typeface="Inter"/>
              </a:rPr>
              <a:t>  property management system</a:t>
            </a:r>
            <a:endParaRPr b="0" i="0" sz="3000" u="none" cap="none" strike="noStrike">
              <a:solidFill>
                <a:schemeClr val="dk1"/>
              </a:solidFill>
              <a:latin typeface="Calibri"/>
              <a:ea typeface="Calibri"/>
              <a:cs typeface="Calibri"/>
              <a:sym typeface="Calibri"/>
            </a:endParaRPr>
          </a:p>
        </p:txBody>
      </p:sp>
      <p:sp>
        <p:nvSpPr>
          <p:cNvPr id="1354" name="Google Shape;1354;p38"/>
          <p:cNvSpPr txBox="1"/>
          <p:nvPr/>
        </p:nvSpPr>
        <p:spPr>
          <a:xfrm>
            <a:off x="548640" y="1389888"/>
            <a:ext cx="11064240" cy="5354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25252"/>
              </a:buClr>
              <a:buSzPts val="1400"/>
              <a:buFont typeface="Inter"/>
              <a:buNone/>
            </a:pPr>
            <a:r>
              <a:rPr b="0" i="0" lang="en-US" sz="1400" u="none" cap="none" strike="noStrike">
                <a:solidFill>
                  <a:srgbClr val="525252"/>
                </a:solidFill>
                <a:latin typeface="Inter"/>
                <a:ea typeface="Inter"/>
                <a:cs typeface="Inter"/>
                <a:sym typeface="Inter"/>
              </a:rPr>
              <a:t>The front desk's system: every reservation lives in it, guests are checked in from it, and the night's numbers come out of it. Everything else in the stack connects to the PMS.</a:t>
            </a:r>
            <a:endParaRPr b="0" i="0" sz="1400" u="none" cap="none" strike="noStrike">
              <a:solidFill>
                <a:schemeClr val="dk1"/>
              </a:solidFill>
              <a:latin typeface="Calibri"/>
              <a:ea typeface="Calibri"/>
              <a:cs typeface="Calibri"/>
              <a:sym typeface="Calibri"/>
            </a:endParaRPr>
          </a:p>
        </p:txBody>
      </p:sp>
      <p:sp>
        <p:nvSpPr>
          <p:cNvPr id="1355" name="Google Shape;1355;p38"/>
          <p:cNvSpPr/>
          <p:nvPr/>
        </p:nvSpPr>
        <p:spPr>
          <a:xfrm>
            <a:off x="548640" y="2089912"/>
            <a:ext cx="5410048" cy="885698"/>
          </a:xfrm>
          <a:prstGeom prst="roundRect">
            <a:avLst>
              <a:gd fmla="val 1238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mews.png" id="1356" name="Google Shape;1356;p38"/>
          <p:cNvPicPr preferRelativeResize="0"/>
          <p:nvPr/>
        </p:nvPicPr>
        <p:blipFill rotWithShape="1">
          <a:blip r:embed="rId4">
            <a:alphaModFix/>
          </a:blip>
          <a:srcRect b="0" l="0" r="0" t="0"/>
          <a:stretch/>
        </p:blipFill>
        <p:spPr>
          <a:xfrm>
            <a:off x="731520" y="2227072"/>
            <a:ext cx="611378" cy="611378"/>
          </a:xfrm>
          <a:prstGeom prst="rect">
            <a:avLst/>
          </a:prstGeom>
          <a:noFill/>
          <a:ln>
            <a:noFill/>
          </a:ln>
        </p:spPr>
      </p:pic>
      <p:sp>
        <p:nvSpPr>
          <p:cNvPr id="1357" name="Google Shape;1357;p38"/>
          <p:cNvSpPr txBox="1"/>
          <p:nvPr/>
        </p:nvSpPr>
        <p:spPr>
          <a:xfrm>
            <a:off x="1544066" y="2222246"/>
            <a:ext cx="423174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Mews</a:t>
            </a:r>
            <a:endParaRPr b="0" i="0" sz="1300" u="none" cap="none" strike="noStrike">
              <a:solidFill>
                <a:schemeClr val="dk1"/>
              </a:solidFill>
              <a:latin typeface="Calibri"/>
              <a:ea typeface="Calibri"/>
              <a:cs typeface="Calibri"/>
              <a:sym typeface="Calibri"/>
            </a:endParaRPr>
          </a:p>
        </p:txBody>
      </p:sp>
      <p:sp>
        <p:nvSpPr>
          <p:cNvPr id="1358" name="Google Shape;1358;p38"/>
          <p:cNvSpPr txBox="1"/>
          <p:nvPr/>
        </p:nvSpPr>
        <p:spPr>
          <a:xfrm>
            <a:off x="1544066" y="2496566"/>
            <a:ext cx="4231742" cy="47904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Cloud PMS for independent hotels and resorts, sold with its own booking engine. The name you'll hear most from our ICP.</a:t>
            </a:r>
            <a:endParaRPr b="0" i="0" sz="1050" u="none" cap="none" strike="noStrike">
              <a:solidFill>
                <a:schemeClr val="dk1"/>
              </a:solidFill>
              <a:latin typeface="Calibri"/>
              <a:ea typeface="Calibri"/>
              <a:cs typeface="Calibri"/>
              <a:sym typeface="Calibri"/>
            </a:endParaRPr>
          </a:p>
        </p:txBody>
      </p:sp>
      <p:sp>
        <p:nvSpPr>
          <p:cNvPr id="1359" name="Google Shape;1359;p38"/>
          <p:cNvSpPr/>
          <p:nvPr/>
        </p:nvSpPr>
        <p:spPr>
          <a:xfrm>
            <a:off x="6233008" y="2089912"/>
            <a:ext cx="5410048" cy="885698"/>
          </a:xfrm>
          <a:prstGeom prst="roundRect">
            <a:avLst>
              <a:gd fmla="val 1238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oracle-opera-cloud.png" id="1360" name="Google Shape;1360;p38"/>
          <p:cNvPicPr preferRelativeResize="0"/>
          <p:nvPr/>
        </p:nvPicPr>
        <p:blipFill rotWithShape="1">
          <a:blip r:embed="rId5">
            <a:alphaModFix/>
          </a:blip>
          <a:srcRect b="0" l="0" r="0" t="0"/>
          <a:stretch/>
        </p:blipFill>
        <p:spPr>
          <a:xfrm>
            <a:off x="6415888" y="2227072"/>
            <a:ext cx="611378" cy="611378"/>
          </a:xfrm>
          <a:prstGeom prst="rect">
            <a:avLst/>
          </a:prstGeom>
          <a:noFill/>
          <a:ln>
            <a:noFill/>
          </a:ln>
        </p:spPr>
      </p:pic>
      <p:sp>
        <p:nvSpPr>
          <p:cNvPr id="1361" name="Google Shape;1361;p38"/>
          <p:cNvSpPr txBox="1"/>
          <p:nvPr/>
        </p:nvSpPr>
        <p:spPr>
          <a:xfrm>
            <a:off x="7228434" y="2222246"/>
            <a:ext cx="423174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Oracle OPERA Cloud</a:t>
            </a:r>
            <a:endParaRPr b="0" i="0" sz="1300" u="none" cap="none" strike="noStrike">
              <a:solidFill>
                <a:schemeClr val="dk1"/>
              </a:solidFill>
              <a:latin typeface="Calibri"/>
              <a:ea typeface="Calibri"/>
              <a:cs typeface="Calibri"/>
              <a:sym typeface="Calibri"/>
            </a:endParaRPr>
          </a:p>
        </p:txBody>
      </p:sp>
      <p:sp>
        <p:nvSpPr>
          <p:cNvPr id="1362" name="Google Shape;1362;p38"/>
          <p:cNvSpPr txBox="1"/>
          <p:nvPr/>
        </p:nvSpPr>
        <p:spPr>
          <a:xfrm>
            <a:off x="7228434" y="2496566"/>
            <a:ext cx="4231742" cy="47904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The big-brand PMS: Hyatt chose it, and IHG approves it. A resort that came from a brand may still be on it.</a:t>
            </a:r>
            <a:endParaRPr b="0" i="0" sz="1050" u="none" cap="none" strike="noStrike">
              <a:solidFill>
                <a:schemeClr val="dk1"/>
              </a:solidFill>
              <a:latin typeface="Calibri"/>
              <a:ea typeface="Calibri"/>
              <a:cs typeface="Calibri"/>
              <a:sym typeface="Calibri"/>
            </a:endParaRPr>
          </a:p>
        </p:txBody>
      </p:sp>
      <p:sp>
        <p:nvSpPr>
          <p:cNvPr id="1363" name="Google Shape;1363;p38"/>
          <p:cNvSpPr/>
          <p:nvPr/>
        </p:nvSpPr>
        <p:spPr>
          <a:xfrm>
            <a:off x="548640" y="3103626"/>
            <a:ext cx="5410048" cy="885698"/>
          </a:xfrm>
          <a:prstGeom prst="roundRect">
            <a:avLst>
              <a:gd fmla="val 1238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cloudbeds.png" id="1364" name="Google Shape;1364;p38"/>
          <p:cNvPicPr preferRelativeResize="0"/>
          <p:nvPr/>
        </p:nvPicPr>
        <p:blipFill rotWithShape="1">
          <a:blip r:embed="rId6">
            <a:alphaModFix/>
          </a:blip>
          <a:srcRect b="0" l="0" r="0" t="0"/>
          <a:stretch/>
        </p:blipFill>
        <p:spPr>
          <a:xfrm>
            <a:off x="731520" y="3240786"/>
            <a:ext cx="611378" cy="611378"/>
          </a:xfrm>
          <a:prstGeom prst="rect">
            <a:avLst/>
          </a:prstGeom>
          <a:noFill/>
          <a:ln>
            <a:noFill/>
          </a:ln>
        </p:spPr>
      </p:pic>
      <p:sp>
        <p:nvSpPr>
          <p:cNvPr id="1365" name="Google Shape;1365;p38"/>
          <p:cNvSpPr txBox="1"/>
          <p:nvPr/>
        </p:nvSpPr>
        <p:spPr>
          <a:xfrm>
            <a:off x="1544066" y="3235960"/>
            <a:ext cx="423174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Cloudbeds</a:t>
            </a:r>
            <a:endParaRPr b="0" i="0" sz="1300" u="none" cap="none" strike="noStrike">
              <a:solidFill>
                <a:schemeClr val="dk1"/>
              </a:solidFill>
              <a:latin typeface="Calibri"/>
              <a:ea typeface="Calibri"/>
              <a:cs typeface="Calibri"/>
              <a:sym typeface="Calibri"/>
            </a:endParaRPr>
          </a:p>
        </p:txBody>
      </p:sp>
      <p:sp>
        <p:nvSpPr>
          <p:cNvPr id="1366" name="Google Shape;1366;p38"/>
          <p:cNvSpPr txBox="1"/>
          <p:nvPr/>
        </p:nvSpPr>
        <p:spPr>
          <a:xfrm>
            <a:off x="1544066" y="3510280"/>
            <a:ext cx="4231742" cy="47904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One suite for independents: PMS, channel manager and booking engine in one product. Ask what they use it for.</a:t>
            </a:r>
            <a:endParaRPr b="0" i="0" sz="1050" u="none" cap="none" strike="noStrike">
              <a:solidFill>
                <a:schemeClr val="dk1"/>
              </a:solidFill>
              <a:latin typeface="Calibri"/>
              <a:ea typeface="Calibri"/>
              <a:cs typeface="Calibri"/>
              <a:sym typeface="Calibri"/>
            </a:endParaRPr>
          </a:p>
        </p:txBody>
      </p:sp>
      <p:sp>
        <p:nvSpPr>
          <p:cNvPr id="1367" name="Google Shape;1367;p38"/>
          <p:cNvSpPr/>
          <p:nvPr/>
        </p:nvSpPr>
        <p:spPr>
          <a:xfrm>
            <a:off x="6233008" y="3103626"/>
            <a:ext cx="5410048" cy="885698"/>
          </a:xfrm>
          <a:prstGeom prst="roundRect">
            <a:avLst>
              <a:gd fmla="val 1238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newbook.png" id="1368" name="Google Shape;1368;p38"/>
          <p:cNvPicPr preferRelativeResize="0"/>
          <p:nvPr/>
        </p:nvPicPr>
        <p:blipFill rotWithShape="1">
          <a:blip r:embed="rId7">
            <a:alphaModFix/>
          </a:blip>
          <a:srcRect b="0" l="0" r="0" t="0"/>
          <a:stretch/>
        </p:blipFill>
        <p:spPr>
          <a:xfrm>
            <a:off x="6415888" y="3240786"/>
            <a:ext cx="611378" cy="611378"/>
          </a:xfrm>
          <a:prstGeom prst="rect">
            <a:avLst/>
          </a:prstGeom>
          <a:noFill/>
          <a:ln>
            <a:noFill/>
          </a:ln>
        </p:spPr>
      </p:pic>
      <p:sp>
        <p:nvSpPr>
          <p:cNvPr id="1369" name="Google Shape;1369;p38"/>
          <p:cNvSpPr txBox="1"/>
          <p:nvPr/>
        </p:nvSpPr>
        <p:spPr>
          <a:xfrm>
            <a:off x="7228434" y="3235960"/>
            <a:ext cx="423174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Newbook</a:t>
            </a:r>
            <a:endParaRPr b="0" i="0" sz="1300" u="none" cap="none" strike="noStrike">
              <a:solidFill>
                <a:schemeClr val="dk1"/>
              </a:solidFill>
              <a:latin typeface="Calibri"/>
              <a:ea typeface="Calibri"/>
              <a:cs typeface="Calibri"/>
              <a:sym typeface="Calibri"/>
            </a:endParaRPr>
          </a:p>
        </p:txBody>
      </p:sp>
      <p:sp>
        <p:nvSpPr>
          <p:cNvPr id="1370" name="Google Shape;1370;p38"/>
          <p:cNvSpPr txBox="1"/>
          <p:nvPr/>
        </p:nvSpPr>
        <p:spPr>
          <a:xfrm>
            <a:off x="7228434" y="3510280"/>
            <a:ext cx="4231742" cy="47904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From the campground and holiday-park world, where many glamping stacks start. Also sells channel management.</a:t>
            </a:r>
            <a:endParaRPr b="0" i="0" sz="1050" u="none" cap="none" strike="noStrike">
              <a:solidFill>
                <a:schemeClr val="dk1"/>
              </a:solidFill>
              <a:latin typeface="Calibri"/>
              <a:ea typeface="Calibri"/>
              <a:cs typeface="Calibri"/>
              <a:sym typeface="Calibri"/>
            </a:endParaRPr>
          </a:p>
        </p:txBody>
      </p:sp>
      <p:sp>
        <p:nvSpPr>
          <p:cNvPr id="1371" name="Google Shape;1371;p38"/>
          <p:cNvSpPr/>
          <p:nvPr/>
        </p:nvSpPr>
        <p:spPr>
          <a:xfrm>
            <a:off x="548640" y="4117340"/>
            <a:ext cx="5410048" cy="885698"/>
          </a:xfrm>
          <a:prstGeom prst="roundRect">
            <a:avLst>
              <a:gd fmla="val 1238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webrezpro.png" id="1372" name="Google Shape;1372;p38"/>
          <p:cNvPicPr preferRelativeResize="0"/>
          <p:nvPr/>
        </p:nvPicPr>
        <p:blipFill rotWithShape="1">
          <a:blip r:embed="rId8">
            <a:alphaModFix/>
          </a:blip>
          <a:srcRect b="0" l="0" r="0" t="0"/>
          <a:stretch/>
        </p:blipFill>
        <p:spPr>
          <a:xfrm>
            <a:off x="731520" y="4254500"/>
            <a:ext cx="611378" cy="611378"/>
          </a:xfrm>
          <a:prstGeom prst="rect">
            <a:avLst/>
          </a:prstGeom>
          <a:noFill/>
          <a:ln>
            <a:noFill/>
          </a:ln>
        </p:spPr>
      </p:pic>
      <p:sp>
        <p:nvSpPr>
          <p:cNvPr id="1373" name="Google Shape;1373;p38"/>
          <p:cNvSpPr txBox="1"/>
          <p:nvPr/>
        </p:nvSpPr>
        <p:spPr>
          <a:xfrm>
            <a:off x="1544066" y="4249674"/>
            <a:ext cx="423174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WebRezPro</a:t>
            </a:r>
            <a:endParaRPr b="0" i="0" sz="1300" u="none" cap="none" strike="noStrike">
              <a:solidFill>
                <a:schemeClr val="dk1"/>
              </a:solidFill>
              <a:latin typeface="Calibri"/>
              <a:ea typeface="Calibri"/>
              <a:cs typeface="Calibri"/>
              <a:sym typeface="Calibri"/>
            </a:endParaRPr>
          </a:p>
        </p:txBody>
      </p:sp>
      <p:sp>
        <p:nvSpPr>
          <p:cNvPr id="1374" name="Google Shape;1374;p38"/>
          <p:cNvSpPr txBox="1"/>
          <p:nvPr/>
        </p:nvSpPr>
        <p:spPr>
          <a:xfrm>
            <a:off x="1544066" y="4523994"/>
            <a:ext cx="4231742" cy="47904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Cloud PMS aimed at independent hotels, lodges and inns, with its own booking engine.</a:t>
            </a:r>
            <a:endParaRPr b="0" i="0" sz="1050" u="none" cap="none" strike="noStrike">
              <a:solidFill>
                <a:schemeClr val="dk1"/>
              </a:solidFill>
              <a:latin typeface="Calibri"/>
              <a:ea typeface="Calibri"/>
              <a:cs typeface="Calibri"/>
              <a:sym typeface="Calibri"/>
            </a:endParaRPr>
          </a:p>
        </p:txBody>
      </p:sp>
      <p:sp>
        <p:nvSpPr>
          <p:cNvPr id="1375" name="Google Shape;1375;p38"/>
          <p:cNvSpPr/>
          <p:nvPr/>
        </p:nvSpPr>
        <p:spPr>
          <a:xfrm>
            <a:off x="6233008" y="4117340"/>
            <a:ext cx="5410048" cy="885698"/>
          </a:xfrm>
          <a:prstGeom prst="roundRect">
            <a:avLst>
              <a:gd fmla="val 1238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rms-cloud.png" id="1376" name="Google Shape;1376;p38"/>
          <p:cNvPicPr preferRelativeResize="0"/>
          <p:nvPr/>
        </p:nvPicPr>
        <p:blipFill rotWithShape="1">
          <a:blip r:embed="rId9">
            <a:alphaModFix/>
          </a:blip>
          <a:srcRect b="0" l="0" r="0" t="0"/>
          <a:stretch/>
        </p:blipFill>
        <p:spPr>
          <a:xfrm>
            <a:off x="6415888" y="4254500"/>
            <a:ext cx="611378" cy="611378"/>
          </a:xfrm>
          <a:prstGeom prst="rect">
            <a:avLst/>
          </a:prstGeom>
          <a:noFill/>
          <a:ln>
            <a:noFill/>
          </a:ln>
        </p:spPr>
      </p:pic>
      <p:sp>
        <p:nvSpPr>
          <p:cNvPr id="1377" name="Google Shape;1377;p38"/>
          <p:cNvSpPr txBox="1"/>
          <p:nvPr/>
        </p:nvSpPr>
        <p:spPr>
          <a:xfrm>
            <a:off x="7228434" y="4249674"/>
            <a:ext cx="423174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RMS Cloud</a:t>
            </a:r>
            <a:endParaRPr b="0" i="0" sz="1300" u="none" cap="none" strike="noStrike">
              <a:solidFill>
                <a:schemeClr val="dk1"/>
              </a:solidFill>
              <a:latin typeface="Calibri"/>
              <a:ea typeface="Calibri"/>
              <a:cs typeface="Calibri"/>
              <a:sym typeface="Calibri"/>
            </a:endParaRPr>
          </a:p>
        </p:txBody>
      </p:sp>
      <p:sp>
        <p:nvSpPr>
          <p:cNvPr id="1378" name="Google Shape;1378;p38"/>
          <p:cNvSpPr txBox="1"/>
          <p:nvPr/>
        </p:nvSpPr>
        <p:spPr>
          <a:xfrm>
            <a:off x="7228434" y="4523994"/>
            <a:ext cx="4231742" cy="47904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PMS for parks, resorts and hotels, with channel management and a booking engine in the same suite.</a:t>
            </a:r>
            <a:endParaRPr b="0" i="0" sz="1050" u="none" cap="none" strike="noStrike">
              <a:solidFill>
                <a:schemeClr val="dk1"/>
              </a:solidFill>
              <a:latin typeface="Calibri"/>
              <a:ea typeface="Calibri"/>
              <a:cs typeface="Calibri"/>
              <a:sym typeface="Calibri"/>
            </a:endParaRPr>
          </a:p>
        </p:txBody>
      </p:sp>
      <p:sp>
        <p:nvSpPr>
          <p:cNvPr id="1379" name="Google Shape;1379;p38"/>
          <p:cNvSpPr/>
          <p:nvPr/>
        </p:nvSpPr>
        <p:spPr>
          <a:xfrm>
            <a:off x="548640" y="5131054"/>
            <a:ext cx="5410048" cy="885698"/>
          </a:xfrm>
          <a:prstGeom prst="roundRect">
            <a:avLst>
              <a:gd fmla="val 1238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little-hotelier.png" id="1380" name="Google Shape;1380;p38"/>
          <p:cNvPicPr preferRelativeResize="0"/>
          <p:nvPr/>
        </p:nvPicPr>
        <p:blipFill rotWithShape="1">
          <a:blip r:embed="rId10">
            <a:alphaModFix/>
          </a:blip>
          <a:srcRect b="0" l="0" r="0" t="0"/>
          <a:stretch/>
        </p:blipFill>
        <p:spPr>
          <a:xfrm>
            <a:off x="731520" y="5268214"/>
            <a:ext cx="611378" cy="611378"/>
          </a:xfrm>
          <a:prstGeom prst="rect">
            <a:avLst/>
          </a:prstGeom>
          <a:noFill/>
          <a:ln>
            <a:noFill/>
          </a:ln>
        </p:spPr>
      </p:pic>
      <p:sp>
        <p:nvSpPr>
          <p:cNvPr id="1381" name="Google Shape;1381;p38"/>
          <p:cNvSpPr txBox="1"/>
          <p:nvPr/>
        </p:nvSpPr>
        <p:spPr>
          <a:xfrm>
            <a:off x="1544066" y="5263388"/>
            <a:ext cx="423174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Little Hotelier</a:t>
            </a:r>
            <a:endParaRPr b="0" i="0" sz="1300" u="none" cap="none" strike="noStrike">
              <a:solidFill>
                <a:schemeClr val="dk1"/>
              </a:solidFill>
              <a:latin typeface="Calibri"/>
              <a:ea typeface="Calibri"/>
              <a:cs typeface="Calibri"/>
              <a:sym typeface="Calibri"/>
            </a:endParaRPr>
          </a:p>
        </p:txBody>
      </p:sp>
      <p:sp>
        <p:nvSpPr>
          <p:cNvPr id="1382" name="Google Shape;1382;p38"/>
          <p:cNvSpPr txBox="1"/>
          <p:nvPr/>
        </p:nvSpPr>
        <p:spPr>
          <a:xfrm>
            <a:off x="1544066" y="5537708"/>
            <a:ext cx="4231742" cy="47904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SiteMinder's all-in-one for small properties: a PMS with the channel manager and booking engine built in.</a:t>
            </a:r>
            <a:endParaRPr b="0" i="0" sz="1050" u="none" cap="none" strike="noStrike">
              <a:solidFill>
                <a:schemeClr val="dk1"/>
              </a:solidFill>
              <a:latin typeface="Calibri"/>
              <a:ea typeface="Calibri"/>
              <a:cs typeface="Calibri"/>
              <a:sym typeface="Calibri"/>
            </a:endParaRPr>
          </a:p>
        </p:txBody>
      </p:sp>
      <p:sp>
        <p:nvSpPr>
          <p:cNvPr id="1383" name="Google Shape;1383;p38"/>
          <p:cNvSpPr/>
          <p:nvPr/>
        </p:nvSpPr>
        <p:spPr>
          <a:xfrm>
            <a:off x="6233008" y="5131054"/>
            <a:ext cx="5410048" cy="885698"/>
          </a:xfrm>
          <a:prstGeom prst="roundRect">
            <a:avLst>
              <a:gd fmla="val 1238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guesty.png" id="1384" name="Google Shape;1384;p38"/>
          <p:cNvPicPr preferRelativeResize="0"/>
          <p:nvPr/>
        </p:nvPicPr>
        <p:blipFill rotWithShape="1">
          <a:blip r:embed="rId11">
            <a:alphaModFix/>
          </a:blip>
          <a:srcRect b="0" l="0" r="0" t="0"/>
          <a:stretch/>
        </p:blipFill>
        <p:spPr>
          <a:xfrm>
            <a:off x="6415888" y="5268214"/>
            <a:ext cx="611378" cy="611378"/>
          </a:xfrm>
          <a:prstGeom prst="rect">
            <a:avLst/>
          </a:prstGeom>
          <a:noFill/>
          <a:ln>
            <a:noFill/>
          </a:ln>
        </p:spPr>
      </p:pic>
      <p:sp>
        <p:nvSpPr>
          <p:cNvPr id="1385" name="Google Shape;1385;p38"/>
          <p:cNvSpPr txBox="1"/>
          <p:nvPr/>
        </p:nvSpPr>
        <p:spPr>
          <a:xfrm>
            <a:off x="7228434" y="5263388"/>
            <a:ext cx="423174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Guesty</a:t>
            </a:r>
            <a:endParaRPr b="0" i="0" sz="1300" u="none" cap="none" strike="noStrike">
              <a:solidFill>
                <a:schemeClr val="dk1"/>
              </a:solidFill>
              <a:latin typeface="Calibri"/>
              <a:ea typeface="Calibri"/>
              <a:cs typeface="Calibri"/>
              <a:sym typeface="Calibri"/>
            </a:endParaRPr>
          </a:p>
        </p:txBody>
      </p:sp>
      <p:sp>
        <p:nvSpPr>
          <p:cNvPr id="1386" name="Google Shape;1386;p38"/>
          <p:cNvSpPr txBox="1"/>
          <p:nvPr/>
        </p:nvSpPr>
        <p:spPr>
          <a:xfrm>
            <a:off x="7228434" y="5537708"/>
            <a:ext cx="4231742" cy="47904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Vacation-rental software: PMS and channel manager in one, with Hostaway as its closest peer.</a:t>
            </a:r>
            <a:endParaRPr b="0" i="0" sz="1050" u="none" cap="none" strike="noStrike">
              <a:solidFill>
                <a:schemeClr val="dk1"/>
              </a:solidFill>
              <a:latin typeface="Calibri"/>
              <a:ea typeface="Calibri"/>
              <a:cs typeface="Calibri"/>
              <a:sym typeface="Calibri"/>
            </a:endParaRPr>
          </a:p>
        </p:txBody>
      </p:sp>
      <p:sp>
        <p:nvSpPr>
          <p:cNvPr id="1387" name="Google Shape;1387;p38"/>
          <p:cNvSpPr txBox="1"/>
          <p:nvPr/>
        </p:nvSpPr>
        <p:spPr>
          <a:xfrm>
            <a:off x="548640" y="6089904"/>
            <a:ext cx="1106424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Cloudbeds, RMS Cloud, Little Hotelier, Newbook, Guesty and Lodgify also sit in the channel manager and booking engine boxes.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392" name="Shape 1392"/>
        <p:cNvGrpSpPr/>
        <p:nvPr/>
      </p:nvGrpSpPr>
      <p:grpSpPr>
        <a:xfrm>
          <a:off x="0" y="0"/>
          <a:ext cx="0" cy="0"/>
          <a:chOff x="0" y="0"/>
          <a:chExt cx="0" cy="0"/>
        </a:xfrm>
      </p:grpSpPr>
      <p:sp>
        <p:nvSpPr>
          <p:cNvPr id="1393" name="Google Shape;1393;p39"/>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6 · THE STACK</a:t>
            </a:r>
            <a:endParaRPr b="0" i="0" sz="1050" u="none" cap="none" strike="noStrike">
              <a:solidFill>
                <a:schemeClr val="dk1"/>
              </a:solidFill>
              <a:latin typeface="Calibri"/>
              <a:ea typeface="Calibri"/>
              <a:cs typeface="Calibri"/>
              <a:sym typeface="Calibri"/>
            </a:endParaRPr>
          </a:p>
        </p:txBody>
      </p:sp>
      <p:pic>
        <p:nvPicPr>
          <p:cNvPr descr="/home/claude/work/renderer/brand/wordmark.png" id="1394" name="Google Shape;1394;p39"/>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395" name="Google Shape;1395;p39"/>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37 / 48</a:t>
            </a:r>
            <a:endParaRPr b="0" i="0" sz="900" u="none" cap="none" strike="noStrike">
              <a:solidFill>
                <a:schemeClr val="dk1"/>
              </a:solidFill>
              <a:latin typeface="Calibri"/>
              <a:ea typeface="Calibri"/>
              <a:cs typeface="Calibri"/>
              <a:sym typeface="Calibri"/>
            </a:endParaRPr>
          </a:p>
        </p:txBody>
      </p:sp>
      <p:sp>
        <p:nvSpPr>
          <p:cNvPr id="1396" name="Google Shape;1396;p39"/>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Channel manager</a:t>
            </a:r>
            <a:r>
              <a:rPr b="0" i="0" lang="en-US" sz="1700" u="none" cap="none" strike="noStrike">
                <a:solidFill>
                  <a:srgbClr val="004FAA"/>
                </a:solidFill>
                <a:latin typeface="Inter"/>
                <a:ea typeface="Inter"/>
                <a:cs typeface="Inter"/>
                <a:sym typeface="Inter"/>
              </a:rPr>
              <a:t>  one feed of rates and rooms to every OTA</a:t>
            </a:r>
            <a:endParaRPr b="0" i="0" sz="3000" u="none" cap="none" strike="noStrike">
              <a:solidFill>
                <a:schemeClr val="dk1"/>
              </a:solidFill>
              <a:latin typeface="Calibri"/>
              <a:ea typeface="Calibri"/>
              <a:cs typeface="Calibri"/>
              <a:sym typeface="Calibri"/>
            </a:endParaRPr>
          </a:p>
        </p:txBody>
      </p:sp>
      <p:sp>
        <p:nvSpPr>
          <p:cNvPr id="1397" name="Google Shape;1397;p39"/>
          <p:cNvSpPr txBox="1"/>
          <p:nvPr/>
        </p:nvSpPr>
        <p:spPr>
          <a:xfrm>
            <a:off x="548640" y="1389888"/>
            <a:ext cx="11064240" cy="5354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25252"/>
              </a:buClr>
              <a:buSzPts val="1400"/>
              <a:buFont typeface="Inter"/>
              <a:buNone/>
            </a:pPr>
            <a:r>
              <a:rPr b="0" i="0" lang="en-US" sz="1400" u="none" cap="none" strike="noStrike">
                <a:solidFill>
                  <a:srgbClr val="525252"/>
                </a:solidFill>
                <a:latin typeface="Inter"/>
                <a:ea typeface="Inter"/>
                <a:cs typeface="Inter"/>
                <a:sym typeface="Inter"/>
              </a:rPr>
              <a:t>Sends the property's rates and availability out to every OTA at once, and brings their bookings back, so a room sold on Booking.com disappears from Expedia before it is sold twice.</a:t>
            </a:r>
            <a:endParaRPr b="0" i="0" sz="1400" u="none" cap="none" strike="noStrike">
              <a:solidFill>
                <a:schemeClr val="dk1"/>
              </a:solidFill>
              <a:latin typeface="Calibri"/>
              <a:ea typeface="Calibri"/>
              <a:cs typeface="Calibri"/>
              <a:sym typeface="Calibri"/>
            </a:endParaRPr>
          </a:p>
        </p:txBody>
      </p:sp>
      <p:sp>
        <p:nvSpPr>
          <p:cNvPr id="1398" name="Google Shape;1398;p39"/>
          <p:cNvSpPr/>
          <p:nvPr/>
        </p:nvSpPr>
        <p:spPr>
          <a:xfrm>
            <a:off x="548640" y="2089912"/>
            <a:ext cx="5410048" cy="885698"/>
          </a:xfrm>
          <a:prstGeom prst="roundRect">
            <a:avLst>
              <a:gd fmla="val 1238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siteminder.png" id="1399" name="Google Shape;1399;p39"/>
          <p:cNvPicPr preferRelativeResize="0"/>
          <p:nvPr/>
        </p:nvPicPr>
        <p:blipFill rotWithShape="1">
          <a:blip r:embed="rId4">
            <a:alphaModFix/>
          </a:blip>
          <a:srcRect b="0" l="0" r="0" t="0"/>
          <a:stretch/>
        </p:blipFill>
        <p:spPr>
          <a:xfrm>
            <a:off x="731520" y="2227072"/>
            <a:ext cx="611378" cy="611378"/>
          </a:xfrm>
          <a:prstGeom prst="rect">
            <a:avLst/>
          </a:prstGeom>
          <a:noFill/>
          <a:ln>
            <a:noFill/>
          </a:ln>
        </p:spPr>
      </p:pic>
      <p:sp>
        <p:nvSpPr>
          <p:cNvPr id="1400" name="Google Shape;1400;p39"/>
          <p:cNvSpPr txBox="1"/>
          <p:nvPr/>
        </p:nvSpPr>
        <p:spPr>
          <a:xfrm>
            <a:off x="1544066" y="2222246"/>
            <a:ext cx="423174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SiteMinder</a:t>
            </a:r>
            <a:endParaRPr b="0" i="0" sz="1300" u="none" cap="none" strike="noStrike">
              <a:solidFill>
                <a:schemeClr val="dk1"/>
              </a:solidFill>
              <a:latin typeface="Calibri"/>
              <a:ea typeface="Calibri"/>
              <a:cs typeface="Calibri"/>
              <a:sym typeface="Calibri"/>
            </a:endParaRPr>
          </a:p>
        </p:txBody>
      </p:sp>
      <p:sp>
        <p:nvSpPr>
          <p:cNvPr id="1401" name="Google Shape;1401;p39"/>
          <p:cNvSpPr txBox="1"/>
          <p:nvPr/>
        </p:nvSpPr>
        <p:spPr>
          <a:xfrm>
            <a:off x="1544075" y="2496575"/>
            <a:ext cx="4414500" cy="4791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The name you'll hear most. A channel manager first, with a booking engine; its small-property PMS is a separate product, Little Hotelier.</a:t>
            </a:r>
            <a:endParaRPr b="0" i="0" sz="1050" u="none" cap="none" strike="noStrike">
              <a:solidFill>
                <a:schemeClr val="dk1"/>
              </a:solidFill>
              <a:latin typeface="Calibri"/>
              <a:ea typeface="Calibri"/>
              <a:cs typeface="Calibri"/>
              <a:sym typeface="Calibri"/>
            </a:endParaRPr>
          </a:p>
        </p:txBody>
      </p:sp>
      <p:sp>
        <p:nvSpPr>
          <p:cNvPr id="1402" name="Google Shape;1402;p39"/>
          <p:cNvSpPr/>
          <p:nvPr/>
        </p:nvSpPr>
        <p:spPr>
          <a:xfrm>
            <a:off x="6233008" y="2089912"/>
            <a:ext cx="5410048" cy="885698"/>
          </a:xfrm>
          <a:prstGeom prst="roundRect">
            <a:avLst>
              <a:gd fmla="val 1238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cloudbeds.png" id="1403" name="Google Shape;1403;p39"/>
          <p:cNvPicPr preferRelativeResize="0"/>
          <p:nvPr/>
        </p:nvPicPr>
        <p:blipFill rotWithShape="1">
          <a:blip r:embed="rId5">
            <a:alphaModFix/>
          </a:blip>
          <a:srcRect b="0" l="0" r="0" t="0"/>
          <a:stretch/>
        </p:blipFill>
        <p:spPr>
          <a:xfrm>
            <a:off x="6415888" y="2227072"/>
            <a:ext cx="611378" cy="611378"/>
          </a:xfrm>
          <a:prstGeom prst="rect">
            <a:avLst/>
          </a:prstGeom>
          <a:noFill/>
          <a:ln>
            <a:noFill/>
          </a:ln>
        </p:spPr>
      </p:pic>
      <p:sp>
        <p:nvSpPr>
          <p:cNvPr id="1404" name="Google Shape;1404;p39"/>
          <p:cNvSpPr txBox="1"/>
          <p:nvPr/>
        </p:nvSpPr>
        <p:spPr>
          <a:xfrm>
            <a:off x="7228434" y="2222246"/>
            <a:ext cx="423174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Cloudbeds</a:t>
            </a:r>
            <a:endParaRPr b="0" i="0" sz="1300" u="none" cap="none" strike="noStrike">
              <a:solidFill>
                <a:schemeClr val="dk1"/>
              </a:solidFill>
              <a:latin typeface="Calibri"/>
              <a:ea typeface="Calibri"/>
              <a:cs typeface="Calibri"/>
              <a:sym typeface="Calibri"/>
            </a:endParaRPr>
          </a:p>
        </p:txBody>
      </p:sp>
      <p:sp>
        <p:nvSpPr>
          <p:cNvPr id="1405" name="Google Shape;1405;p39"/>
          <p:cNvSpPr txBox="1"/>
          <p:nvPr/>
        </p:nvSpPr>
        <p:spPr>
          <a:xfrm>
            <a:off x="7228434" y="2496566"/>
            <a:ext cx="4231742" cy="47904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The channel manager inside the Cloudbeds suite, feeding the OTAs straight from its own PMS.</a:t>
            </a:r>
            <a:endParaRPr b="0" i="0" sz="1050" u="none" cap="none" strike="noStrike">
              <a:solidFill>
                <a:schemeClr val="dk1"/>
              </a:solidFill>
              <a:latin typeface="Calibri"/>
              <a:ea typeface="Calibri"/>
              <a:cs typeface="Calibri"/>
              <a:sym typeface="Calibri"/>
            </a:endParaRPr>
          </a:p>
        </p:txBody>
      </p:sp>
      <p:sp>
        <p:nvSpPr>
          <p:cNvPr id="1406" name="Google Shape;1406;p39"/>
          <p:cNvSpPr/>
          <p:nvPr/>
        </p:nvSpPr>
        <p:spPr>
          <a:xfrm>
            <a:off x="548640" y="3103626"/>
            <a:ext cx="5410048" cy="885698"/>
          </a:xfrm>
          <a:prstGeom prst="roundRect">
            <a:avLst>
              <a:gd fmla="val 1238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staah.png" id="1407" name="Google Shape;1407;p39"/>
          <p:cNvPicPr preferRelativeResize="0"/>
          <p:nvPr/>
        </p:nvPicPr>
        <p:blipFill rotWithShape="1">
          <a:blip r:embed="rId6">
            <a:alphaModFix/>
          </a:blip>
          <a:srcRect b="0" l="0" r="0" t="0"/>
          <a:stretch/>
        </p:blipFill>
        <p:spPr>
          <a:xfrm>
            <a:off x="731520" y="3240786"/>
            <a:ext cx="611378" cy="611378"/>
          </a:xfrm>
          <a:prstGeom prst="rect">
            <a:avLst/>
          </a:prstGeom>
          <a:noFill/>
          <a:ln>
            <a:noFill/>
          </a:ln>
        </p:spPr>
      </p:pic>
      <p:sp>
        <p:nvSpPr>
          <p:cNvPr id="1408" name="Google Shape;1408;p39"/>
          <p:cNvSpPr txBox="1"/>
          <p:nvPr/>
        </p:nvSpPr>
        <p:spPr>
          <a:xfrm>
            <a:off x="1544066" y="3235960"/>
            <a:ext cx="423174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STAAH</a:t>
            </a:r>
            <a:endParaRPr b="0" i="0" sz="1300" u="none" cap="none" strike="noStrike">
              <a:solidFill>
                <a:schemeClr val="dk1"/>
              </a:solidFill>
              <a:latin typeface="Calibri"/>
              <a:ea typeface="Calibri"/>
              <a:cs typeface="Calibri"/>
              <a:sym typeface="Calibri"/>
            </a:endParaRPr>
          </a:p>
        </p:txBody>
      </p:sp>
      <p:sp>
        <p:nvSpPr>
          <p:cNvPr id="1409" name="Google Shape;1409;p39"/>
          <p:cNvSpPr txBox="1"/>
          <p:nvPr/>
        </p:nvSpPr>
        <p:spPr>
          <a:xfrm>
            <a:off x="1544066" y="3510280"/>
            <a:ext cx="4231742" cy="47904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Channel manager for independent properties, with its own booking engine and website tools.</a:t>
            </a:r>
            <a:endParaRPr b="0" i="0" sz="1050" u="none" cap="none" strike="noStrike">
              <a:solidFill>
                <a:schemeClr val="dk1"/>
              </a:solidFill>
              <a:latin typeface="Calibri"/>
              <a:ea typeface="Calibri"/>
              <a:cs typeface="Calibri"/>
              <a:sym typeface="Calibri"/>
            </a:endParaRPr>
          </a:p>
        </p:txBody>
      </p:sp>
      <p:sp>
        <p:nvSpPr>
          <p:cNvPr id="1410" name="Google Shape;1410;p39"/>
          <p:cNvSpPr/>
          <p:nvPr/>
        </p:nvSpPr>
        <p:spPr>
          <a:xfrm>
            <a:off x="6233008" y="3103626"/>
            <a:ext cx="5410048" cy="885698"/>
          </a:xfrm>
          <a:prstGeom prst="roundRect">
            <a:avLst>
              <a:gd fmla="val 1238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derbysoft.png" id="1411" name="Google Shape;1411;p39"/>
          <p:cNvPicPr preferRelativeResize="0"/>
          <p:nvPr/>
        </p:nvPicPr>
        <p:blipFill rotWithShape="1">
          <a:blip r:embed="rId7">
            <a:alphaModFix/>
          </a:blip>
          <a:srcRect b="0" l="0" r="0" t="0"/>
          <a:stretch/>
        </p:blipFill>
        <p:spPr>
          <a:xfrm>
            <a:off x="6415888" y="3240786"/>
            <a:ext cx="611378" cy="611378"/>
          </a:xfrm>
          <a:prstGeom prst="rect">
            <a:avLst/>
          </a:prstGeom>
          <a:noFill/>
          <a:ln>
            <a:noFill/>
          </a:ln>
        </p:spPr>
      </p:pic>
      <p:sp>
        <p:nvSpPr>
          <p:cNvPr id="1412" name="Google Shape;1412;p39"/>
          <p:cNvSpPr txBox="1"/>
          <p:nvPr/>
        </p:nvSpPr>
        <p:spPr>
          <a:xfrm>
            <a:off x="7228434" y="3235960"/>
            <a:ext cx="423174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DerbySoft</a:t>
            </a:r>
            <a:endParaRPr b="0" i="0" sz="1300" u="none" cap="none" strike="noStrike">
              <a:solidFill>
                <a:schemeClr val="dk1"/>
              </a:solidFill>
              <a:latin typeface="Calibri"/>
              <a:ea typeface="Calibri"/>
              <a:cs typeface="Calibri"/>
              <a:sym typeface="Calibri"/>
            </a:endParaRPr>
          </a:p>
        </p:txBody>
      </p:sp>
      <p:sp>
        <p:nvSpPr>
          <p:cNvPr id="1413" name="Google Shape;1413;p39"/>
          <p:cNvSpPr txBox="1"/>
          <p:nvPr/>
        </p:nvSpPr>
        <p:spPr>
          <a:xfrm>
            <a:off x="7228434" y="3510280"/>
            <a:ext cx="4231742" cy="47904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Connectivity for larger hotels and chains: links the property's systems to the OTAs and to Google.</a:t>
            </a:r>
            <a:endParaRPr b="0" i="0" sz="1050" u="none" cap="none" strike="noStrike">
              <a:solidFill>
                <a:schemeClr val="dk1"/>
              </a:solidFill>
              <a:latin typeface="Calibri"/>
              <a:ea typeface="Calibri"/>
              <a:cs typeface="Calibri"/>
              <a:sym typeface="Calibri"/>
            </a:endParaRPr>
          </a:p>
        </p:txBody>
      </p:sp>
      <p:sp>
        <p:nvSpPr>
          <p:cNvPr id="1414" name="Google Shape;1414;p39"/>
          <p:cNvSpPr/>
          <p:nvPr/>
        </p:nvSpPr>
        <p:spPr>
          <a:xfrm>
            <a:off x="548640" y="4117340"/>
            <a:ext cx="5410048" cy="885698"/>
          </a:xfrm>
          <a:prstGeom prst="roundRect">
            <a:avLst>
              <a:gd fmla="val 1238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rategain.png" id="1415" name="Google Shape;1415;p39"/>
          <p:cNvPicPr preferRelativeResize="0"/>
          <p:nvPr/>
        </p:nvPicPr>
        <p:blipFill rotWithShape="1">
          <a:blip r:embed="rId8">
            <a:alphaModFix/>
          </a:blip>
          <a:srcRect b="0" l="0" r="0" t="0"/>
          <a:stretch/>
        </p:blipFill>
        <p:spPr>
          <a:xfrm>
            <a:off x="731520" y="4254500"/>
            <a:ext cx="611378" cy="611378"/>
          </a:xfrm>
          <a:prstGeom prst="rect">
            <a:avLst/>
          </a:prstGeom>
          <a:noFill/>
          <a:ln>
            <a:noFill/>
          </a:ln>
        </p:spPr>
      </p:pic>
      <p:sp>
        <p:nvSpPr>
          <p:cNvPr id="1416" name="Google Shape;1416;p39"/>
          <p:cNvSpPr txBox="1"/>
          <p:nvPr/>
        </p:nvSpPr>
        <p:spPr>
          <a:xfrm>
            <a:off x="1544066" y="4249674"/>
            <a:ext cx="423174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RateGain</a:t>
            </a:r>
            <a:endParaRPr b="0" i="0" sz="1300" u="none" cap="none" strike="noStrike">
              <a:solidFill>
                <a:schemeClr val="dk1"/>
              </a:solidFill>
              <a:latin typeface="Calibri"/>
              <a:ea typeface="Calibri"/>
              <a:cs typeface="Calibri"/>
              <a:sym typeface="Calibri"/>
            </a:endParaRPr>
          </a:p>
        </p:txBody>
      </p:sp>
      <p:sp>
        <p:nvSpPr>
          <p:cNvPr id="1417" name="Google Shape;1417;p39"/>
          <p:cNvSpPr txBox="1"/>
          <p:nvPr/>
        </p:nvSpPr>
        <p:spPr>
          <a:xfrm>
            <a:off x="1544066" y="4523994"/>
            <a:ext cx="4231742" cy="47904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Distribution and rate tools for hotels; it also sells the rate-shopping tools on slide 40.</a:t>
            </a:r>
            <a:endParaRPr b="0" i="0" sz="1050" u="none" cap="none" strike="noStrike">
              <a:solidFill>
                <a:schemeClr val="dk1"/>
              </a:solidFill>
              <a:latin typeface="Calibri"/>
              <a:ea typeface="Calibri"/>
              <a:cs typeface="Calibri"/>
              <a:sym typeface="Calibri"/>
            </a:endParaRPr>
          </a:p>
        </p:txBody>
      </p:sp>
      <p:sp>
        <p:nvSpPr>
          <p:cNvPr id="1418" name="Google Shape;1418;p39"/>
          <p:cNvSpPr/>
          <p:nvPr/>
        </p:nvSpPr>
        <p:spPr>
          <a:xfrm>
            <a:off x="6233008" y="4117340"/>
            <a:ext cx="5410048" cy="885698"/>
          </a:xfrm>
          <a:prstGeom prst="roundRect">
            <a:avLst>
              <a:gd fmla="val 1238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guesty.png" id="1419" name="Google Shape;1419;p39"/>
          <p:cNvPicPr preferRelativeResize="0"/>
          <p:nvPr/>
        </p:nvPicPr>
        <p:blipFill rotWithShape="1">
          <a:blip r:embed="rId9">
            <a:alphaModFix/>
          </a:blip>
          <a:srcRect b="0" l="0" r="0" t="0"/>
          <a:stretch/>
        </p:blipFill>
        <p:spPr>
          <a:xfrm>
            <a:off x="6415888" y="4254500"/>
            <a:ext cx="611378" cy="611378"/>
          </a:xfrm>
          <a:prstGeom prst="rect">
            <a:avLst/>
          </a:prstGeom>
          <a:noFill/>
          <a:ln>
            <a:noFill/>
          </a:ln>
        </p:spPr>
      </p:pic>
      <p:sp>
        <p:nvSpPr>
          <p:cNvPr id="1420" name="Google Shape;1420;p39"/>
          <p:cNvSpPr txBox="1"/>
          <p:nvPr/>
        </p:nvSpPr>
        <p:spPr>
          <a:xfrm>
            <a:off x="7228434" y="4249674"/>
            <a:ext cx="423174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Guesty</a:t>
            </a:r>
            <a:endParaRPr b="0" i="0" sz="1300" u="none" cap="none" strike="noStrike">
              <a:solidFill>
                <a:schemeClr val="dk1"/>
              </a:solidFill>
              <a:latin typeface="Calibri"/>
              <a:ea typeface="Calibri"/>
              <a:cs typeface="Calibri"/>
              <a:sym typeface="Calibri"/>
            </a:endParaRPr>
          </a:p>
        </p:txBody>
      </p:sp>
      <p:sp>
        <p:nvSpPr>
          <p:cNvPr id="1421" name="Google Shape;1421;p39"/>
          <p:cNvSpPr txBox="1"/>
          <p:nvPr/>
        </p:nvSpPr>
        <p:spPr>
          <a:xfrm>
            <a:off x="7228434" y="4523994"/>
            <a:ext cx="4231742" cy="47904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Vacation rentals: PMS and channel manager in one product, pushing listings to Airbnb, Vrbo and Booking.com.</a:t>
            </a:r>
            <a:endParaRPr b="0" i="0" sz="1050" u="none" cap="none" strike="noStrike">
              <a:solidFill>
                <a:schemeClr val="dk1"/>
              </a:solidFill>
              <a:latin typeface="Calibri"/>
              <a:ea typeface="Calibri"/>
              <a:cs typeface="Calibri"/>
              <a:sym typeface="Calibri"/>
            </a:endParaRPr>
          </a:p>
        </p:txBody>
      </p:sp>
      <p:sp>
        <p:nvSpPr>
          <p:cNvPr id="1422" name="Google Shape;1422;p39"/>
          <p:cNvSpPr/>
          <p:nvPr/>
        </p:nvSpPr>
        <p:spPr>
          <a:xfrm>
            <a:off x="548640" y="5131054"/>
            <a:ext cx="5410048" cy="885698"/>
          </a:xfrm>
          <a:prstGeom prst="roundRect">
            <a:avLst>
              <a:gd fmla="val 1238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hostaway.png" id="1423" name="Google Shape;1423;p39"/>
          <p:cNvPicPr preferRelativeResize="0"/>
          <p:nvPr/>
        </p:nvPicPr>
        <p:blipFill rotWithShape="1">
          <a:blip r:embed="rId10">
            <a:alphaModFix/>
          </a:blip>
          <a:srcRect b="0" l="0" r="0" t="0"/>
          <a:stretch/>
        </p:blipFill>
        <p:spPr>
          <a:xfrm>
            <a:off x="731520" y="5268214"/>
            <a:ext cx="611378" cy="611378"/>
          </a:xfrm>
          <a:prstGeom prst="rect">
            <a:avLst/>
          </a:prstGeom>
          <a:noFill/>
          <a:ln>
            <a:noFill/>
          </a:ln>
        </p:spPr>
      </p:pic>
      <p:sp>
        <p:nvSpPr>
          <p:cNvPr id="1424" name="Google Shape;1424;p39"/>
          <p:cNvSpPr txBox="1"/>
          <p:nvPr/>
        </p:nvSpPr>
        <p:spPr>
          <a:xfrm>
            <a:off x="1544066" y="5263388"/>
            <a:ext cx="423174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Hostaway</a:t>
            </a:r>
            <a:endParaRPr b="0" i="0" sz="1300" u="none" cap="none" strike="noStrike">
              <a:solidFill>
                <a:schemeClr val="dk1"/>
              </a:solidFill>
              <a:latin typeface="Calibri"/>
              <a:ea typeface="Calibri"/>
              <a:cs typeface="Calibri"/>
              <a:sym typeface="Calibri"/>
            </a:endParaRPr>
          </a:p>
        </p:txBody>
      </p:sp>
      <p:sp>
        <p:nvSpPr>
          <p:cNvPr id="1425" name="Google Shape;1425;p39"/>
          <p:cNvSpPr txBox="1"/>
          <p:nvPr/>
        </p:nvSpPr>
        <p:spPr>
          <a:xfrm>
            <a:off x="1544075" y="5537700"/>
            <a:ext cx="4414500" cy="4791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A vacation-rental PMS first, with channel manager, booking engine, pricing, messaging </a:t>
            </a:r>
            <a:r>
              <a:rPr lang="en-US" sz="1050">
                <a:solidFill>
                  <a:srgbClr val="525252"/>
                </a:solidFill>
                <a:latin typeface="Inter"/>
                <a:ea typeface="Inter"/>
                <a:cs typeface="Inter"/>
                <a:sym typeface="Inter"/>
              </a:rPr>
              <a:t>&amp;</a:t>
            </a:r>
            <a:r>
              <a:rPr b="0" i="0" lang="en-US" sz="1050" u="none" cap="none" strike="noStrike">
                <a:solidFill>
                  <a:srgbClr val="525252"/>
                </a:solidFill>
                <a:latin typeface="Inter"/>
                <a:ea typeface="Inter"/>
                <a:cs typeface="Inter"/>
                <a:sym typeface="Inter"/>
              </a:rPr>
              <a:t> upsells, for managers with many units.</a:t>
            </a:r>
            <a:endParaRPr b="0" i="0" sz="1050" u="none" cap="none" strike="noStrike">
              <a:solidFill>
                <a:schemeClr val="dk1"/>
              </a:solidFill>
              <a:latin typeface="Calibri"/>
              <a:ea typeface="Calibri"/>
              <a:cs typeface="Calibri"/>
              <a:sym typeface="Calibri"/>
            </a:endParaRPr>
          </a:p>
        </p:txBody>
      </p:sp>
      <p:sp>
        <p:nvSpPr>
          <p:cNvPr id="1426" name="Google Shape;1426;p39"/>
          <p:cNvSpPr/>
          <p:nvPr/>
        </p:nvSpPr>
        <p:spPr>
          <a:xfrm>
            <a:off x="6233008" y="5131054"/>
            <a:ext cx="5410048" cy="885698"/>
          </a:xfrm>
          <a:prstGeom prst="roundRect">
            <a:avLst>
              <a:gd fmla="val 1238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lodgify.png" id="1427" name="Google Shape;1427;p39"/>
          <p:cNvPicPr preferRelativeResize="0"/>
          <p:nvPr/>
        </p:nvPicPr>
        <p:blipFill rotWithShape="1">
          <a:blip r:embed="rId11">
            <a:alphaModFix/>
          </a:blip>
          <a:srcRect b="0" l="0" r="0" t="0"/>
          <a:stretch/>
        </p:blipFill>
        <p:spPr>
          <a:xfrm>
            <a:off x="6415888" y="5268214"/>
            <a:ext cx="611378" cy="611378"/>
          </a:xfrm>
          <a:prstGeom prst="rect">
            <a:avLst/>
          </a:prstGeom>
          <a:noFill/>
          <a:ln>
            <a:noFill/>
          </a:ln>
        </p:spPr>
      </p:pic>
      <p:sp>
        <p:nvSpPr>
          <p:cNvPr id="1428" name="Google Shape;1428;p39"/>
          <p:cNvSpPr txBox="1"/>
          <p:nvPr/>
        </p:nvSpPr>
        <p:spPr>
          <a:xfrm>
            <a:off x="7228434" y="5263388"/>
            <a:ext cx="423174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Lodgify</a:t>
            </a:r>
            <a:endParaRPr b="0" i="0" sz="1300" u="none" cap="none" strike="noStrike">
              <a:solidFill>
                <a:schemeClr val="dk1"/>
              </a:solidFill>
              <a:latin typeface="Calibri"/>
              <a:ea typeface="Calibri"/>
              <a:cs typeface="Calibri"/>
              <a:sym typeface="Calibri"/>
            </a:endParaRPr>
          </a:p>
        </p:txBody>
      </p:sp>
      <p:sp>
        <p:nvSpPr>
          <p:cNvPr id="1429" name="Google Shape;1429;p39"/>
          <p:cNvSpPr txBox="1"/>
          <p:nvPr/>
        </p:nvSpPr>
        <p:spPr>
          <a:xfrm>
            <a:off x="7228434" y="5537708"/>
            <a:ext cx="4231742" cy="47904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Vacation rentals: a website with the booking engine built in, plus a channel manager to the OTAs.</a:t>
            </a:r>
            <a:endParaRPr b="0" i="0" sz="1050" u="none" cap="none" strike="noStrike">
              <a:solidFill>
                <a:schemeClr val="dk1"/>
              </a:solidFill>
              <a:latin typeface="Calibri"/>
              <a:ea typeface="Calibri"/>
              <a:cs typeface="Calibri"/>
              <a:sym typeface="Calibri"/>
            </a:endParaRPr>
          </a:p>
        </p:txBody>
      </p:sp>
      <p:sp>
        <p:nvSpPr>
          <p:cNvPr id="1430" name="Google Shape;1430;p39"/>
          <p:cNvSpPr txBox="1"/>
          <p:nvPr/>
        </p:nvSpPr>
        <p:spPr>
          <a:xfrm>
            <a:off x="548640" y="6089904"/>
            <a:ext cx="1106424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SiteMinder, Cloudbeds and STAAH also sell a booking engine; Guesty, Hostaway and Lodgify are rental suites.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435" name="Shape 1435"/>
        <p:cNvGrpSpPr/>
        <p:nvPr/>
      </p:nvGrpSpPr>
      <p:grpSpPr>
        <a:xfrm>
          <a:off x="0" y="0"/>
          <a:ext cx="0" cy="0"/>
          <a:chOff x="0" y="0"/>
          <a:chExt cx="0" cy="0"/>
        </a:xfrm>
      </p:grpSpPr>
      <p:sp>
        <p:nvSpPr>
          <p:cNvPr id="1436" name="Google Shape;1436;p40"/>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6 · THE STACK</a:t>
            </a:r>
            <a:endParaRPr b="0" i="0" sz="1050" u="none" cap="none" strike="noStrike">
              <a:solidFill>
                <a:schemeClr val="dk1"/>
              </a:solidFill>
              <a:latin typeface="Calibri"/>
              <a:ea typeface="Calibri"/>
              <a:cs typeface="Calibri"/>
              <a:sym typeface="Calibri"/>
            </a:endParaRPr>
          </a:p>
        </p:txBody>
      </p:sp>
      <p:pic>
        <p:nvPicPr>
          <p:cNvPr descr="/home/claude/work/renderer/brand/wordmark.png" id="1437" name="Google Shape;1437;p40"/>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438" name="Google Shape;1438;p40"/>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38 / 48</a:t>
            </a:r>
            <a:endParaRPr b="0" i="0" sz="900" u="none" cap="none" strike="noStrike">
              <a:solidFill>
                <a:schemeClr val="dk1"/>
              </a:solidFill>
              <a:latin typeface="Calibri"/>
              <a:ea typeface="Calibri"/>
              <a:cs typeface="Calibri"/>
              <a:sym typeface="Calibri"/>
            </a:endParaRPr>
          </a:p>
        </p:txBody>
      </p:sp>
      <p:sp>
        <p:nvSpPr>
          <p:cNvPr id="1439" name="Google Shape;1439;p40"/>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Booking engine</a:t>
            </a:r>
            <a:r>
              <a:rPr b="0" i="0" lang="en-US" sz="1700" u="none" cap="none" strike="noStrike">
                <a:solidFill>
                  <a:srgbClr val="004FAA"/>
                </a:solidFill>
                <a:latin typeface="Inter"/>
                <a:ea typeface="Inter"/>
                <a:cs typeface="Inter"/>
                <a:sym typeface="Inter"/>
              </a:rPr>
              <a:t>  the Book now page on the owner's own site</a:t>
            </a:r>
            <a:endParaRPr b="0" i="0" sz="3000" u="none" cap="none" strike="noStrike">
              <a:solidFill>
                <a:schemeClr val="dk1"/>
              </a:solidFill>
              <a:latin typeface="Calibri"/>
              <a:ea typeface="Calibri"/>
              <a:cs typeface="Calibri"/>
              <a:sym typeface="Calibri"/>
            </a:endParaRPr>
          </a:p>
        </p:txBody>
      </p:sp>
      <p:sp>
        <p:nvSpPr>
          <p:cNvPr id="1440" name="Google Shape;1440;p40"/>
          <p:cNvSpPr txBox="1"/>
          <p:nvPr/>
        </p:nvSpPr>
        <p:spPr>
          <a:xfrm>
            <a:off x="548640" y="1389888"/>
            <a:ext cx="11064240" cy="5354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25252"/>
              </a:buClr>
              <a:buSzPts val="1400"/>
              <a:buFont typeface="Inter"/>
              <a:buNone/>
            </a:pPr>
            <a:r>
              <a:rPr b="0" i="0" lang="en-US" sz="1400" u="none" cap="none" strike="noStrike">
                <a:solidFill>
                  <a:srgbClr val="525252"/>
                </a:solidFill>
                <a:latin typeface="Inter"/>
                <a:ea typeface="Inter"/>
                <a:cs typeface="Inter"/>
                <a:sym typeface="Inter"/>
              </a:rPr>
              <a:t>The “Book now” page on the property's own website: it takes the direct booking, charges the card and writes the reservation into the PMS. Direct bookings, first-party data and our tracking all run through it.</a:t>
            </a:r>
            <a:endParaRPr b="0" i="0" sz="1400" u="none" cap="none" strike="noStrike">
              <a:solidFill>
                <a:schemeClr val="dk1"/>
              </a:solidFill>
              <a:latin typeface="Calibri"/>
              <a:ea typeface="Calibri"/>
              <a:cs typeface="Calibri"/>
              <a:sym typeface="Calibri"/>
            </a:endParaRPr>
          </a:p>
        </p:txBody>
      </p:sp>
      <p:sp>
        <p:nvSpPr>
          <p:cNvPr id="1441" name="Google Shape;1441;p40"/>
          <p:cNvSpPr/>
          <p:nvPr/>
        </p:nvSpPr>
        <p:spPr>
          <a:xfrm>
            <a:off x="548640" y="2089912"/>
            <a:ext cx="5410048" cy="885698"/>
          </a:xfrm>
          <a:prstGeom prst="roundRect">
            <a:avLst>
              <a:gd fmla="val 1238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sabre-synxis.png" id="1442" name="Google Shape;1442;p40"/>
          <p:cNvPicPr preferRelativeResize="0"/>
          <p:nvPr/>
        </p:nvPicPr>
        <p:blipFill rotWithShape="1">
          <a:blip r:embed="rId4">
            <a:alphaModFix/>
          </a:blip>
          <a:srcRect b="0" l="0" r="0" t="0"/>
          <a:stretch/>
        </p:blipFill>
        <p:spPr>
          <a:xfrm>
            <a:off x="731520" y="2227072"/>
            <a:ext cx="611378" cy="611378"/>
          </a:xfrm>
          <a:prstGeom prst="rect">
            <a:avLst/>
          </a:prstGeom>
          <a:noFill/>
          <a:ln>
            <a:noFill/>
          </a:ln>
        </p:spPr>
      </p:pic>
      <p:sp>
        <p:nvSpPr>
          <p:cNvPr id="1443" name="Google Shape;1443;p40"/>
          <p:cNvSpPr txBox="1"/>
          <p:nvPr/>
        </p:nvSpPr>
        <p:spPr>
          <a:xfrm>
            <a:off x="1544066" y="2222246"/>
            <a:ext cx="423174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Sabre SynXis</a:t>
            </a:r>
            <a:endParaRPr b="0" i="0" sz="1300" u="none" cap="none" strike="noStrike">
              <a:solidFill>
                <a:schemeClr val="dk1"/>
              </a:solidFill>
              <a:latin typeface="Calibri"/>
              <a:ea typeface="Calibri"/>
              <a:cs typeface="Calibri"/>
              <a:sym typeface="Calibri"/>
            </a:endParaRPr>
          </a:p>
        </p:txBody>
      </p:sp>
      <p:sp>
        <p:nvSpPr>
          <p:cNvPr id="1444" name="Google Shape;1444;p40"/>
          <p:cNvSpPr txBox="1"/>
          <p:nvPr/>
        </p:nvSpPr>
        <p:spPr>
          <a:xfrm>
            <a:off x="1544066" y="2496566"/>
            <a:ext cx="4231742" cy="47904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SynXis's booking engine (sold by Sabre until 2025), on its central reservation system. The larger-hotel end of this box.</a:t>
            </a:r>
            <a:endParaRPr b="0" i="0" sz="1050" u="none" cap="none" strike="noStrike">
              <a:solidFill>
                <a:schemeClr val="dk1"/>
              </a:solidFill>
              <a:latin typeface="Calibri"/>
              <a:ea typeface="Calibri"/>
              <a:cs typeface="Calibri"/>
              <a:sym typeface="Calibri"/>
            </a:endParaRPr>
          </a:p>
        </p:txBody>
      </p:sp>
      <p:sp>
        <p:nvSpPr>
          <p:cNvPr id="1445" name="Google Shape;1445;p40"/>
          <p:cNvSpPr/>
          <p:nvPr/>
        </p:nvSpPr>
        <p:spPr>
          <a:xfrm>
            <a:off x="6233008" y="2089912"/>
            <a:ext cx="5410048" cy="885698"/>
          </a:xfrm>
          <a:prstGeom prst="roundRect">
            <a:avLst>
              <a:gd fmla="val 1238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amadeus-ihotelier.png" id="1446" name="Google Shape;1446;p40"/>
          <p:cNvPicPr preferRelativeResize="0"/>
          <p:nvPr/>
        </p:nvPicPr>
        <p:blipFill rotWithShape="1">
          <a:blip r:embed="rId5">
            <a:alphaModFix/>
          </a:blip>
          <a:srcRect b="0" l="0" r="0" t="0"/>
          <a:stretch/>
        </p:blipFill>
        <p:spPr>
          <a:xfrm>
            <a:off x="6415888" y="2227072"/>
            <a:ext cx="611378" cy="611378"/>
          </a:xfrm>
          <a:prstGeom prst="rect">
            <a:avLst/>
          </a:prstGeom>
          <a:noFill/>
          <a:ln>
            <a:noFill/>
          </a:ln>
        </p:spPr>
      </p:pic>
      <p:sp>
        <p:nvSpPr>
          <p:cNvPr id="1447" name="Google Shape;1447;p40"/>
          <p:cNvSpPr txBox="1"/>
          <p:nvPr/>
        </p:nvSpPr>
        <p:spPr>
          <a:xfrm>
            <a:off x="7228434" y="2222246"/>
            <a:ext cx="423174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Amadeus iHotelier</a:t>
            </a:r>
            <a:endParaRPr b="0" i="0" sz="1300" u="none" cap="none" strike="noStrike">
              <a:solidFill>
                <a:schemeClr val="dk1"/>
              </a:solidFill>
              <a:latin typeface="Calibri"/>
              <a:ea typeface="Calibri"/>
              <a:cs typeface="Calibri"/>
              <a:sym typeface="Calibri"/>
            </a:endParaRPr>
          </a:p>
        </p:txBody>
      </p:sp>
      <p:sp>
        <p:nvSpPr>
          <p:cNvPr id="1448" name="Google Shape;1448;p40"/>
          <p:cNvSpPr txBox="1"/>
          <p:nvPr/>
        </p:nvSpPr>
        <p:spPr>
          <a:xfrm>
            <a:off x="7228434" y="2496566"/>
            <a:ext cx="4231742" cy="47904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Amadeus' booking engine for hotels and resorts, often paired with its central reservation system.</a:t>
            </a:r>
            <a:endParaRPr b="0" i="0" sz="1050" u="none" cap="none" strike="noStrike">
              <a:solidFill>
                <a:schemeClr val="dk1"/>
              </a:solidFill>
              <a:latin typeface="Calibri"/>
              <a:ea typeface="Calibri"/>
              <a:cs typeface="Calibri"/>
              <a:sym typeface="Calibri"/>
            </a:endParaRPr>
          </a:p>
        </p:txBody>
      </p:sp>
      <p:sp>
        <p:nvSpPr>
          <p:cNvPr id="1449" name="Google Shape;1449;p40"/>
          <p:cNvSpPr/>
          <p:nvPr/>
        </p:nvSpPr>
        <p:spPr>
          <a:xfrm>
            <a:off x="548640" y="3103626"/>
            <a:ext cx="5410048" cy="885698"/>
          </a:xfrm>
          <a:prstGeom prst="roundRect">
            <a:avLst>
              <a:gd fmla="val 1238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siteminder.png" id="1450" name="Google Shape;1450;p40"/>
          <p:cNvPicPr preferRelativeResize="0"/>
          <p:nvPr/>
        </p:nvPicPr>
        <p:blipFill rotWithShape="1">
          <a:blip r:embed="rId6">
            <a:alphaModFix/>
          </a:blip>
          <a:srcRect b="0" l="0" r="0" t="0"/>
          <a:stretch/>
        </p:blipFill>
        <p:spPr>
          <a:xfrm>
            <a:off x="731520" y="3240786"/>
            <a:ext cx="611378" cy="611378"/>
          </a:xfrm>
          <a:prstGeom prst="rect">
            <a:avLst/>
          </a:prstGeom>
          <a:noFill/>
          <a:ln>
            <a:noFill/>
          </a:ln>
        </p:spPr>
      </p:pic>
      <p:sp>
        <p:nvSpPr>
          <p:cNvPr id="1451" name="Google Shape;1451;p40"/>
          <p:cNvSpPr txBox="1"/>
          <p:nvPr/>
        </p:nvSpPr>
        <p:spPr>
          <a:xfrm>
            <a:off x="1544066" y="3235960"/>
            <a:ext cx="423174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SiteMinder</a:t>
            </a:r>
            <a:endParaRPr b="0" i="0" sz="1300" u="none" cap="none" strike="noStrike">
              <a:solidFill>
                <a:schemeClr val="dk1"/>
              </a:solidFill>
              <a:latin typeface="Calibri"/>
              <a:ea typeface="Calibri"/>
              <a:cs typeface="Calibri"/>
              <a:sym typeface="Calibri"/>
            </a:endParaRPr>
          </a:p>
        </p:txBody>
      </p:sp>
      <p:sp>
        <p:nvSpPr>
          <p:cNvPr id="1452" name="Google Shape;1452;p40"/>
          <p:cNvSpPr txBox="1"/>
          <p:nvPr/>
        </p:nvSpPr>
        <p:spPr>
          <a:xfrm>
            <a:off x="1544066" y="3510280"/>
            <a:ext cx="4231742" cy="47904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Sold alongside its channel manager, so one vendor covers the OTAs and the direct page.</a:t>
            </a:r>
            <a:endParaRPr b="0" i="0" sz="1050" u="none" cap="none" strike="noStrike">
              <a:solidFill>
                <a:schemeClr val="dk1"/>
              </a:solidFill>
              <a:latin typeface="Calibri"/>
              <a:ea typeface="Calibri"/>
              <a:cs typeface="Calibri"/>
              <a:sym typeface="Calibri"/>
            </a:endParaRPr>
          </a:p>
        </p:txBody>
      </p:sp>
      <p:sp>
        <p:nvSpPr>
          <p:cNvPr id="1453" name="Google Shape;1453;p40"/>
          <p:cNvSpPr/>
          <p:nvPr/>
        </p:nvSpPr>
        <p:spPr>
          <a:xfrm>
            <a:off x="6233008" y="3103626"/>
            <a:ext cx="5410048" cy="885698"/>
          </a:xfrm>
          <a:prstGeom prst="roundRect">
            <a:avLst>
              <a:gd fmla="val 1238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cloudbeds.png" id="1454" name="Google Shape;1454;p40"/>
          <p:cNvPicPr preferRelativeResize="0"/>
          <p:nvPr/>
        </p:nvPicPr>
        <p:blipFill rotWithShape="1">
          <a:blip r:embed="rId7">
            <a:alphaModFix/>
          </a:blip>
          <a:srcRect b="0" l="0" r="0" t="0"/>
          <a:stretch/>
        </p:blipFill>
        <p:spPr>
          <a:xfrm>
            <a:off x="6415888" y="3240786"/>
            <a:ext cx="611378" cy="611378"/>
          </a:xfrm>
          <a:prstGeom prst="rect">
            <a:avLst/>
          </a:prstGeom>
          <a:noFill/>
          <a:ln>
            <a:noFill/>
          </a:ln>
        </p:spPr>
      </p:pic>
      <p:sp>
        <p:nvSpPr>
          <p:cNvPr id="1455" name="Google Shape;1455;p40"/>
          <p:cNvSpPr txBox="1"/>
          <p:nvPr/>
        </p:nvSpPr>
        <p:spPr>
          <a:xfrm>
            <a:off x="7228434" y="3235960"/>
            <a:ext cx="423174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Cloudbeds</a:t>
            </a:r>
            <a:endParaRPr b="0" i="0" sz="1300" u="none" cap="none" strike="noStrike">
              <a:solidFill>
                <a:schemeClr val="dk1"/>
              </a:solidFill>
              <a:latin typeface="Calibri"/>
              <a:ea typeface="Calibri"/>
              <a:cs typeface="Calibri"/>
              <a:sym typeface="Calibri"/>
            </a:endParaRPr>
          </a:p>
        </p:txBody>
      </p:sp>
      <p:sp>
        <p:nvSpPr>
          <p:cNvPr id="1456" name="Google Shape;1456;p40"/>
          <p:cNvSpPr txBox="1"/>
          <p:nvPr/>
        </p:nvSpPr>
        <p:spPr>
          <a:xfrm>
            <a:off x="7228434" y="3510280"/>
            <a:ext cx="4231742" cy="47904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The booking engine inside the Cloudbeds suite, writing straight into its own PMS.</a:t>
            </a:r>
            <a:endParaRPr b="0" i="0" sz="1050" u="none" cap="none" strike="noStrike">
              <a:solidFill>
                <a:schemeClr val="dk1"/>
              </a:solidFill>
              <a:latin typeface="Calibri"/>
              <a:ea typeface="Calibri"/>
              <a:cs typeface="Calibri"/>
              <a:sym typeface="Calibri"/>
            </a:endParaRPr>
          </a:p>
        </p:txBody>
      </p:sp>
      <p:sp>
        <p:nvSpPr>
          <p:cNvPr id="1457" name="Google Shape;1457;p40"/>
          <p:cNvSpPr/>
          <p:nvPr/>
        </p:nvSpPr>
        <p:spPr>
          <a:xfrm>
            <a:off x="548640" y="4117340"/>
            <a:ext cx="5410048" cy="885698"/>
          </a:xfrm>
          <a:prstGeom prst="roundRect">
            <a:avLst>
              <a:gd fmla="val 1238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mews.png" id="1458" name="Google Shape;1458;p40"/>
          <p:cNvPicPr preferRelativeResize="0"/>
          <p:nvPr/>
        </p:nvPicPr>
        <p:blipFill rotWithShape="1">
          <a:blip r:embed="rId8">
            <a:alphaModFix/>
          </a:blip>
          <a:srcRect b="0" l="0" r="0" t="0"/>
          <a:stretch/>
        </p:blipFill>
        <p:spPr>
          <a:xfrm>
            <a:off x="731520" y="4254500"/>
            <a:ext cx="611378" cy="611378"/>
          </a:xfrm>
          <a:prstGeom prst="rect">
            <a:avLst/>
          </a:prstGeom>
          <a:noFill/>
          <a:ln>
            <a:noFill/>
          </a:ln>
        </p:spPr>
      </p:pic>
      <p:sp>
        <p:nvSpPr>
          <p:cNvPr id="1459" name="Google Shape;1459;p40"/>
          <p:cNvSpPr txBox="1"/>
          <p:nvPr/>
        </p:nvSpPr>
        <p:spPr>
          <a:xfrm>
            <a:off x="1544066" y="4249674"/>
            <a:ext cx="423174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Mews</a:t>
            </a:r>
            <a:endParaRPr b="0" i="0" sz="1300" u="none" cap="none" strike="noStrike">
              <a:solidFill>
                <a:schemeClr val="dk1"/>
              </a:solidFill>
              <a:latin typeface="Calibri"/>
              <a:ea typeface="Calibri"/>
              <a:cs typeface="Calibri"/>
              <a:sym typeface="Calibri"/>
            </a:endParaRPr>
          </a:p>
        </p:txBody>
      </p:sp>
      <p:sp>
        <p:nvSpPr>
          <p:cNvPr id="1460" name="Google Shape;1460;p40"/>
          <p:cNvSpPr txBox="1"/>
          <p:nvPr/>
        </p:nvSpPr>
        <p:spPr>
          <a:xfrm>
            <a:off x="1544066" y="4523994"/>
            <a:ext cx="4231742" cy="47904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Sold with its PMS: the direct booking lands in the same system the front desk runs.</a:t>
            </a:r>
            <a:endParaRPr b="0" i="0" sz="1050" u="none" cap="none" strike="noStrike">
              <a:solidFill>
                <a:schemeClr val="dk1"/>
              </a:solidFill>
              <a:latin typeface="Calibri"/>
              <a:ea typeface="Calibri"/>
              <a:cs typeface="Calibri"/>
              <a:sym typeface="Calibri"/>
            </a:endParaRPr>
          </a:p>
        </p:txBody>
      </p:sp>
      <p:sp>
        <p:nvSpPr>
          <p:cNvPr id="1461" name="Google Shape;1461;p40"/>
          <p:cNvSpPr/>
          <p:nvPr/>
        </p:nvSpPr>
        <p:spPr>
          <a:xfrm>
            <a:off x="6233008" y="4117340"/>
            <a:ext cx="5410048" cy="885698"/>
          </a:xfrm>
          <a:prstGeom prst="roundRect">
            <a:avLst>
              <a:gd fmla="val 1238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staah.png" id="1462" name="Google Shape;1462;p40"/>
          <p:cNvPicPr preferRelativeResize="0"/>
          <p:nvPr/>
        </p:nvPicPr>
        <p:blipFill rotWithShape="1">
          <a:blip r:embed="rId9">
            <a:alphaModFix/>
          </a:blip>
          <a:srcRect b="0" l="0" r="0" t="0"/>
          <a:stretch/>
        </p:blipFill>
        <p:spPr>
          <a:xfrm>
            <a:off x="6415888" y="4254500"/>
            <a:ext cx="611378" cy="611378"/>
          </a:xfrm>
          <a:prstGeom prst="rect">
            <a:avLst/>
          </a:prstGeom>
          <a:noFill/>
          <a:ln>
            <a:noFill/>
          </a:ln>
        </p:spPr>
      </p:pic>
      <p:sp>
        <p:nvSpPr>
          <p:cNvPr id="1463" name="Google Shape;1463;p40"/>
          <p:cNvSpPr txBox="1"/>
          <p:nvPr/>
        </p:nvSpPr>
        <p:spPr>
          <a:xfrm>
            <a:off x="7228434" y="4336352"/>
            <a:ext cx="423174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STAAH</a:t>
            </a:r>
            <a:endParaRPr b="0" i="0" sz="1300" u="none" cap="none" strike="noStrike">
              <a:solidFill>
                <a:schemeClr val="dk1"/>
              </a:solidFill>
              <a:latin typeface="Calibri"/>
              <a:ea typeface="Calibri"/>
              <a:cs typeface="Calibri"/>
              <a:sym typeface="Calibri"/>
            </a:endParaRPr>
          </a:p>
        </p:txBody>
      </p:sp>
      <p:sp>
        <p:nvSpPr>
          <p:cNvPr id="1464" name="Google Shape;1464;p40"/>
          <p:cNvSpPr txBox="1"/>
          <p:nvPr/>
        </p:nvSpPr>
        <p:spPr>
          <a:xfrm>
            <a:off x="7228434" y="4610672"/>
            <a:ext cx="4231742" cy="39236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Sold with its channel manager, for independent properties.</a:t>
            </a:r>
            <a:endParaRPr b="0" i="0" sz="1050" u="none" cap="none" strike="noStrike">
              <a:solidFill>
                <a:schemeClr val="dk1"/>
              </a:solidFill>
              <a:latin typeface="Calibri"/>
              <a:ea typeface="Calibri"/>
              <a:cs typeface="Calibri"/>
              <a:sym typeface="Calibri"/>
            </a:endParaRPr>
          </a:p>
        </p:txBody>
      </p:sp>
      <p:sp>
        <p:nvSpPr>
          <p:cNvPr id="1465" name="Google Shape;1465;p40"/>
          <p:cNvSpPr/>
          <p:nvPr/>
        </p:nvSpPr>
        <p:spPr>
          <a:xfrm>
            <a:off x="548640" y="5131054"/>
            <a:ext cx="5410048" cy="885698"/>
          </a:xfrm>
          <a:prstGeom prst="roundRect">
            <a:avLst>
              <a:gd fmla="val 1238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lodgify.png" id="1466" name="Google Shape;1466;p40"/>
          <p:cNvPicPr preferRelativeResize="0"/>
          <p:nvPr/>
        </p:nvPicPr>
        <p:blipFill rotWithShape="1">
          <a:blip r:embed="rId10">
            <a:alphaModFix/>
          </a:blip>
          <a:srcRect b="0" l="0" r="0" t="0"/>
          <a:stretch/>
        </p:blipFill>
        <p:spPr>
          <a:xfrm>
            <a:off x="731520" y="5268214"/>
            <a:ext cx="611378" cy="611378"/>
          </a:xfrm>
          <a:prstGeom prst="rect">
            <a:avLst/>
          </a:prstGeom>
          <a:noFill/>
          <a:ln>
            <a:noFill/>
          </a:ln>
        </p:spPr>
      </p:pic>
      <p:sp>
        <p:nvSpPr>
          <p:cNvPr id="1467" name="Google Shape;1467;p40"/>
          <p:cNvSpPr txBox="1"/>
          <p:nvPr/>
        </p:nvSpPr>
        <p:spPr>
          <a:xfrm>
            <a:off x="1544066" y="5263388"/>
            <a:ext cx="423174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Lodgify</a:t>
            </a:r>
            <a:endParaRPr b="0" i="0" sz="1300" u="none" cap="none" strike="noStrike">
              <a:solidFill>
                <a:schemeClr val="dk1"/>
              </a:solidFill>
              <a:latin typeface="Calibri"/>
              <a:ea typeface="Calibri"/>
              <a:cs typeface="Calibri"/>
              <a:sym typeface="Calibri"/>
            </a:endParaRPr>
          </a:p>
        </p:txBody>
      </p:sp>
      <p:sp>
        <p:nvSpPr>
          <p:cNvPr id="1468" name="Google Shape;1468;p40"/>
          <p:cNvSpPr txBox="1"/>
          <p:nvPr/>
        </p:nvSpPr>
        <p:spPr>
          <a:xfrm>
            <a:off x="1544066" y="5537708"/>
            <a:ext cx="4231742" cy="47904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A vacation-rental website with the booking engine built in; the owner's site and the engine are one product.</a:t>
            </a:r>
            <a:endParaRPr b="0" i="0" sz="1050" u="none" cap="none" strike="noStrike">
              <a:solidFill>
                <a:schemeClr val="dk1"/>
              </a:solidFill>
              <a:latin typeface="Calibri"/>
              <a:ea typeface="Calibri"/>
              <a:cs typeface="Calibri"/>
              <a:sym typeface="Calibri"/>
            </a:endParaRPr>
          </a:p>
        </p:txBody>
      </p:sp>
      <p:sp>
        <p:nvSpPr>
          <p:cNvPr id="1469" name="Google Shape;1469;p40"/>
          <p:cNvSpPr/>
          <p:nvPr/>
        </p:nvSpPr>
        <p:spPr>
          <a:xfrm>
            <a:off x="6233008" y="5131054"/>
            <a:ext cx="5410048" cy="885698"/>
          </a:xfrm>
          <a:prstGeom prst="roundRect">
            <a:avLst>
              <a:gd fmla="val 1238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webrezpro.png" id="1470" name="Google Shape;1470;p40"/>
          <p:cNvPicPr preferRelativeResize="0"/>
          <p:nvPr/>
        </p:nvPicPr>
        <p:blipFill rotWithShape="1">
          <a:blip r:embed="rId11">
            <a:alphaModFix/>
          </a:blip>
          <a:srcRect b="0" l="0" r="0" t="0"/>
          <a:stretch/>
        </p:blipFill>
        <p:spPr>
          <a:xfrm>
            <a:off x="6415888" y="5268214"/>
            <a:ext cx="611378" cy="611378"/>
          </a:xfrm>
          <a:prstGeom prst="rect">
            <a:avLst/>
          </a:prstGeom>
          <a:noFill/>
          <a:ln>
            <a:noFill/>
          </a:ln>
        </p:spPr>
      </p:pic>
      <p:sp>
        <p:nvSpPr>
          <p:cNvPr id="1471" name="Google Shape;1471;p40"/>
          <p:cNvSpPr txBox="1"/>
          <p:nvPr/>
        </p:nvSpPr>
        <p:spPr>
          <a:xfrm>
            <a:off x="7228434" y="5263388"/>
            <a:ext cx="423174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WebRezPro</a:t>
            </a:r>
            <a:endParaRPr b="0" i="0" sz="1300" u="none" cap="none" strike="noStrike">
              <a:solidFill>
                <a:schemeClr val="dk1"/>
              </a:solidFill>
              <a:latin typeface="Calibri"/>
              <a:ea typeface="Calibri"/>
              <a:cs typeface="Calibri"/>
              <a:sym typeface="Calibri"/>
            </a:endParaRPr>
          </a:p>
        </p:txBody>
      </p:sp>
      <p:sp>
        <p:nvSpPr>
          <p:cNvPr id="1472" name="Google Shape;1472;p40"/>
          <p:cNvSpPr txBox="1"/>
          <p:nvPr/>
        </p:nvSpPr>
        <p:spPr>
          <a:xfrm>
            <a:off x="7228434" y="5537708"/>
            <a:ext cx="4231742" cy="47904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The booking engine that comes with its PMS, for independent hotels and lodges.</a:t>
            </a:r>
            <a:endParaRPr b="0" i="0" sz="1050" u="none" cap="none" strike="noStrike">
              <a:solidFill>
                <a:schemeClr val="dk1"/>
              </a:solidFill>
              <a:latin typeface="Calibri"/>
              <a:ea typeface="Calibri"/>
              <a:cs typeface="Calibri"/>
              <a:sym typeface="Calibri"/>
            </a:endParaRPr>
          </a:p>
        </p:txBody>
      </p:sp>
      <p:sp>
        <p:nvSpPr>
          <p:cNvPr id="1473" name="Google Shape;1473;p40"/>
          <p:cNvSpPr txBox="1"/>
          <p:nvPr/>
        </p:nvSpPr>
        <p:spPr>
          <a:xfrm>
            <a:off x="548640" y="6089904"/>
            <a:ext cx="1106424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Most PMS and channel-manager vendors sell an engine too; ask which one the owner's site actually uses.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478" name="Shape 1478"/>
        <p:cNvGrpSpPr/>
        <p:nvPr/>
      </p:nvGrpSpPr>
      <p:grpSpPr>
        <a:xfrm>
          <a:off x="0" y="0"/>
          <a:ext cx="0" cy="0"/>
          <a:chOff x="0" y="0"/>
          <a:chExt cx="0" cy="0"/>
        </a:xfrm>
      </p:grpSpPr>
      <p:sp>
        <p:nvSpPr>
          <p:cNvPr id="1479" name="Google Shape;1479;p41"/>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6 · THE STACK</a:t>
            </a:r>
            <a:endParaRPr b="0" i="0" sz="1050" u="none" cap="none" strike="noStrike">
              <a:solidFill>
                <a:schemeClr val="dk1"/>
              </a:solidFill>
              <a:latin typeface="Calibri"/>
              <a:ea typeface="Calibri"/>
              <a:cs typeface="Calibri"/>
              <a:sym typeface="Calibri"/>
            </a:endParaRPr>
          </a:p>
        </p:txBody>
      </p:sp>
      <p:pic>
        <p:nvPicPr>
          <p:cNvPr descr="/home/claude/work/renderer/brand/wordmark.png" id="1480" name="Google Shape;1480;p41"/>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481" name="Google Shape;1481;p41"/>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39 / 48</a:t>
            </a:r>
            <a:endParaRPr b="0" i="0" sz="900" u="none" cap="none" strike="noStrike">
              <a:solidFill>
                <a:schemeClr val="dk1"/>
              </a:solidFill>
              <a:latin typeface="Calibri"/>
              <a:ea typeface="Calibri"/>
              <a:cs typeface="Calibri"/>
              <a:sym typeface="Calibri"/>
            </a:endParaRPr>
          </a:p>
        </p:txBody>
      </p:sp>
      <p:sp>
        <p:nvSpPr>
          <p:cNvPr id="1482" name="Google Shape;1482;p41"/>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Dynamic pricing</a:t>
            </a:r>
            <a:r>
              <a:rPr b="0" i="0" lang="en-US" sz="1700" u="none" cap="none" strike="noStrike">
                <a:solidFill>
                  <a:srgbClr val="004FAA"/>
                </a:solidFill>
                <a:latin typeface="Inter"/>
                <a:ea typeface="Inter"/>
                <a:cs typeface="Inter"/>
                <a:sym typeface="Inter"/>
              </a:rPr>
              <a:t>  prices that move with demand</a:t>
            </a:r>
            <a:endParaRPr b="0" i="0" sz="3000" u="none" cap="none" strike="noStrike">
              <a:solidFill>
                <a:schemeClr val="dk1"/>
              </a:solidFill>
              <a:latin typeface="Calibri"/>
              <a:ea typeface="Calibri"/>
              <a:cs typeface="Calibri"/>
              <a:sym typeface="Calibri"/>
            </a:endParaRPr>
          </a:p>
        </p:txBody>
      </p:sp>
      <p:sp>
        <p:nvSpPr>
          <p:cNvPr id="1483" name="Google Shape;1483;p41"/>
          <p:cNvSpPr txBox="1"/>
          <p:nvPr/>
        </p:nvSpPr>
        <p:spPr>
          <a:xfrm>
            <a:off x="548640" y="1389888"/>
            <a:ext cx="11064240" cy="30429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25252"/>
              </a:buClr>
              <a:buSzPts val="1400"/>
              <a:buFont typeface="Inter"/>
              <a:buNone/>
            </a:pPr>
            <a:r>
              <a:rPr b="0" i="0" lang="en-US" sz="1400" u="none" cap="none" strike="noStrike">
                <a:solidFill>
                  <a:srgbClr val="525252"/>
                </a:solidFill>
                <a:latin typeface="Inter"/>
                <a:ea typeface="Inter"/>
                <a:cs typeface="Inter"/>
                <a:sym typeface="Inter"/>
              </a:rPr>
              <a:t>Rates moving automatically with demand; the category Wheelhouse and PriceLabs sit in.</a:t>
            </a:r>
            <a:endParaRPr b="0" i="0" sz="1400" u="none" cap="none" strike="noStrike">
              <a:solidFill>
                <a:schemeClr val="dk1"/>
              </a:solidFill>
              <a:latin typeface="Calibri"/>
              <a:ea typeface="Calibri"/>
              <a:cs typeface="Calibri"/>
              <a:sym typeface="Calibri"/>
            </a:endParaRPr>
          </a:p>
        </p:txBody>
      </p:sp>
      <p:sp>
        <p:nvSpPr>
          <p:cNvPr id="1484" name="Google Shape;1484;p41"/>
          <p:cNvSpPr/>
          <p:nvPr/>
        </p:nvSpPr>
        <p:spPr>
          <a:xfrm>
            <a:off x="548640" y="1858772"/>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pricelabs.png" id="1485" name="Google Shape;1485;p41"/>
          <p:cNvPicPr preferRelativeResize="0"/>
          <p:nvPr/>
        </p:nvPicPr>
        <p:blipFill rotWithShape="1">
          <a:blip r:embed="rId4">
            <a:alphaModFix/>
          </a:blip>
          <a:srcRect b="0" l="0" r="0" t="0"/>
          <a:stretch/>
        </p:blipFill>
        <p:spPr>
          <a:xfrm>
            <a:off x="731520" y="2001330"/>
            <a:ext cx="658368" cy="658368"/>
          </a:xfrm>
          <a:prstGeom prst="rect">
            <a:avLst/>
          </a:prstGeom>
          <a:noFill/>
          <a:ln>
            <a:noFill/>
          </a:ln>
        </p:spPr>
      </p:pic>
      <p:sp>
        <p:nvSpPr>
          <p:cNvPr id="1486" name="Google Shape;1486;p41"/>
          <p:cNvSpPr txBox="1"/>
          <p:nvPr/>
        </p:nvSpPr>
        <p:spPr>
          <a:xfrm>
            <a:off x="1591056" y="2019999"/>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PriceLabs</a:t>
            </a:r>
            <a:endParaRPr b="0" i="0" sz="1300" u="none" cap="none" strike="noStrike">
              <a:solidFill>
                <a:schemeClr val="dk1"/>
              </a:solidFill>
              <a:latin typeface="Calibri"/>
              <a:ea typeface="Calibri"/>
              <a:cs typeface="Calibri"/>
              <a:sym typeface="Calibri"/>
            </a:endParaRPr>
          </a:p>
        </p:txBody>
      </p:sp>
      <p:sp>
        <p:nvSpPr>
          <p:cNvPr id="1487" name="Google Shape;1487;p41"/>
          <p:cNvSpPr txBox="1"/>
          <p:nvPr/>
        </p:nvSpPr>
        <p:spPr>
          <a:xfrm>
            <a:off x="1591056" y="2294319"/>
            <a:ext cx="4184752" cy="50793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Pricing for short-term and vacation rentals, increasingly small hotels. Plugs into the PMS and moves the nightly rate.</a:t>
            </a:r>
            <a:endParaRPr b="0" i="0" sz="1050" u="none" cap="none" strike="noStrike">
              <a:solidFill>
                <a:schemeClr val="dk1"/>
              </a:solidFill>
              <a:latin typeface="Calibri"/>
              <a:ea typeface="Calibri"/>
              <a:cs typeface="Calibri"/>
              <a:sym typeface="Calibri"/>
            </a:endParaRPr>
          </a:p>
        </p:txBody>
      </p:sp>
      <p:sp>
        <p:nvSpPr>
          <p:cNvPr id="1488" name="Google Shape;1488;p41"/>
          <p:cNvSpPr/>
          <p:nvPr/>
        </p:nvSpPr>
        <p:spPr>
          <a:xfrm>
            <a:off x="6233008" y="1858772"/>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wheelhouse.png" id="1489" name="Google Shape;1489;p41"/>
          <p:cNvPicPr preferRelativeResize="0"/>
          <p:nvPr/>
        </p:nvPicPr>
        <p:blipFill rotWithShape="1">
          <a:blip r:embed="rId5">
            <a:alphaModFix/>
          </a:blip>
          <a:srcRect b="0" l="0" r="0" t="0"/>
          <a:stretch/>
        </p:blipFill>
        <p:spPr>
          <a:xfrm>
            <a:off x="6415888" y="2001330"/>
            <a:ext cx="658368" cy="658368"/>
          </a:xfrm>
          <a:prstGeom prst="rect">
            <a:avLst/>
          </a:prstGeom>
          <a:noFill/>
          <a:ln>
            <a:noFill/>
          </a:ln>
        </p:spPr>
      </p:pic>
      <p:sp>
        <p:nvSpPr>
          <p:cNvPr id="1490" name="Google Shape;1490;p41"/>
          <p:cNvSpPr txBox="1"/>
          <p:nvPr/>
        </p:nvSpPr>
        <p:spPr>
          <a:xfrm>
            <a:off x="7275424" y="2019999"/>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Wheelhouse</a:t>
            </a:r>
            <a:endParaRPr b="0" i="0" sz="1300" u="none" cap="none" strike="noStrike">
              <a:solidFill>
                <a:schemeClr val="dk1"/>
              </a:solidFill>
              <a:latin typeface="Calibri"/>
              <a:ea typeface="Calibri"/>
              <a:cs typeface="Calibri"/>
              <a:sym typeface="Calibri"/>
            </a:endParaRPr>
          </a:p>
        </p:txBody>
      </p:sp>
      <p:sp>
        <p:nvSpPr>
          <p:cNvPr id="1491" name="Google Shape;1491;p41"/>
          <p:cNvSpPr txBox="1"/>
          <p:nvPr/>
        </p:nvSpPr>
        <p:spPr>
          <a:xfrm>
            <a:off x="7275424" y="2294319"/>
            <a:ext cx="4184752" cy="50793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Dynamic pricing for short-term and vacation rentals; the same job as PriceLabs, from the same world.</a:t>
            </a:r>
            <a:endParaRPr b="0" i="0" sz="1050" u="none" cap="none" strike="noStrike">
              <a:solidFill>
                <a:schemeClr val="dk1"/>
              </a:solidFill>
              <a:latin typeface="Calibri"/>
              <a:ea typeface="Calibri"/>
              <a:cs typeface="Calibri"/>
              <a:sym typeface="Calibri"/>
            </a:endParaRPr>
          </a:p>
        </p:txBody>
      </p:sp>
      <p:sp>
        <p:nvSpPr>
          <p:cNvPr id="1492" name="Google Shape;1492;p41"/>
          <p:cNvSpPr/>
          <p:nvPr/>
        </p:nvSpPr>
        <p:spPr>
          <a:xfrm>
            <a:off x="548640" y="2930271"/>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beyond.png" id="1493" name="Google Shape;1493;p41"/>
          <p:cNvPicPr preferRelativeResize="0"/>
          <p:nvPr/>
        </p:nvPicPr>
        <p:blipFill rotWithShape="1">
          <a:blip r:embed="rId6">
            <a:alphaModFix/>
          </a:blip>
          <a:srcRect b="0" l="0" r="0" t="0"/>
          <a:stretch/>
        </p:blipFill>
        <p:spPr>
          <a:xfrm>
            <a:off x="731520" y="3072829"/>
            <a:ext cx="658368" cy="658368"/>
          </a:xfrm>
          <a:prstGeom prst="rect">
            <a:avLst/>
          </a:prstGeom>
          <a:noFill/>
          <a:ln>
            <a:noFill/>
          </a:ln>
        </p:spPr>
      </p:pic>
      <p:sp>
        <p:nvSpPr>
          <p:cNvPr id="1494" name="Google Shape;1494;p41"/>
          <p:cNvSpPr txBox="1"/>
          <p:nvPr/>
        </p:nvSpPr>
        <p:spPr>
          <a:xfrm>
            <a:off x="1591056" y="3091498"/>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Beyond</a:t>
            </a:r>
            <a:endParaRPr b="0" i="0" sz="1300" u="none" cap="none" strike="noStrike">
              <a:solidFill>
                <a:schemeClr val="dk1"/>
              </a:solidFill>
              <a:latin typeface="Calibri"/>
              <a:ea typeface="Calibri"/>
              <a:cs typeface="Calibri"/>
              <a:sym typeface="Calibri"/>
            </a:endParaRPr>
          </a:p>
        </p:txBody>
      </p:sp>
      <p:sp>
        <p:nvSpPr>
          <p:cNvPr id="1495" name="Google Shape;1495;p41"/>
          <p:cNvSpPr txBox="1"/>
          <p:nvPr/>
        </p:nvSpPr>
        <p:spPr>
          <a:xfrm>
            <a:off x="1591056" y="3365818"/>
            <a:ext cx="4184752" cy="50793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Vacation-rental pricing and revenue tools; formerly Beyond Pricing, so owners may use the old name.</a:t>
            </a:r>
            <a:endParaRPr b="0" i="0" sz="1050" u="none" cap="none" strike="noStrike">
              <a:solidFill>
                <a:schemeClr val="dk1"/>
              </a:solidFill>
              <a:latin typeface="Calibri"/>
              <a:ea typeface="Calibri"/>
              <a:cs typeface="Calibri"/>
              <a:sym typeface="Calibri"/>
            </a:endParaRPr>
          </a:p>
        </p:txBody>
      </p:sp>
      <p:sp>
        <p:nvSpPr>
          <p:cNvPr id="1496" name="Google Shape;1496;p41"/>
          <p:cNvSpPr/>
          <p:nvPr/>
        </p:nvSpPr>
        <p:spPr>
          <a:xfrm>
            <a:off x="6233008" y="2930271"/>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ideas.png" id="1497" name="Google Shape;1497;p41"/>
          <p:cNvPicPr preferRelativeResize="0"/>
          <p:nvPr/>
        </p:nvPicPr>
        <p:blipFill rotWithShape="1">
          <a:blip r:embed="rId7">
            <a:alphaModFix/>
          </a:blip>
          <a:srcRect b="0" l="0" r="0" t="0"/>
          <a:stretch/>
        </p:blipFill>
        <p:spPr>
          <a:xfrm>
            <a:off x="6415888" y="3072829"/>
            <a:ext cx="658368" cy="658368"/>
          </a:xfrm>
          <a:prstGeom prst="rect">
            <a:avLst/>
          </a:prstGeom>
          <a:noFill/>
          <a:ln>
            <a:noFill/>
          </a:ln>
        </p:spPr>
      </p:pic>
      <p:sp>
        <p:nvSpPr>
          <p:cNvPr id="1498" name="Google Shape;1498;p41"/>
          <p:cNvSpPr txBox="1"/>
          <p:nvPr/>
        </p:nvSpPr>
        <p:spPr>
          <a:xfrm>
            <a:off x="7275424" y="3091498"/>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IDeaS</a:t>
            </a:r>
            <a:endParaRPr b="0" i="0" sz="1300" u="none" cap="none" strike="noStrike">
              <a:solidFill>
                <a:schemeClr val="dk1"/>
              </a:solidFill>
              <a:latin typeface="Calibri"/>
              <a:ea typeface="Calibri"/>
              <a:cs typeface="Calibri"/>
              <a:sym typeface="Calibri"/>
            </a:endParaRPr>
          </a:p>
        </p:txBody>
      </p:sp>
      <p:sp>
        <p:nvSpPr>
          <p:cNvPr id="1499" name="Google Shape;1499;p41"/>
          <p:cNvSpPr txBox="1"/>
          <p:nvPr/>
        </p:nvSpPr>
        <p:spPr>
          <a:xfrm>
            <a:off x="7275424" y="3365818"/>
            <a:ext cx="4184752" cy="50793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A hotel revenue-management system: the bigger-hotel end of this box. Forecasts demand, sets rates.</a:t>
            </a:r>
            <a:endParaRPr b="0" i="0" sz="1050" u="none" cap="none" strike="noStrike">
              <a:solidFill>
                <a:schemeClr val="dk1"/>
              </a:solidFill>
              <a:latin typeface="Calibri"/>
              <a:ea typeface="Calibri"/>
              <a:cs typeface="Calibri"/>
              <a:sym typeface="Calibri"/>
            </a:endParaRPr>
          </a:p>
        </p:txBody>
      </p:sp>
      <p:sp>
        <p:nvSpPr>
          <p:cNvPr id="1500" name="Google Shape;1500;p41"/>
          <p:cNvSpPr/>
          <p:nvPr/>
        </p:nvSpPr>
        <p:spPr>
          <a:xfrm>
            <a:off x="548640" y="4001770"/>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duetto.png" id="1501" name="Google Shape;1501;p41"/>
          <p:cNvPicPr preferRelativeResize="0"/>
          <p:nvPr/>
        </p:nvPicPr>
        <p:blipFill rotWithShape="1">
          <a:blip r:embed="rId8">
            <a:alphaModFix/>
          </a:blip>
          <a:srcRect b="0" l="0" r="0" t="0"/>
          <a:stretch/>
        </p:blipFill>
        <p:spPr>
          <a:xfrm>
            <a:off x="731520" y="4144328"/>
            <a:ext cx="658368" cy="658368"/>
          </a:xfrm>
          <a:prstGeom prst="rect">
            <a:avLst/>
          </a:prstGeom>
          <a:noFill/>
          <a:ln>
            <a:noFill/>
          </a:ln>
        </p:spPr>
      </p:pic>
      <p:sp>
        <p:nvSpPr>
          <p:cNvPr id="1502" name="Google Shape;1502;p41"/>
          <p:cNvSpPr txBox="1"/>
          <p:nvPr/>
        </p:nvSpPr>
        <p:spPr>
          <a:xfrm>
            <a:off x="1591056" y="4162997"/>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Duetto</a:t>
            </a:r>
            <a:endParaRPr b="0" i="0" sz="1300" u="none" cap="none" strike="noStrike">
              <a:solidFill>
                <a:schemeClr val="dk1"/>
              </a:solidFill>
              <a:latin typeface="Calibri"/>
              <a:ea typeface="Calibri"/>
              <a:cs typeface="Calibri"/>
              <a:sym typeface="Calibri"/>
            </a:endParaRPr>
          </a:p>
        </p:txBody>
      </p:sp>
      <p:sp>
        <p:nvSpPr>
          <p:cNvPr id="1503" name="Google Shape;1503;p41"/>
          <p:cNvSpPr txBox="1"/>
          <p:nvPr/>
        </p:nvSpPr>
        <p:spPr>
          <a:xfrm>
            <a:off x="1591056" y="4437317"/>
            <a:ext cx="4184752" cy="50793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Hotel revenue-management system; IDeaS' main rival at resorts and groups.</a:t>
            </a:r>
            <a:endParaRPr b="0" i="0" sz="1050" u="none" cap="none" strike="noStrike">
              <a:solidFill>
                <a:schemeClr val="dk1"/>
              </a:solidFill>
              <a:latin typeface="Calibri"/>
              <a:ea typeface="Calibri"/>
              <a:cs typeface="Calibri"/>
              <a:sym typeface="Calibri"/>
            </a:endParaRPr>
          </a:p>
        </p:txBody>
      </p:sp>
      <p:sp>
        <p:nvSpPr>
          <p:cNvPr id="1504" name="Google Shape;1504;p41"/>
          <p:cNvSpPr/>
          <p:nvPr/>
        </p:nvSpPr>
        <p:spPr>
          <a:xfrm>
            <a:off x="6233008" y="4001770"/>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atomize.png" id="1505" name="Google Shape;1505;p41"/>
          <p:cNvPicPr preferRelativeResize="0"/>
          <p:nvPr/>
        </p:nvPicPr>
        <p:blipFill rotWithShape="1">
          <a:blip r:embed="rId9">
            <a:alphaModFix/>
          </a:blip>
          <a:srcRect b="0" l="0" r="0" t="0"/>
          <a:stretch/>
        </p:blipFill>
        <p:spPr>
          <a:xfrm>
            <a:off x="6415888" y="4144328"/>
            <a:ext cx="658368" cy="658368"/>
          </a:xfrm>
          <a:prstGeom prst="rect">
            <a:avLst/>
          </a:prstGeom>
          <a:noFill/>
          <a:ln>
            <a:noFill/>
          </a:ln>
        </p:spPr>
      </p:pic>
      <p:sp>
        <p:nvSpPr>
          <p:cNvPr id="1506" name="Google Shape;1506;p41"/>
          <p:cNvSpPr txBox="1"/>
          <p:nvPr/>
        </p:nvSpPr>
        <p:spPr>
          <a:xfrm>
            <a:off x="7275424" y="4162997"/>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Atomize</a:t>
            </a:r>
            <a:endParaRPr b="0" i="0" sz="1300" u="none" cap="none" strike="noStrike">
              <a:solidFill>
                <a:schemeClr val="dk1"/>
              </a:solidFill>
              <a:latin typeface="Calibri"/>
              <a:ea typeface="Calibri"/>
              <a:cs typeface="Calibri"/>
              <a:sym typeface="Calibri"/>
            </a:endParaRPr>
          </a:p>
        </p:txBody>
      </p:sp>
      <p:sp>
        <p:nvSpPr>
          <p:cNvPr id="1507" name="Google Shape;1507;p41"/>
          <p:cNvSpPr txBox="1"/>
          <p:nvPr/>
        </p:nvSpPr>
        <p:spPr>
          <a:xfrm>
            <a:off x="7275424" y="4437317"/>
            <a:ext cx="4184752" cy="50793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Automated pricing for hotels; now sold as Mews RMS, part of Mews.</a:t>
            </a:r>
            <a:endParaRPr b="0" i="0" sz="1050" u="none" cap="none" strike="noStrike">
              <a:solidFill>
                <a:schemeClr val="dk1"/>
              </a:solidFill>
              <a:latin typeface="Calibri"/>
              <a:ea typeface="Calibri"/>
              <a:cs typeface="Calibri"/>
              <a:sym typeface="Calibri"/>
            </a:endParaRPr>
          </a:p>
        </p:txBody>
      </p:sp>
      <p:sp>
        <p:nvSpPr>
          <p:cNvPr id="1508" name="Google Shape;1508;p41"/>
          <p:cNvSpPr/>
          <p:nvPr/>
        </p:nvSpPr>
        <p:spPr>
          <a:xfrm>
            <a:off x="548640" y="5073269"/>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roompricegenie.png" id="1509" name="Google Shape;1509;p41"/>
          <p:cNvPicPr preferRelativeResize="0"/>
          <p:nvPr/>
        </p:nvPicPr>
        <p:blipFill rotWithShape="1">
          <a:blip r:embed="rId10">
            <a:alphaModFix/>
          </a:blip>
          <a:srcRect b="0" l="0" r="0" t="0"/>
          <a:stretch/>
        </p:blipFill>
        <p:spPr>
          <a:xfrm>
            <a:off x="731520" y="5215827"/>
            <a:ext cx="658368" cy="658368"/>
          </a:xfrm>
          <a:prstGeom prst="rect">
            <a:avLst/>
          </a:prstGeom>
          <a:noFill/>
          <a:ln>
            <a:noFill/>
          </a:ln>
        </p:spPr>
      </p:pic>
      <p:sp>
        <p:nvSpPr>
          <p:cNvPr id="1510" name="Google Shape;1510;p41"/>
          <p:cNvSpPr txBox="1"/>
          <p:nvPr/>
        </p:nvSpPr>
        <p:spPr>
          <a:xfrm>
            <a:off x="1591056" y="5234496"/>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RoomPriceGenie</a:t>
            </a:r>
            <a:endParaRPr b="0" i="0" sz="1300" u="none" cap="none" strike="noStrike">
              <a:solidFill>
                <a:schemeClr val="dk1"/>
              </a:solidFill>
              <a:latin typeface="Calibri"/>
              <a:ea typeface="Calibri"/>
              <a:cs typeface="Calibri"/>
              <a:sym typeface="Calibri"/>
            </a:endParaRPr>
          </a:p>
        </p:txBody>
      </p:sp>
      <p:sp>
        <p:nvSpPr>
          <p:cNvPr id="1511" name="Google Shape;1511;p41"/>
          <p:cNvSpPr txBox="1"/>
          <p:nvPr/>
        </p:nvSpPr>
        <p:spPr>
          <a:xfrm>
            <a:off x="1591056" y="5508816"/>
            <a:ext cx="4184752" cy="50793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Automated pricing for smaller hotels, B&amp;Bs and inns that can't run a revenue manager.</a:t>
            </a:r>
            <a:endParaRPr b="0" i="0" sz="1050" u="none" cap="none" strike="noStrike">
              <a:solidFill>
                <a:schemeClr val="dk1"/>
              </a:solidFill>
              <a:latin typeface="Calibri"/>
              <a:ea typeface="Calibri"/>
              <a:cs typeface="Calibri"/>
              <a:sym typeface="Calibri"/>
            </a:endParaRPr>
          </a:p>
        </p:txBody>
      </p:sp>
      <p:sp>
        <p:nvSpPr>
          <p:cNvPr id="1512" name="Google Shape;1512;p41"/>
          <p:cNvSpPr/>
          <p:nvPr/>
        </p:nvSpPr>
        <p:spPr>
          <a:xfrm>
            <a:off x="6233008" y="5073269"/>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cloudbeds.png" id="1513" name="Google Shape;1513;p41"/>
          <p:cNvPicPr preferRelativeResize="0"/>
          <p:nvPr/>
        </p:nvPicPr>
        <p:blipFill rotWithShape="1">
          <a:blip r:embed="rId11">
            <a:alphaModFix/>
          </a:blip>
          <a:srcRect b="0" l="0" r="0" t="0"/>
          <a:stretch/>
        </p:blipFill>
        <p:spPr>
          <a:xfrm>
            <a:off x="6415888" y="5215827"/>
            <a:ext cx="658368" cy="658368"/>
          </a:xfrm>
          <a:prstGeom prst="rect">
            <a:avLst/>
          </a:prstGeom>
          <a:noFill/>
          <a:ln>
            <a:noFill/>
          </a:ln>
        </p:spPr>
      </p:pic>
      <p:sp>
        <p:nvSpPr>
          <p:cNvPr id="1514" name="Google Shape;1514;p41"/>
          <p:cNvSpPr txBox="1"/>
          <p:nvPr/>
        </p:nvSpPr>
        <p:spPr>
          <a:xfrm>
            <a:off x="7275424" y="5234496"/>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Cloudbeds</a:t>
            </a:r>
            <a:endParaRPr b="0" i="0" sz="1300" u="none" cap="none" strike="noStrike">
              <a:solidFill>
                <a:schemeClr val="dk1"/>
              </a:solidFill>
              <a:latin typeface="Calibri"/>
              <a:ea typeface="Calibri"/>
              <a:cs typeface="Calibri"/>
              <a:sym typeface="Calibri"/>
            </a:endParaRPr>
          </a:p>
        </p:txBody>
      </p:sp>
      <p:sp>
        <p:nvSpPr>
          <p:cNvPr id="1515" name="Google Shape;1515;p41"/>
          <p:cNvSpPr txBox="1"/>
          <p:nvPr/>
        </p:nvSpPr>
        <p:spPr>
          <a:xfrm>
            <a:off x="7275424" y="5508816"/>
            <a:ext cx="4184752" cy="50793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A pricing tool inside the Cloudbeds suite; an owner on Cloudbeds may run that instead of a separate one.</a:t>
            </a:r>
            <a:endParaRPr b="0" i="0" sz="1050" u="none" cap="none" strike="noStrike">
              <a:solidFill>
                <a:schemeClr val="dk1"/>
              </a:solidFill>
              <a:latin typeface="Calibri"/>
              <a:ea typeface="Calibri"/>
              <a:cs typeface="Calibri"/>
              <a:sym typeface="Calibri"/>
            </a:endParaRPr>
          </a:p>
        </p:txBody>
      </p:sp>
      <p:sp>
        <p:nvSpPr>
          <p:cNvPr id="1516" name="Google Shape;1516;p41"/>
          <p:cNvSpPr txBox="1"/>
          <p:nvPr/>
        </p:nvSpPr>
        <p:spPr>
          <a:xfrm>
            <a:off x="548640" y="6089904"/>
            <a:ext cx="1106424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IDeaS, Duetto and Atomize are sold as revenue-management systems; PriceLabs, Wheelhouse and Beyond as dynamic pricing. Same box.</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521" name="Shape 1521"/>
        <p:cNvGrpSpPr/>
        <p:nvPr/>
      </p:nvGrpSpPr>
      <p:grpSpPr>
        <a:xfrm>
          <a:off x="0" y="0"/>
          <a:ext cx="0" cy="0"/>
          <a:chOff x="0" y="0"/>
          <a:chExt cx="0" cy="0"/>
        </a:xfrm>
      </p:grpSpPr>
      <p:sp>
        <p:nvSpPr>
          <p:cNvPr id="1522" name="Google Shape;1522;p42"/>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6 · THE STACK</a:t>
            </a:r>
            <a:endParaRPr b="0" i="0" sz="1050" u="none" cap="none" strike="noStrike">
              <a:solidFill>
                <a:schemeClr val="dk1"/>
              </a:solidFill>
              <a:latin typeface="Calibri"/>
              <a:ea typeface="Calibri"/>
              <a:cs typeface="Calibri"/>
              <a:sym typeface="Calibri"/>
            </a:endParaRPr>
          </a:p>
        </p:txBody>
      </p:sp>
      <p:pic>
        <p:nvPicPr>
          <p:cNvPr descr="/home/claude/work/renderer/brand/wordmark.png" id="1523" name="Google Shape;1523;p42"/>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524" name="Google Shape;1524;p42"/>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40 / 48</a:t>
            </a:r>
            <a:endParaRPr b="0" i="0" sz="900" u="none" cap="none" strike="noStrike">
              <a:solidFill>
                <a:schemeClr val="dk1"/>
              </a:solidFill>
              <a:latin typeface="Calibri"/>
              <a:ea typeface="Calibri"/>
              <a:cs typeface="Calibri"/>
              <a:sym typeface="Calibri"/>
            </a:endParaRPr>
          </a:p>
        </p:txBody>
      </p:sp>
      <p:sp>
        <p:nvSpPr>
          <p:cNvPr id="1525" name="Google Shape;1525;p42"/>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2400"/>
              <a:buFont typeface="Inter"/>
              <a:buNone/>
            </a:pPr>
            <a:r>
              <a:rPr b="1" i="0" lang="en-US" sz="2400" u="none" cap="none" strike="noStrike">
                <a:solidFill>
                  <a:srgbClr val="171717"/>
                </a:solidFill>
                <a:latin typeface="Inter"/>
                <a:ea typeface="Inter"/>
                <a:cs typeface="Inter"/>
                <a:sym typeface="Inter"/>
              </a:rPr>
              <a:t>Rate shopping and market intelligence tools</a:t>
            </a:r>
            <a:r>
              <a:rPr b="0" i="0" lang="en-US" sz="1700" u="none" cap="none" strike="noStrike">
                <a:solidFill>
                  <a:srgbClr val="004FAA"/>
                </a:solidFill>
                <a:latin typeface="Inter"/>
                <a:ea typeface="Inter"/>
                <a:cs typeface="Inter"/>
                <a:sym typeface="Inter"/>
              </a:rPr>
              <a:t>  the neighbours' prices</a:t>
            </a:r>
            <a:endParaRPr b="0" i="0" sz="2400" u="none" cap="none" strike="noStrike">
              <a:solidFill>
                <a:schemeClr val="dk1"/>
              </a:solidFill>
              <a:latin typeface="Calibri"/>
              <a:ea typeface="Calibri"/>
              <a:cs typeface="Calibri"/>
              <a:sym typeface="Calibri"/>
            </a:endParaRPr>
          </a:p>
        </p:txBody>
      </p:sp>
      <p:sp>
        <p:nvSpPr>
          <p:cNvPr id="1526" name="Google Shape;1526;p42"/>
          <p:cNvSpPr txBox="1"/>
          <p:nvPr/>
        </p:nvSpPr>
        <p:spPr>
          <a:xfrm>
            <a:off x="548640" y="1389888"/>
            <a:ext cx="11064240" cy="30429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25252"/>
              </a:buClr>
              <a:buSzPts val="1400"/>
              <a:buFont typeface="Inter"/>
              <a:buNone/>
            </a:pPr>
            <a:r>
              <a:rPr b="0" i="0" lang="en-US" sz="1400" u="none" cap="none" strike="noStrike">
                <a:solidFill>
                  <a:srgbClr val="525252"/>
                </a:solidFill>
                <a:latin typeface="Inter"/>
                <a:ea typeface="Inter"/>
                <a:cs typeface="Inter"/>
                <a:sym typeface="Inter"/>
              </a:rPr>
              <a:t>Watching comp-set rates automatically; Lighthouse, formerly OTA Insight.</a:t>
            </a:r>
            <a:endParaRPr b="0" i="0" sz="1400" u="none" cap="none" strike="noStrike">
              <a:solidFill>
                <a:schemeClr val="dk1"/>
              </a:solidFill>
              <a:latin typeface="Calibri"/>
              <a:ea typeface="Calibri"/>
              <a:cs typeface="Calibri"/>
              <a:sym typeface="Calibri"/>
            </a:endParaRPr>
          </a:p>
        </p:txBody>
      </p:sp>
      <p:sp>
        <p:nvSpPr>
          <p:cNvPr id="1527" name="Google Shape;1527;p42"/>
          <p:cNvSpPr/>
          <p:nvPr/>
        </p:nvSpPr>
        <p:spPr>
          <a:xfrm>
            <a:off x="548640" y="1858772"/>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lighthouse.png" id="1528" name="Google Shape;1528;p42"/>
          <p:cNvPicPr preferRelativeResize="0"/>
          <p:nvPr/>
        </p:nvPicPr>
        <p:blipFill rotWithShape="1">
          <a:blip r:embed="rId4">
            <a:alphaModFix/>
          </a:blip>
          <a:srcRect b="0" l="0" r="0" t="0"/>
          <a:stretch/>
        </p:blipFill>
        <p:spPr>
          <a:xfrm>
            <a:off x="731520" y="2001330"/>
            <a:ext cx="658368" cy="658368"/>
          </a:xfrm>
          <a:prstGeom prst="rect">
            <a:avLst/>
          </a:prstGeom>
          <a:noFill/>
          <a:ln>
            <a:noFill/>
          </a:ln>
        </p:spPr>
      </p:pic>
      <p:sp>
        <p:nvSpPr>
          <p:cNvPr id="1529" name="Google Shape;1529;p42"/>
          <p:cNvSpPr txBox="1"/>
          <p:nvPr/>
        </p:nvSpPr>
        <p:spPr>
          <a:xfrm>
            <a:off x="1591056" y="2019999"/>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Lighthouse</a:t>
            </a:r>
            <a:endParaRPr b="0" i="0" sz="1300" u="none" cap="none" strike="noStrike">
              <a:solidFill>
                <a:schemeClr val="dk1"/>
              </a:solidFill>
              <a:latin typeface="Calibri"/>
              <a:ea typeface="Calibri"/>
              <a:cs typeface="Calibri"/>
              <a:sym typeface="Calibri"/>
            </a:endParaRPr>
          </a:p>
        </p:txBody>
      </p:sp>
      <p:sp>
        <p:nvSpPr>
          <p:cNvPr id="1530" name="Google Shape;1530;p42"/>
          <p:cNvSpPr txBox="1"/>
          <p:nvPr/>
        </p:nvSpPr>
        <p:spPr>
          <a:xfrm>
            <a:off x="1591056" y="2294319"/>
            <a:ext cx="4184752" cy="50793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Rate shopping: the comp set's prices, date by date. Formerly OTA Insight; it also sells pricing.</a:t>
            </a:r>
            <a:endParaRPr b="0" i="0" sz="1050" u="none" cap="none" strike="noStrike">
              <a:solidFill>
                <a:schemeClr val="dk1"/>
              </a:solidFill>
              <a:latin typeface="Calibri"/>
              <a:ea typeface="Calibri"/>
              <a:cs typeface="Calibri"/>
              <a:sym typeface="Calibri"/>
            </a:endParaRPr>
          </a:p>
        </p:txBody>
      </p:sp>
      <p:sp>
        <p:nvSpPr>
          <p:cNvPr id="1531" name="Google Shape;1531;p42"/>
          <p:cNvSpPr/>
          <p:nvPr/>
        </p:nvSpPr>
        <p:spPr>
          <a:xfrm>
            <a:off x="6233008" y="1858772"/>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rategain.png" id="1532" name="Google Shape;1532;p42"/>
          <p:cNvPicPr preferRelativeResize="0"/>
          <p:nvPr/>
        </p:nvPicPr>
        <p:blipFill rotWithShape="1">
          <a:blip r:embed="rId5">
            <a:alphaModFix/>
          </a:blip>
          <a:srcRect b="0" l="0" r="0" t="0"/>
          <a:stretch/>
        </p:blipFill>
        <p:spPr>
          <a:xfrm>
            <a:off x="6415888" y="2001330"/>
            <a:ext cx="658368" cy="658368"/>
          </a:xfrm>
          <a:prstGeom prst="rect">
            <a:avLst/>
          </a:prstGeom>
          <a:noFill/>
          <a:ln>
            <a:noFill/>
          </a:ln>
        </p:spPr>
      </p:pic>
      <p:sp>
        <p:nvSpPr>
          <p:cNvPr id="1533" name="Google Shape;1533;p42"/>
          <p:cNvSpPr txBox="1"/>
          <p:nvPr/>
        </p:nvSpPr>
        <p:spPr>
          <a:xfrm>
            <a:off x="7275424" y="2019999"/>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RateGain</a:t>
            </a:r>
            <a:endParaRPr b="0" i="0" sz="1300" u="none" cap="none" strike="noStrike">
              <a:solidFill>
                <a:schemeClr val="dk1"/>
              </a:solidFill>
              <a:latin typeface="Calibri"/>
              <a:ea typeface="Calibri"/>
              <a:cs typeface="Calibri"/>
              <a:sym typeface="Calibri"/>
            </a:endParaRPr>
          </a:p>
        </p:txBody>
      </p:sp>
      <p:sp>
        <p:nvSpPr>
          <p:cNvPr id="1534" name="Google Shape;1534;p42"/>
          <p:cNvSpPr txBox="1"/>
          <p:nvPr/>
        </p:nvSpPr>
        <p:spPr>
          <a:xfrm>
            <a:off x="7275424" y="2294319"/>
            <a:ext cx="4184752" cy="50793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Rate intelligence for hotels, alongside its distribution tools.</a:t>
            </a:r>
            <a:endParaRPr b="0" i="0" sz="1050" u="none" cap="none" strike="noStrike">
              <a:solidFill>
                <a:schemeClr val="dk1"/>
              </a:solidFill>
              <a:latin typeface="Calibri"/>
              <a:ea typeface="Calibri"/>
              <a:cs typeface="Calibri"/>
              <a:sym typeface="Calibri"/>
            </a:endParaRPr>
          </a:p>
        </p:txBody>
      </p:sp>
      <p:sp>
        <p:nvSpPr>
          <p:cNvPr id="1535" name="Google Shape;1535;p42"/>
          <p:cNvSpPr/>
          <p:nvPr/>
        </p:nvSpPr>
        <p:spPr>
          <a:xfrm>
            <a:off x="548640" y="2930271"/>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str-part-of-costar.png" id="1536" name="Google Shape;1536;p42"/>
          <p:cNvPicPr preferRelativeResize="0"/>
          <p:nvPr/>
        </p:nvPicPr>
        <p:blipFill rotWithShape="1">
          <a:blip r:embed="rId6">
            <a:alphaModFix/>
          </a:blip>
          <a:srcRect b="0" l="0" r="0" t="0"/>
          <a:stretch/>
        </p:blipFill>
        <p:spPr>
          <a:xfrm>
            <a:off x="731520" y="3072829"/>
            <a:ext cx="658368" cy="658368"/>
          </a:xfrm>
          <a:prstGeom prst="rect">
            <a:avLst/>
          </a:prstGeom>
          <a:noFill/>
          <a:ln>
            <a:noFill/>
          </a:ln>
        </p:spPr>
      </p:pic>
      <p:sp>
        <p:nvSpPr>
          <p:cNvPr id="1537" name="Google Shape;1537;p42"/>
          <p:cNvSpPr txBox="1"/>
          <p:nvPr/>
        </p:nvSpPr>
        <p:spPr>
          <a:xfrm>
            <a:off x="1591056" y="3091498"/>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STR, part of CoStar</a:t>
            </a:r>
            <a:endParaRPr b="0" i="0" sz="1300" u="none" cap="none" strike="noStrike">
              <a:solidFill>
                <a:schemeClr val="dk1"/>
              </a:solidFill>
              <a:latin typeface="Calibri"/>
              <a:ea typeface="Calibri"/>
              <a:cs typeface="Calibri"/>
              <a:sym typeface="Calibri"/>
            </a:endParaRPr>
          </a:p>
        </p:txBody>
      </p:sp>
      <p:sp>
        <p:nvSpPr>
          <p:cNvPr id="1538" name="Google Shape;1538;p42"/>
          <p:cNvSpPr txBox="1"/>
          <p:nvPr/>
        </p:nvSpPr>
        <p:spPr>
          <a:xfrm>
            <a:off x="1591056" y="3365818"/>
            <a:ext cx="4184752" cy="50793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Benchmarking: how the comp set performed last month, on occupancy, ADR and RevPAR.</a:t>
            </a:r>
            <a:endParaRPr b="0" i="0" sz="1050" u="none" cap="none" strike="noStrike">
              <a:solidFill>
                <a:schemeClr val="dk1"/>
              </a:solidFill>
              <a:latin typeface="Calibri"/>
              <a:ea typeface="Calibri"/>
              <a:cs typeface="Calibri"/>
              <a:sym typeface="Calibri"/>
            </a:endParaRPr>
          </a:p>
        </p:txBody>
      </p:sp>
      <p:sp>
        <p:nvSpPr>
          <p:cNvPr id="1539" name="Google Shape;1539;p42"/>
          <p:cNvSpPr/>
          <p:nvPr/>
        </p:nvSpPr>
        <p:spPr>
          <a:xfrm>
            <a:off x="6233008" y="2930271"/>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keydata.png" id="1540" name="Google Shape;1540;p42"/>
          <p:cNvPicPr preferRelativeResize="0"/>
          <p:nvPr/>
        </p:nvPicPr>
        <p:blipFill rotWithShape="1">
          <a:blip r:embed="rId7">
            <a:alphaModFix/>
          </a:blip>
          <a:srcRect b="0" l="0" r="0" t="0"/>
          <a:stretch/>
        </p:blipFill>
        <p:spPr>
          <a:xfrm>
            <a:off x="6415888" y="3072829"/>
            <a:ext cx="658368" cy="658368"/>
          </a:xfrm>
          <a:prstGeom prst="rect">
            <a:avLst/>
          </a:prstGeom>
          <a:noFill/>
          <a:ln>
            <a:noFill/>
          </a:ln>
        </p:spPr>
      </p:pic>
      <p:sp>
        <p:nvSpPr>
          <p:cNvPr id="1541" name="Google Shape;1541;p42"/>
          <p:cNvSpPr txBox="1"/>
          <p:nvPr/>
        </p:nvSpPr>
        <p:spPr>
          <a:xfrm>
            <a:off x="7275424" y="3091498"/>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KeyData</a:t>
            </a:r>
            <a:endParaRPr b="0" i="0" sz="1300" u="none" cap="none" strike="noStrike">
              <a:solidFill>
                <a:schemeClr val="dk1"/>
              </a:solidFill>
              <a:latin typeface="Calibri"/>
              <a:ea typeface="Calibri"/>
              <a:cs typeface="Calibri"/>
              <a:sym typeface="Calibri"/>
            </a:endParaRPr>
          </a:p>
        </p:txBody>
      </p:sp>
      <p:sp>
        <p:nvSpPr>
          <p:cNvPr id="1542" name="Google Shape;1542;p42"/>
          <p:cNvSpPr txBox="1"/>
          <p:nvPr/>
        </p:nvSpPr>
        <p:spPr>
          <a:xfrm>
            <a:off x="7275424" y="3365818"/>
            <a:ext cx="4184752" cy="50793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Benchmarking for short-term and vacation rentals, built from managers' own data.</a:t>
            </a:r>
            <a:endParaRPr b="0" i="0" sz="1050" u="none" cap="none" strike="noStrike">
              <a:solidFill>
                <a:schemeClr val="dk1"/>
              </a:solidFill>
              <a:latin typeface="Calibri"/>
              <a:ea typeface="Calibri"/>
              <a:cs typeface="Calibri"/>
              <a:sym typeface="Calibri"/>
            </a:endParaRPr>
          </a:p>
        </p:txBody>
      </p:sp>
      <p:sp>
        <p:nvSpPr>
          <p:cNvPr id="1543" name="Google Shape;1543;p42"/>
          <p:cNvSpPr/>
          <p:nvPr/>
        </p:nvSpPr>
        <p:spPr>
          <a:xfrm>
            <a:off x="548640" y="4001770"/>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airdna.png" id="1544" name="Google Shape;1544;p42"/>
          <p:cNvPicPr preferRelativeResize="0"/>
          <p:nvPr/>
        </p:nvPicPr>
        <p:blipFill rotWithShape="1">
          <a:blip r:embed="rId8">
            <a:alphaModFix/>
          </a:blip>
          <a:srcRect b="0" l="0" r="0" t="0"/>
          <a:stretch/>
        </p:blipFill>
        <p:spPr>
          <a:xfrm>
            <a:off x="731520" y="4144328"/>
            <a:ext cx="658368" cy="658368"/>
          </a:xfrm>
          <a:prstGeom prst="rect">
            <a:avLst/>
          </a:prstGeom>
          <a:noFill/>
          <a:ln>
            <a:noFill/>
          </a:ln>
        </p:spPr>
      </p:pic>
      <p:sp>
        <p:nvSpPr>
          <p:cNvPr id="1545" name="Google Shape;1545;p42"/>
          <p:cNvSpPr txBox="1"/>
          <p:nvPr/>
        </p:nvSpPr>
        <p:spPr>
          <a:xfrm>
            <a:off x="1591056" y="4162997"/>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AirDNA</a:t>
            </a:r>
            <a:endParaRPr b="0" i="0" sz="1300" u="none" cap="none" strike="noStrike">
              <a:solidFill>
                <a:schemeClr val="dk1"/>
              </a:solidFill>
              <a:latin typeface="Calibri"/>
              <a:ea typeface="Calibri"/>
              <a:cs typeface="Calibri"/>
              <a:sym typeface="Calibri"/>
            </a:endParaRPr>
          </a:p>
        </p:txBody>
      </p:sp>
      <p:sp>
        <p:nvSpPr>
          <p:cNvPr id="1546" name="Google Shape;1546;p42"/>
          <p:cNvSpPr txBox="1"/>
          <p:nvPr/>
        </p:nvSpPr>
        <p:spPr>
          <a:xfrm>
            <a:off x="1591056" y="4437317"/>
            <a:ext cx="4184752" cy="50793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Vacation-rental market data: what the area's rentals charge and earn.</a:t>
            </a:r>
            <a:endParaRPr b="0" i="0" sz="1050" u="none" cap="none" strike="noStrike">
              <a:solidFill>
                <a:schemeClr val="dk1"/>
              </a:solidFill>
              <a:latin typeface="Calibri"/>
              <a:ea typeface="Calibri"/>
              <a:cs typeface="Calibri"/>
              <a:sym typeface="Calibri"/>
            </a:endParaRPr>
          </a:p>
        </p:txBody>
      </p:sp>
      <p:sp>
        <p:nvSpPr>
          <p:cNvPr id="1547" name="Google Shape;1547;p42"/>
          <p:cNvSpPr/>
          <p:nvPr/>
        </p:nvSpPr>
        <p:spPr>
          <a:xfrm>
            <a:off x="6233008" y="4001770"/>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amadeus-demand360.png" id="1548" name="Google Shape;1548;p42"/>
          <p:cNvPicPr preferRelativeResize="0"/>
          <p:nvPr/>
        </p:nvPicPr>
        <p:blipFill rotWithShape="1">
          <a:blip r:embed="rId9">
            <a:alphaModFix/>
          </a:blip>
          <a:srcRect b="0" l="0" r="0" t="0"/>
          <a:stretch/>
        </p:blipFill>
        <p:spPr>
          <a:xfrm>
            <a:off x="6415888" y="4144328"/>
            <a:ext cx="658368" cy="658368"/>
          </a:xfrm>
          <a:prstGeom prst="rect">
            <a:avLst/>
          </a:prstGeom>
          <a:noFill/>
          <a:ln>
            <a:noFill/>
          </a:ln>
        </p:spPr>
      </p:pic>
      <p:sp>
        <p:nvSpPr>
          <p:cNvPr id="1549" name="Google Shape;1549;p42"/>
          <p:cNvSpPr txBox="1"/>
          <p:nvPr/>
        </p:nvSpPr>
        <p:spPr>
          <a:xfrm>
            <a:off x="7275424" y="4162997"/>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Amadeus Demand360</a:t>
            </a:r>
            <a:endParaRPr b="0" i="0" sz="1300" u="none" cap="none" strike="noStrike">
              <a:solidFill>
                <a:schemeClr val="dk1"/>
              </a:solidFill>
              <a:latin typeface="Calibri"/>
              <a:ea typeface="Calibri"/>
              <a:cs typeface="Calibri"/>
              <a:sym typeface="Calibri"/>
            </a:endParaRPr>
          </a:p>
        </p:txBody>
      </p:sp>
      <p:sp>
        <p:nvSpPr>
          <p:cNvPr id="1550" name="Google Shape;1550;p42"/>
          <p:cNvSpPr txBox="1"/>
          <p:nvPr/>
        </p:nvSpPr>
        <p:spPr>
          <a:xfrm>
            <a:off x="7275424" y="4437317"/>
            <a:ext cx="4184752" cy="50793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Forward-looking demand data: what's on the books for the market, not just what was.</a:t>
            </a:r>
            <a:endParaRPr b="0" i="0" sz="1050" u="none" cap="none" strike="noStrike">
              <a:solidFill>
                <a:schemeClr val="dk1"/>
              </a:solidFill>
              <a:latin typeface="Calibri"/>
              <a:ea typeface="Calibri"/>
              <a:cs typeface="Calibri"/>
              <a:sym typeface="Calibri"/>
            </a:endParaRPr>
          </a:p>
        </p:txBody>
      </p:sp>
      <p:sp>
        <p:nvSpPr>
          <p:cNvPr id="1551" name="Google Shape;1551;p42"/>
          <p:cNvSpPr/>
          <p:nvPr/>
        </p:nvSpPr>
        <p:spPr>
          <a:xfrm>
            <a:off x="548640" y="5073269"/>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cloudbeds.png" id="1552" name="Google Shape;1552;p42"/>
          <p:cNvPicPr preferRelativeResize="0"/>
          <p:nvPr/>
        </p:nvPicPr>
        <p:blipFill rotWithShape="1">
          <a:blip r:embed="rId10">
            <a:alphaModFix/>
          </a:blip>
          <a:srcRect b="0" l="0" r="0" t="0"/>
          <a:stretch/>
        </p:blipFill>
        <p:spPr>
          <a:xfrm>
            <a:off x="731520" y="5215827"/>
            <a:ext cx="658368" cy="658368"/>
          </a:xfrm>
          <a:prstGeom prst="rect">
            <a:avLst/>
          </a:prstGeom>
          <a:noFill/>
          <a:ln>
            <a:noFill/>
          </a:ln>
        </p:spPr>
      </p:pic>
      <p:sp>
        <p:nvSpPr>
          <p:cNvPr id="1553" name="Google Shape;1553;p42"/>
          <p:cNvSpPr txBox="1"/>
          <p:nvPr/>
        </p:nvSpPr>
        <p:spPr>
          <a:xfrm>
            <a:off x="1591056" y="5234496"/>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Cloudbeds</a:t>
            </a:r>
            <a:endParaRPr b="0" i="0" sz="1300" u="none" cap="none" strike="noStrike">
              <a:solidFill>
                <a:schemeClr val="dk1"/>
              </a:solidFill>
              <a:latin typeface="Calibri"/>
              <a:ea typeface="Calibri"/>
              <a:cs typeface="Calibri"/>
              <a:sym typeface="Calibri"/>
            </a:endParaRPr>
          </a:p>
        </p:txBody>
      </p:sp>
      <p:sp>
        <p:nvSpPr>
          <p:cNvPr id="1554" name="Google Shape;1554;p42"/>
          <p:cNvSpPr txBox="1"/>
          <p:nvPr/>
        </p:nvSpPr>
        <p:spPr>
          <a:xfrm>
            <a:off x="1591056" y="5508816"/>
            <a:ext cx="4184752" cy="50793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A rate-shopping view inside the suite, so a Cloudbeds owner may already have one.</a:t>
            </a:r>
            <a:endParaRPr b="0" i="0" sz="1050" u="none" cap="none" strike="noStrike">
              <a:solidFill>
                <a:schemeClr val="dk1"/>
              </a:solidFill>
              <a:latin typeface="Calibri"/>
              <a:ea typeface="Calibri"/>
              <a:cs typeface="Calibri"/>
              <a:sym typeface="Calibri"/>
            </a:endParaRPr>
          </a:p>
        </p:txBody>
      </p:sp>
      <p:sp>
        <p:nvSpPr>
          <p:cNvPr id="1555" name="Google Shape;1555;p42"/>
          <p:cNvSpPr/>
          <p:nvPr/>
        </p:nvSpPr>
        <p:spPr>
          <a:xfrm>
            <a:off x="6233008" y="5073269"/>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pricelabs.png" id="1556" name="Google Shape;1556;p42"/>
          <p:cNvPicPr preferRelativeResize="0"/>
          <p:nvPr/>
        </p:nvPicPr>
        <p:blipFill rotWithShape="1">
          <a:blip r:embed="rId11">
            <a:alphaModFix/>
          </a:blip>
          <a:srcRect b="0" l="0" r="0" t="0"/>
          <a:stretch/>
        </p:blipFill>
        <p:spPr>
          <a:xfrm>
            <a:off x="6415888" y="5215827"/>
            <a:ext cx="658368" cy="658368"/>
          </a:xfrm>
          <a:prstGeom prst="rect">
            <a:avLst/>
          </a:prstGeom>
          <a:noFill/>
          <a:ln>
            <a:noFill/>
          </a:ln>
        </p:spPr>
      </p:pic>
      <p:sp>
        <p:nvSpPr>
          <p:cNvPr id="1557" name="Google Shape;1557;p42"/>
          <p:cNvSpPr txBox="1"/>
          <p:nvPr/>
        </p:nvSpPr>
        <p:spPr>
          <a:xfrm>
            <a:off x="7275424" y="5234496"/>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PriceLabs</a:t>
            </a:r>
            <a:endParaRPr b="0" i="0" sz="1300" u="none" cap="none" strike="noStrike">
              <a:solidFill>
                <a:schemeClr val="dk1"/>
              </a:solidFill>
              <a:latin typeface="Calibri"/>
              <a:ea typeface="Calibri"/>
              <a:cs typeface="Calibri"/>
              <a:sym typeface="Calibri"/>
            </a:endParaRPr>
          </a:p>
        </p:txBody>
      </p:sp>
      <p:sp>
        <p:nvSpPr>
          <p:cNvPr id="1558" name="Google Shape;1558;p42"/>
          <p:cNvSpPr txBox="1"/>
          <p:nvPr/>
        </p:nvSpPr>
        <p:spPr>
          <a:xfrm>
            <a:off x="7275424" y="5508816"/>
            <a:ext cx="4184752" cy="50793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Dynamic pricing first; market data and rate shopping come with its pricing tool.</a:t>
            </a:r>
            <a:endParaRPr b="0" i="0" sz="1050" u="none" cap="none" strike="noStrike">
              <a:solidFill>
                <a:schemeClr val="dk1"/>
              </a:solidFill>
              <a:latin typeface="Calibri"/>
              <a:ea typeface="Calibri"/>
              <a:cs typeface="Calibri"/>
              <a:sym typeface="Calibri"/>
            </a:endParaRPr>
          </a:p>
        </p:txBody>
      </p:sp>
      <p:sp>
        <p:nvSpPr>
          <p:cNvPr id="1559" name="Google Shape;1559;p42"/>
          <p:cNvSpPr txBox="1"/>
          <p:nvPr/>
        </p:nvSpPr>
        <p:spPr>
          <a:xfrm>
            <a:off x="548640" y="6089904"/>
            <a:ext cx="1106424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Rate shopping answers “what are they charging tonight?”; benchmarking answers “how did they do last month?”. Owners lump both together.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564" name="Shape 1564"/>
        <p:cNvGrpSpPr/>
        <p:nvPr/>
      </p:nvGrpSpPr>
      <p:grpSpPr>
        <a:xfrm>
          <a:off x="0" y="0"/>
          <a:ext cx="0" cy="0"/>
          <a:chOff x="0" y="0"/>
          <a:chExt cx="0" cy="0"/>
        </a:xfrm>
      </p:grpSpPr>
      <p:sp>
        <p:nvSpPr>
          <p:cNvPr id="1565" name="Google Shape;1565;p43"/>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6 · THE STACK</a:t>
            </a:r>
            <a:endParaRPr b="0" i="0" sz="1050" u="none" cap="none" strike="noStrike">
              <a:solidFill>
                <a:schemeClr val="dk1"/>
              </a:solidFill>
              <a:latin typeface="Calibri"/>
              <a:ea typeface="Calibri"/>
              <a:cs typeface="Calibri"/>
              <a:sym typeface="Calibri"/>
            </a:endParaRPr>
          </a:p>
        </p:txBody>
      </p:sp>
      <p:pic>
        <p:nvPicPr>
          <p:cNvPr descr="/home/claude/work/renderer/brand/wordmark.png" id="1566" name="Google Shape;1566;p43"/>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567" name="Google Shape;1567;p43"/>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41 / 48</a:t>
            </a:r>
            <a:endParaRPr b="0" i="0" sz="900" u="none" cap="none" strike="noStrike">
              <a:solidFill>
                <a:schemeClr val="dk1"/>
              </a:solidFill>
              <a:latin typeface="Calibri"/>
              <a:ea typeface="Calibri"/>
              <a:cs typeface="Calibri"/>
              <a:sym typeface="Calibri"/>
            </a:endParaRPr>
          </a:p>
        </p:txBody>
      </p:sp>
      <p:sp>
        <p:nvSpPr>
          <p:cNvPr id="1568" name="Google Shape;1568;p43"/>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CRM tools</a:t>
            </a:r>
            <a:r>
              <a:rPr b="0" i="0" lang="en-US" sz="1700" u="none" cap="none" strike="noStrike">
                <a:solidFill>
                  <a:srgbClr val="004FAA"/>
                </a:solidFill>
                <a:latin typeface="Inter"/>
                <a:ea typeface="Inter"/>
                <a:cs typeface="Inter"/>
                <a:sym typeface="Inter"/>
              </a:rPr>
              <a:t>  customer relationship management: where the guest list lives</a:t>
            </a:r>
            <a:endParaRPr b="0" i="0" sz="3000" u="none" cap="none" strike="noStrike">
              <a:solidFill>
                <a:schemeClr val="dk1"/>
              </a:solidFill>
              <a:latin typeface="Calibri"/>
              <a:ea typeface="Calibri"/>
              <a:cs typeface="Calibri"/>
              <a:sym typeface="Calibri"/>
            </a:endParaRPr>
          </a:p>
        </p:txBody>
      </p:sp>
      <p:sp>
        <p:nvSpPr>
          <p:cNvPr id="1569" name="Google Shape;1569;p43"/>
          <p:cNvSpPr txBox="1"/>
          <p:nvPr/>
        </p:nvSpPr>
        <p:spPr>
          <a:xfrm>
            <a:off x="548640" y="1389888"/>
            <a:ext cx="11064240" cy="30429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25252"/>
              </a:buClr>
              <a:buSzPts val="1400"/>
              <a:buFont typeface="Inter"/>
              <a:buNone/>
            </a:pPr>
            <a:r>
              <a:rPr b="0" i="0" lang="en-US" sz="1400" u="none" cap="none" strike="noStrike">
                <a:solidFill>
                  <a:srgbClr val="525252"/>
                </a:solidFill>
                <a:latin typeface="Inter"/>
                <a:ea typeface="Inter"/>
                <a:cs typeface="Inter"/>
                <a:sym typeface="Inter"/>
              </a:rPr>
              <a:t>Where guest data is held and segmented for marketing; Revinate, Cendyn.</a:t>
            </a:r>
            <a:endParaRPr b="0" i="0" sz="1400" u="none" cap="none" strike="noStrike">
              <a:solidFill>
                <a:schemeClr val="dk1"/>
              </a:solidFill>
              <a:latin typeface="Calibri"/>
              <a:ea typeface="Calibri"/>
              <a:cs typeface="Calibri"/>
              <a:sym typeface="Calibri"/>
            </a:endParaRPr>
          </a:p>
        </p:txBody>
      </p:sp>
      <p:sp>
        <p:nvSpPr>
          <p:cNvPr id="1570" name="Google Shape;1570;p43"/>
          <p:cNvSpPr/>
          <p:nvPr/>
        </p:nvSpPr>
        <p:spPr>
          <a:xfrm>
            <a:off x="548640" y="1858772"/>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revinate.png" id="1571" name="Google Shape;1571;p43"/>
          <p:cNvPicPr preferRelativeResize="0"/>
          <p:nvPr/>
        </p:nvPicPr>
        <p:blipFill rotWithShape="1">
          <a:blip r:embed="rId4">
            <a:alphaModFix/>
          </a:blip>
          <a:srcRect b="0" l="0" r="0" t="0"/>
          <a:stretch/>
        </p:blipFill>
        <p:spPr>
          <a:xfrm>
            <a:off x="731520" y="2001330"/>
            <a:ext cx="658368" cy="658368"/>
          </a:xfrm>
          <a:prstGeom prst="rect">
            <a:avLst/>
          </a:prstGeom>
          <a:noFill/>
          <a:ln>
            <a:noFill/>
          </a:ln>
        </p:spPr>
      </p:pic>
      <p:sp>
        <p:nvSpPr>
          <p:cNvPr id="1572" name="Google Shape;1572;p43"/>
          <p:cNvSpPr txBox="1"/>
          <p:nvPr/>
        </p:nvSpPr>
        <p:spPr>
          <a:xfrm>
            <a:off x="1591056" y="2019999"/>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Revinate</a:t>
            </a:r>
            <a:endParaRPr b="0" i="0" sz="1300" u="none" cap="none" strike="noStrike">
              <a:solidFill>
                <a:schemeClr val="dk1"/>
              </a:solidFill>
              <a:latin typeface="Calibri"/>
              <a:ea typeface="Calibri"/>
              <a:cs typeface="Calibri"/>
              <a:sym typeface="Calibri"/>
            </a:endParaRPr>
          </a:p>
        </p:txBody>
      </p:sp>
      <p:sp>
        <p:nvSpPr>
          <p:cNvPr id="1573" name="Google Shape;1573;p43"/>
          <p:cNvSpPr txBox="1"/>
          <p:nvPr/>
        </p:nvSpPr>
        <p:spPr>
          <a:xfrm>
            <a:off x="1591056" y="2294319"/>
            <a:ext cx="4184752" cy="50793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Hotel CRM and email marketing: guest profiles, segments and campaigns, with reputation tools alongside.</a:t>
            </a:r>
            <a:endParaRPr b="0" i="0" sz="1050" u="none" cap="none" strike="noStrike">
              <a:solidFill>
                <a:schemeClr val="dk1"/>
              </a:solidFill>
              <a:latin typeface="Calibri"/>
              <a:ea typeface="Calibri"/>
              <a:cs typeface="Calibri"/>
              <a:sym typeface="Calibri"/>
            </a:endParaRPr>
          </a:p>
        </p:txBody>
      </p:sp>
      <p:sp>
        <p:nvSpPr>
          <p:cNvPr id="1574" name="Google Shape;1574;p43"/>
          <p:cNvSpPr/>
          <p:nvPr/>
        </p:nvSpPr>
        <p:spPr>
          <a:xfrm>
            <a:off x="6233008" y="1858772"/>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cendyn.png" id="1575" name="Google Shape;1575;p43"/>
          <p:cNvPicPr preferRelativeResize="0"/>
          <p:nvPr/>
        </p:nvPicPr>
        <p:blipFill rotWithShape="1">
          <a:blip r:embed="rId5">
            <a:alphaModFix/>
          </a:blip>
          <a:srcRect b="0" l="0" r="0" t="0"/>
          <a:stretch/>
        </p:blipFill>
        <p:spPr>
          <a:xfrm>
            <a:off x="6415888" y="2001330"/>
            <a:ext cx="658368" cy="658368"/>
          </a:xfrm>
          <a:prstGeom prst="rect">
            <a:avLst/>
          </a:prstGeom>
          <a:noFill/>
          <a:ln>
            <a:noFill/>
          </a:ln>
        </p:spPr>
      </p:pic>
      <p:sp>
        <p:nvSpPr>
          <p:cNvPr id="1576" name="Google Shape;1576;p43"/>
          <p:cNvSpPr txBox="1"/>
          <p:nvPr/>
        </p:nvSpPr>
        <p:spPr>
          <a:xfrm>
            <a:off x="7275424" y="2019999"/>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Cendyn</a:t>
            </a:r>
            <a:endParaRPr b="0" i="0" sz="1300" u="none" cap="none" strike="noStrike">
              <a:solidFill>
                <a:schemeClr val="dk1"/>
              </a:solidFill>
              <a:latin typeface="Calibri"/>
              <a:ea typeface="Calibri"/>
              <a:cs typeface="Calibri"/>
              <a:sym typeface="Calibri"/>
            </a:endParaRPr>
          </a:p>
        </p:txBody>
      </p:sp>
      <p:sp>
        <p:nvSpPr>
          <p:cNvPr id="1577" name="Google Shape;1577;p43"/>
          <p:cNvSpPr txBox="1"/>
          <p:nvPr/>
        </p:nvSpPr>
        <p:spPr>
          <a:xfrm>
            <a:off x="7275424" y="2294319"/>
            <a:ext cx="4184752" cy="50793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Hotel CRM, spelled C-e-n-d-y-n. Guest data and marketing automation for independents and groups.</a:t>
            </a:r>
            <a:endParaRPr b="0" i="0" sz="1050" u="none" cap="none" strike="noStrike">
              <a:solidFill>
                <a:schemeClr val="dk1"/>
              </a:solidFill>
              <a:latin typeface="Calibri"/>
              <a:ea typeface="Calibri"/>
              <a:cs typeface="Calibri"/>
              <a:sym typeface="Calibri"/>
            </a:endParaRPr>
          </a:p>
        </p:txBody>
      </p:sp>
      <p:sp>
        <p:nvSpPr>
          <p:cNvPr id="1578" name="Google Shape;1578;p43"/>
          <p:cNvSpPr/>
          <p:nvPr/>
        </p:nvSpPr>
        <p:spPr>
          <a:xfrm>
            <a:off x="548640" y="2930271"/>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gohighlevel.png" id="1579" name="Google Shape;1579;p43"/>
          <p:cNvPicPr preferRelativeResize="0"/>
          <p:nvPr/>
        </p:nvPicPr>
        <p:blipFill rotWithShape="1">
          <a:blip r:embed="rId6">
            <a:alphaModFix/>
          </a:blip>
          <a:srcRect b="0" l="0" r="0" t="0"/>
          <a:stretch/>
        </p:blipFill>
        <p:spPr>
          <a:xfrm>
            <a:off x="731520" y="3072829"/>
            <a:ext cx="658368" cy="658368"/>
          </a:xfrm>
          <a:prstGeom prst="rect">
            <a:avLst/>
          </a:prstGeom>
          <a:noFill/>
          <a:ln>
            <a:noFill/>
          </a:ln>
        </p:spPr>
      </p:pic>
      <p:sp>
        <p:nvSpPr>
          <p:cNvPr id="1580" name="Google Shape;1580;p43"/>
          <p:cNvSpPr txBox="1"/>
          <p:nvPr/>
        </p:nvSpPr>
        <p:spPr>
          <a:xfrm>
            <a:off x="1591056" y="3091498"/>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GoHighLevel</a:t>
            </a:r>
            <a:endParaRPr b="0" i="0" sz="1300" u="none" cap="none" strike="noStrike">
              <a:solidFill>
                <a:schemeClr val="dk1"/>
              </a:solidFill>
              <a:latin typeface="Calibri"/>
              <a:ea typeface="Calibri"/>
              <a:cs typeface="Calibri"/>
              <a:sym typeface="Calibri"/>
            </a:endParaRPr>
          </a:p>
        </p:txBody>
      </p:sp>
      <p:sp>
        <p:nvSpPr>
          <p:cNvPr id="1581" name="Google Shape;1581;p43"/>
          <p:cNvSpPr txBox="1"/>
          <p:nvPr/>
        </p:nvSpPr>
        <p:spPr>
          <a:xfrm>
            <a:off x="1591056" y="3365818"/>
            <a:ext cx="4184752" cy="50793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HGM's own CRM, with texting and chat built in: the leads and the email list the funnel builds.</a:t>
            </a:r>
            <a:endParaRPr b="0" i="0" sz="1050" u="none" cap="none" strike="noStrike">
              <a:solidFill>
                <a:schemeClr val="dk1"/>
              </a:solidFill>
              <a:latin typeface="Calibri"/>
              <a:ea typeface="Calibri"/>
              <a:cs typeface="Calibri"/>
              <a:sym typeface="Calibri"/>
            </a:endParaRPr>
          </a:p>
        </p:txBody>
      </p:sp>
      <p:sp>
        <p:nvSpPr>
          <p:cNvPr id="1582" name="Google Shape;1582;p43"/>
          <p:cNvSpPr/>
          <p:nvPr/>
        </p:nvSpPr>
        <p:spPr>
          <a:xfrm>
            <a:off x="6233008" y="2930271"/>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hubspot.png" id="1583" name="Google Shape;1583;p43"/>
          <p:cNvPicPr preferRelativeResize="0"/>
          <p:nvPr/>
        </p:nvPicPr>
        <p:blipFill rotWithShape="1">
          <a:blip r:embed="rId7">
            <a:alphaModFix/>
          </a:blip>
          <a:srcRect b="0" l="0" r="0" t="0"/>
          <a:stretch/>
        </p:blipFill>
        <p:spPr>
          <a:xfrm>
            <a:off x="6415888" y="3072829"/>
            <a:ext cx="658368" cy="658368"/>
          </a:xfrm>
          <a:prstGeom prst="rect">
            <a:avLst/>
          </a:prstGeom>
          <a:noFill/>
          <a:ln>
            <a:noFill/>
          </a:ln>
        </p:spPr>
      </p:pic>
      <p:sp>
        <p:nvSpPr>
          <p:cNvPr id="1584" name="Google Shape;1584;p43"/>
          <p:cNvSpPr txBox="1"/>
          <p:nvPr/>
        </p:nvSpPr>
        <p:spPr>
          <a:xfrm>
            <a:off x="7275424" y="3091498"/>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HubSpot</a:t>
            </a:r>
            <a:endParaRPr b="0" i="0" sz="1300" u="none" cap="none" strike="noStrike">
              <a:solidFill>
                <a:schemeClr val="dk1"/>
              </a:solidFill>
              <a:latin typeface="Calibri"/>
              <a:ea typeface="Calibri"/>
              <a:cs typeface="Calibri"/>
              <a:sym typeface="Calibri"/>
            </a:endParaRPr>
          </a:p>
        </p:txBody>
      </p:sp>
      <p:sp>
        <p:nvSpPr>
          <p:cNvPr id="1585" name="Google Shape;1585;p43"/>
          <p:cNvSpPr txBox="1"/>
          <p:nvPr/>
        </p:nvSpPr>
        <p:spPr>
          <a:xfrm>
            <a:off x="7275424" y="3365818"/>
            <a:ext cx="4184752" cy="50793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A general CRM some owners run, usually for sales enquiries rather than past guests.</a:t>
            </a:r>
            <a:endParaRPr b="0" i="0" sz="1050" u="none" cap="none" strike="noStrike">
              <a:solidFill>
                <a:schemeClr val="dk1"/>
              </a:solidFill>
              <a:latin typeface="Calibri"/>
              <a:ea typeface="Calibri"/>
              <a:cs typeface="Calibri"/>
              <a:sym typeface="Calibri"/>
            </a:endParaRPr>
          </a:p>
        </p:txBody>
      </p:sp>
      <p:sp>
        <p:nvSpPr>
          <p:cNvPr id="1586" name="Google Shape;1586;p43"/>
          <p:cNvSpPr/>
          <p:nvPr/>
        </p:nvSpPr>
        <p:spPr>
          <a:xfrm>
            <a:off x="548640" y="4001770"/>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mailchimp.png" id="1587" name="Google Shape;1587;p43"/>
          <p:cNvPicPr preferRelativeResize="0"/>
          <p:nvPr/>
        </p:nvPicPr>
        <p:blipFill rotWithShape="1">
          <a:blip r:embed="rId8">
            <a:alphaModFix/>
          </a:blip>
          <a:srcRect b="0" l="0" r="0" t="0"/>
          <a:stretch/>
        </p:blipFill>
        <p:spPr>
          <a:xfrm>
            <a:off x="731520" y="4144328"/>
            <a:ext cx="658368" cy="658368"/>
          </a:xfrm>
          <a:prstGeom prst="rect">
            <a:avLst/>
          </a:prstGeom>
          <a:noFill/>
          <a:ln>
            <a:noFill/>
          </a:ln>
        </p:spPr>
      </p:pic>
      <p:sp>
        <p:nvSpPr>
          <p:cNvPr id="1588" name="Google Shape;1588;p43"/>
          <p:cNvSpPr txBox="1"/>
          <p:nvPr/>
        </p:nvSpPr>
        <p:spPr>
          <a:xfrm>
            <a:off x="1591056" y="4162997"/>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Mailchimp</a:t>
            </a:r>
            <a:endParaRPr b="0" i="0" sz="1300" u="none" cap="none" strike="noStrike">
              <a:solidFill>
                <a:schemeClr val="dk1"/>
              </a:solidFill>
              <a:latin typeface="Calibri"/>
              <a:ea typeface="Calibri"/>
              <a:cs typeface="Calibri"/>
              <a:sym typeface="Calibri"/>
            </a:endParaRPr>
          </a:p>
        </p:txBody>
      </p:sp>
      <p:sp>
        <p:nvSpPr>
          <p:cNvPr id="1589" name="Google Shape;1589;p43"/>
          <p:cNvSpPr txBox="1"/>
          <p:nvPr/>
        </p:nvSpPr>
        <p:spPr>
          <a:xfrm>
            <a:off x="1591056" y="4437317"/>
            <a:ext cx="4184752" cy="50793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The email tool a small owner often calls their CRM. A list and campaigns, not guest history.</a:t>
            </a:r>
            <a:endParaRPr b="0" i="0" sz="1050" u="none" cap="none" strike="noStrike">
              <a:solidFill>
                <a:schemeClr val="dk1"/>
              </a:solidFill>
              <a:latin typeface="Calibri"/>
              <a:ea typeface="Calibri"/>
              <a:cs typeface="Calibri"/>
              <a:sym typeface="Calibri"/>
            </a:endParaRPr>
          </a:p>
        </p:txBody>
      </p:sp>
      <p:sp>
        <p:nvSpPr>
          <p:cNvPr id="1590" name="Google Shape;1590;p43"/>
          <p:cNvSpPr/>
          <p:nvPr/>
        </p:nvSpPr>
        <p:spPr>
          <a:xfrm>
            <a:off x="6233008" y="4001770"/>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klaviyo.png" id="1591" name="Google Shape;1591;p43"/>
          <p:cNvPicPr preferRelativeResize="0"/>
          <p:nvPr/>
        </p:nvPicPr>
        <p:blipFill rotWithShape="1">
          <a:blip r:embed="rId9">
            <a:alphaModFix/>
          </a:blip>
          <a:srcRect b="0" l="0" r="0" t="0"/>
          <a:stretch/>
        </p:blipFill>
        <p:spPr>
          <a:xfrm>
            <a:off x="6415888" y="4144328"/>
            <a:ext cx="658368" cy="658368"/>
          </a:xfrm>
          <a:prstGeom prst="rect">
            <a:avLst/>
          </a:prstGeom>
          <a:noFill/>
          <a:ln>
            <a:noFill/>
          </a:ln>
        </p:spPr>
      </p:pic>
      <p:sp>
        <p:nvSpPr>
          <p:cNvPr id="1592" name="Google Shape;1592;p43"/>
          <p:cNvSpPr txBox="1"/>
          <p:nvPr/>
        </p:nvSpPr>
        <p:spPr>
          <a:xfrm>
            <a:off x="7275424" y="4162997"/>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Klaviyo</a:t>
            </a:r>
            <a:endParaRPr b="0" i="0" sz="1300" u="none" cap="none" strike="noStrike">
              <a:solidFill>
                <a:schemeClr val="dk1"/>
              </a:solidFill>
              <a:latin typeface="Calibri"/>
              <a:ea typeface="Calibri"/>
              <a:cs typeface="Calibri"/>
              <a:sym typeface="Calibri"/>
            </a:endParaRPr>
          </a:p>
        </p:txBody>
      </p:sp>
      <p:sp>
        <p:nvSpPr>
          <p:cNvPr id="1593" name="Google Shape;1593;p43"/>
          <p:cNvSpPr txBox="1"/>
          <p:nvPr/>
        </p:nvSpPr>
        <p:spPr>
          <a:xfrm>
            <a:off x="7275424" y="4437317"/>
            <a:ext cx="4184752" cy="50793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Email and SMS with more automation than Mailchimp; the same role for a bigger list.</a:t>
            </a:r>
            <a:endParaRPr b="0" i="0" sz="1050" u="none" cap="none" strike="noStrike">
              <a:solidFill>
                <a:schemeClr val="dk1"/>
              </a:solidFill>
              <a:latin typeface="Calibri"/>
              <a:ea typeface="Calibri"/>
              <a:cs typeface="Calibri"/>
              <a:sym typeface="Calibri"/>
            </a:endParaRPr>
          </a:p>
        </p:txBody>
      </p:sp>
      <p:sp>
        <p:nvSpPr>
          <p:cNvPr id="1594" name="Google Shape;1594;p43"/>
          <p:cNvSpPr/>
          <p:nvPr/>
        </p:nvSpPr>
        <p:spPr>
          <a:xfrm>
            <a:off x="548640" y="5073269"/>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enso-connect.png" id="1595" name="Google Shape;1595;p43"/>
          <p:cNvPicPr preferRelativeResize="0"/>
          <p:nvPr/>
        </p:nvPicPr>
        <p:blipFill rotWithShape="1">
          <a:blip r:embed="rId10">
            <a:alphaModFix/>
          </a:blip>
          <a:srcRect b="0" l="0" r="0" t="0"/>
          <a:stretch/>
        </p:blipFill>
        <p:spPr>
          <a:xfrm>
            <a:off x="731520" y="5215827"/>
            <a:ext cx="658368" cy="658368"/>
          </a:xfrm>
          <a:prstGeom prst="rect">
            <a:avLst/>
          </a:prstGeom>
          <a:noFill/>
          <a:ln>
            <a:noFill/>
          </a:ln>
        </p:spPr>
      </p:pic>
      <p:sp>
        <p:nvSpPr>
          <p:cNvPr id="1596" name="Google Shape;1596;p43"/>
          <p:cNvSpPr txBox="1"/>
          <p:nvPr/>
        </p:nvSpPr>
        <p:spPr>
          <a:xfrm>
            <a:off x="1591056" y="5234496"/>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Enso Connect</a:t>
            </a:r>
            <a:endParaRPr b="0" i="0" sz="1300" u="none" cap="none" strike="noStrike">
              <a:solidFill>
                <a:schemeClr val="dk1"/>
              </a:solidFill>
              <a:latin typeface="Calibri"/>
              <a:ea typeface="Calibri"/>
              <a:cs typeface="Calibri"/>
              <a:sym typeface="Calibri"/>
            </a:endParaRPr>
          </a:p>
        </p:txBody>
      </p:sp>
      <p:sp>
        <p:nvSpPr>
          <p:cNvPr id="1597" name="Google Shape;1597;p43"/>
          <p:cNvSpPr txBox="1"/>
          <p:nvPr/>
        </p:nvSpPr>
        <p:spPr>
          <a:xfrm>
            <a:off x="1591056" y="5508816"/>
            <a:ext cx="4184752" cy="50793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Guest experience platform that also sells guest segments and campaigns.</a:t>
            </a:r>
            <a:endParaRPr b="0" i="0" sz="1050" u="none" cap="none" strike="noStrike">
              <a:solidFill>
                <a:schemeClr val="dk1"/>
              </a:solidFill>
              <a:latin typeface="Calibri"/>
              <a:ea typeface="Calibri"/>
              <a:cs typeface="Calibri"/>
              <a:sym typeface="Calibri"/>
            </a:endParaRPr>
          </a:p>
        </p:txBody>
      </p:sp>
      <p:sp>
        <p:nvSpPr>
          <p:cNvPr id="1598" name="Google Shape;1598;p43"/>
          <p:cNvSpPr/>
          <p:nvPr/>
        </p:nvSpPr>
        <p:spPr>
          <a:xfrm>
            <a:off x="6233008" y="5073269"/>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cloudbeds.png" id="1599" name="Google Shape;1599;p43"/>
          <p:cNvPicPr preferRelativeResize="0"/>
          <p:nvPr/>
        </p:nvPicPr>
        <p:blipFill rotWithShape="1">
          <a:blip r:embed="rId11">
            <a:alphaModFix/>
          </a:blip>
          <a:srcRect b="0" l="0" r="0" t="0"/>
          <a:stretch/>
        </p:blipFill>
        <p:spPr>
          <a:xfrm>
            <a:off x="6415888" y="5215827"/>
            <a:ext cx="658368" cy="658368"/>
          </a:xfrm>
          <a:prstGeom prst="rect">
            <a:avLst/>
          </a:prstGeom>
          <a:noFill/>
          <a:ln>
            <a:noFill/>
          </a:ln>
        </p:spPr>
      </p:pic>
      <p:sp>
        <p:nvSpPr>
          <p:cNvPr id="1600" name="Google Shape;1600;p43"/>
          <p:cNvSpPr txBox="1"/>
          <p:nvPr/>
        </p:nvSpPr>
        <p:spPr>
          <a:xfrm>
            <a:off x="7275424" y="5234496"/>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Cloudbeds</a:t>
            </a:r>
            <a:endParaRPr b="0" i="0" sz="1300" u="none" cap="none" strike="noStrike">
              <a:solidFill>
                <a:schemeClr val="dk1"/>
              </a:solidFill>
              <a:latin typeface="Calibri"/>
              <a:ea typeface="Calibri"/>
              <a:cs typeface="Calibri"/>
              <a:sym typeface="Calibri"/>
            </a:endParaRPr>
          </a:p>
        </p:txBody>
      </p:sp>
      <p:sp>
        <p:nvSpPr>
          <p:cNvPr id="1601" name="Google Shape;1601;p43"/>
          <p:cNvSpPr txBox="1"/>
          <p:nvPr/>
        </p:nvSpPr>
        <p:spPr>
          <a:xfrm>
            <a:off x="7275424" y="5508816"/>
            <a:ext cx="4184752" cy="50793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A CRM inside the suite, as a paid add-on; ask what the owner means by CRM.</a:t>
            </a:r>
            <a:endParaRPr b="0" i="0" sz="1050" u="none" cap="none" strike="noStrike">
              <a:solidFill>
                <a:schemeClr val="dk1"/>
              </a:solidFill>
              <a:latin typeface="Calibri"/>
              <a:ea typeface="Calibri"/>
              <a:cs typeface="Calibri"/>
              <a:sym typeface="Calibri"/>
            </a:endParaRPr>
          </a:p>
        </p:txBody>
      </p:sp>
      <p:sp>
        <p:nvSpPr>
          <p:cNvPr id="1602" name="Google Shape;1602;p43"/>
          <p:cNvSpPr txBox="1"/>
          <p:nvPr/>
        </p:nvSpPr>
        <p:spPr>
          <a:xfrm>
            <a:off x="548640" y="6089904"/>
            <a:ext cx="1106424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Mews keeps guest profiles, but connects to a CRM rather than being one. Two CRMs on every call: the property's, and the GoHighLevel list we build.</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607" name="Shape 1607"/>
        <p:cNvGrpSpPr/>
        <p:nvPr/>
      </p:nvGrpSpPr>
      <p:grpSpPr>
        <a:xfrm>
          <a:off x="0" y="0"/>
          <a:ext cx="0" cy="0"/>
          <a:chOff x="0" y="0"/>
          <a:chExt cx="0" cy="0"/>
        </a:xfrm>
      </p:grpSpPr>
      <p:sp>
        <p:nvSpPr>
          <p:cNvPr id="1608" name="Google Shape;1608;p44"/>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6 · THE STACK</a:t>
            </a:r>
            <a:endParaRPr b="0" i="0" sz="1050" u="none" cap="none" strike="noStrike">
              <a:solidFill>
                <a:schemeClr val="dk1"/>
              </a:solidFill>
              <a:latin typeface="Calibri"/>
              <a:ea typeface="Calibri"/>
              <a:cs typeface="Calibri"/>
              <a:sym typeface="Calibri"/>
            </a:endParaRPr>
          </a:p>
        </p:txBody>
      </p:sp>
      <p:pic>
        <p:nvPicPr>
          <p:cNvPr descr="/home/claude/work/renderer/brand/wordmark.png" id="1609" name="Google Shape;1609;p44"/>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610" name="Google Shape;1610;p44"/>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42 / 48</a:t>
            </a:r>
            <a:endParaRPr b="0" i="0" sz="900" u="none" cap="none" strike="noStrike">
              <a:solidFill>
                <a:schemeClr val="dk1"/>
              </a:solidFill>
              <a:latin typeface="Calibri"/>
              <a:ea typeface="Calibri"/>
              <a:cs typeface="Calibri"/>
              <a:sym typeface="Calibri"/>
            </a:endParaRPr>
          </a:p>
        </p:txBody>
      </p:sp>
      <p:sp>
        <p:nvSpPr>
          <p:cNvPr id="1611" name="Google Shape;1611;p44"/>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Guest messaging tools</a:t>
            </a:r>
            <a:r>
              <a:rPr b="0" i="0" lang="en-US" sz="1700" u="none" cap="none" strike="noStrike">
                <a:solidFill>
                  <a:srgbClr val="004FAA"/>
                </a:solidFill>
                <a:latin typeface="Inter"/>
                <a:ea typeface="Inter"/>
                <a:cs typeface="Inter"/>
                <a:sym typeface="Inter"/>
              </a:rPr>
              <a:t>  the conversation before, during and after the stay</a:t>
            </a:r>
            <a:endParaRPr b="0" i="0" sz="3000" u="none" cap="none" strike="noStrike">
              <a:solidFill>
                <a:schemeClr val="dk1"/>
              </a:solidFill>
              <a:latin typeface="Calibri"/>
              <a:ea typeface="Calibri"/>
              <a:cs typeface="Calibri"/>
              <a:sym typeface="Calibri"/>
            </a:endParaRPr>
          </a:p>
        </p:txBody>
      </p:sp>
      <p:sp>
        <p:nvSpPr>
          <p:cNvPr id="1612" name="Google Shape;1612;p44"/>
          <p:cNvSpPr txBox="1"/>
          <p:nvPr/>
        </p:nvSpPr>
        <p:spPr>
          <a:xfrm>
            <a:off x="548640" y="1389888"/>
            <a:ext cx="11064240" cy="30429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25252"/>
              </a:buClr>
              <a:buSzPts val="1400"/>
              <a:buFont typeface="Inter"/>
              <a:buNone/>
            </a:pPr>
            <a:r>
              <a:rPr b="0" i="0" lang="en-US" sz="1400" u="none" cap="none" strike="noStrike">
                <a:solidFill>
                  <a:srgbClr val="525252"/>
                </a:solidFill>
                <a:latin typeface="Inter"/>
                <a:ea typeface="Inter"/>
                <a:cs typeface="Inter"/>
                <a:sym typeface="Inter"/>
              </a:rPr>
              <a:t>Pre-arrival and in-stay messaging to the guest; Duve, and Whistle (now part of Cloudbeds).</a:t>
            </a:r>
            <a:endParaRPr b="0" i="0" sz="1400" u="none" cap="none" strike="noStrike">
              <a:solidFill>
                <a:schemeClr val="dk1"/>
              </a:solidFill>
              <a:latin typeface="Calibri"/>
              <a:ea typeface="Calibri"/>
              <a:cs typeface="Calibri"/>
              <a:sym typeface="Calibri"/>
            </a:endParaRPr>
          </a:p>
        </p:txBody>
      </p:sp>
      <p:sp>
        <p:nvSpPr>
          <p:cNvPr id="1613" name="Google Shape;1613;p44"/>
          <p:cNvSpPr/>
          <p:nvPr/>
        </p:nvSpPr>
        <p:spPr>
          <a:xfrm>
            <a:off x="548640" y="1858772"/>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duve.png" id="1614" name="Google Shape;1614;p44"/>
          <p:cNvPicPr preferRelativeResize="0"/>
          <p:nvPr/>
        </p:nvPicPr>
        <p:blipFill rotWithShape="1">
          <a:blip r:embed="rId4">
            <a:alphaModFix/>
          </a:blip>
          <a:srcRect b="0" l="0" r="0" t="0"/>
          <a:stretch/>
        </p:blipFill>
        <p:spPr>
          <a:xfrm>
            <a:off x="731520" y="2001330"/>
            <a:ext cx="658368" cy="658368"/>
          </a:xfrm>
          <a:prstGeom prst="rect">
            <a:avLst/>
          </a:prstGeom>
          <a:noFill/>
          <a:ln>
            <a:noFill/>
          </a:ln>
        </p:spPr>
      </p:pic>
      <p:sp>
        <p:nvSpPr>
          <p:cNvPr id="1615" name="Google Shape;1615;p44"/>
          <p:cNvSpPr txBox="1"/>
          <p:nvPr/>
        </p:nvSpPr>
        <p:spPr>
          <a:xfrm>
            <a:off x="1591056" y="2019999"/>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Duve</a:t>
            </a:r>
            <a:endParaRPr b="0" i="0" sz="1300" u="none" cap="none" strike="noStrike">
              <a:solidFill>
                <a:schemeClr val="dk1"/>
              </a:solidFill>
              <a:latin typeface="Calibri"/>
              <a:ea typeface="Calibri"/>
              <a:cs typeface="Calibri"/>
              <a:sym typeface="Calibri"/>
            </a:endParaRPr>
          </a:p>
        </p:txBody>
      </p:sp>
      <p:sp>
        <p:nvSpPr>
          <p:cNvPr id="1616" name="Google Shape;1616;p44"/>
          <p:cNvSpPr txBox="1"/>
          <p:nvPr/>
        </p:nvSpPr>
        <p:spPr>
          <a:xfrm>
            <a:off x="1591056" y="2294319"/>
            <a:ext cx="4184752" cy="50793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Guest communication hub for hotels and rentals: messages, check-in and a guest app, with upsells built in.</a:t>
            </a:r>
            <a:endParaRPr b="0" i="0" sz="1050" u="none" cap="none" strike="noStrike">
              <a:solidFill>
                <a:schemeClr val="dk1"/>
              </a:solidFill>
              <a:latin typeface="Calibri"/>
              <a:ea typeface="Calibri"/>
              <a:cs typeface="Calibri"/>
              <a:sym typeface="Calibri"/>
            </a:endParaRPr>
          </a:p>
        </p:txBody>
      </p:sp>
      <p:sp>
        <p:nvSpPr>
          <p:cNvPr id="1617" name="Google Shape;1617;p44"/>
          <p:cNvSpPr/>
          <p:nvPr/>
        </p:nvSpPr>
        <p:spPr>
          <a:xfrm>
            <a:off x="6233008" y="1858772"/>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canary-technologies.png" id="1618" name="Google Shape;1618;p44"/>
          <p:cNvPicPr preferRelativeResize="0"/>
          <p:nvPr/>
        </p:nvPicPr>
        <p:blipFill rotWithShape="1">
          <a:blip r:embed="rId5">
            <a:alphaModFix/>
          </a:blip>
          <a:srcRect b="0" l="0" r="0" t="0"/>
          <a:stretch/>
        </p:blipFill>
        <p:spPr>
          <a:xfrm>
            <a:off x="6415888" y="2001330"/>
            <a:ext cx="658368" cy="658368"/>
          </a:xfrm>
          <a:prstGeom prst="rect">
            <a:avLst/>
          </a:prstGeom>
          <a:noFill/>
          <a:ln>
            <a:noFill/>
          </a:ln>
        </p:spPr>
      </p:pic>
      <p:sp>
        <p:nvSpPr>
          <p:cNvPr id="1619" name="Google Shape;1619;p44"/>
          <p:cNvSpPr txBox="1"/>
          <p:nvPr/>
        </p:nvSpPr>
        <p:spPr>
          <a:xfrm>
            <a:off x="7275424" y="2019999"/>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Canary Technologies</a:t>
            </a:r>
            <a:endParaRPr b="0" i="0" sz="1300" u="none" cap="none" strike="noStrike">
              <a:solidFill>
                <a:schemeClr val="dk1"/>
              </a:solidFill>
              <a:latin typeface="Calibri"/>
              <a:ea typeface="Calibri"/>
              <a:cs typeface="Calibri"/>
              <a:sym typeface="Calibri"/>
            </a:endParaRPr>
          </a:p>
        </p:txBody>
      </p:sp>
      <p:sp>
        <p:nvSpPr>
          <p:cNvPr id="1620" name="Google Shape;1620;p44"/>
          <p:cNvSpPr txBox="1"/>
          <p:nvPr/>
        </p:nvSpPr>
        <p:spPr>
          <a:xfrm>
            <a:off x="7275424" y="2294319"/>
            <a:ext cx="4184752" cy="50793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Hotel guest messaging, digital check-in and upsells in one platform.</a:t>
            </a:r>
            <a:endParaRPr b="0" i="0" sz="1050" u="none" cap="none" strike="noStrike">
              <a:solidFill>
                <a:schemeClr val="dk1"/>
              </a:solidFill>
              <a:latin typeface="Calibri"/>
              <a:ea typeface="Calibri"/>
              <a:cs typeface="Calibri"/>
              <a:sym typeface="Calibri"/>
            </a:endParaRPr>
          </a:p>
        </p:txBody>
      </p:sp>
      <p:sp>
        <p:nvSpPr>
          <p:cNvPr id="1621" name="Google Shape;1621;p44"/>
          <p:cNvSpPr/>
          <p:nvPr/>
        </p:nvSpPr>
        <p:spPr>
          <a:xfrm>
            <a:off x="548640" y="2930271"/>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whistle.png" id="1622" name="Google Shape;1622;p44"/>
          <p:cNvPicPr preferRelativeResize="0"/>
          <p:nvPr/>
        </p:nvPicPr>
        <p:blipFill rotWithShape="1">
          <a:blip r:embed="rId6">
            <a:alphaModFix/>
          </a:blip>
          <a:srcRect b="0" l="0" r="0" t="0"/>
          <a:stretch/>
        </p:blipFill>
        <p:spPr>
          <a:xfrm>
            <a:off x="731520" y="3072829"/>
            <a:ext cx="658368" cy="658368"/>
          </a:xfrm>
          <a:prstGeom prst="rect">
            <a:avLst/>
          </a:prstGeom>
          <a:noFill/>
          <a:ln>
            <a:noFill/>
          </a:ln>
        </p:spPr>
      </p:pic>
      <p:sp>
        <p:nvSpPr>
          <p:cNvPr id="1623" name="Google Shape;1623;p44"/>
          <p:cNvSpPr txBox="1"/>
          <p:nvPr/>
        </p:nvSpPr>
        <p:spPr>
          <a:xfrm>
            <a:off x="1591056" y="3091498"/>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Whistle</a:t>
            </a:r>
            <a:endParaRPr b="0" i="0" sz="1300" u="none" cap="none" strike="noStrike">
              <a:solidFill>
                <a:schemeClr val="dk1"/>
              </a:solidFill>
              <a:latin typeface="Calibri"/>
              <a:ea typeface="Calibri"/>
              <a:cs typeface="Calibri"/>
              <a:sym typeface="Calibri"/>
            </a:endParaRPr>
          </a:p>
        </p:txBody>
      </p:sp>
      <p:sp>
        <p:nvSpPr>
          <p:cNvPr id="1624" name="Google Shape;1624;p44"/>
          <p:cNvSpPr txBox="1"/>
          <p:nvPr/>
        </p:nvSpPr>
        <p:spPr>
          <a:xfrm>
            <a:off x="1591056" y="3365818"/>
            <a:ext cx="4184752" cy="50793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Guest messaging, now part of Cloudbeds, so a Cloudbeds owner may already have it.</a:t>
            </a:r>
            <a:endParaRPr b="0" i="0" sz="1050" u="none" cap="none" strike="noStrike">
              <a:solidFill>
                <a:schemeClr val="dk1"/>
              </a:solidFill>
              <a:latin typeface="Calibri"/>
              <a:ea typeface="Calibri"/>
              <a:cs typeface="Calibri"/>
              <a:sym typeface="Calibri"/>
            </a:endParaRPr>
          </a:p>
        </p:txBody>
      </p:sp>
      <p:sp>
        <p:nvSpPr>
          <p:cNvPr id="1625" name="Google Shape;1625;p44"/>
          <p:cNvSpPr/>
          <p:nvPr/>
        </p:nvSpPr>
        <p:spPr>
          <a:xfrm>
            <a:off x="6233008" y="2930271"/>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akia.png" id="1626" name="Google Shape;1626;p44"/>
          <p:cNvPicPr preferRelativeResize="0"/>
          <p:nvPr/>
        </p:nvPicPr>
        <p:blipFill rotWithShape="1">
          <a:blip r:embed="rId7">
            <a:alphaModFix/>
          </a:blip>
          <a:srcRect b="0" l="0" r="0" t="0"/>
          <a:stretch/>
        </p:blipFill>
        <p:spPr>
          <a:xfrm>
            <a:off x="6415888" y="3072829"/>
            <a:ext cx="658368" cy="658368"/>
          </a:xfrm>
          <a:prstGeom prst="rect">
            <a:avLst/>
          </a:prstGeom>
          <a:noFill/>
          <a:ln>
            <a:noFill/>
          </a:ln>
        </p:spPr>
      </p:pic>
      <p:sp>
        <p:nvSpPr>
          <p:cNvPr id="1627" name="Google Shape;1627;p44"/>
          <p:cNvSpPr txBox="1"/>
          <p:nvPr/>
        </p:nvSpPr>
        <p:spPr>
          <a:xfrm>
            <a:off x="7275424" y="3091498"/>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Akia</a:t>
            </a:r>
            <a:endParaRPr b="0" i="0" sz="1300" u="none" cap="none" strike="noStrike">
              <a:solidFill>
                <a:schemeClr val="dk1"/>
              </a:solidFill>
              <a:latin typeface="Calibri"/>
              <a:ea typeface="Calibri"/>
              <a:cs typeface="Calibri"/>
              <a:sym typeface="Calibri"/>
            </a:endParaRPr>
          </a:p>
        </p:txBody>
      </p:sp>
      <p:sp>
        <p:nvSpPr>
          <p:cNvPr id="1628" name="Google Shape;1628;p44"/>
          <p:cNvSpPr txBox="1"/>
          <p:nvPr/>
        </p:nvSpPr>
        <p:spPr>
          <a:xfrm>
            <a:off x="7275424" y="3365818"/>
            <a:ext cx="4184752" cy="50793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Messaging for hotels and rentals: texts and automated replies around the stay.</a:t>
            </a:r>
            <a:endParaRPr b="0" i="0" sz="1050" u="none" cap="none" strike="noStrike">
              <a:solidFill>
                <a:schemeClr val="dk1"/>
              </a:solidFill>
              <a:latin typeface="Calibri"/>
              <a:ea typeface="Calibri"/>
              <a:cs typeface="Calibri"/>
              <a:sym typeface="Calibri"/>
            </a:endParaRPr>
          </a:p>
        </p:txBody>
      </p:sp>
      <p:sp>
        <p:nvSpPr>
          <p:cNvPr id="1629" name="Google Shape;1629;p44"/>
          <p:cNvSpPr/>
          <p:nvPr/>
        </p:nvSpPr>
        <p:spPr>
          <a:xfrm>
            <a:off x="548640" y="4001770"/>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enso-connect.png" id="1630" name="Google Shape;1630;p44"/>
          <p:cNvPicPr preferRelativeResize="0"/>
          <p:nvPr/>
        </p:nvPicPr>
        <p:blipFill rotWithShape="1">
          <a:blip r:embed="rId8">
            <a:alphaModFix/>
          </a:blip>
          <a:srcRect b="0" l="0" r="0" t="0"/>
          <a:stretch/>
        </p:blipFill>
        <p:spPr>
          <a:xfrm>
            <a:off x="731520" y="4144328"/>
            <a:ext cx="658368" cy="658368"/>
          </a:xfrm>
          <a:prstGeom prst="rect">
            <a:avLst/>
          </a:prstGeom>
          <a:noFill/>
          <a:ln>
            <a:noFill/>
          </a:ln>
        </p:spPr>
      </p:pic>
      <p:sp>
        <p:nvSpPr>
          <p:cNvPr id="1631" name="Google Shape;1631;p44"/>
          <p:cNvSpPr txBox="1"/>
          <p:nvPr/>
        </p:nvSpPr>
        <p:spPr>
          <a:xfrm>
            <a:off x="1591056" y="4162997"/>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Enso Connect</a:t>
            </a:r>
            <a:endParaRPr b="0" i="0" sz="1300" u="none" cap="none" strike="noStrike">
              <a:solidFill>
                <a:schemeClr val="dk1"/>
              </a:solidFill>
              <a:latin typeface="Calibri"/>
              <a:ea typeface="Calibri"/>
              <a:cs typeface="Calibri"/>
              <a:sym typeface="Calibri"/>
            </a:endParaRPr>
          </a:p>
        </p:txBody>
      </p:sp>
      <p:sp>
        <p:nvSpPr>
          <p:cNvPr id="1632" name="Google Shape;1632;p44"/>
          <p:cNvSpPr txBox="1"/>
          <p:nvPr/>
        </p:nvSpPr>
        <p:spPr>
          <a:xfrm>
            <a:off x="1591056" y="4437317"/>
            <a:ext cx="4184752" cy="50793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Guest experience platform for vacation rentals and boutique stays: messaging, check-in, upsells.</a:t>
            </a:r>
            <a:endParaRPr b="0" i="0" sz="1050" u="none" cap="none" strike="noStrike">
              <a:solidFill>
                <a:schemeClr val="dk1"/>
              </a:solidFill>
              <a:latin typeface="Calibri"/>
              <a:ea typeface="Calibri"/>
              <a:cs typeface="Calibri"/>
              <a:sym typeface="Calibri"/>
            </a:endParaRPr>
          </a:p>
        </p:txBody>
      </p:sp>
      <p:sp>
        <p:nvSpPr>
          <p:cNvPr id="1633" name="Google Shape;1633;p44"/>
          <p:cNvSpPr/>
          <p:nvPr/>
        </p:nvSpPr>
        <p:spPr>
          <a:xfrm>
            <a:off x="6233008" y="4001770"/>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kipsu.png" id="1634" name="Google Shape;1634;p44"/>
          <p:cNvPicPr preferRelativeResize="0"/>
          <p:nvPr/>
        </p:nvPicPr>
        <p:blipFill rotWithShape="1">
          <a:blip r:embed="rId9">
            <a:alphaModFix/>
          </a:blip>
          <a:srcRect b="0" l="0" r="0" t="0"/>
          <a:stretch/>
        </p:blipFill>
        <p:spPr>
          <a:xfrm>
            <a:off x="6415888" y="4144328"/>
            <a:ext cx="658368" cy="658368"/>
          </a:xfrm>
          <a:prstGeom prst="rect">
            <a:avLst/>
          </a:prstGeom>
          <a:noFill/>
          <a:ln>
            <a:noFill/>
          </a:ln>
        </p:spPr>
      </p:pic>
      <p:sp>
        <p:nvSpPr>
          <p:cNvPr id="1635" name="Google Shape;1635;p44"/>
          <p:cNvSpPr txBox="1"/>
          <p:nvPr/>
        </p:nvSpPr>
        <p:spPr>
          <a:xfrm>
            <a:off x="7275424" y="4162997"/>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Kipsu</a:t>
            </a:r>
            <a:endParaRPr b="0" i="0" sz="1300" u="none" cap="none" strike="noStrike">
              <a:solidFill>
                <a:schemeClr val="dk1"/>
              </a:solidFill>
              <a:latin typeface="Calibri"/>
              <a:ea typeface="Calibri"/>
              <a:cs typeface="Calibri"/>
              <a:sym typeface="Calibri"/>
            </a:endParaRPr>
          </a:p>
        </p:txBody>
      </p:sp>
      <p:sp>
        <p:nvSpPr>
          <p:cNvPr id="1636" name="Google Shape;1636;p44"/>
          <p:cNvSpPr txBox="1"/>
          <p:nvPr/>
        </p:nvSpPr>
        <p:spPr>
          <a:xfrm>
            <a:off x="7275424" y="4437317"/>
            <a:ext cx="4184752" cy="50793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Hotel guest messaging by text, used by brands and independents.</a:t>
            </a:r>
            <a:endParaRPr b="0" i="0" sz="1050" u="none" cap="none" strike="noStrike">
              <a:solidFill>
                <a:schemeClr val="dk1"/>
              </a:solidFill>
              <a:latin typeface="Calibri"/>
              <a:ea typeface="Calibri"/>
              <a:cs typeface="Calibri"/>
              <a:sym typeface="Calibri"/>
            </a:endParaRPr>
          </a:p>
        </p:txBody>
      </p:sp>
      <p:sp>
        <p:nvSpPr>
          <p:cNvPr id="1637" name="Google Shape;1637;p44"/>
          <p:cNvSpPr/>
          <p:nvPr/>
        </p:nvSpPr>
        <p:spPr>
          <a:xfrm>
            <a:off x="548640" y="5073269"/>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mews.png" id="1638" name="Google Shape;1638;p44"/>
          <p:cNvPicPr preferRelativeResize="0"/>
          <p:nvPr/>
        </p:nvPicPr>
        <p:blipFill rotWithShape="1">
          <a:blip r:embed="rId10">
            <a:alphaModFix/>
          </a:blip>
          <a:srcRect b="0" l="0" r="0" t="0"/>
          <a:stretch/>
        </p:blipFill>
        <p:spPr>
          <a:xfrm>
            <a:off x="731520" y="5215827"/>
            <a:ext cx="658368" cy="658368"/>
          </a:xfrm>
          <a:prstGeom prst="rect">
            <a:avLst/>
          </a:prstGeom>
          <a:noFill/>
          <a:ln>
            <a:noFill/>
          </a:ln>
        </p:spPr>
      </p:pic>
      <p:sp>
        <p:nvSpPr>
          <p:cNvPr id="1639" name="Google Shape;1639;p44"/>
          <p:cNvSpPr txBox="1"/>
          <p:nvPr/>
        </p:nvSpPr>
        <p:spPr>
          <a:xfrm>
            <a:off x="1591056" y="5234496"/>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Mews</a:t>
            </a:r>
            <a:endParaRPr b="0" i="0" sz="1300" u="none" cap="none" strike="noStrike">
              <a:solidFill>
                <a:schemeClr val="dk1"/>
              </a:solidFill>
              <a:latin typeface="Calibri"/>
              <a:ea typeface="Calibri"/>
              <a:cs typeface="Calibri"/>
              <a:sym typeface="Calibri"/>
            </a:endParaRPr>
          </a:p>
        </p:txBody>
      </p:sp>
      <p:sp>
        <p:nvSpPr>
          <p:cNvPr id="1640" name="Google Shape;1640;p44"/>
          <p:cNvSpPr txBox="1"/>
          <p:nvPr/>
        </p:nvSpPr>
        <p:spPr>
          <a:xfrm>
            <a:off x="1591056" y="5508816"/>
            <a:ext cx="4184752" cy="50793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Messaging add-ons inside the PMS; some properties never buy a separate tool.</a:t>
            </a:r>
            <a:endParaRPr b="0" i="0" sz="1050" u="none" cap="none" strike="noStrike">
              <a:solidFill>
                <a:schemeClr val="dk1"/>
              </a:solidFill>
              <a:latin typeface="Calibri"/>
              <a:ea typeface="Calibri"/>
              <a:cs typeface="Calibri"/>
              <a:sym typeface="Calibri"/>
            </a:endParaRPr>
          </a:p>
        </p:txBody>
      </p:sp>
      <p:sp>
        <p:nvSpPr>
          <p:cNvPr id="1641" name="Google Shape;1641;p44"/>
          <p:cNvSpPr/>
          <p:nvPr/>
        </p:nvSpPr>
        <p:spPr>
          <a:xfrm>
            <a:off x="6233008" y="5073269"/>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guesty.png" id="1642" name="Google Shape;1642;p44"/>
          <p:cNvPicPr preferRelativeResize="0"/>
          <p:nvPr/>
        </p:nvPicPr>
        <p:blipFill rotWithShape="1">
          <a:blip r:embed="rId11">
            <a:alphaModFix/>
          </a:blip>
          <a:srcRect b="0" l="0" r="0" t="0"/>
          <a:stretch/>
        </p:blipFill>
        <p:spPr>
          <a:xfrm>
            <a:off x="6415888" y="5215827"/>
            <a:ext cx="658368" cy="658368"/>
          </a:xfrm>
          <a:prstGeom prst="rect">
            <a:avLst/>
          </a:prstGeom>
          <a:noFill/>
          <a:ln>
            <a:noFill/>
          </a:ln>
        </p:spPr>
      </p:pic>
      <p:sp>
        <p:nvSpPr>
          <p:cNvPr id="1643" name="Google Shape;1643;p44"/>
          <p:cNvSpPr txBox="1"/>
          <p:nvPr/>
        </p:nvSpPr>
        <p:spPr>
          <a:xfrm>
            <a:off x="7275424" y="5234496"/>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Guesty</a:t>
            </a:r>
            <a:endParaRPr b="0" i="0" sz="1300" u="none" cap="none" strike="noStrike">
              <a:solidFill>
                <a:schemeClr val="dk1"/>
              </a:solidFill>
              <a:latin typeface="Calibri"/>
              <a:ea typeface="Calibri"/>
              <a:cs typeface="Calibri"/>
              <a:sym typeface="Calibri"/>
            </a:endParaRPr>
          </a:p>
        </p:txBody>
      </p:sp>
      <p:sp>
        <p:nvSpPr>
          <p:cNvPr id="1644" name="Google Shape;1644;p44"/>
          <p:cNvSpPr txBox="1"/>
          <p:nvPr/>
        </p:nvSpPr>
        <p:spPr>
          <a:xfrm>
            <a:off x="7275424" y="5508816"/>
            <a:ext cx="4184752" cy="50793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Vacation-rental suite with guest messaging built in, so a Guesty owner may never buy a separate tool.</a:t>
            </a:r>
            <a:endParaRPr b="0" i="0" sz="1050" u="none" cap="none" strike="noStrike">
              <a:solidFill>
                <a:schemeClr val="dk1"/>
              </a:solidFill>
              <a:latin typeface="Calibri"/>
              <a:ea typeface="Calibri"/>
              <a:cs typeface="Calibri"/>
              <a:sym typeface="Calibri"/>
            </a:endParaRPr>
          </a:p>
        </p:txBody>
      </p:sp>
      <p:sp>
        <p:nvSpPr>
          <p:cNvPr id="1645" name="Google Shape;1645;p44"/>
          <p:cNvSpPr txBox="1"/>
          <p:nvPr/>
        </p:nvSpPr>
        <p:spPr>
          <a:xfrm>
            <a:off x="548640" y="6089904"/>
            <a:ext cx="1106424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Canary, Duve and Enso Connect sell upsells too, so they come back on the next slide.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650" name="Shape 1650"/>
        <p:cNvGrpSpPr/>
        <p:nvPr/>
      </p:nvGrpSpPr>
      <p:grpSpPr>
        <a:xfrm>
          <a:off x="0" y="0"/>
          <a:ext cx="0" cy="0"/>
          <a:chOff x="0" y="0"/>
          <a:chExt cx="0" cy="0"/>
        </a:xfrm>
      </p:grpSpPr>
      <p:sp>
        <p:nvSpPr>
          <p:cNvPr id="1651" name="Google Shape;1651;p45"/>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6 · THE STACK</a:t>
            </a:r>
            <a:endParaRPr b="0" i="0" sz="1050" u="none" cap="none" strike="noStrike">
              <a:solidFill>
                <a:schemeClr val="dk1"/>
              </a:solidFill>
              <a:latin typeface="Calibri"/>
              <a:ea typeface="Calibri"/>
              <a:cs typeface="Calibri"/>
              <a:sym typeface="Calibri"/>
            </a:endParaRPr>
          </a:p>
        </p:txBody>
      </p:sp>
      <p:pic>
        <p:nvPicPr>
          <p:cNvPr descr="/home/claude/work/renderer/brand/wordmark.png" id="1652" name="Google Shape;1652;p45"/>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653" name="Google Shape;1653;p45"/>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43 / 48</a:t>
            </a:r>
            <a:endParaRPr b="0" i="0" sz="900" u="none" cap="none" strike="noStrike">
              <a:solidFill>
                <a:schemeClr val="dk1"/>
              </a:solidFill>
              <a:latin typeface="Calibri"/>
              <a:ea typeface="Calibri"/>
              <a:cs typeface="Calibri"/>
              <a:sym typeface="Calibri"/>
            </a:endParaRPr>
          </a:p>
        </p:txBody>
      </p:sp>
      <p:sp>
        <p:nvSpPr>
          <p:cNvPr id="1654" name="Google Shape;1654;p45"/>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Upsell tools</a:t>
            </a:r>
            <a:r>
              <a:rPr b="0" i="0" lang="en-US" sz="1700" u="none" cap="none" strike="noStrike">
                <a:solidFill>
                  <a:srgbClr val="004FAA"/>
                </a:solidFill>
                <a:latin typeface="Inter"/>
                <a:ea typeface="Inter"/>
                <a:cs typeface="Inter"/>
                <a:sym typeface="Inter"/>
              </a:rPr>
              <a:t>  the upgrade sold before, and at, arrival</a:t>
            </a:r>
            <a:endParaRPr b="0" i="0" sz="3000" u="none" cap="none" strike="noStrike">
              <a:solidFill>
                <a:schemeClr val="dk1"/>
              </a:solidFill>
              <a:latin typeface="Calibri"/>
              <a:ea typeface="Calibri"/>
              <a:cs typeface="Calibri"/>
              <a:sym typeface="Calibri"/>
            </a:endParaRPr>
          </a:p>
        </p:txBody>
      </p:sp>
      <p:sp>
        <p:nvSpPr>
          <p:cNvPr id="1655" name="Google Shape;1655;p45"/>
          <p:cNvSpPr txBox="1"/>
          <p:nvPr/>
        </p:nvSpPr>
        <p:spPr>
          <a:xfrm>
            <a:off x="548640" y="1389888"/>
            <a:ext cx="11064240" cy="30429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25252"/>
              </a:buClr>
              <a:buSzPts val="1400"/>
              <a:buFont typeface="Inter"/>
              <a:buNone/>
            </a:pPr>
            <a:r>
              <a:rPr b="0" i="0" lang="en-US" sz="1400" u="none" cap="none" strike="noStrike">
                <a:solidFill>
                  <a:srgbClr val="525252"/>
                </a:solidFill>
                <a:latin typeface="Inter"/>
                <a:ea typeface="Inter"/>
                <a:cs typeface="Inter"/>
                <a:sym typeface="Inter"/>
              </a:rPr>
              <a:t>Paid upgrades before and at arrival; Oaky (part of Plusgrade since 2025).</a:t>
            </a:r>
            <a:endParaRPr b="0" i="0" sz="1400" u="none" cap="none" strike="noStrike">
              <a:solidFill>
                <a:schemeClr val="dk1"/>
              </a:solidFill>
              <a:latin typeface="Calibri"/>
              <a:ea typeface="Calibri"/>
              <a:cs typeface="Calibri"/>
              <a:sym typeface="Calibri"/>
            </a:endParaRPr>
          </a:p>
        </p:txBody>
      </p:sp>
      <p:sp>
        <p:nvSpPr>
          <p:cNvPr id="1656" name="Google Shape;1656;p45"/>
          <p:cNvSpPr/>
          <p:nvPr/>
        </p:nvSpPr>
        <p:spPr>
          <a:xfrm>
            <a:off x="548640" y="1858772"/>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oaky.png" id="1657" name="Google Shape;1657;p45"/>
          <p:cNvPicPr preferRelativeResize="0"/>
          <p:nvPr/>
        </p:nvPicPr>
        <p:blipFill rotWithShape="1">
          <a:blip r:embed="rId4">
            <a:alphaModFix/>
          </a:blip>
          <a:srcRect b="0" l="0" r="0" t="0"/>
          <a:stretch/>
        </p:blipFill>
        <p:spPr>
          <a:xfrm>
            <a:off x="731520" y="2001330"/>
            <a:ext cx="658368" cy="658368"/>
          </a:xfrm>
          <a:prstGeom prst="rect">
            <a:avLst/>
          </a:prstGeom>
          <a:noFill/>
          <a:ln>
            <a:noFill/>
          </a:ln>
        </p:spPr>
      </p:pic>
      <p:sp>
        <p:nvSpPr>
          <p:cNvPr id="1658" name="Google Shape;1658;p45"/>
          <p:cNvSpPr txBox="1"/>
          <p:nvPr/>
        </p:nvSpPr>
        <p:spPr>
          <a:xfrm>
            <a:off x="1591056" y="2019999"/>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Oaky</a:t>
            </a:r>
            <a:endParaRPr b="0" i="0" sz="1300" u="none" cap="none" strike="noStrike">
              <a:solidFill>
                <a:schemeClr val="dk1"/>
              </a:solidFill>
              <a:latin typeface="Calibri"/>
              <a:ea typeface="Calibri"/>
              <a:cs typeface="Calibri"/>
              <a:sym typeface="Calibri"/>
            </a:endParaRPr>
          </a:p>
        </p:txBody>
      </p:sp>
      <p:sp>
        <p:nvSpPr>
          <p:cNvPr id="1659" name="Google Shape;1659;p45"/>
          <p:cNvSpPr txBox="1"/>
          <p:nvPr/>
        </p:nvSpPr>
        <p:spPr>
          <a:xfrm>
            <a:off x="1591056" y="2294319"/>
            <a:ext cx="4184752" cy="50793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Hotel upsells by email and at check-in: the better room, the late checkout. Part of Plusgrade since 2025.</a:t>
            </a:r>
            <a:endParaRPr b="0" i="0" sz="1050" u="none" cap="none" strike="noStrike">
              <a:solidFill>
                <a:schemeClr val="dk1"/>
              </a:solidFill>
              <a:latin typeface="Calibri"/>
              <a:ea typeface="Calibri"/>
              <a:cs typeface="Calibri"/>
              <a:sym typeface="Calibri"/>
            </a:endParaRPr>
          </a:p>
        </p:txBody>
      </p:sp>
      <p:sp>
        <p:nvSpPr>
          <p:cNvPr id="1660" name="Google Shape;1660;p45"/>
          <p:cNvSpPr/>
          <p:nvPr/>
        </p:nvSpPr>
        <p:spPr>
          <a:xfrm>
            <a:off x="6233008" y="1858772"/>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nor1.png" id="1661" name="Google Shape;1661;p45"/>
          <p:cNvPicPr preferRelativeResize="0"/>
          <p:nvPr/>
        </p:nvPicPr>
        <p:blipFill rotWithShape="1">
          <a:blip r:embed="rId5">
            <a:alphaModFix/>
          </a:blip>
          <a:srcRect b="0" l="0" r="0" t="0"/>
          <a:stretch/>
        </p:blipFill>
        <p:spPr>
          <a:xfrm>
            <a:off x="6415888" y="2001330"/>
            <a:ext cx="658368" cy="658368"/>
          </a:xfrm>
          <a:prstGeom prst="rect">
            <a:avLst/>
          </a:prstGeom>
          <a:noFill/>
          <a:ln>
            <a:noFill/>
          </a:ln>
        </p:spPr>
      </p:pic>
      <p:sp>
        <p:nvSpPr>
          <p:cNvPr id="1662" name="Google Shape;1662;p45"/>
          <p:cNvSpPr txBox="1"/>
          <p:nvPr/>
        </p:nvSpPr>
        <p:spPr>
          <a:xfrm>
            <a:off x="7275424" y="2019999"/>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Nor1</a:t>
            </a:r>
            <a:endParaRPr b="0" i="0" sz="1300" u="none" cap="none" strike="noStrike">
              <a:solidFill>
                <a:schemeClr val="dk1"/>
              </a:solidFill>
              <a:latin typeface="Calibri"/>
              <a:ea typeface="Calibri"/>
              <a:cs typeface="Calibri"/>
              <a:sym typeface="Calibri"/>
            </a:endParaRPr>
          </a:p>
        </p:txBody>
      </p:sp>
      <p:sp>
        <p:nvSpPr>
          <p:cNvPr id="1663" name="Google Shape;1663;p45"/>
          <p:cNvSpPr txBox="1"/>
          <p:nvPr/>
        </p:nvSpPr>
        <p:spPr>
          <a:xfrm>
            <a:off x="7275424" y="2294319"/>
            <a:ext cx="4184752" cy="50793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Oracle's upsell product, built to pair with OPERA, so brand-origin resorts may have it.</a:t>
            </a:r>
            <a:endParaRPr b="0" i="0" sz="1050" u="none" cap="none" strike="noStrike">
              <a:solidFill>
                <a:schemeClr val="dk1"/>
              </a:solidFill>
              <a:latin typeface="Calibri"/>
              <a:ea typeface="Calibri"/>
              <a:cs typeface="Calibri"/>
              <a:sym typeface="Calibri"/>
            </a:endParaRPr>
          </a:p>
        </p:txBody>
      </p:sp>
      <p:sp>
        <p:nvSpPr>
          <p:cNvPr id="1664" name="Google Shape;1664;p45"/>
          <p:cNvSpPr/>
          <p:nvPr/>
        </p:nvSpPr>
        <p:spPr>
          <a:xfrm>
            <a:off x="548640" y="2930271"/>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plusgrade.png" id="1665" name="Google Shape;1665;p45"/>
          <p:cNvPicPr preferRelativeResize="0"/>
          <p:nvPr/>
        </p:nvPicPr>
        <p:blipFill rotWithShape="1">
          <a:blip r:embed="rId6">
            <a:alphaModFix/>
          </a:blip>
          <a:srcRect b="0" l="0" r="0" t="0"/>
          <a:stretch/>
        </p:blipFill>
        <p:spPr>
          <a:xfrm>
            <a:off x="731520" y="3072829"/>
            <a:ext cx="658368" cy="658368"/>
          </a:xfrm>
          <a:prstGeom prst="rect">
            <a:avLst/>
          </a:prstGeom>
          <a:noFill/>
          <a:ln>
            <a:noFill/>
          </a:ln>
        </p:spPr>
      </p:pic>
      <p:sp>
        <p:nvSpPr>
          <p:cNvPr id="1666" name="Google Shape;1666;p45"/>
          <p:cNvSpPr txBox="1"/>
          <p:nvPr/>
        </p:nvSpPr>
        <p:spPr>
          <a:xfrm>
            <a:off x="1591056" y="3091498"/>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Plusgrade</a:t>
            </a:r>
            <a:endParaRPr b="0" i="0" sz="1300" u="none" cap="none" strike="noStrike">
              <a:solidFill>
                <a:schemeClr val="dk1"/>
              </a:solidFill>
              <a:latin typeface="Calibri"/>
              <a:ea typeface="Calibri"/>
              <a:cs typeface="Calibri"/>
              <a:sym typeface="Calibri"/>
            </a:endParaRPr>
          </a:p>
        </p:txBody>
      </p:sp>
      <p:sp>
        <p:nvSpPr>
          <p:cNvPr id="1667" name="Google Shape;1667;p45"/>
          <p:cNvSpPr txBox="1"/>
          <p:nvPr/>
        </p:nvSpPr>
        <p:spPr>
          <a:xfrm>
            <a:off x="1591056" y="3365818"/>
            <a:ext cx="4184752" cy="50793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The group Oaky now belongs to; started in airline upgrades, now hotels too.</a:t>
            </a:r>
            <a:endParaRPr b="0" i="0" sz="1050" u="none" cap="none" strike="noStrike">
              <a:solidFill>
                <a:schemeClr val="dk1"/>
              </a:solidFill>
              <a:latin typeface="Calibri"/>
              <a:ea typeface="Calibri"/>
              <a:cs typeface="Calibri"/>
              <a:sym typeface="Calibri"/>
            </a:endParaRPr>
          </a:p>
        </p:txBody>
      </p:sp>
      <p:sp>
        <p:nvSpPr>
          <p:cNvPr id="1668" name="Google Shape;1668;p45"/>
          <p:cNvSpPr/>
          <p:nvPr/>
        </p:nvSpPr>
        <p:spPr>
          <a:xfrm>
            <a:off x="6233008" y="2930271"/>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upsellguru.png" id="1669" name="Google Shape;1669;p45"/>
          <p:cNvPicPr preferRelativeResize="0"/>
          <p:nvPr/>
        </p:nvPicPr>
        <p:blipFill rotWithShape="1">
          <a:blip r:embed="rId7">
            <a:alphaModFix/>
          </a:blip>
          <a:srcRect b="0" l="0" r="0" t="0"/>
          <a:stretch/>
        </p:blipFill>
        <p:spPr>
          <a:xfrm>
            <a:off x="6415888" y="3072829"/>
            <a:ext cx="658368" cy="658368"/>
          </a:xfrm>
          <a:prstGeom prst="rect">
            <a:avLst/>
          </a:prstGeom>
          <a:noFill/>
          <a:ln>
            <a:noFill/>
          </a:ln>
        </p:spPr>
      </p:pic>
      <p:sp>
        <p:nvSpPr>
          <p:cNvPr id="1670" name="Google Shape;1670;p45"/>
          <p:cNvSpPr txBox="1"/>
          <p:nvPr/>
        </p:nvSpPr>
        <p:spPr>
          <a:xfrm>
            <a:off x="7275424" y="3091498"/>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UpsellGuru</a:t>
            </a:r>
            <a:endParaRPr b="0" i="0" sz="1300" u="none" cap="none" strike="noStrike">
              <a:solidFill>
                <a:schemeClr val="dk1"/>
              </a:solidFill>
              <a:latin typeface="Calibri"/>
              <a:ea typeface="Calibri"/>
              <a:cs typeface="Calibri"/>
              <a:sym typeface="Calibri"/>
            </a:endParaRPr>
          </a:p>
        </p:txBody>
      </p:sp>
      <p:sp>
        <p:nvSpPr>
          <p:cNvPr id="1671" name="Google Shape;1671;p45"/>
          <p:cNvSpPr txBox="1"/>
          <p:nvPr/>
        </p:nvSpPr>
        <p:spPr>
          <a:xfrm>
            <a:off x="7275424" y="3365818"/>
            <a:ext cx="4184752" cy="50793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Hotel upsells, including letting guests bid for an upgrade before arrival.</a:t>
            </a:r>
            <a:endParaRPr b="0" i="0" sz="1050" u="none" cap="none" strike="noStrike">
              <a:solidFill>
                <a:schemeClr val="dk1"/>
              </a:solidFill>
              <a:latin typeface="Calibri"/>
              <a:ea typeface="Calibri"/>
              <a:cs typeface="Calibri"/>
              <a:sym typeface="Calibri"/>
            </a:endParaRPr>
          </a:p>
        </p:txBody>
      </p:sp>
      <p:sp>
        <p:nvSpPr>
          <p:cNvPr id="1672" name="Google Shape;1672;p45"/>
          <p:cNvSpPr/>
          <p:nvPr/>
        </p:nvSpPr>
        <p:spPr>
          <a:xfrm>
            <a:off x="548640" y="4001770"/>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canary-technologies.png" id="1673" name="Google Shape;1673;p45"/>
          <p:cNvPicPr preferRelativeResize="0"/>
          <p:nvPr/>
        </p:nvPicPr>
        <p:blipFill rotWithShape="1">
          <a:blip r:embed="rId8">
            <a:alphaModFix/>
          </a:blip>
          <a:srcRect b="0" l="0" r="0" t="0"/>
          <a:stretch/>
        </p:blipFill>
        <p:spPr>
          <a:xfrm>
            <a:off x="731520" y="4144328"/>
            <a:ext cx="658368" cy="658368"/>
          </a:xfrm>
          <a:prstGeom prst="rect">
            <a:avLst/>
          </a:prstGeom>
          <a:noFill/>
          <a:ln>
            <a:noFill/>
          </a:ln>
        </p:spPr>
      </p:pic>
      <p:sp>
        <p:nvSpPr>
          <p:cNvPr id="1674" name="Google Shape;1674;p45"/>
          <p:cNvSpPr txBox="1"/>
          <p:nvPr/>
        </p:nvSpPr>
        <p:spPr>
          <a:xfrm>
            <a:off x="1591056" y="4249674"/>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Canary Technologies</a:t>
            </a:r>
            <a:endParaRPr b="0" i="0" sz="1300" u="none" cap="none" strike="noStrike">
              <a:solidFill>
                <a:schemeClr val="dk1"/>
              </a:solidFill>
              <a:latin typeface="Calibri"/>
              <a:ea typeface="Calibri"/>
              <a:cs typeface="Calibri"/>
              <a:sym typeface="Calibri"/>
            </a:endParaRPr>
          </a:p>
        </p:txBody>
      </p:sp>
      <p:sp>
        <p:nvSpPr>
          <p:cNvPr id="1675" name="Google Shape;1675;p45"/>
          <p:cNvSpPr txBox="1"/>
          <p:nvPr/>
        </p:nvSpPr>
        <p:spPr>
          <a:xfrm>
            <a:off x="1591056" y="4523994"/>
            <a:ext cx="4184752" cy="421259"/>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Messaging plus upsells, sold as one platform.</a:t>
            </a:r>
            <a:endParaRPr b="0" i="0" sz="1050" u="none" cap="none" strike="noStrike">
              <a:solidFill>
                <a:schemeClr val="dk1"/>
              </a:solidFill>
              <a:latin typeface="Calibri"/>
              <a:ea typeface="Calibri"/>
              <a:cs typeface="Calibri"/>
              <a:sym typeface="Calibri"/>
            </a:endParaRPr>
          </a:p>
        </p:txBody>
      </p:sp>
      <p:sp>
        <p:nvSpPr>
          <p:cNvPr id="1676" name="Google Shape;1676;p45"/>
          <p:cNvSpPr/>
          <p:nvPr/>
        </p:nvSpPr>
        <p:spPr>
          <a:xfrm>
            <a:off x="6233008" y="4001770"/>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duve.png" id="1677" name="Google Shape;1677;p45"/>
          <p:cNvPicPr preferRelativeResize="0"/>
          <p:nvPr/>
        </p:nvPicPr>
        <p:blipFill rotWithShape="1">
          <a:blip r:embed="rId9">
            <a:alphaModFix/>
          </a:blip>
          <a:srcRect b="0" l="0" r="0" t="0"/>
          <a:stretch/>
        </p:blipFill>
        <p:spPr>
          <a:xfrm>
            <a:off x="6415888" y="4144328"/>
            <a:ext cx="658368" cy="658368"/>
          </a:xfrm>
          <a:prstGeom prst="rect">
            <a:avLst/>
          </a:prstGeom>
          <a:noFill/>
          <a:ln>
            <a:noFill/>
          </a:ln>
        </p:spPr>
      </p:pic>
      <p:sp>
        <p:nvSpPr>
          <p:cNvPr id="1678" name="Google Shape;1678;p45"/>
          <p:cNvSpPr txBox="1"/>
          <p:nvPr/>
        </p:nvSpPr>
        <p:spPr>
          <a:xfrm>
            <a:off x="7275424" y="4249674"/>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Duve</a:t>
            </a:r>
            <a:endParaRPr b="0" i="0" sz="1300" u="none" cap="none" strike="noStrike">
              <a:solidFill>
                <a:schemeClr val="dk1"/>
              </a:solidFill>
              <a:latin typeface="Calibri"/>
              <a:ea typeface="Calibri"/>
              <a:cs typeface="Calibri"/>
              <a:sym typeface="Calibri"/>
            </a:endParaRPr>
          </a:p>
        </p:txBody>
      </p:sp>
      <p:sp>
        <p:nvSpPr>
          <p:cNvPr id="1679" name="Google Shape;1679;p45"/>
          <p:cNvSpPr txBox="1"/>
          <p:nvPr/>
        </p:nvSpPr>
        <p:spPr>
          <a:xfrm>
            <a:off x="7275424" y="4523994"/>
            <a:ext cx="4184752" cy="421259"/>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Messaging plus upsells, for hotels and rentals.</a:t>
            </a:r>
            <a:endParaRPr b="0" i="0" sz="1050" u="none" cap="none" strike="noStrike">
              <a:solidFill>
                <a:schemeClr val="dk1"/>
              </a:solidFill>
              <a:latin typeface="Calibri"/>
              <a:ea typeface="Calibri"/>
              <a:cs typeface="Calibri"/>
              <a:sym typeface="Calibri"/>
            </a:endParaRPr>
          </a:p>
        </p:txBody>
      </p:sp>
      <p:sp>
        <p:nvSpPr>
          <p:cNvPr id="1680" name="Google Shape;1680;p45"/>
          <p:cNvSpPr/>
          <p:nvPr/>
        </p:nvSpPr>
        <p:spPr>
          <a:xfrm>
            <a:off x="548640" y="5073269"/>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enso-connect.png" id="1681" name="Google Shape;1681;p45"/>
          <p:cNvPicPr preferRelativeResize="0"/>
          <p:nvPr/>
        </p:nvPicPr>
        <p:blipFill rotWithShape="1">
          <a:blip r:embed="rId10">
            <a:alphaModFix/>
          </a:blip>
          <a:srcRect b="0" l="0" r="0" t="0"/>
          <a:stretch/>
        </p:blipFill>
        <p:spPr>
          <a:xfrm>
            <a:off x="731520" y="5215827"/>
            <a:ext cx="658368" cy="658368"/>
          </a:xfrm>
          <a:prstGeom prst="rect">
            <a:avLst/>
          </a:prstGeom>
          <a:noFill/>
          <a:ln>
            <a:noFill/>
          </a:ln>
        </p:spPr>
      </p:pic>
      <p:sp>
        <p:nvSpPr>
          <p:cNvPr id="1682" name="Google Shape;1682;p45"/>
          <p:cNvSpPr txBox="1"/>
          <p:nvPr/>
        </p:nvSpPr>
        <p:spPr>
          <a:xfrm>
            <a:off x="1591056" y="5321173"/>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Enso Connect</a:t>
            </a:r>
            <a:endParaRPr b="0" i="0" sz="1300" u="none" cap="none" strike="noStrike">
              <a:solidFill>
                <a:schemeClr val="dk1"/>
              </a:solidFill>
              <a:latin typeface="Calibri"/>
              <a:ea typeface="Calibri"/>
              <a:cs typeface="Calibri"/>
              <a:sym typeface="Calibri"/>
            </a:endParaRPr>
          </a:p>
        </p:txBody>
      </p:sp>
      <p:sp>
        <p:nvSpPr>
          <p:cNvPr id="1683" name="Google Shape;1683;p45"/>
          <p:cNvSpPr txBox="1"/>
          <p:nvPr/>
        </p:nvSpPr>
        <p:spPr>
          <a:xfrm>
            <a:off x="1591056" y="5595493"/>
            <a:ext cx="4184752" cy="421259"/>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Messaging plus upsells, for rentals and boutique stays.</a:t>
            </a:r>
            <a:endParaRPr b="0" i="0" sz="1050" u="none" cap="none" strike="noStrike">
              <a:solidFill>
                <a:schemeClr val="dk1"/>
              </a:solidFill>
              <a:latin typeface="Calibri"/>
              <a:ea typeface="Calibri"/>
              <a:cs typeface="Calibri"/>
              <a:sym typeface="Calibri"/>
            </a:endParaRPr>
          </a:p>
        </p:txBody>
      </p:sp>
      <p:sp>
        <p:nvSpPr>
          <p:cNvPr id="1684" name="Google Shape;1684;p45"/>
          <p:cNvSpPr/>
          <p:nvPr/>
        </p:nvSpPr>
        <p:spPr>
          <a:xfrm>
            <a:off x="6233008" y="5073269"/>
            <a:ext cx="5410048" cy="943483"/>
          </a:xfrm>
          <a:prstGeom prst="roundRect">
            <a:avLst>
              <a:gd fmla="val 1163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assets/logos/mews.png" id="1685" name="Google Shape;1685;p45"/>
          <p:cNvPicPr preferRelativeResize="0"/>
          <p:nvPr/>
        </p:nvPicPr>
        <p:blipFill rotWithShape="1">
          <a:blip r:embed="rId11">
            <a:alphaModFix/>
          </a:blip>
          <a:srcRect b="0" l="0" r="0" t="0"/>
          <a:stretch/>
        </p:blipFill>
        <p:spPr>
          <a:xfrm>
            <a:off x="6415888" y="5215827"/>
            <a:ext cx="658368" cy="658368"/>
          </a:xfrm>
          <a:prstGeom prst="rect">
            <a:avLst/>
          </a:prstGeom>
          <a:noFill/>
          <a:ln>
            <a:noFill/>
          </a:ln>
        </p:spPr>
      </p:pic>
      <p:sp>
        <p:nvSpPr>
          <p:cNvPr id="1686" name="Google Shape;1686;p45"/>
          <p:cNvSpPr txBox="1"/>
          <p:nvPr/>
        </p:nvSpPr>
        <p:spPr>
          <a:xfrm>
            <a:off x="7275424" y="5234496"/>
            <a:ext cx="4184752" cy="23774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300"/>
              <a:buFont typeface="Inter"/>
              <a:buNone/>
            </a:pPr>
            <a:r>
              <a:rPr b="1" i="0" lang="en-US" sz="1300" u="none" cap="none" strike="noStrike">
                <a:solidFill>
                  <a:srgbClr val="171717"/>
                </a:solidFill>
                <a:latin typeface="Inter"/>
                <a:ea typeface="Inter"/>
                <a:cs typeface="Inter"/>
                <a:sym typeface="Inter"/>
              </a:rPr>
              <a:t>Mews</a:t>
            </a:r>
            <a:endParaRPr b="0" i="0" sz="1300" u="none" cap="none" strike="noStrike">
              <a:solidFill>
                <a:schemeClr val="dk1"/>
              </a:solidFill>
              <a:latin typeface="Calibri"/>
              <a:ea typeface="Calibri"/>
              <a:cs typeface="Calibri"/>
              <a:sym typeface="Calibri"/>
            </a:endParaRPr>
          </a:p>
        </p:txBody>
      </p:sp>
      <p:sp>
        <p:nvSpPr>
          <p:cNvPr id="1687" name="Google Shape;1687;p45"/>
          <p:cNvSpPr txBox="1"/>
          <p:nvPr/>
        </p:nvSpPr>
        <p:spPr>
          <a:xfrm>
            <a:off x="7275424" y="5508816"/>
            <a:ext cx="4184752" cy="50793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Extras and upgrades offered in its own booking engine; some owners stop there.</a:t>
            </a:r>
            <a:endParaRPr b="0" i="0" sz="1050" u="none" cap="none" strike="noStrike">
              <a:solidFill>
                <a:schemeClr val="dk1"/>
              </a:solidFill>
              <a:latin typeface="Calibri"/>
              <a:ea typeface="Calibri"/>
              <a:cs typeface="Calibri"/>
              <a:sym typeface="Calibri"/>
            </a:endParaRPr>
          </a:p>
        </p:txBody>
      </p:sp>
      <p:sp>
        <p:nvSpPr>
          <p:cNvPr id="1688" name="Google Shape;1688;p45"/>
          <p:cNvSpPr txBox="1"/>
          <p:nvPr/>
        </p:nvSpPr>
        <p:spPr>
          <a:xfrm>
            <a:off x="548640" y="6089904"/>
            <a:ext cx="1106424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525252"/>
              </a:buClr>
              <a:buSzPts val="1050"/>
              <a:buFont typeface="Inter"/>
              <a:buNone/>
            </a:pPr>
            <a:r>
              <a:rPr b="0" i="0" lang="en-US" sz="1050" u="none" cap="none" strike="noStrike">
                <a:solidFill>
                  <a:srgbClr val="525252"/>
                </a:solidFill>
                <a:latin typeface="Inter"/>
                <a:ea typeface="Inter"/>
                <a:cs typeface="Inter"/>
                <a:sym typeface="Inter"/>
              </a:rPr>
              <a:t>Canary, Duve and Enso Connect are messaging tools that sell upsells too; some platforms do both.</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534"/>
        </a:solidFill>
      </p:bgPr>
    </p:bg>
    <p:spTree>
      <p:nvGrpSpPr>
        <p:cNvPr id="1693" name="Shape 1693"/>
        <p:cNvGrpSpPr/>
        <p:nvPr/>
      </p:nvGrpSpPr>
      <p:grpSpPr>
        <a:xfrm>
          <a:off x="0" y="0"/>
          <a:ext cx="0" cy="0"/>
          <a:chOff x="0" y="0"/>
          <a:chExt cx="0" cy="0"/>
        </a:xfrm>
      </p:grpSpPr>
      <p:sp>
        <p:nvSpPr>
          <p:cNvPr id="1694" name="Google Shape;1694;p46"/>
          <p:cNvSpPr txBox="1"/>
          <p:nvPr/>
        </p:nvSpPr>
        <p:spPr>
          <a:xfrm>
            <a:off x="548640" y="502920"/>
            <a:ext cx="5486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A9C9FF"/>
              </a:buClr>
              <a:buSzPts val="1050"/>
              <a:buFont typeface="Roboto Mono"/>
              <a:buNone/>
            </a:pPr>
            <a:r>
              <a:rPr b="0" i="0" lang="en-US" sz="1050" u="none" cap="none" strike="noStrike">
                <a:solidFill>
                  <a:srgbClr val="A9C9FF"/>
                </a:solidFill>
                <a:latin typeface="Roboto Mono"/>
                <a:ea typeface="Roboto Mono"/>
                <a:cs typeface="Roboto Mono"/>
                <a:sym typeface="Roboto Mono"/>
              </a:rPr>
              <a:t>PRACTICE · AFTER BLOCK 6</a:t>
            </a:r>
            <a:endParaRPr b="0" i="0" sz="1050" u="none" cap="none" strike="noStrike">
              <a:solidFill>
                <a:schemeClr val="dk1"/>
              </a:solidFill>
              <a:latin typeface="Calibri"/>
              <a:ea typeface="Calibri"/>
              <a:cs typeface="Calibri"/>
              <a:sym typeface="Calibri"/>
            </a:endParaRPr>
          </a:p>
        </p:txBody>
      </p:sp>
      <p:sp>
        <p:nvSpPr>
          <p:cNvPr id="1695" name="Google Shape;1695;p46"/>
          <p:cNvSpPr txBox="1"/>
          <p:nvPr/>
        </p:nvSpPr>
        <p:spPr>
          <a:xfrm>
            <a:off x="548640" y="924375"/>
            <a:ext cx="8229600" cy="86880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4000"/>
              <a:buFont typeface="Inter"/>
              <a:buNone/>
            </a:pPr>
            <a:r>
              <a:rPr b="1" lang="en-US" sz="4000">
                <a:solidFill>
                  <a:srgbClr val="FFFFFF"/>
                </a:solidFill>
                <a:latin typeface="Inter"/>
                <a:ea typeface="Inter"/>
                <a:cs typeface="Inter"/>
                <a:sym typeface="Inter"/>
              </a:rPr>
              <a:t>Sort the stack</a:t>
            </a:r>
            <a:endParaRPr b="0" i="0" sz="4000" u="none" cap="none" strike="noStrike">
              <a:solidFill>
                <a:schemeClr val="dk1"/>
              </a:solidFill>
              <a:latin typeface="Calibri"/>
              <a:ea typeface="Calibri"/>
              <a:cs typeface="Calibri"/>
              <a:sym typeface="Calibri"/>
            </a:endParaRPr>
          </a:p>
        </p:txBody>
      </p:sp>
      <p:sp>
        <p:nvSpPr>
          <p:cNvPr id="1696" name="Google Shape;1696;p46"/>
          <p:cNvSpPr/>
          <p:nvPr/>
        </p:nvSpPr>
        <p:spPr>
          <a:xfrm>
            <a:off x="548640" y="2468880"/>
            <a:ext cx="6309360" cy="749808"/>
          </a:xfrm>
          <a:prstGeom prst="roundRect">
            <a:avLst>
              <a:gd fmla="val 12195" name="adj"/>
            </a:avLst>
          </a:prstGeom>
          <a:solidFill>
            <a:srgbClr val="002552"/>
          </a:solidFill>
          <a:ln cap="flat" cmpd="sng" w="12700">
            <a:solidFill>
              <a:srgbClr val="113A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envelope-soft.png" id="1697" name="Google Shape;1697;p46"/>
          <p:cNvPicPr preferRelativeResize="0"/>
          <p:nvPr/>
        </p:nvPicPr>
        <p:blipFill rotWithShape="1">
          <a:blip r:embed="rId3">
            <a:alphaModFix/>
          </a:blip>
          <a:srcRect b="0" l="0" r="0" t="0"/>
          <a:stretch/>
        </p:blipFill>
        <p:spPr>
          <a:xfrm>
            <a:off x="841248" y="2697480"/>
            <a:ext cx="292608" cy="292608"/>
          </a:xfrm>
          <a:prstGeom prst="rect">
            <a:avLst/>
          </a:prstGeom>
          <a:noFill/>
          <a:ln>
            <a:noFill/>
          </a:ln>
        </p:spPr>
      </p:pic>
      <p:sp>
        <p:nvSpPr>
          <p:cNvPr id="1698" name="Google Shape;1698;p46"/>
          <p:cNvSpPr txBox="1"/>
          <p:nvPr/>
        </p:nvSpPr>
        <p:spPr>
          <a:xfrm>
            <a:off x="1371600" y="2560320"/>
            <a:ext cx="5303520" cy="566928"/>
          </a:xfrm>
          <a:prstGeom prst="rect">
            <a:avLst/>
          </a:prstGeom>
          <a:noFill/>
          <a:ln>
            <a:noFill/>
          </a:ln>
        </p:spPr>
        <p:txBody>
          <a:bodyPr anchorCtr="0" anchor="ctr" bIns="0" lIns="0" spcFirstLastPara="1" rIns="0" wrap="square" tIns="0">
            <a:noAutofit/>
          </a:bodyPr>
          <a:lstStyle/>
          <a:p>
            <a:pPr indent="0" lvl="0" marL="0" marR="0" rtl="0" algn="l">
              <a:lnSpc>
                <a:spcPct val="135037"/>
              </a:lnSpc>
              <a:spcBef>
                <a:spcPts val="0"/>
              </a:spcBef>
              <a:spcAft>
                <a:spcPts val="0"/>
              </a:spcAft>
              <a:buClr>
                <a:srgbClr val="FFFFFF"/>
              </a:buClr>
              <a:buSzPts val="1350"/>
              <a:buFont typeface="Inter"/>
              <a:buNone/>
            </a:pPr>
            <a:r>
              <a:rPr b="0" i="0" lang="en-US" sz="1350" u="none" cap="none" strike="noStrike">
                <a:solidFill>
                  <a:srgbClr val="FFFFFF"/>
                </a:solidFill>
                <a:latin typeface="Inter"/>
                <a:ea typeface="Inter"/>
                <a:cs typeface="Inter"/>
                <a:sym typeface="Inter"/>
              </a:rPr>
              <a:t>Point your phone's camera at the code, then tap the link that appears.</a:t>
            </a:r>
            <a:endParaRPr b="0" i="0" sz="1350" u="none" cap="none" strike="noStrike">
              <a:solidFill>
                <a:schemeClr val="dk1"/>
              </a:solidFill>
              <a:latin typeface="Calibri"/>
              <a:ea typeface="Calibri"/>
              <a:cs typeface="Calibri"/>
              <a:sym typeface="Calibri"/>
            </a:endParaRPr>
          </a:p>
        </p:txBody>
      </p:sp>
      <p:sp>
        <p:nvSpPr>
          <p:cNvPr id="1699" name="Google Shape;1699;p46"/>
          <p:cNvSpPr/>
          <p:nvPr/>
        </p:nvSpPr>
        <p:spPr>
          <a:xfrm>
            <a:off x="548640" y="3383280"/>
            <a:ext cx="6309360" cy="749808"/>
          </a:xfrm>
          <a:prstGeom prst="roundRect">
            <a:avLst>
              <a:gd fmla="val 12195" name="adj"/>
            </a:avLst>
          </a:prstGeom>
          <a:solidFill>
            <a:srgbClr val="002552"/>
          </a:solidFill>
          <a:ln cap="flat" cmpd="sng" w="12700">
            <a:solidFill>
              <a:srgbClr val="113A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bolt-soft.png" id="1700" name="Google Shape;1700;p46"/>
          <p:cNvPicPr preferRelativeResize="0"/>
          <p:nvPr/>
        </p:nvPicPr>
        <p:blipFill rotWithShape="1">
          <a:blip r:embed="rId4">
            <a:alphaModFix/>
          </a:blip>
          <a:srcRect b="0" l="0" r="0" t="0"/>
          <a:stretch/>
        </p:blipFill>
        <p:spPr>
          <a:xfrm>
            <a:off x="841248" y="3611880"/>
            <a:ext cx="292608" cy="292608"/>
          </a:xfrm>
          <a:prstGeom prst="rect">
            <a:avLst/>
          </a:prstGeom>
          <a:noFill/>
          <a:ln>
            <a:noFill/>
          </a:ln>
        </p:spPr>
      </p:pic>
      <p:sp>
        <p:nvSpPr>
          <p:cNvPr id="1701" name="Google Shape;1701;p46"/>
          <p:cNvSpPr txBox="1"/>
          <p:nvPr/>
        </p:nvSpPr>
        <p:spPr>
          <a:xfrm>
            <a:off x="1371600" y="3474720"/>
            <a:ext cx="5303520" cy="566928"/>
          </a:xfrm>
          <a:prstGeom prst="rect">
            <a:avLst/>
          </a:prstGeom>
          <a:noFill/>
          <a:ln>
            <a:noFill/>
          </a:ln>
        </p:spPr>
        <p:txBody>
          <a:bodyPr anchorCtr="0" anchor="ctr" bIns="0" lIns="0" spcFirstLastPara="1" rIns="0" wrap="square" tIns="0">
            <a:noAutofit/>
          </a:bodyPr>
          <a:lstStyle/>
          <a:p>
            <a:pPr indent="0" lvl="0" marL="0" marR="0" rtl="0" algn="l">
              <a:lnSpc>
                <a:spcPct val="135037"/>
              </a:lnSpc>
              <a:spcBef>
                <a:spcPts val="0"/>
              </a:spcBef>
              <a:spcAft>
                <a:spcPts val="0"/>
              </a:spcAft>
              <a:buClr>
                <a:srgbClr val="FFFFFF"/>
              </a:buClr>
              <a:buSzPts val="1350"/>
              <a:buFont typeface="Inter"/>
              <a:buNone/>
            </a:pPr>
            <a:r>
              <a:rPr b="0" i="0" lang="en-US" sz="1350" u="none" cap="none" strike="noStrike">
                <a:solidFill>
                  <a:srgbClr val="FFFFFF"/>
                </a:solidFill>
                <a:latin typeface="Inter"/>
                <a:ea typeface="Inter"/>
                <a:cs typeface="Inter"/>
                <a:sym typeface="Inter"/>
              </a:rPr>
              <a:t>If it asks you to sign in, use your HGM Google account.</a:t>
            </a:r>
            <a:endParaRPr b="0" i="0" sz="1350" u="none" cap="none" strike="noStrike">
              <a:solidFill>
                <a:schemeClr val="dk1"/>
              </a:solidFill>
              <a:latin typeface="Calibri"/>
              <a:ea typeface="Calibri"/>
              <a:cs typeface="Calibri"/>
              <a:sym typeface="Calibri"/>
            </a:endParaRPr>
          </a:p>
        </p:txBody>
      </p:sp>
      <p:sp>
        <p:nvSpPr>
          <p:cNvPr id="1702" name="Google Shape;1702;p46"/>
          <p:cNvSpPr/>
          <p:nvPr/>
        </p:nvSpPr>
        <p:spPr>
          <a:xfrm>
            <a:off x="548640" y="4297680"/>
            <a:ext cx="6309360" cy="749808"/>
          </a:xfrm>
          <a:prstGeom prst="roundRect">
            <a:avLst>
              <a:gd fmla="val 12195" name="adj"/>
            </a:avLst>
          </a:prstGeom>
          <a:solidFill>
            <a:srgbClr val="002552"/>
          </a:solidFill>
          <a:ln cap="flat" cmpd="sng" w="12700">
            <a:solidFill>
              <a:srgbClr val="113A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check-circle-soft.png" id="1703" name="Google Shape;1703;p46"/>
          <p:cNvPicPr preferRelativeResize="0"/>
          <p:nvPr/>
        </p:nvPicPr>
        <p:blipFill rotWithShape="1">
          <a:blip r:embed="rId5">
            <a:alphaModFix/>
          </a:blip>
          <a:srcRect b="0" l="0" r="0" t="0"/>
          <a:stretch/>
        </p:blipFill>
        <p:spPr>
          <a:xfrm>
            <a:off x="841248" y="4526280"/>
            <a:ext cx="292608" cy="292608"/>
          </a:xfrm>
          <a:prstGeom prst="rect">
            <a:avLst/>
          </a:prstGeom>
          <a:noFill/>
          <a:ln>
            <a:noFill/>
          </a:ln>
        </p:spPr>
      </p:pic>
      <p:sp>
        <p:nvSpPr>
          <p:cNvPr id="1704" name="Google Shape;1704;p46"/>
          <p:cNvSpPr txBox="1"/>
          <p:nvPr/>
        </p:nvSpPr>
        <p:spPr>
          <a:xfrm>
            <a:off x="1371600" y="4389120"/>
            <a:ext cx="5303520" cy="566928"/>
          </a:xfrm>
          <a:prstGeom prst="rect">
            <a:avLst/>
          </a:prstGeom>
          <a:noFill/>
          <a:ln>
            <a:noFill/>
          </a:ln>
        </p:spPr>
        <p:txBody>
          <a:bodyPr anchorCtr="0" anchor="ctr" bIns="0" lIns="0" spcFirstLastPara="1" rIns="0" wrap="square" tIns="0">
            <a:noAutofit/>
          </a:bodyPr>
          <a:lstStyle/>
          <a:p>
            <a:pPr indent="0" lvl="0" marL="0" marR="0" rtl="0" algn="l">
              <a:lnSpc>
                <a:spcPct val="135037"/>
              </a:lnSpc>
              <a:spcBef>
                <a:spcPts val="0"/>
              </a:spcBef>
              <a:spcAft>
                <a:spcPts val="0"/>
              </a:spcAft>
              <a:buClr>
                <a:srgbClr val="FFFFFF"/>
              </a:buClr>
              <a:buSzPts val="1350"/>
              <a:buFont typeface="Inter"/>
              <a:buNone/>
            </a:pPr>
            <a:r>
              <a:rPr b="0" i="0" lang="en-US" sz="1350" u="none" cap="none" strike="noStrike">
                <a:solidFill>
                  <a:srgbClr val="FFFFFF"/>
                </a:solidFill>
                <a:latin typeface="Inter"/>
                <a:ea typeface="Inter"/>
                <a:cs typeface="Inter"/>
                <a:sym typeface="Inter"/>
              </a:rPr>
              <a:t>On the call? The same link is in the meeting chat.</a:t>
            </a:r>
            <a:endParaRPr b="0" i="0" sz="1350" u="none" cap="none" strike="noStrike">
              <a:solidFill>
                <a:schemeClr val="dk1"/>
              </a:solidFill>
              <a:latin typeface="Calibri"/>
              <a:ea typeface="Calibri"/>
              <a:cs typeface="Calibri"/>
              <a:sym typeface="Calibri"/>
            </a:endParaRPr>
          </a:p>
        </p:txBody>
      </p:sp>
      <p:sp>
        <p:nvSpPr>
          <p:cNvPr id="1705" name="Google Shape;1705;p46"/>
          <p:cNvSpPr txBox="1"/>
          <p:nvPr/>
        </p:nvSpPr>
        <p:spPr>
          <a:xfrm>
            <a:off x="6949440" y="5440680"/>
            <a:ext cx="4754880" cy="320040"/>
          </a:xfrm>
          <a:prstGeom prst="rect">
            <a:avLst/>
          </a:prstGeom>
          <a:noFill/>
          <a:ln>
            <a:noFill/>
          </a:ln>
        </p:spPr>
        <p:txBody>
          <a:bodyPr anchorCtr="0" anchor="ctr" bIns="0" lIns="0" spcFirstLastPara="1" rIns="0" wrap="square" tIns="0">
            <a:noAutofit/>
          </a:bodyPr>
          <a:lstStyle/>
          <a:p>
            <a:pPr indent="0" lvl="0" marL="0" marR="0" rtl="0" algn="ctr">
              <a:lnSpc>
                <a:spcPct val="135047"/>
              </a:lnSpc>
              <a:spcBef>
                <a:spcPts val="0"/>
              </a:spcBef>
              <a:spcAft>
                <a:spcPts val="0"/>
              </a:spcAft>
              <a:buClr>
                <a:srgbClr val="A9C9FF"/>
              </a:buClr>
              <a:buSzPts val="1050"/>
              <a:buFont typeface="Roboto Mono"/>
              <a:buNone/>
            </a:pPr>
            <a:r>
              <a:rPr b="1" i="0" lang="en-US" sz="1600" u="none" cap="none" strike="noStrike">
                <a:solidFill>
                  <a:srgbClr val="A9C9FF"/>
                </a:solidFill>
                <a:latin typeface="Roboto Mono"/>
                <a:ea typeface="Roboto Mono"/>
                <a:cs typeface="Roboto Mono"/>
                <a:sym typeface="Roboto Mono"/>
              </a:rPr>
              <a:t>hgmportal.com/dictionary/tools/review</a:t>
            </a:r>
            <a:endParaRPr b="0" i="0" sz="1050" u="none" cap="none" strike="noStrike">
              <a:solidFill>
                <a:schemeClr val="dk1"/>
              </a:solidFill>
              <a:latin typeface="Calibri"/>
              <a:ea typeface="Calibri"/>
              <a:cs typeface="Calibri"/>
              <a:sym typeface="Calibri"/>
            </a:endParaRPr>
          </a:p>
        </p:txBody>
      </p:sp>
      <p:sp>
        <p:nvSpPr>
          <p:cNvPr id="1706" name="Google Shape;1706;p46"/>
          <p:cNvSpPr/>
          <p:nvPr/>
        </p:nvSpPr>
        <p:spPr>
          <a:xfrm>
            <a:off x="7406640" y="1463040"/>
            <a:ext cx="3840480" cy="3840480"/>
          </a:xfrm>
          <a:prstGeom prst="roundRect">
            <a:avLst>
              <a:gd fmla="val 6000" name="adj"/>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QR code for hgmportal.com/dictionary/tools/review" id="1707" name="Google Shape;1707;p46"/>
          <p:cNvPicPr preferRelativeResize="0"/>
          <p:nvPr/>
        </p:nvPicPr>
        <p:blipFill rotWithShape="1">
          <a:blip r:embed="rId6">
            <a:alphaModFix/>
          </a:blip>
          <a:srcRect b="0" l="0" r="0" t="0"/>
          <a:stretch/>
        </p:blipFill>
        <p:spPr>
          <a:xfrm>
            <a:off x="7589520" y="1645920"/>
            <a:ext cx="3474720" cy="347472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712" name="Shape 1712"/>
        <p:cNvGrpSpPr/>
        <p:nvPr/>
      </p:nvGrpSpPr>
      <p:grpSpPr>
        <a:xfrm>
          <a:off x="0" y="0"/>
          <a:ext cx="0" cy="0"/>
          <a:chOff x="0" y="0"/>
          <a:chExt cx="0" cy="0"/>
        </a:xfrm>
      </p:grpSpPr>
      <p:sp>
        <p:nvSpPr>
          <p:cNvPr id="1713" name="Google Shape;1713;p47"/>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06 · THE RESOURCES</a:t>
            </a:r>
            <a:endParaRPr b="0" i="0" sz="1050" u="none" cap="none" strike="noStrike">
              <a:solidFill>
                <a:schemeClr val="dk1"/>
              </a:solidFill>
              <a:latin typeface="Calibri"/>
              <a:ea typeface="Calibri"/>
              <a:cs typeface="Calibri"/>
              <a:sym typeface="Calibri"/>
            </a:endParaRPr>
          </a:p>
        </p:txBody>
      </p:sp>
      <p:sp>
        <p:nvSpPr>
          <p:cNvPr id="1714" name="Google Shape;1714;p47"/>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What you have, and where it lives</a:t>
            </a:r>
            <a:endParaRPr b="0" i="0" sz="3000" u="none" cap="none" strike="noStrike">
              <a:solidFill>
                <a:schemeClr val="dk1"/>
              </a:solidFill>
              <a:latin typeface="Calibri"/>
              <a:ea typeface="Calibri"/>
              <a:cs typeface="Calibri"/>
              <a:sym typeface="Calibri"/>
            </a:endParaRPr>
          </a:p>
        </p:txBody>
      </p:sp>
      <p:pic>
        <p:nvPicPr>
          <p:cNvPr descr="/home/claude/work/renderer/brand/wordmark.png" id="1715" name="Google Shape;1715;p47"/>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716" name="Google Shape;1716;p47"/>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46 / 48</a:t>
            </a:r>
            <a:endParaRPr b="0" i="0" sz="900" u="none" cap="none" strike="noStrike">
              <a:solidFill>
                <a:schemeClr val="dk1"/>
              </a:solidFill>
              <a:latin typeface="Calibri"/>
              <a:ea typeface="Calibri"/>
              <a:cs typeface="Calibri"/>
              <a:sym typeface="Calibri"/>
            </a:endParaRPr>
          </a:p>
        </p:txBody>
      </p:sp>
      <p:sp>
        <p:nvSpPr>
          <p:cNvPr id="1717" name="Google Shape;1717;p47"/>
          <p:cNvSpPr/>
          <p:nvPr/>
        </p:nvSpPr>
        <p:spPr>
          <a:xfrm>
            <a:off x="548640" y="1783080"/>
            <a:ext cx="11094415" cy="810158"/>
          </a:xfrm>
          <a:prstGeom prst="roundRect">
            <a:avLst>
              <a:gd fmla="val 13544"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8" name="Google Shape;1718;p47"/>
          <p:cNvSpPr/>
          <p:nvPr/>
        </p:nvSpPr>
        <p:spPr>
          <a:xfrm>
            <a:off x="841248" y="1977847"/>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globe.png" id="1719" name="Google Shape;1719;p47"/>
          <p:cNvPicPr preferRelativeResize="0"/>
          <p:nvPr/>
        </p:nvPicPr>
        <p:blipFill rotWithShape="1">
          <a:blip r:embed="rId4">
            <a:alphaModFix/>
          </a:blip>
          <a:srcRect b="0" l="0" r="0" t="0"/>
          <a:stretch/>
        </p:blipFill>
        <p:spPr>
          <a:xfrm>
            <a:off x="933785" y="2070384"/>
            <a:ext cx="235549" cy="235549"/>
          </a:xfrm>
          <a:prstGeom prst="rect">
            <a:avLst/>
          </a:prstGeom>
          <a:noFill/>
          <a:ln>
            <a:noFill/>
          </a:ln>
        </p:spPr>
      </p:pic>
      <p:sp>
        <p:nvSpPr>
          <p:cNvPr id="1720" name="Google Shape;1720;p47"/>
          <p:cNvSpPr txBox="1"/>
          <p:nvPr/>
        </p:nvSpPr>
        <p:spPr>
          <a:xfrm>
            <a:off x="1536192" y="1901952"/>
            <a:ext cx="3566160" cy="57241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400"/>
              <a:buFont typeface="Inter"/>
              <a:buNone/>
            </a:pPr>
            <a:r>
              <a:rPr b="1" i="0" lang="en-US" sz="1400" u="none" cap="none" strike="noStrike">
                <a:solidFill>
                  <a:srgbClr val="171717"/>
                </a:solidFill>
                <a:latin typeface="Inter"/>
                <a:ea typeface="Inter"/>
                <a:cs typeface="Inter"/>
                <a:sym typeface="Inter"/>
              </a:rPr>
              <a:t>The HGM portal</a:t>
            </a:r>
            <a:endParaRPr b="0" i="0" sz="1400" u="none" cap="none" strike="noStrike">
              <a:solidFill>
                <a:schemeClr val="dk1"/>
              </a:solidFill>
              <a:latin typeface="Calibri"/>
              <a:ea typeface="Calibri"/>
              <a:cs typeface="Calibri"/>
              <a:sym typeface="Calibri"/>
            </a:endParaRPr>
          </a:p>
        </p:txBody>
      </p:sp>
      <p:sp>
        <p:nvSpPr>
          <p:cNvPr id="1721" name="Google Shape;1721;p47"/>
          <p:cNvSpPr txBox="1"/>
          <p:nvPr/>
        </p:nvSpPr>
        <p:spPr>
          <a:xfrm>
            <a:off x="5193792" y="1901952"/>
            <a:ext cx="6193231" cy="57241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525252"/>
              </a:buClr>
              <a:buSzPts val="1100"/>
              <a:buFont typeface="Inter"/>
              <a:buNone/>
            </a:pPr>
            <a:r>
              <a:rPr b="0" i="0" lang="en-US" sz="1100" u="none" cap="none" strike="noStrike">
                <a:solidFill>
                  <a:srgbClr val="525252"/>
                </a:solidFill>
                <a:latin typeface="Inter"/>
                <a:ea typeface="Inter"/>
                <a:cs typeface="Inter"/>
                <a:sym typeface="Inter"/>
              </a:rPr>
              <a:t>Everything below lives at hgmportal.com. Sign in with your HGM Google account.</a:t>
            </a:r>
            <a:endParaRPr b="0" i="0" sz="1100" u="none" cap="none" strike="noStrike">
              <a:solidFill>
                <a:schemeClr val="dk1"/>
              </a:solidFill>
              <a:latin typeface="Calibri"/>
              <a:ea typeface="Calibri"/>
              <a:cs typeface="Calibri"/>
              <a:sym typeface="Calibri"/>
            </a:endParaRPr>
          </a:p>
        </p:txBody>
      </p:sp>
      <p:sp>
        <p:nvSpPr>
          <p:cNvPr id="1722" name="Google Shape;1722;p47"/>
          <p:cNvSpPr/>
          <p:nvPr/>
        </p:nvSpPr>
        <p:spPr>
          <a:xfrm>
            <a:off x="548640" y="2721254"/>
            <a:ext cx="11094415" cy="810158"/>
          </a:xfrm>
          <a:prstGeom prst="roundRect">
            <a:avLst>
              <a:gd fmla="val 13544"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3" name="Google Shape;1723;p47"/>
          <p:cNvSpPr/>
          <p:nvPr/>
        </p:nvSpPr>
        <p:spPr>
          <a:xfrm>
            <a:off x="841248" y="2916022"/>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book-closed.png" id="1724" name="Google Shape;1724;p47"/>
          <p:cNvPicPr preferRelativeResize="0"/>
          <p:nvPr/>
        </p:nvPicPr>
        <p:blipFill rotWithShape="1">
          <a:blip r:embed="rId5">
            <a:alphaModFix/>
          </a:blip>
          <a:srcRect b="0" l="0" r="0" t="0"/>
          <a:stretch/>
        </p:blipFill>
        <p:spPr>
          <a:xfrm>
            <a:off x="933785" y="3008559"/>
            <a:ext cx="235549" cy="235549"/>
          </a:xfrm>
          <a:prstGeom prst="rect">
            <a:avLst/>
          </a:prstGeom>
          <a:noFill/>
          <a:ln>
            <a:noFill/>
          </a:ln>
        </p:spPr>
      </p:pic>
      <p:sp>
        <p:nvSpPr>
          <p:cNvPr id="1725" name="Google Shape;1725;p47"/>
          <p:cNvSpPr txBox="1"/>
          <p:nvPr/>
        </p:nvSpPr>
        <p:spPr>
          <a:xfrm>
            <a:off x="1536192" y="2840126"/>
            <a:ext cx="3566160" cy="57241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400"/>
              <a:buFont typeface="Inter"/>
              <a:buNone/>
            </a:pPr>
            <a:r>
              <a:rPr b="1" i="0" lang="en-US" sz="1400" u="none" cap="none" strike="noStrike">
                <a:solidFill>
                  <a:srgbClr val="171717"/>
                </a:solidFill>
                <a:latin typeface="Inter"/>
                <a:ea typeface="Inter"/>
                <a:cs typeface="Inter"/>
                <a:sym typeface="Inter"/>
              </a:rPr>
              <a:t>The dictionary</a:t>
            </a:r>
            <a:endParaRPr b="0" i="0" sz="1400" u="none" cap="none" strike="noStrike">
              <a:solidFill>
                <a:schemeClr val="dk1"/>
              </a:solidFill>
              <a:latin typeface="Calibri"/>
              <a:ea typeface="Calibri"/>
              <a:cs typeface="Calibri"/>
              <a:sym typeface="Calibri"/>
            </a:endParaRPr>
          </a:p>
        </p:txBody>
      </p:sp>
      <p:sp>
        <p:nvSpPr>
          <p:cNvPr id="1726" name="Google Shape;1726;p47"/>
          <p:cNvSpPr txBox="1"/>
          <p:nvPr/>
        </p:nvSpPr>
        <p:spPr>
          <a:xfrm>
            <a:off x="5193792" y="2840126"/>
            <a:ext cx="6193231" cy="57241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525252"/>
              </a:buClr>
              <a:buSzPts val="1100"/>
              <a:buFont typeface="Inter"/>
              <a:buNone/>
            </a:pPr>
            <a:r>
              <a:rPr b="0" i="0" lang="en-US" sz="1100" u="none" cap="none" strike="noStrike">
                <a:solidFill>
                  <a:srgbClr val="525252"/>
                </a:solidFill>
                <a:latin typeface="Inter"/>
                <a:ea typeface="Inter"/>
                <a:cs typeface="Inter"/>
                <a:sym typeface="Inter"/>
              </a:rPr>
              <a:t>253 terms in nine sections. Type a few letters and the term opens in full.</a:t>
            </a:r>
            <a:endParaRPr b="0" i="0" sz="1100" u="none" cap="none" strike="noStrike">
              <a:solidFill>
                <a:schemeClr val="dk1"/>
              </a:solidFill>
              <a:latin typeface="Calibri"/>
              <a:ea typeface="Calibri"/>
              <a:cs typeface="Calibri"/>
              <a:sym typeface="Calibri"/>
            </a:endParaRPr>
          </a:p>
        </p:txBody>
      </p:sp>
      <p:sp>
        <p:nvSpPr>
          <p:cNvPr id="1727" name="Google Shape;1727;p47"/>
          <p:cNvSpPr/>
          <p:nvPr/>
        </p:nvSpPr>
        <p:spPr>
          <a:xfrm>
            <a:off x="548640" y="3659429"/>
            <a:ext cx="11094415" cy="810158"/>
          </a:xfrm>
          <a:prstGeom prst="roundRect">
            <a:avLst>
              <a:gd fmla="val 13544"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8" name="Google Shape;1728;p47"/>
          <p:cNvSpPr/>
          <p:nvPr/>
        </p:nvSpPr>
        <p:spPr>
          <a:xfrm>
            <a:off x="841248" y="3854196"/>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file-check.png" id="1729" name="Google Shape;1729;p47"/>
          <p:cNvPicPr preferRelativeResize="0"/>
          <p:nvPr/>
        </p:nvPicPr>
        <p:blipFill rotWithShape="1">
          <a:blip r:embed="rId6">
            <a:alphaModFix/>
          </a:blip>
          <a:srcRect b="0" l="0" r="0" t="0"/>
          <a:stretch/>
        </p:blipFill>
        <p:spPr>
          <a:xfrm>
            <a:off x="933785" y="3946733"/>
            <a:ext cx="235549" cy="235549"/>
          </a:xfrm>
          <a:prstGeom prst="rect">
            <a:avLst/>
          </a:prstGeom>
          <a:noFill/>
          <a:ln>
            <a:noFill/>
          </a:ln>
        </p:spPr>
      </p:pic>
      <p:sp>
        <p:nvSpPr>
          <p:cNvPr id="1730" name="Google Shape;1730;p47"/>
          <p:cNvSpPr txBox="1"/>
          <p:nvPr/>
        </p:nvSpPr>
        <p:spPr>
          <a:xfrm>
            <a:off x="1536192" y="3778301"/>
            <a:ext cx="3566160" cy="57241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400"/>
              <a:buFont typeface="Inter"/>
              <a:buNone/>
            </a:pPr>
            <a:r>
              <a:rPr b="1" i="0" lang="en-US" sz="1400" u="none" cap="none" strike="noStrike">
                <a:solidFill>
                  <a:srgbClr val="171717"/>
                </a:solidFill>
                <a:latin typeface="Inter"/>
                <a:ea typeface="Inter"/>
                <a:cs typeface="Inter"/>
                <a:sym typeface="Inter"/>
              </a:rPr>
              <a:t>Term check and term practice</a:t>
            </a:r>
            <a:endParaRPr b="0" i="0" sz="1400" u="none" cap="none" strike="noStrike">
              <a:solidFill>
                <a:schemeClr val="dk1"/>
              </a:solidFill>
              <a:latin typeface="Calibri"/>
              <a:ea typeface="Calibri"/>
              <a:cs typeface="Calibri"/>
              <a:sym typeface="Calibri"/>
            </a:endParaRPr>
          </a:p>
        </p:txBody>
      </p:sp>
      <p:sp>
        <p:nvSpPr>
          <p:cNvPr id="1731" name="Google Shape;1731;p47"/>
          <p:cNvSpPr txBox="1"/>
          <p:nvPr/>
        </p:nvSpPr>
        <p:spPr>
          <a:xfrm>
            <a:off x="5193792" y="3778301"/>
            <a:ext cx="6193231" cy="57241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525252"/>
              </a:buClr>
              <a:buSzPts val="1100"/>
              <a:buFont typeface="Inter"/>
              <a:buNone/>
            </a:pPr>
            <a:r>
              <a:rPr b="0" i="0" lang="en-US" sz="1100" u="none" cap="none" strike="noStrike">
                <a:solidFill>
                  <a:srgbClr val="525252"/>
                </a:solidFill>
                <a:latin typeface="Inter"/>
                <a:ea typeface="Inter"/>
                <a:cs typeface="Inter"/>
                <a:sym typeface="Inter"/>
              </a:rPr>
              <a:t>The check after the sessions, and a practice mode you can run any time, on any term.</a:t>
            </a:r>
            <a:endParaRPr b="0" i="0" sz="1100" u="none" cap="none" strike="noStrike">
              <a:solidFill>
                <a:schemeClr val="dk1"/>
              </a:solidFill>
              <a:latin typeface="Calibri"/>
              <a:ea typeface="Calibri"/>
              <a:cs typeface="Calibri"/>
              <a:sym typeface="Calibri"/>
            </a:endParaRPr>
          </a:p>
        </p:txBody>
      </p:sp>
      <p:sp>
        <p:nvSpPr>
          <p:cNvPr id="1732" name="Google Shape;1732;p47"/>
          <p:cNvSpPr/>
          <p:nvPr/>
        </p:nvSpPr>
        <p:spPr>
          <a:xfrm>
            <a:off x="548640" y="4597603"/>
            <a:ext cx="11094415" cy="810158"/>
          </a:xfrm>
          <a:prstGeom prst="roundRect">
            <a:avLst>
              <a:gd fmla="val 13544"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3" name="Google Shape;1733;p47"/>
          <p:cNvSpPr/>
          <p:nvPr/>
        </p:nvSpPr>
        <p:spPr>
          <a:xfrm>
            <a:off x="841248" y="4792370"/>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grid.png" id="1734" name="Google Shape;1734;p47"/>
          <p:cNvPicPr preferRelativeResize="0"/>
          <p:nvPr/>
        </p:nvPicPr>
        <p:blipFill rotWithShape="1">
          <a:blip r:embed="rId7">
            <a:alphaModFix/>
          </a:blip>
          <a:srcRect b="0" l="0" r="0" t="0"/>
          <a:stretch/>
        </p:blipFill>
        <p:spPr>
          <a:xfrm>
            <a:off x="933785" y="4884908"/>
            <a:ext cx="235549" cy="235549"/>
          </a:xfrm>
          <a:prstGeom prst="rect">
            <a:avLst/>
          </a:prstGeom>
          <a:noFill/>
          <a:ln>
            <a:noFill/>
          </a:ln>
        </p:spPr>
      </p:pic>
      <p:sp>
        <p:nvSpPr>
          <p:cNvPr id="1735" name="Google Shape;1735;p47"/>
          <p:cNvSpPr txBox="1"/>
          <p:nvPr/>
        </p:nvSpPr>
        <p:spPr>
          <a:xfrm>
            <a:off x="1536192" y="4716475"/>
            <a:ext cx="3566160" cy="57241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400"/>
              <a:buFont typeface="Inter"/>
              <a:buNone/>
            </a:pPr>
            <a:r>
              <a:rPr b="1" i="0" lang="en-US" sz="1400" u="none" cap="none" strike="noStrike">
                <a:solidFill>
                  <a:srgbClr val="171717"/>
                </a:solidFill>
                <a:latin typeface="Inter"/>
                <a:ea typeface="Inter"/>
                <a:cs typeface="Inter"/>
                <a:sym typeface="Inter"/>
              </a:rPr>
              <a:t>Tool check and tool practice</a:t>
            </a:r>
            <a:endParaRPr b="0" i="0" sz="1400" u="none" cap="none" strike="noStrike">
              <a:solidFill>
                <a:schemeClr val="dk1"/>
              </a:solidFill>
              <a:latin typeface="Calibri"/>
              <a:ea typeface="Calibri"/>
              <a:cs typeface="Calibri"/>
              <a:sym typeface="Calibri"/>
            </a:endParaRPr>
          </a:p>
        </p:txBody>
      </p:sp>
      <p:sp>
        <p:nvSpPr>
          <p:cNvPr id="1736" name="Google Shape;1736;p47"/>
          <p:cNvSpPr txBox="1"/>
          <p:nvPr/>
        </p:nvSpPr>
        <p:spPr>
          <a:xfrm>
            <a:off x="5193792" y="4716475"/>
            <a:ext cx="6193231" cy="57241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525252"/>
              </a:buClr>
              <a:buSzPts val="1100"/>
              <a:buFont typeface="Inter"/>
              <a:buNone/>
            </a:pPr>
            <a:r>
              <a:rPr b="0" i="0" lang="en-US" sz="1100" u="none" cap="none" strike="noStrike">
                <a:solidFill>
                  <a:srgbClr val="525252"/>
                </a:solidFill>
                <a:latin typeface="Inter"/>
                <a:ea typeface="Inter"/>
                <a:cs typeface="Inter"/>
                <a:sym typeface="Inter"/>
              </a:rPr>
              <a:t>The same two modes for the vendor names in block 6: which box does it go in?</a:t>
            </a:r>
            <a:endParaRPr b="0" i="0" sz="1100" u="none" cap="none" strike="noStrike">
              <a:solidFill>
                <a:schemeClr val="dk1"/>
              </a:solidFill>
              <a:latin typeface="Calibri"/>
              <a:ea typeface="Calibri"/>
              <a:cs typeface="Calibri"/>
              <a:sym typeface="Calibri"/>
            </a:endParaRPr>
          </a:p>
        </p:txBody>
      </p:sp>
      <p:sp>
        <p:nvSpPr>
          <p:cNvPr id="1737" name="Google Shape;1737;p47"/>
          <p:cNvSpPr/>
          <p:nvPr/>
        </p:nvSpPr>
        <p:spPr>
          <a:xfrm>
            <a:off x="548640" y="5535778"/>
            <a:ext cx="11094415" cy="810158"/>
          </a:xfrm>
          <a:prstGeom prst="roundRect">
            <a:avLst>
              <a:gd fmla="val 13544"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8" name="Google Shape;1738;p47"/>
          <p:cNvSpPr/>
          <p:nvPr/>
        </p:nvSpPr>
        <p:spPr>
          <a:xfrm>
            <a:off x="841248" y="5730545"/>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renderer/icons/download.png" id="1739" name="Google Shape;1739;p47"/>
          <p:cNvPicPr preferRelativeResize="0"/>
          <p:nvPr/>
        </p:nvPicPr>
        <p:blipFill rotWithShape="1">
          <a:blip r:embed="rId8">
            <a:alphaModFix/>
          </a:blip>
          <a:srcRect b="0" l="0" r="0" t="0"/>
          <a:stretch/>
        </p:blipFill>
        <p:spPr>
          <a:xfrm>
            <a:off x="933785" y="5823082"/>
            <a:ext cx="235549" cy="235549"/>
          </a:xfrm>
          <a:prstGeom prst="rect">
            <a:avLst/>
          </a:prstGeom>
          <a:noFill/>
          <a:ln>
            <a:noFill/>
          </a:ln>
        </p:spPr>
      </p:pic>
      <p:sp>
        <p:nvSpPr>
          <p:cNvPr id="1740" name="Google Shape;1740;p47"/>
          <p:cNvSpPr txBox="1"/>
          <p:nvPr/>
        </p:nvSpPr>
        <p:spPr>
          <a:xfrm>
            <a:off x="1536192" y="5654650"/>
            <a:ext cx="3566160" cy="57241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400"/>
              <a:buFont typeface="Inter"/>
              <a:buNone/>
            </a:pPr>
            <a:r>
              <a:rPr b="1" i="0" lang="en-US" sz="1400" u="none" cap="none" strike="noStrike">
                <a:solidFill>
                  <a:srgbClr val="171717"/>
                </a:solidFill>
                <a:latin typeface="Inter"/>
                <a:ea typeface="Inter"/>
                <a:cs typeface="Inter"/>
                <a:sym typeface="Inter"/>
              </a:rPr>
              <a:t>The PDFs</a:t>
            </a:r>
            <a:endParaRPr b="0" i="0" sz="1400" u="none" cap="none" strike="noStrike">
              <a:solidFill>
                <a:schemeClr val="dk1"/>
              </a:solidFill>
              <a:latin typeface="Calibri"/>
              <a:ea typeface="Calibri"/>
              <a:cs typeface="Calibri"/>
              <a:sym typeface="Calibri"/>
            </a:endParaRPr>
          </a:p>
        </p:txBody>
      </p:sp>
      <p:sp>
        <p:nvSpPr>
          <p:cNvPr id="1741" name="Google Shape;1741;p47"/>
          <p:cNvSpPr txBox="1"/>
          <p:nvPr/>
        </p:nvSpPr>
        <p:spPr>
          <a:xfrm>
            <a:off x="5193792" y="5654650"/>
            <a:ext cx="6193231" cy="57241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525252"/>
              </a:buClr>
              <a:buSzPts val="1100"/>
              <a:buFont typeface="Inter"/>
              <a:buNone/>
            </a:pPr>
            <a:r>
              <a:rPr b="0" i="0" lang="en-US" sz="1100" u="none" cap="none" strike="noStrike">
                <a:solidFill>
                  <a:srgbClr val="525252"/>
                </a:solidFill>
                <a:latin typeface="Inter"/>
                <a:ea typeface="Inter"/>
                <a:cs typeface="Inter"/>
                <a:sym typeface="Inter"/>
              </a:rPr>
              <a:t>The call cheat sheets and the Client Tech Stack Guide, readable in the portal and sent to you after the session.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746" name="Shape 1746"/>
        <p:cNvGrpSpPr/>
        <p:nvPr/>
      </p:nvGrpSpPr>
      <p:grpSpPr>
        <a:xfrm>
          <a:off x="0" y="0"/>
          <a:ext cx="0" cy="0"/>
          <a:chOff x="0" y="0"/>
          <a:chExt cx="0" cy="0"/>
        </a:xfrm>
      </p:grpSpPr>
      <p:sp>
        <p:nvSpPr>
          <p:cNvPr id="1747" name="Google Shape;1747;p48"/>
          <p:cNvSpPr txBox="1"/>
          <p:nvPr/>
        </p:nvSpPr>
        <p:spPr>
          <a:xfrm>
            <a:off x="548640" y="502920"/>
            <a:ext cx="5486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A9C9FF"/>
              </a:buClr>
              <a:buSzPts val="1050"/>
              <a:buFont typeface="Roboto Mono"/>
              <a:buNone/>
            </a:pPr>
            <a:r>
              <a:rPr b="0" i="0" lang="en-US" sz="1050" u="none" cap="none" strike="noStrike">
                <a:solidFill>
                  <a:srgbClr val="A9C9FF"/>
                </a:solidFill>
                <a:latin typeface="Roboto Mono"/>
                <a:ea typeface="Roboto Mono"/>
                <a:cs typeface="Roboto Mono"/>
                <a:sym typeface="Roboto Mono"/>
              </a:rPr>
              <a:t>08 · CLOSE</a:t>
            </a:r>
            <a:endParaRPr b="0" i="0" sz="1050" u="none" cap="none" strike="noStrike">
              <a:solidFill>
                <a:schemeClr val="dk1"/>
              </a:solidFill>
              <a:latin typeface="Calibri"/>
              <a:ea typeface="Calibri"/>
              <a:cs typeface="Calibri"/>
              <a:sym typeface="Calibri"/>
            </a:endParaRPr>
          </a:p>
        </p:txBody>
      </p:sp>
      <p:sp>
        <p:nvSpPr>
          <p:cNvPr id="1748" name="Google Shape;1748;p48"/>
          <p:cNvSpPr txBox="1"/>
          <p:nvPr/>
        </p:nvSpPr>
        <p:spPr>
          <a:xfrm>
            <a:off x="548640" y="914400"/>
            <a:ext cx="10058400" cy="77724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3600"/>
              <a:buFont typeface="Inter"/>
              <a:buNone/>
            </a:pPr>
            <a:r>
              <a:rPr b="1" i="0" lang="en-US" sz="3600" u="none" cap="none" strike="noStrike">
                <a:solidFill>
                  <a:srgbClr val="FFFFFF"/>
                </a:solidFill>
                <a:latin typeface="Inter"/>
                <a:ea typeface="Inter"/>
                <a:cs typeface="Inter"/>
                <a:sym typeface="Inter"/>
              </a:rPr>
              <a:t>Where this goes from here</a:t>
            </a:r>
            <a:endParaRPr b="0" i="0" sz="3600" u="none" cap="none" strike="noStrike">
              <a:solidFill>
                <a:schemeClr val="dk1"/>
              </a:solidFill>
              <a:latin typeface="Calibri"/>
              <a:ea typeface="Calibri"/>
              <a:cs typeface="Calibri"/>
              <a:sym typeface="Calibri"/>
            </a:endParaRPr>
          </a:p>
        </p:txBody>
      </p:sp>
      <p:sp>
        <p:nvSpPr>
          <p:cNvPr id="1749" name="Google Shape;1749;p48"/>
          <p:cNvSpPr/>
          <p:nvPr/>
        </p:nvSpPr>
        <p:spPr>
          <a:xfrm>
            <a:off x="548640" y="2057400"/>
            <a:ext cx="8595360" cy="868680"/>
          </a:xfrm>
          <a:prstGeom prst="roundRect">
            <a:avLst>
              <a:gd fmla="val 11579" name="adj"/>
            </a:avLst>
          </a:prstGeom>
          <a:solidFill>
            <a:srgbClr val="171717"/>
          </a:solidFill>
          <a:ln cap="flat" cmpd="sng" w="12700">
            <a:solidFill>
              <a:srgbClr val="26262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0" name="Google Shape;1750;p48"/>
          <p:cNvSpPr txBox="1"/>
          <p:nvPr/>
        </p:nvSpPr>
        <p:spPr>
          <a:xfrm>
            <a:off x="841248" y="2203704"/>
            <a:ext cx="457200" cy="57607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2B7FFF"/>
              </a:buClr>
              <a:buSzPts val="2000"/>
              <a:buFont typeface="Roboto Mono"/>
              <a:buNone/>
            </a:pPr>
            <a:r>
              <a:rPr b="1" i="0" lang="en-US" sz="2000" u="none" cap="none" strike="noStrike">
                <a:solidFill>
                  <a:srgbClr val="2B7FFF"/>
                </a:solidFill>
                <a:latin typeface="Roboto Mono"/>
                <a:ea typeface="Roboto Mono"/>
                <a:cs typeface="Roboto Mono"/>
                <a:sym typeface="Roboto Mono"/>
              </a:rPr>
              <a:t>1</a:t>
            </a:r>
            <a:endParaRPr b="0" i="0" sz="2000" u="none" cap="none" strike="noStrike">
              <a:solidFill>
                <a:schemeClr val="dk1"/>
              </a:solidFill>
              <a:latin typeface="Calibri"/>
              <a:ea typeface="Calibri"/>
              <a:cs typeface="Calibri"/>
              <a:sym typeface="Calibri"/>
            </a:endParaRPr>
          </a:p>
        </p:txBody>
      </p:sp>
      <p:sp>
        <p:nvSpPr>
          <p:cNvPr id="1751" name="Google Shape;1751;p48"/>
          <p:cNvSpPr txBox="1"/>
          <p:nvPr/>
        </p:nvSpPr>
        <p:spPr>
          <a:xfrm>
            <a:off x="1463040" y="2185416"/>
            <a:ext cx="7498080" cy="612648"/>
          </a:xfrm>
          <a:prstGeom prst="rect">
            <a:avLst/>
          </a:prstGeom>
          <a:noFill/>
          <a:ln>
            <a:noFill/>
          </a:ln>
        </p:spPr>
        <p:txBody>
          <a:bodyPr anchorCtr="0" anchor="ctr" bIns="0" lIns="0" spcFirstLastPara="1" rIns="0" wrap="square" tIns="0">
            <a:noAutofit/>
          </a:bodyPr>
          <a:lstStyle/>
          <a:p>
            <a:pPr indent="0" lvl="0" marL="0" marR="0" rtl="0" algn="l">
              <a:lnSpc>
                <a:spcPct val="135032"/>
              </a:lnSpc>
              <a:spcBef>
                <a:spcPts val="0"/>
              </a:spcBef>
              <a:spcAft>
                <a:spcPts val="0"/>
              </a:spcAft>
              <a:buClr>
                <a:srgbClr val="FFFFFF"/>
              </a:buClr>
              <a:buSzPts val="1550"/>
              <a:buFont typeface="Inter"/>
              <a:buNone/>
            </a:pPr>
            <a:r>
              <a:rPr b="1" i="0" lang="en-US" sz="1550" u="none" cap="none" strike="noStrike">
                <a:solidFill>
                  <a:srgbClr val="FFFFFF"/>
                </a:solidFill>
                <a:latin typeface="Inter"/>
                <a:ea typeface="Inter"/>
                <a:cs typeface="Inter"/>
                <a:sym typeface="Inter"/>
              </a:rPr>
              <a:t>Don't know a term? Ask which they mean, then open the dictionary page.</a:t>
            </a:r>
            <a:endParaRPr b="0" i="0" sz="1550" u="none" cap="none" strike="noStrike">
              <a:solidFill>
                <a:schemeClr val="dk1"/>
              </a:solidFill>
              <a:latin typeface="Calibri"/>
              <a:ea typeface="Calibri"/>
              <a:cs typeface="Calibri"/>
              <a:sym typeface="Calibri"/>
            </a:endParaRPr>
          </a:p>
        </p:txBody>
      </p:sp>
      <p:sp>
        <p:nvSpPr>
          <p:cNvPr id="1752" name="Google Shape;1752;p48"/>
          <p:cNvSpPr/>
          <p:nvPr/>
        </p:nvSpPr>
        <p:spPr>
          <a:xfrm>
            <a:off x="548640" y="3108960"/>
            <a:ext cx="8595360" cy="868680"/>
          </a:xfrm>
          <a:prstGeom prst="roundRect">
            <a:avLst>
              <a:gd fmla="val 11579" name="adj"/>
            </a:avLst>
          </a:prstGeom>
          <a:solidFill>
            <a:srgbClr val="171717"/>
          </a:solidFill>
          <a:ln cap="flat" cmpd="sng" w="12700">
            <a:solidFill>
              <a:srgbClr val="26262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3" name="Google Shape;1753;p48"/>
          <p:cNvSpPr txBox="1"/>
          <p:nvPr/>
        </p:nvSpPr>
        <p:spPr>
          <a:xfrm>
            <a:off x="841248" y="3255264"/>
            <a:ext cx="457200" cy="57607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2B7FFF"/>
              </a:buClr>
              <a:buSzPts val="2000"/>
              <a:buFont typeface="Roboto Mono"/>
              <a:buNone/>
            </a:pPr>
            <a:r>
              <a:rPr b="1" i="0" lang="en-US" sz="2000" u="none" cap="none" strike="noStrike">
                <a:solidFill>
                  <a:srgbClr val="2B7FFF"/>
                </a:solidFill>
                <a:latin typeface="Roboto Mono"/>
                <a:ea typeface="Roboto Mono"/>
                <a:cs typeface="Roboto Mono"/>
                <a:sym typeface="Roboto Mono"/>
              </a:rPr>
              <a:t>2</a:t>
            </a:r>
            <a:endParaRPr b="0" i="0" sz="2000" u="none" cap="none" strike="noStrike">
              <a:solidFill>
                <a:schemeClr val="dk1"/>
              </a:solidFill>
              <a:latin typeface="Calibri"/>
              <a:ea typeface="Calibri"/>
              <a:cs typeface="Calibri"/>
              <a:sym typeface="Calibri"/>
            </a:endParaRPr>
          </a:p>
        </p:txBody>
      </p:sp>
      <p:sp>
        <p:nvSpPr>
          <p:cNvPr id="1754" name="Google Shape;1754;p48"/>
          <p:cNvSpPr txBox="1"/>
          <p:nvPr/>
        </p:nvSpPr>
        <p:spPr>
          <a:xfrm>
            <a:off x="1463040" y="3236976"/>
            <a:ext cx="7498080" cy="612648"/>
          </a:xfrm>
          <a:prstGeom prst="rect">
            <a:avLst/>
          </a:prstGeom>
          <a:noFill/>
          <a:ln>
            <a:noFill/>
          </a:ln>
        </p:spPr>
        <p:txBody>
          <a:bodyPr anchorCtr="0" anchor="ctr" bIns="0" lIns="0" spcFirstLastPara="1" rIns="0" wrap="square" tIns="0">
            <a:noAutofit/>
          </a:bodyPr>
          <a:lstStyle/>
          <a:p>
            <a:pPr indent="0" lvl="0" marL="0" marR="0" rtl="0" algn="l">
              <a:lnSpc>
                <a:spcPct val="135032"/>
              </a:lnSpc>
              <a:spcBef>
                <a:spcPts val="0"/>
              </a:spcBef>
              <a:spcAft>
                <a:spcPts val="0"/>
              </a:spcAft>
              <a:buClr>
                <a:schemeClr val="dk1"/>
              </a:buClr>
              <a:buSzPts val="1100"/>
              <a:buFont typeface="Arial"/>
              <a:buNone/>
            </a:pPr>
            <a:r>
              <a:rPr b="1" i="0" lang="en-US" sz="1550" u="none" cap="none" strike="noStrike">
                <a:solidFill>
                  <a:srgbClr val="FFFFFF"/>
                </a:solidFill>
                <a:latin typeface="Inter"/>
                <a:ea typeface="Inter"/>
                <a:cs typeface="Inter"/>
                <a:sym typeface="Inter"/>
              </a:rPr>
              <a:t>Ask one question from these two sessions on your next owner call.</a:t>
            </a:r>
            <a:endParaRPr b="1" i="0" sz="1550" u="none" cap="none" strike="noStrike">
              <a:solidFill>
                <a:srgbClr val="FFFFFF"/>
              </a:solidFill>
              <a:latin typeface="Inter"/>
              <a:ea typeface="Inter"/>
              <a:cs typeface="Inter"/>
              <a:sym typeface="Inter"/>
            </a:endParaRPr>
          </a:p>
        </p:txBody>
      </p:sp>
      <p:sp>
        <p:nvSpPr>
          <p:cNvPr id="1755" name="Google Shape;1755;p48"/>
          <p:cNvSpPr/>
          <p:nvPr/>
        </p:nvSpPr>
        <p:spPr>
          <a:xfrm>
            <a:off x="548640" y="4160520"/>
            <a:ext cx="8595300" cy="868800"/>
          </a:xfrm>
          <a:prstGeom prst="roundRect">
            <a:avLst>
              <a:gd fmla="val 11579" name="adj"/>
            </a:avLst>
          </a:prstGeom>
          <a:solidFill>
            <a:srgbClr val="171717"/>
          </a:solidFill>
          <a:ln cap="flat" cmpd="sng" w="12700">
            <a:solidFill>
              <a:srgbClr val="26262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6" name="Google Shape;1756;p48"/>
          <p:cNvSpPr txBox="1"/>
          <p:nvPr/>
        </p:nvSpPr>
        <p:spPr>
          <a:xfrm>
            <a:off x="841248" y="4306824"/>
            <a:ext cx="457200" cy="57607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2B7FFF"/>
              </a:buClr>
              <a:buSzPts val="2000"/>
              <a:buFont typeface="Roboto Mono"/>
              <a:buNone/>
            </a:pPr>
            <a:r>
              <a:rPr b="1" i="0" lang="en-US" sz="2000" u="none" cap="none" strike="noStrike">
                <a:solidFill>
                  <a:srgbClr val="2B7FFF"/>
                </a:solidFill>
                <a:latin typeface="Roboto Mono"/>
                <a:ea typeface="Roboto Mono"/>
                <a:cs typeface="Roboto Mono"/>
                <a:sym typeface="Roboto Mono"/>
              </a:rPr>
              <a:t>3</a:t>
            </a:r>
            <a:endParaRPr b="0" i="0" sz="2000" u="none" cap="none" strike="noStrike">
              <a:solidFill>
                <a:schemeClr val="dk1"/>
              </a:solidFill>
              <a:latin typeface="Calibri"/>
              <a:ea typeface="Calibri"/>
              <a:cs typeface="Calibri"/>
              <a:sym typeface="Calibri"/>
            </a:endParaRPr>
          </a:p>
        </p:txBody>
      </p:sp>
      <p:sp>
        <p:nvSpPr>
          <p:cNvPr id="1757" name="Google Shape;1757;p48"/>
          <p:cNvSpPr txBox="1"/>
          <p:nvPr/>
        </p:nvSpPr>
        <p:spPr>
          <a:xfrm>
            <a:off x="1463040" y="4288536"/>
            <a:ext cx="7498080" cy="612648"/>
          </a:xfrm>
          <a:prstGeom prst="rect">
            <a:avLst/>
          </a:prstGeom>
          <a:noFill/>
          <a:ln>
            <a:noFill/>
          </a:ln>
        </p:spPr>
        <p:txBody>
          <a:bodyPr anchorCtr="0" anchor="ctr" bIns="0" lIns="0" spcFirstLastPara="1" rIns="0" wrap="square" tIns="0">
            <a:noAutofit/>
          </a:bodyPr>
          <a:lstStyle/>
          <a:p>
            <a:pPr indent="0" lvl="0" marL="0" marR="0" rtl="0" algn="l">
              <a:lnSpc>
                <a:spcPct val="135032"/>
              </a:lnSpc>
              <a:spcBef>
                <a:spcPts val="0"/>
              </a:spcBef>
              <a:spcAft>
                <a:spcPts val="0"/>
              </a:spcAft>
              <a:buClr>
                <a:schemeClr val="dk1"/>
              </a:buClr>
              <a:buSzPts val="1100"/>
              <a:buFont typeface="Arial"/>
              <a:buNone/>
            </a:pPr>
            <a:r>
              <a:rPr b="1" i="0" lang="en-US" sz="1550" u="none" cap="none" strike="noStrike">
                <a:solidFill>
                  <a:srgbClr val="FFFFFF"/>
                </a:solidFill>
                <a:latin typeface="Inter"/>
                <a:ea typeface="Inter"/>
                <a:cs typeface="Inter"/>
                <a:sym typeface="Inter"/>
              </a:rPr>
              <a:t>Check Kyle's daily update: a term a day, for the foreseeable future.</a:t>
            </a:r>
            <a:endParaRPr b="1" i="0" sz="1550" u="none" cap="none" strike="noStrike">
              <a:solidFill>
                <a:srgbClr val="FFFFFF"/>
              </a:solidFill>
              <a:latin typeface="Inter"/>
              <a:ea typeface="Inter"/>
              <a:cs typeface="Inter"/>
              <a:sym typeface="Inter"/>
            </a:endParaRPr>
          </a:p>
        </p:txBody>
      </p:sp>
      <p:sp>
        <p:nvSpPr>
          <p:cNvPr id="1758" name="Google Shape;1758;p48"/>
          <p:cNvSpPr txBox="1"/>
          <p:nvPr/>
        </p:nvSpPr>
        <p:spPr>
          <a:xfrm>
            <a:off x="548640" y="5486400"/>
            <a:ext cx="9601200" cy="868680"/>
          </a:xfrm>
          <a:prstGeom prst="rect">
            <a:avLst/>
          </a:prstGeom>
          <a:noFill/>
          <a:ln>
            <a:noFill/>
          </a:ln>
        </p:spPr>
        <p:txBody>
          <a:bodyPr anchorCtr="0" anchor="ctr" bIns="0" lIns="0" spcFirstLastPara="1" rIns="0" wrap="square" tIns="0">
            <a:noAutofit/>
          </a:bodyPr>
          <a:lstStyle/>
          <a:p>
            <a:pPr indent="0" lvl="0" marL="0" marR="0" rtl="0" algn="l">
              <a:lnSpc>
                <a:spcPct val="137500"/>
              </a:lnSpc>
              <a:spcBef>
                <a:spcPts val="0"/>
              </a:spcBef>
              <a:spcAft>
                <a:spcPts val="0"/>
              </a:spcAft>
              <a:buClr>
                <a:srgbClr val="A3A3A3"/>
              </a:buClr>
              <a:buSzPts val="1600"/>
              <a:buFont typeface="Inter"/>
              <a:buNone/>
            </a:pPr>
            <a:r>
              <a:rPr b="0" i="0" lang="en-US" sz="1600" u="none" cap="none" strike="noStrike">
                <a:solidFill>
                  <a:srgbClr val="A3A3A3"/>
                </a:solidFill>
                <a:latin typeface="Inter"/>
                <a:ea typeface="Inter"/>
                <a:cs typeface="Inter"/>
                <a:sym typeface="Inter"/>
              </a:rPr>
              <a:t>“Two Wednesdays ago we couldn't have told you what RevPAR was.</a:t>
            </a:r>
            <a:endParaRPr b="0" i="0" sz="1600" u="none" cap="none" strike="noStrike">
              <a:solidFill>
                <a:schemeClr val="dk1"/>
              </a:solidFill>
              <a:latin typeface="Calibri"/>
              <a:ea typeface="Calibri"/>
              <a:cs typeface="Calibri"/>
              <a:sym typeface="Calibri"/>
            </a:endParaRPr>
          </a:p>
          <a:p>
            <a:pPr indent="0" lvl="0" marL="0" marR="0" rtl="0" algn="l">
              <a:lnSpc>
                <a:spcPct val="137500"/>
              </a:lnSpc>
              <a:spcBef>
                <a:spcPts val="0"/>
              </a:spcBef>
              <a:spcAft>
                <a:spcPts val="0"/>
              </a:spcAft>
              <a:buClr>
                <a:srgbClr val="A3A3A3"/>
              </a:buClr>
              <a:buSzPts val="1600"/>
              <a:buFont typeface="Inter"/>
              <a:buNone/>
            </a:pPr>
            <a:r>
              <a:rPr b="0" i="0" lang="en-US" sz="1600" u="none" cap="none" strike="noStrike">
                <a:solidFill>
                  <a:srgbClr val="A3A3A3"/>
                </a:solidFill>
                <a:latin typeface="Inter"/>
                <a:ea typeface="Inter"/>
                <a:cs typeface="Inter"/>
                <a:sym typeface="Inter"/>
              </a:rPr>
              <a:t>Now we can ask an owner how October's pacing, and mean it.”</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