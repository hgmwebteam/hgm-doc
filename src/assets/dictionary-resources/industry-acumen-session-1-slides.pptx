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y="6858000" cx="12191675"/>
  <p:notesSz cx="6858000" cy="12191675"/>
  <p:embeddedFontLst>
    <p:embeddedFont>
      <p:font typeface="Inter"/>
      <p:regular r:id="rId70"/>
      <p:bold r:id="rId71"/>
      <p:italic r:id="rId72"/>
      <p:boldItalic r:id="rId73"/>
    </p:embeddedFont>
    <p:embeddedFont>
      <p:font typeface="Roboto Mono"/>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Inter-boldItalic.fntdata"/><Relationship Id="rId72" Type="http://schemas.openxmlformats.org/officeDocument/2006/relationships/font" Target="fonts/Inter-italic.fntdata"/><Relationship Id="rId31" Type="http://schemas.openxmlformats.org/officeDocument/2006/relationships/slide" Target="slides/slide27.xml"/><Relationship Id="rId75" Type="http://schemas.openxmlformats.org/officeDocument/2006/relationships/font" Target="fonts/RobotoMono-bold.fntdata"/><Relationship Id="rId30" Type="http://schemas.openxmlformats.org/officeDocument/2006/relationships/slide" Target="slides/slide26.xml"/><Relationship Id="rId74" Type="http://schemas.openxmlformats.org/officeDocument/2006/relationships/font" Target="fonts/RobotoMono-regular.fntdata"/><Relationship Id="rId33" Type="http://schemas.openxmlformats.org/officeDocument/2006/relationships/slide" Target="slides/slide29.xml"/><Relationship Id="rId77" Type="http://schemas.openxmlformats.org/officeDocument/2006/relationships/font" Target="fonts/RobotoMono-boldItalic.fntdata"/><Relationship Id="rId32" Type="http://schemas.openxmlformats.org/officeDocument/2006/relationships/slide" Target="slides/slide28.xml"/><Relationship Id="rId76" Type="http://schemas.openxmlformats.org/officeDocument/2006/relationships/font" Target="fonts/RobotoMono-italic.fntdata"/><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Inter-bold.fntdata"/><Relationship Id="rId70" Type="http://schemas.openxmlformats.org/officeDocument/2006/relationships/font" Target="fonts/Inter-regular.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a:t>Okay, is everybody settled in? Fantastic. </a:t>
            </a:r>
            <a:br>
              <a:rPr lang="en-US"/>
            </a:br>
            <a:br>
              <a:rPr lang="en-US"/>
            </a:br>
            <a:r>
              <a:rPr b="1" lang="en-US"/>
              <a:t>Thank you, everybody, for coming today</a:t>
            </a:r>
            <a:r>
              <a:rPr lang="en-US"/>
              <a:t>, everybody in person and on chat.</a:t>
            </a:r>
            <a:br>
              <a:rPr lang="en-US"/>
            </a:br>
            <a:br>
              <a:rPr lang="en-US"/>
            </a:br>
            <a:r>
              <a:rPr b="1" lang="en-US"/>
              <a:t>Nicole and I are very excited today to be giving</a:t>
            </a:r>
            <a:r>
              <a:rPr lang="en-US"/>
              <a:t> a training seminar on some of the terms that are going to be used by our new ICP</a:t>
            </a:r>
            <a:br>
              <a:rPr lang="en-US"/>
            </a:br>
            <a:br>
              <a:rPr lang="en-US"/>
            </a:br>
            <a:r>
              <a:rPr b="1" lang="en-US"/>
              <a:t>Now, before we go any further, yes, this is training seminar 1 of 2.</a:t>
            </a:r>
            <a:r>
              <a:rPr lang="en-US"/>
              <a:t> The reason for that is … we want to give enough time to define, explain, and even calculate the terms we're going to go over (so that it's not just simply Nicole and I up here reading words and definitions and putting all of you to sleep).</a:t>
            </a:r>
            <a:br>
              <a:rPr lang="en-US"/>
            </a:br>
            <a:br>
              <a:rPr lang="en-US"/>
            </a:br>
            <a:r>
              <a:rPr b="1" lang="en-US"/>
              <a:t>We promise this is going to be as fun and interactive</a:t>
            </a:r>
            <a:r>
              <a:rPr lang="en-US"/>
              <a:t> as a training seminar on industry terminology could possible be. </a:t>
            </a:r>
            <a:br>
              <a:rPr lang="en-US"/>
            </a:br>
            <a:br>
              <a:rPr lang="en-US"/>
            </a:br>
            <a:r>
              <a:rPr lang="en-US"/>
              <a:t>So, without further ado, Nicole, please take us away.</a:t>
            </a:r>
            <a:br>
              <a:rPr lang="en-US"/>
            </a:br>
            <a:br>
              <a:rPr lang="en-US"/>
            </a:br>
            <a:r>
              <a:rPr lang="en-US"/>
              <a:t>— slide 1 of 65</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endParaRPr b="1"/>
          </a:p>
          <a:p>
            <a:pPr indent="0" lvl="0" marL="0" rtl="0" algn="l">
              <a:lnSpc>
                <a:spcPct val="115000"/>
              </a:lnSpc>
              <a:spcBef>
                <a:spcPts val="1200"/>
              </a:spcBef>
              <a:spcAft>
                <a:spcPts val="0"/>
              </a:spcAft>
              <a:buClr>
                <a:schemeClr val="dk1"/>
              </a:buClr>
              <a:buSzPts val="1100"/>
              <a:buFont typeface="Arial"/>
              <a:buNone/>
            </a:pPr>
            <a:r>
              <a:rPr b="1" lang="en-US"/>
              <a:t>"Before we get into the terms, here's why we're doing this at all.</a:t>
            </a:r>
            <a:endParaRPr b="1"/>
          </a:p>
          <a:p>
            <a:pPr indent="0" lvl="0" marL="0" rtl="0" algn="l">
              <a:lnSpc>
                <a:spcPct val="115000"/>
              </a:lnSpc>
              <a:spcBef>
                <a:spcPts val="1200"/>
              </a:spcBef>
              <a:spcAft>
                <a:spcPts val="0"/>
              </a:spcAft>
              <a:buClr>
                <a:schemeClr val="dk1"/>
              </a:buClr>
              <a:buSzPts val="1100"/>
              <a:buFont typeface="Arial"/>
              <a:buNone/>
            </a:pPr>
            <a:r>
              <a:rPr b="1" lang="en-US"/>
              <a:t>HGM is moving upmarket. It's the same kind of owner we love working with, the founder who built the place because it was their dream. They're just running a bigger operation now, doing $100K-plus a month with a small team around them.</a:t>
            </a:r>
            <a:endParaRPr b="1"/>
          </a:p>
          <a:p>
            <a:pPr indent="0" lvl="0" marL="0" rtl="0" algn="l">
              <a:lnSpc>
                <a:spcPct val="115000"/>
              </a:lnSpc>
              <a:spcBef>
                <a:spcPts val="1200"/>
              </a:spcBef>
              <a:spcAft>
                <a:spcPts val="0"/>
              </a:spcAft>
              <a:buClr>
                <a:schemeClr val="dk1"/>
              </a:buClr>
              <a:buSzPts val="1100"/>
              <a:buFont typeface="Arial"/>
              <a:buNone/>
            </a:pPr>
            <a:r>
              <a:rPr b="1" lang="en-US"/>
              <a:t>At that size, they talk differently. They're less likely to ask 'how'd the reel do?' More often you'll hear something like 'ADR's up, but spring pace is soft and we're behind our comp set.' [point to diagram] If we don't know those words, we're lost on that call.</a:t>
            </a:r>
            <a:endParaRPr b="1"/>
          </a:p>
          <a:p>
            <a:pPr indent="0" lvl="0" marL="0" rtl="0" algn="l">
              <a:lnSpc>
                <a:spcPct val="115000"/>
              </a:lnSpc>
              <a:spcBef>
                <a:spcPts val="1200"/>
              </a:spcBef>
              <a:spcAft>
                <a:spcPts val="0"/>
              </a:spcAft>
              <a:buClr>
                <a:schemeClr val="dk1"/>
              </a:buClr>
              <a:buSzPts val="1100"/>
              <a:buFont typeface="Arial"/>
              <a:buNone/>
            </a:pPr>
            <a:r>
              <a:rPr b="1" lang="en-US"/>
              <a:t>Here's the thing: we already use this language. Our own funnel promises it. We tell top resorts we'll fill their calendar so they can raise rates past their ceiling. That's an ADR promise. We talk about growing what their resort is worth. That's NOI. We're already selling these outcomes, so now we need to speak them fluently.</a:t>
            </a:r>
            <a:endParaRPr b="1"/>
          </a:p>
          <a:p>
            <a:pPr indent="0" lvl="0" marL="0" rtl="0" algn="l">
              <a:lnSpc>
                <a:spcPct val="115000"/>
              </a:lnSpc>
              <a:spcBef>
                <a:spcPts val="1200"/>
              </a:spcBef>
              <a:spcAft>
                <a:spcPts val="0"/>
              </a:spcAft>
              <a:buClr>
                <a:schemeClr val="dk1"/>
              </a:buClr>
              <a:buSzPts val="1100"/>
              <a:buFont typeface="Arial"/>
              <a:buNone/>
            </a:pPr>
            <a:r>
              <a:rPr b="1" lang="en-US"/>
              <a:t>If you're on client calls, this is about credibility. You can follow the owner, ask the right next question, and connect our work to their revenue, not our deliverables. If you build the content, sites, or ads, this is the scoreboard your work gets judged on.</a:t>
            </a:r>
            <a:endParaRPr b="1"/>
          </a:p>
          <a:p>
            <a:pPr indent="0" lvl="0" marL="0" rtl="0" algn="l">
              <a:lnSpc>
                <a:spcPct val="115000"/>
              </a:lnSpc>
              <a:spcBef>
                <a:spcPts val="1200"/>
              </a:spcBef>
              <a:spcAft>
                <a:spcPts val="0"/>
              </a:spcAft>
              <a:buClr>
                <a:schemeClr val="dk1"/>
              </a:buClr>
              <a:buSzPts val="1100"/>
              <a:buFont typeface="Arial"/>
              <a:buNone/>
            </a:pPr>
            <a:r>
              <a:rPr b="1" lang="en-US"/>
              <a:t>So we're learning it now, before the calls.</a:t>
            </a:r>
            <a:br>
              <a:rPr b="1" lang="en-US"/>
            </a:br>
            <a:br>
              <a:rPr b="1" lang="en-US"/>
            </a:br>
            <a:r>
              <a:rPr b="1" lang="en-US"/>
              <a:t>--------</a:t>
            </a:r>
            <a:br>
              <a:rPr b="1" lang="en-US"/>
            </a:br>
            <a:br>
              <a:rPr b="1" lang="en-US"/>
            </a:br>
            <a:r>
              <a:rPr lang="en-US"/>
              <a:t>Before we get into the terms, here's why we're doing this at all.</a:t>
            </a:r>
            <a:endParaRPr/>
          </a:p>
          <a:p>
            <a:pPr indent="0" lvl="0" marL="0" rtl="0" algn="l">
              <a:lnSpc>
                <a:spcPct val="115000"/>
              </a:lnSpc>
              <a:spcBef>
                <a:spcPts val="1200"/>
              </a:spcBef>
              <a:spcAft>
                <a:spcPts val="0"/>
              </a:spcAft>
              <a:buClr>
                <a:schemeClr val="dk1"/>
              </a:buClr>
              <a:buSzPts val="1100"/>
              <a:buFont typeface="Arial"/>
              <a:buNone/>
            </a:pPr>
            <a:r>
              <a:rPr lang="en-US"/>
              <a:t>HGM is moving upmarket. It's the same kind of owner we love working with: the founder who built the place because it was their dream. They're just running a bigger operation now, with a small team around them.</a:t>
            </a:r>
            <a:endParaRPr/>
          </a:p>
          <a:p>
            <a:pPr indent="0" lvl="0" marL="0" rtl="0" algn="l">
              <a:lnSpc>
                <a:spcPct val="115000"/>
              </a:lnSpc>
              <a:spcBef>
                <a:spcPts val="1200"/>
              </a:spcBef>
              <a:spcAft>
                <a:spcPts val="0"/>
              </a:spcAft>
              <a:buClr>
                <a:schemeClr val="dk1"/>
              </a:buClr>
              <a:buSzPts val="1100"/>
              <a:buFont typeface="Arial"/>
              <a:buNone/>
            </a:pPr>
            <a:r>
              <a:rPr lang="en-US"/>
              <a:t>At that size, they talk differently. You're less likely to hear “how'd the reel do?” and more likely to hear “ADR's up, but spring pace is soft and we're behind our comp set.” [Point to the diagram.] If we don't know those words, we're lost on that call. Don't worry: by the end of today, every word in that sentence will make sense.</a:t>
            </a:r>
            <a:endParaRPr/>
          </a:p>
          <a:p>
            <a:pPr indent="0" lvl="0" marL="0" rtl="0" algn="l">
              <a:lnSpc>
                <a:spcPct val="115000"/>
              </a:lnSpc>
              <a:spcBef>
                <a:spcPts val="1200"/>
              </a:spcBef>
              <a:spcAft>
                <a:spcPts val="0"/>
              </a:spcAft>
              <a:buClr>
                <a:schemeClr val="dk1"/>
              </a:buClr>
              <a:buSzPts val="1100"/>
              <a:buFont typeface="Arial"/>
              <a:buNone/>
            </a:pPr>
            <a:r>
              <a:rPr lang="en-US"/>
              <a:t>Here's the thing: we already use this language. Our own funnel tells top resorts that reliable demand lets them raise rates past their ceiling. That's an ADR promise. We talk about growing what their resort is worth. That's NOI. We're already selling these outcomes, so we need to speak them fluently.</a:t>
            </a:r>
            <a:endParaRPr/>
          </a:p>
          <a:p>
            <a:pPr indent="0" lvl="0" marL="0" rtl="0" algn="l">
              <a:lnSpc>
                <a:spcPct val="115000"/>
              </a:lnSpc>
              <a:spcBef>
                <a:spcPts val="1200"/>
              </a:spcBef>
              <a:spcAft>
                <a:spcPts val="0"/>
              </a:spcAft>
              <a:buClr>
                <a:schemeClr val="dk1"/>
              </a:buClr>
              <a:buSzPts val="1100"/>
              <a:buFont typeface="Arial"/>
              <a:buNone/>
            </a:pPr>
            <a:r>
              <a:rPr lang="en-US"/>
              <a:t>If you're on client calls, this is about credibility: following the owner, asking the right next question, and connecting our work to their revenue. If you build the content, sites or ads, this is the scoreboard your work gets judged on.</a:t>
            </a:r>
            <a:endParaRPr/>
          </a:p>
          <a:p>
            <a:pPr indent="0" lvl="0" marL="0" rtl="0" algn="l">
              <a:lnSpc>
                <a:spcPct val="115000"/>
              </a:lnSpc>
              <a:spcBef>
                <a:spcPts val="1200"/>
              </a:spcBef>
              <a:spcAft>
                <a:spcPts val="0"/>
              </a:spcAft>
              <a:buClr>
                <a:schemeClr val="dk1"/>
              </a:buClr>
              <a:buSzPts val="1100"/>
              <a:buFont typeface="Arial"/>
              <a:buNone/>
            </a:pPr>
            <a:r>
              <a:rPr lang="en-US"/>
              <a:t>None of this is because a call went badly. We're getting ahead of the calls.</a:t>
            </a:r>
            <a:endParaRPr/>
          </a:p>
          <a:p>
            <a:pPr indent="0" lvl="0" marL="0" rtl="0" algn="l">
              <a:lnSpc>
                <a:spcPct val="115000"/>
              </a:lnSpc>
              <a:spcBef>
                <a:spcPts val="1200"/>
              </a:spcBef>
              <a:spcAft>
                <a:spcPts val="0"/>
              </a:spcAft>
              <a:buClr>
                <a:schemeClr val="dk1"/>
              </a:buClr>
              <a:buSzPts val="1100"/>
              <a:buFont typeface="Arial"/>
              <a:buNone/>
            </a:pPr>
            <a:r>
              <a:t/>
            </a:r>
            <a:endParaRPr b="1"/>
          </a:p>
          <a:p>
            <a:pPr indent="0" lvl="0" marL="0" rtl="0" algn="l">
              <a:spcBef>
                <a:spcPts val="1200"/>
              </a:spcBef>
              <a:spcAft>
                <a:spcPts val="0"/>
              </a:spcAft>
              <a:buNone/>
            </a:pPr>
            <a:r>
              <a:t/>
            </a:r>
            <a:endParaRPr b="1"/>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endParaRPr b="1"/>
          </a:p>
          <a:p>
            <a:pPr indent="0" lvl="0" marL="0" rtl="0" algn="l">
              <a:lnSpc>
                <a:spcPct val="115000"/>
              </a:lnSpc>
              <a:spcBef>
                <a:spcPts val="1200"/>
              </a:spcBef>
              <a:spcAft>
                <a:spcPts val="0"/>
              </a:spcAft>
              <a:buClr>
                <a:schemeClr val="dk1"/>
              </a:buClr>
              <a:buSzPts val="1100"/>
              <a:buFont typeface="Arial"/>
              <a:buNone/>
            </a:pPr>
            <a:r>
              <a:rPr b="1" lang="en-US"/>
              <a:t>So what should you walk out of here with today? Not fluency. Nobody's becoming a revenue manager in an hour. The goal is simpler than that. When an owner drops one of these words, you recognize it, you know roughly what it's about, and you can ask a good next question. The dictionary covers the rest.</a:t>
            </a:r>
            <a:endParaRPr b="1"/>
          </a:p>
          <a:p>
            <a:pPr indent="0" lvl="0" marL="0" rtl="0" algn="l">
              <a:lnSpc>
                <a:spcPct val="115000"/>
              </a:lnSpc>
              <a:spcBef>
                <a:spcPts val="1200"/>
              </a:spcBef>
              <a:spcAft>
                <a:spcPts val="0"/>
              </a:spcAft>
              <a:buClr>
                <a:schemeClr val="dk1"/>
              </a:buClr>
              <a:buSzPts val="1100"/>
              <a:buFont typeface="Arial"/>
              <a:buNone/>
            </a:pPr>
            <a:r>
              <a:rPr b="1" lang="en-US"/>
              <a:t>You're also starting further ahead than you think. Some of these words you will have heard but </a:t>
            </a:r>
            <a:r>
              <a:rPr b="1" lang="en-US"/>
              <a:t>maybe</a:t>
            </a:r>
            <a:r>
              <a:rPr b="1" lang="en-US"/>
              <a:t> can’t confidently define or know </a:t>
            </a:r>
            <a:r>
              <a:rPr b="1" lang="en-US"/>
              <a:t>how</a:t>
            </a:r>
            <a:r>
              <a:rPr b="1" lang="en-US"/>
              <a:t> to use it. Orphan night for example, which is that single empty night stuck between two bookings that nobody can sell. Some of you have stared at one of those in a client's calendar. You just didn't have the name for it.</a:t>
            </a:r>
            <a:endParaRPr b="1"/>
          </a:p>
          <a:p>
            <a:pPr indent="0" lvl="0" marL="0" rtl="0" algn="l">
              <a:lnSpc>
                <a:spcPct val="115000"/>
              </a:lnSpc>
              <a:spcBef>
                <a:spcPts val="1200"/>
              </a:spcBef>
              <a:spcAft>
                <a:spcPts val="0"/>
              </a:spcAft>
              <a:buClr>
                <a:schemeClr val="dk1"/>
              </a:buClr>
              <a:buSzPts val="1100"/>
              <a:buFont typeface="Arial"/>
              <a:buNone/>
            </a:pPr>
            <a:r>
              <a:rPr b="1" lang="en-US"/>
              <a:t>Last thing. This is new for most of us, Kyle and me included. We've been learning it right alongside you. So nobody's behind, and there's no such thing as a dumb question today. If a term doesn't click, stop us. Chances are someone else is wondering the same thing.</a:t>
            </a:r>
            <a:br>
              <a:rPr b="1" lang="en-US"/>
            </a:br>
            <a:br>
              <a:rPr b="1" lang="en-US"/>
            </a:br>
            <a:r>
              <a:rPr b="1" lang="en-US"/>
              <a:t>--------</a:t>
            </a:r>
            <a:endParaRPr b="1"/>
          </a:p>
          <a:p>
            <a:pPr indent="0" lvl="0" marL="0" rtl="0" algn="l">
              <a:spcBef>
                <a:spcPts val="1200"/>
              </a:spcBef>
              <a:spcAft>
                <a:spcPts val="0"/>
              </a:spcAft>
              <a:buClr>
                <a:schemeClr val="dk1"/>
              </a:buClr>
              <a:buSzPts val="1100"/>
              <a:buFont typeface="Arial"/>
              <a:buNone/>
            </a:pPr>
            <a:r>
              <a:rPr lang="en-US"/>
              <a:t>So what should you walk out with today? Not fluency. Nobody's becoming a revenue manager in an hour. When an owner drops one of these words, you recognize it, you know roughly what it's about, and you can ask a good next question. The dictionary covers the rest.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You're also starting further ahead than you think. Seven of today's sixteen terms come straight from HiddenGem Brain, our own internal knowledge base. Orphan night is one: that single empty night stuck between two bookings that almost nobody wants. Some of you have stared at one in a client's calendar. You just didn't have the name for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Last thing. This is new for most of us, Kyle and me included. So nobody's behind, and there's no such thing as a dumb question. If a term doesn't click, stop us. Someone else is wondering the same thing.</a:t>
            </a:r>
            <a:endParaRPr/>
          </a:p>
          <a:p>
            <a:pPr indent="0" lvl="0" marL="0" rtl="0" algn="l">
              <a:spcBef>
                <a:spcPts val="0"/>
              </a:spcBef>
              <a:spcAft>
                <a:spcPts val="0"/>
              </a:spcAft>
              <a:buNone/>
            </a:pPr>
            <a:r>
              <a:t/>
            </a:r>
            <a:endParaRPr b="1"/>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endParaRPr b="1"/>
          </a:p>
          <a:p>
            <a:pPr indent="0" lvl="0" marL="0" rtl="0" algn="l">
              <a:lnSpc>
                <a:spcPct val="115000"/>
              </a:lnSpc>
              <a:spcBef>
                <a:spcPts val="1200"/>
              </a:spcBef>
              <a:spcAft>
                <a:spcPts val="0"/>
              </a:spcAft>
              <a:buClr>
                <a:schemeClr val="dk1"/>
              </a:buClr>
              <a:buSzPts val="1100"/>
              <a:buFont typeface="Arial"/>
              <a:buNone/>
            </a:pPr>
            <a:r>
              <a:rPr b="1" lang="en-US"/>
              <a:t>Here's how today is laid out. Three blocks.</a:t>
            </a:r>
            <a:endParaRPr b="1"/>
          </a:p>
          <a:p>
            <a:pPr indent="0" lvl="0" marL="0" rtl="0" algn="l">
              <a:lnSpc>
                <a:spcPct val="115000"/>
              </a:lnSpc>
              <a:spcBef>
                <a:spcPts val="1200"/>
              </a:spcBef>
              <a:spcAft>
                <a:spcPts val="0"/>
              </a:spcAft>
              <a:buClr>
                <a:schemeClr val="dk1"/>
              </a:buClr>
              <a:buSzPts val="1100"/>
              <a:buFont typeface="Arial"/>
              <a:buNone/>
            </a:pPr>
            <a:r>
              <a:rPr b="1" lang="en-US"/>
              <a:t>First, how a rate turns into profit. We'll start with what a guest pays for a night and follow that money down to what the owner actually keeps. </a:t>
            </a:r>
            <a:endParaRPr b="1"/>
          </a:p>
          <a:p>
            <a:pPr indent="0" lvl="0" marL="0" rtl="0" algn="l">
              <a:lnSpc>
                <a:spcPct val="115000"/>
              </a:lnSpc>
              <a:spcBef>
                <a:spcPts val="1200"/>
              </a:spcBef>
              <a:spcAft>
                <a:spcPts val="0"/>
              </a:spcAft>
              <a:buClr>
                <a:schemeClr val="dk1"/>
              </a:buClr>
              <a:buSzPts val="1100"/>
              <a:buFont typeface="Arial"/>
              <a:buNone/>
            </a:pPr>
            <a:r>
              <a:rPr b="1" lang="en-US"/>
              <a:t>Second, how the price gets set. That covers who an owner compares themselves to, plus the bookings they lose along the way, whether they turned the guest away or the guest walked.</a:t>
            </a:r>
            <a:endParaRPr b="1"/>
          </a:p>
          <a:p>
            <a:pPr indent="0" lvl="0" marL="0" rtl="0" algn="l">
              <a:lnSpc>
                <a:spcPct val="115000"/>
              </a:lnSpc>
              <a:spcBef>
                <a:spcPts val="1200"/>
              </a:spcBef>
              <a:spcAft>
                <a:spcPts val="0"/>
              </a:spcAft>
              <a:buClr>
                <a:schemeClr val="dk1"/>
              </a:buClr>
              <a:buSzPts val="1100"/>
              <a:buFont typeface="Arial"/>
              <a:buNone/>
            </a:pPr>
            <a:r>
              <a:rPr b="1" lang="en-US"/>
              <a:t>Third, when guests book. How far ahead people book, and how an owner can tell if they're ahead or behind for dates that are still months away.</a:t>
            </a:r>
            <a:endParaRPr b="1"/>
          </a:p>
          <a:p>
            <a:pPr indent="0" lvl="0" marL="0" rtl="0" algn="l">
              <a:lnSpc>
                <a:spcPct val="115000"/>
              </a:lnSpc>
              <a:spcBef>
                <a:spcPts val="1200"/>
              </a:spcBef>
              <a:spcAft>
                <a:spcPts val="0"/>
              </a:spcAft>
              <a:buClr>
                <a:schemeClr val="dk1"/>
              </a:buClr>
              <a:buSzPts val="1100"/>
              <a:buFont typeface="Arial"/>
              <a:buNone/>
            </a:pPr>
            <a:r>
              <a:rPr b="1" lang="en-US"/>
              <a:t>Each block builds on the one before it. So if something from block one is fuzzy, ask before we move on.</a:t>
            </a:r>
            <a:endParaRPr b="1"/>
          </a:p>
          <a:p>
            <a:pPr indent="0" lvl="0" marL="0" rtl="0" algn="l">
              <a:spcBef>
                <a:spcPts val="1200"/>
              </a:spcBef>
              <a:spcAft>
                <a:spcPts val="0"/>
              </a:spcAft>
              <a:buNone/>
            </a:pPr>
            <a:r>
              <a:rPr b="1" lang="en-US"/>
              <a:t>--------</a:t>
            </a:r>
            <a:br>
              <a:rPr b="1" lang="en-US"/>
            </a:br>
            <a:br>
              <a:rPr b="1" lang="en-US"/>
            </a:br>
            <a:r>
              <a:rPr lang="en-US"/>
              <a:t>Here's how today's laid out: three blocks, each a handful of terms and then a quick practice round.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First, how a rate turns into profit. Second, how the price gets set, and the bookings an owner loses along the way. Third, when guests book, and whether a date months away is on track.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Each block builds on the last, so if something's fuzzy, ask before we move on.</a:t>
            </a:r>
            <a:endParaRPr/>
          </a:p>
          <a:p>
            <a:pPr indent="0" lvl="0" marL="0" rtl="0" algn="l">
              <a:spcBef>
                <a:spcPts val="0"/>
              </a:spcBef>
              <a:spcAft>
                <a:spcPts val="0"/>
              </a:spcAft>
              <a:buNone/>
            </a:pPr>
            <a:r>
              <a:t/>
            </a:r>
            <a:endParaRPr b="1"/>
          </a:p>
        </p:txBody>
      </p:sp>
      <p:sp>
        <p:nvSpPr>
          <p:cNvPr id="93" name="Google Shape;9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b="1" lang="en-US"/>
            </a:br>
            <a:br>
              <a:rPr b="1" lang="en-US"/>
            </a:br>
            <a:r>
              <a:rPr b="1" lang="en-US"/>
              <a:t>Block 1 is about money</a:t>
            </a:r>
            <a:r>
              <a:rPr lang="en-US"/>
              <a:t>: how a room rate turns into the profit a buyer would pay for. Six terms: ADR, RevPAR, ancillary revenue, GOP, NOI and flow-through.</a:t>
            </a:r>
            <a:endParaRPr/>
          </a:p>
          <a:p>
            <a:pPr indent="0" lvl="0" marL="0" rtl="0" algn="l">
              <a:lnSpc>
                <a:spcPct val="115000"/>
              </a:lnSpc>
              <a:spcBef>
                <a:spcPts val="1200"/>
              </a:spcBef>
              <a:spcAft>
                <a:spcPts val="0"/>
              </a:spcAft>
              <a:buClr>
                <a:schemeClr val="dk1"/>
              </a:buClr>
              <a:buSzPts val="1100"/>
              <a:buFont typeface="Arial"/>
              <a:buNone/>
            </a:pPr>
            <a:r>
              <a:rPr b="1" lang="en-US"/>
              <a:t>We'll use one property the whole way through</a:t>
            </a:r>
            <a:r>
              <a:rPr lang="en-US"/>
              <a:t>: Lakeside Lodge, 50 rooms, in September. Lakeside Lodge, its owner Marisol and every number in this block are made up.</a:t>
            </a:r>
            <a:endParaRPr/>
          </a:p>
          <a:p>
            <a:pPr indent="0" lvl="0" marL="0" rtl="0" algn="l">
              <a:spcBef>
                <a:spcPts val="1200"/>
              </a:spcBef>
              <a:spcAft>
                <a:spcPts val="0"/>
              </a:spcAft>
              <a:buNone/>
            </a:pPr>
            <a:r>
              <a:t/>
            </a:r>
            <a:endParaRPr b="1"/>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sz="1100">
                <a:latin typeface="Arial"/>
                <a:ea typeface="Arial"/>
                <a:cs typeface="Arial"/>
                <a:sym typeface="Arial"/>
              </a:rPr>
              <a:t>Before the terms, one picture. When an owner says “profit”, they mean one of three numbers, and they come in this order.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US" sz="1100">
                <a:latin typeface="Arial"/>
                <a:ea typeface="Arial"/>
                <a:cs typeface="Arial"/>
                <a:sym typeface="Arial"/>
              </a:rPr>
              <a:t>[Left to right.]</a:t>
            </a:r>
            <a:r>
              <a:rPr lang="en-US" sz="1100">
                <a:latin typeface="Arial"/>
                <a:ea typeface="Arial"/>
                <a:cs typeface="Arial"/>
                <a:sym typeface="Arial"/>
              </a:rPr>
              <a:t> Total revenue is everything guests spend: rooms, spa, restaurant. Lakeside Lodge's September: $600,000. Take off the cost of running the place and you get GOP, gross operating profit: $175,000. Take off the owner's fixed costs and you get NOI, net operating income: $120,000. That's the buyer's number.</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Every term in this block sits somewhere on this ladder. ADR and RevPAR measure the rooms part of that top box. Ancillary revenue is the rest of it. GOP and NOI are the next two rungs. Flow-through asks how much of a change at the top made it down to GOP.</a:t>
            </a:r>
            <a:br>
              <a:rPr lang="en-US"/>
            </a:br>
            <a:br>
              <a:rPr lang="en-US"/>
            </a:br>
            <a:r>
              <a:rPr lang="en-US"/>
              <a:t>— slide 6 of 65</a:t>
            </a:r>
            <a:endParaRPr/>
          </a:p>
        </p:txBody>
      </p:sp>
      <p:sp>
        <p:nvSpPr>
          <p:cNvPr id="208" name="Google Shape;2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a:t>So that's the ladder. The catch: owners don't label their numbers. “Revenue's up” or “great month” could mean any rung. So how do you find out which one, without sounding like you're testing them? Five questions. A habit, not a checklist.</a:t>
            </a:r>
            <a:endParaRPr/>
          </a:p>
          <a:p>
            <a:pPr indent="0" lvl="0" marL="0" rtl="0" algn="l">
              <a:lnSpc>
                <a:spcPct val="115000"/>
              </a:lnSpc>
              <a:spcBef>
                <a:spcPts val="1200"/>
              </a:spcBef>
              <a:spcAft>
                <a:spcPts val="0"/>
              </a:spcAft>
              <a:buClr>
                <a:schemeClr val="dk1"/>
              </a:buClr>
              <a:buSzPts val="1100"/>
              <a:buFont typeface="Arial"/>
              <a:buNone/>
            </a:pPr>
            <a:r>
              <a:rPr b="1" lang="en-US"/>
              <a:t>One</a:t>
            </a:r>
            <a:r>
              <a:rPr lang="en-US"/>
              <a:t>: rooms, or total? Just the rooms, or the spa and restaurant too.</a:t>
            </a:r>
            <a:endParaRPr/>
          </a:p>
          <a:p>
            <a:pPr indent="0" lvl="0" marL="0" rtl="0" algn="l">
              <a:lnSpc>
                <a:spcPct val="115000"/>
              </a:lnSpc>
              <a:spcBef>
                <a:spcPts val="1200"/>
              </a:spcBef>
              <a:spcAft>
                <a:spcPts val="0"/>
              </a:spcAft>
              <a:buClr>
                <a:schemeClr val="dk1"/>
              </a:buClr>
              <a:buSzPts val="1100"/>
              <a:buFont typeface="Arial"/>
              <a:buNone/>
            </a:pPr>
            <a:r>
              <a:rPr b="1" lang="en-US"/>
              <a:t>Two</a:t>
            </a:r>
            <a:r>
              <a:rPr lang="en-US"/>
              <a:t>: sold, or available? That's the difference between ADR and RevPAR, coming up next.</a:t>
            </a:r>
            <a:endParaRPr/>
          </a:p>
          <a:p>
            <a:pPr indent="0" lvl="0" marL="0" rtl="0" algn="l">
              <a:lnSpc>
                <a:spcPct val="115000"/>
              </a:lnSpc>
              <a:spcBef>
                <a:spcPts val="1200"/>
              </a:spcBef>
              <a:spcAft>
                <a:spcPts val="0"/>
              </a:spcAft>
              <a:buClr>
                <a:schemeClr val="dk1"/>
              </a:buClr>
              <a:buSzPts val="1100"/>
              <a:buFont typeface="Arial"/>
              <a:buNone/>
            </a:pPr>
            <a:r>
              <a:rPr b="1" lang="en-US"/>
              <a:t>Three</a:t>
            </a:r>
            <a:r>
              <a:rPr lang="en-US"/>
              <a:t>: which rung? Revenue, GOP or NOI.</a:t>
            </a:r>
            <a:endParaRPr/>
          </a:p>
          <a:p>
            <a:pPr indent="0" lvl="0" marL="0" rtl="0" algn="l">
              <a:lnSpc>
                <a:spcPct val="115000"/>
              </a:lnSpc>
              <a:spcBef>
                <a:spcPts val="1200"/>
              </a:spcBef>
              <a:spcAft>
                <a:spcPts val="0"/>
              </a:spcAft>
              <a:buClr>
                <a:schemeClr val="dk1"/>
              </a:buClr>
              <a:buSzPts val="1100"/>
              <a:buFont typeface="Arial"/>
              <a:buNone/>
            </a:pPr>
            <a:r>
              <a:rPr b="1" lang="en-US"/>
              <a:t>Four</a:t>
            </a:r>
            <a:r>
              <a:rPr lang="en-US"/>
              <a:t>: the level, or the change? A good month isn't the same as good growth. That's flow-through.</a:t>
            </a:r>
            <a:endParaRPr/>
          </a:p>
          <a:p>
            <a:pPr indent="0" lvl="0" marL="0" rtl="0" algn="l">
              <a:lnSpc>
                <a:spcPct val="115000"/>
              </a:lnSpc>
              <a:spcBef>
                <a:spcPts val="1200"/>
              </a:spcBef>
              <a:spcAft>
                <a:spcPts val="0"/>
              </a:spcAft>
              <a:buClr>
                <a:schemeClr val="dk1"/>
              </a:buClr>
              <a:buSzPts val="1100"/>
              <a:buFont typeface="Arial"/>
              <a:buNone/>
            </a:pPr>
            <a:r>
              <a:rPr b="1" lang="en-US"/>
              <a:t>Five</a:t>
            </a:r>
            <a:r>
              <a:rPr lang="en-US"/>
              <a:t>: what did they leave out? Listen for the qualifier, like “basically full”. That's usually where the real question is.</a:t>
            </a:r>
            <a:endParaRPr/>
          </a:p>
          <a:p>
            <a:pPr indent="0" lvl="0" marL="0" rtl="0" algn="l">
              <a:lnSpc>
                <a:spcPct val="115000"/>
              </a:lnSpc>
              <a:spcBef>
                <a:spcPts val="1200"/>
              </a:spcBef>
              <a:spcAft>
                <a:spcPts val="0"/>
              </a:spcAft>
              <a:buClr>
                <a:schemeClr val="dk1"/>
              </a:buClr>
              <a:buSzPts val="1100"/>
              <a:buFont typeface="Arial"/>
              <a:buNone/>
            </a:pPr>
            <a:r>
              <a:rPr lang="en-US"/>
              <a:t>It can be as simple as: “When you say revenue is up, is that total, or just rooms?” It sounds like you know there's more than one answer.</a:t>
            </a:r>
            <a:endParaRPr/>
          </a:p>
          <a:p>
            <a:pPr indent="0" lvl="0" marL="0" rtl="0" algn="l">
              <a:spcBef>
                <a:spcPts val="1200"/>
              </a:spcBef>
              <a:spcAft>
                <a:spcPts val="0"/>
              </a:spcAft>
              <a:buNone/>
            </a:pPr>
            <a:r>
              <a:rPr lang="en-US"/>
              <a:t>— slide 7 of 65</a:t>
            </a:r>
            <a:endParaRPr/>
          </a:p>
        </p:txBody>
      </p:sp>
      <p:sp>
        <p:nvSpPr>
          <p:cNvPr id="236" name="Google Shape;2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endParaRPr/>
          </a:p>
          <a:p>
            <a:pPr indent="0" lvl="0" marL="0" rtl="0" algn="l">
              <a:spcBef>
                <a:spcPts val="0"/>
              </a:spcBef>
              <a:spcAft>
                <a:spcPts val="0"/>
              </a:spcAft>
              <a:buNone/>
            </a:pPr>
            <a:r>
              <a:rPr lang="en-US" sz="1100">
                <a:latin typeface="Arial"/>
                <a:ea typeface="Arial"/>
                <a:cs typeface="Arial"/>
                <a:sym typeface="Arial"/>
              </a:rPr>
              <a:t>ADR, average daily rate: what a room actually sold for, on average. Room revenue divided by rooms sold.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Lakeside Lodge sold 1,200 room nights in September for $360,000. That's $300 a room. </a:t>
            </a:r>
            <a:r>
              <a:rPr i="1" lang="en-US" sz="1100">
                <a:latin typeface="Arial"/>
                <a:ea typeface="Arial"/>
                <a:cs typeface="Arial"/>
                <a:sym typeface="Arial"/>
              </a:rPr>
              <a:t>[Calendar.]</a:t>
            </a:r>
            <a:r>
              <a:rPr lang="en-US" sz="1100">
                <a:latin typeface="Arial"/>
                <a:ea typeface="Arial"/>
                <a:cs typeface="Arial"/>
                <a:sym typeface="Arial"/>
              </a:rPr>
              <a:t> Peak nights sold out at $370, the rest sold at $250, and it averages out to $300.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it's the number they'll quote without being asked. Rate is what an owner feels most, and it's the first thing a bank or a buyer asks about.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key word is “sold”. Empty rooms aren't in it. That's why a property can post a great ADR in a terrible month: sell fewer rooms at higher prices and ADR goes up while the month gets worse.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“Your ADR held up nicely this month. The question is whether the discounting on quiet nights is pulling it down.” And when an owner leads with ADR, the useful follow-up is how full they were. That's the next term.</a:t>
            </a:r>
            <a:endParaRPr sz="1100">
              <a:latin typeface="Arial"/>
              <a:ea typeface="Arial"/>
              <a:cs typeface="Arial"/>
              <a:sym typeface="Arial"/>
            </a:endParaRPr>
          </a:p>
          <a:p>
            <a:pPr indent="0" lvl="0" marL="0" rtl="0" algn="l">
              <a:spcBef>
                <a:spcPts val="1200"/>
              </a:spcBef>
              <a:spcAft>
                <a:spcPts val="0"/>
              </a:spcAft>
              <a:buNone/>
            </a:pPr>
            <a:r>
              <a:rPr lang="en-US"/>
              <a:t>— slide 8 of 65</a:t>
            </a:r>
            <a:endParaRPr/>
          </a:p>
        </p:txBody>
      </p:sp>
      <p:sp>
        <p:nvSpPr>
          <p:cNvPr id="276" name="Google Shape;27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sz="1100">
                <a:latin typeface="Arial"/>
                <a:ea typeface="Arial"/>
                <a:cs typeface="Arial"/>
                <a:sym typeface="Arial"/>
              </a:rPr>
              <a:t>RevPAR, revenue per available room. Same room revenue as ADR, one change: you divide by every room you had to sell, not just the ones you sold.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Lakeside Lodge had 50 rooms for 30 nights, so 1,500 room nights. $360,000 divided by 1,500 is $240.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Put it next to ADR. Same month, same money, two stories: $300 per sold room, $240 per available room. </a:t>
            </a:r>
            <a:r>
              <a:rPr i="1" lang="en-US" sz="1100">
                <a:latin typeface="Arial"/>
                <a:ea typeface="Arial"/>
                <a:cs typeface="Arial"/>
                <a:sym typeface="Arial"/>
              </a:rPr>
              <a:t>[Calendar.]</a:t>
            </a:r>
            <a:r>
              <a:rPr lang="en-US" sz="1100">
                <a:latin typeface="Arial"/>
                <a:ea typeface="Arial"/>
                <a:cs typeface="Arial"/>
                <a:sym typeface="Arial"/>
              </a:rPr>
              <a:t> The gap is the 300 room nights that sat empty on the quieter nights. It's also ADR times occupancy, the share of rooms sold: $300 times 80% is $240.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RevPAR moves if price or fill moves, so it's the honest one-number read on the rooms business. It's what owners reach for when someone asks how the year's going. What it ignores completely is the spa and the restaurant. That's next.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“RevPAR tells us rate and fill together, so we're not fooled by a full house sold too cheap.”</a:t>
            </a:r>
            <a:endParaRPr sz="1100">
              <a:latin typeface="Arial"/>
              <a:ea typeface="Arial"/>
              <a:cs typeface="Arial"/>
              <a:sym typeface="Arial"/>
            </a:endParaRPr>
          </a:p>
          <a:p>
            <a:pPr indent="0" lvl="0" marL="0" rtl="0" algn="l">
              <a:spcBef>
                <a:spcPts val="1200"/>
              </a:spcBef>
              <a:spcAft>
                <a:spcPts val="0"/>
              </a:spcAft>
              <a:buNone/>
            </a:pPr>
            <a:r>
              <a:rPr lang="en-US"/>
              <a:t>— slide 9 of 65</a:t>
            </a:r>
            <a:endParaRPr/>
          </a:p>
        </p:txBody>
      </p:sp>
      <p:sp>
        <p:nvSpPr>
          <p:cNvPr id="409" name="Google Shape;40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sz="1100">
                <a:latin typeface="Arial"/>
                <a:ea typeface="Arial"/>
                <a:cs typeface="Arial"/>
                <a:sym typeface="Arial"/>
              </a:rPr>
              <a:t>Ancillary revenue is everything a guest spends beyond the room: food and drink, the spa, activities, add-ons. Owners also say ancillary spend. It's less a formula than a sum: add up everything that isn't the room.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US" sz="1100">
                <a:latin typeface="Arial"/>
                <a:ea typeface="Arial"/>
                <a:cs typeface="Arial"/>
                <a:sym typeface="Arial"/>
              </a:rPr>
              <a:t>[Bars.]</a:t>
            </a:r>
            <a:r>
              <a:rPr lang="en-US" sz="1100">
                <a:latin typeface="Arial"/>
                <a:ea typeface="Arial"/>
                <a:cs typeface="Arial"/>
                <a:sym typeface="Arial"/>
              </a:rPr>
              <a:t> At Lakeside Lodge, rooms brought in $360,000. The spa, restaurant and bar brought in another $240,000. That's 40% of the month.</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RevPAR doesn't count a dollar of it. An owner can have a flat rooms month and a great month overall. And it's revenue marketing can grow without asking the owner to raise a rate.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“Rooms are only part of the story here. How much of your ancillary revenue comes from the spa and dinner?”</a:t>
            </a:r>
            <a:endParaRPr sz="1100">
              <a:latin typeface="Arial"/>
              <a:ea typeface="Arial"/>
              <a:cs typeface="Arial"/>
              <a:sym typeface="Arial"/>
            </a:endParaRPr>
          </a:p>
          <a:p>
            <a:pPr indent="0" lvl="0" marL="0" rtl="0" algn="l">
              <a:spcBef>
                <a:spcPts val="1200"/>
              </a:spcBef>
              <a:spcAft>
                <a:spcPts val="0"/>
              </a:spcAft>
              <a:buNone/>
            </a:pPr>
            <a:r>
              <a:rPr lang="en-US"/>
              <a:t>— slide 10 of 65</a:t>
            </a:r>
            <a:endParaRPr/>
          </a:p>
        </p:txBody>
      </p:sp>
      <p:sp>
        <p:nvSpPr>
          <p:cNvPr id="542" name="Google Shape;54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b="1" lang="en-US"/>
            </a:br>
            <a:br>
              <a:rPr lang="en-US"/>
            </a:br>
            <a:r>
              <a:rPr lang="en-US" sz="1100">
                <a:latin typeface="Arial"/>
                <a:ea typeface="Arial"/>
                <a:cs typeface="Arial"/>
                <a:sym typeface="Arial"/>
              </a:rPr>
              <a:t>GOP, gross operating profit: the middle rung. It's what's left of revenue after the cost of running the place.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Two kinds of cost come off. Departmental costs: running each part that earns money, like rooms, the restaurant and the spa. Mostly staff and supplies. Undistributed costs: running the whole property, the things you can't pin on one department. Admin, sales and marketing, maintenance, utilities,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Lakeside Lodge</a:t>
            </a:r>
            <a:r>
              <a:rPr lang="en-US" sz="1100">
                <a:latin typeface="Arial"/>
                <a:ea typeface="Arial"/>
                <a:cs typeface="Arial"/>
                <a:sym typeface="Arial"/>
              </a:rPr>
              <a:t>: $600,000 in, $255,000 and $170,000 out, so GOP is $175,000.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It's the operator's profit, before the owner's fixed costs, and it's where good management shows up. Notice marketing sits in that second group.</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You don't need to memorise GOP. You need it for the next two terms.</a:t>
            </a:r>
            <a:endParaRPr sz="1100">
              <a:latin typeface="Arial"/>
              <a:ea typeface="Arial"/>
              <a:cs typeface="Arial"/>
              <a:sym typeface="Arial"/>
            </a:endParaRPr>
          </a:p>
          <a:p>
            <a:pPr indent="0" lvl="0" marL="0" rtl="0" algn="l">
              <a:spcBef>
                <a:spcPts val="1200"/>
              </a:spcBef>
              <a:spcAft>
                <a:spcPts val="0"/>
              </a:spcAft>
              <a:buNone/>
            </a:pPr>
            <a:r>
              <a:rPr lang="en-US"/>
              <a:t>— slide 11 of 65</a:t>
            </a:r>
            <a:endParaRPr/>
          </a:p>
        </p:txBody>
      </p:sp>
      <p:sp>
        <p:nvSpPr>
          <p:cNvPr id="588" name="Google Shape;5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a:t>NOI, net operating income: the bottom rung. GOP minus the owner's fixed costs: the management company's fee, property tax, insurance. Lakeside Lodge: $175,000, minus $25,000, minus $30,000. NOI is $120,000.</a:t>
            </a:r>
            <a:endParaRPr/>
          </a:p>
          <a:p>
            <a:pPr indent="0" lvl="0" marL="0" rtl="0" algn="l">
              <a:lnSpc>
                <a:spcPct val="115000"/>
              </a:lnSpc>
              <a:spcBef>
                <a:spcPts val="1200"/>
              </a:spcBef>
              <a:spcAft>
                <a:spcPts val="0"/>
              </a:spcAft>
              <a:buClr>
                <a:schemeClr val="dk1"/>
              </a:buClr>
              <a:buSzPts val="1100"/>
              <a:buFont typeface="Arial"/>
              <a:buNone/>
            </a:pPr>
            <a:r>
              <a:rPr b="1" lang="en-US"/>
              <a:t>Why the owner cares</a:t>
            </a:r>
            <a:r>
              <a:rPr lang="en-US"/>
              <a:t>: this is the number a sale is priced on, and lenders look at it too. Buyers price a property as a multiple of its yearly NOI, so every extra dollar of NOI is worth several at sale. You may hear the line called EBITDA; owners still say NOI.</a:t>
            </a:r>
            <a:endParaRPr/>
          </a:p>
          <a:p>
            <a:pPr indent="0" lvl="0" marL="0" rtl="0" algn="l">
              <a:lnSpc>
                <a:spcPct val="115000"/>
              </a:lnSpc>
              <a:spcBef>
                <a:spcPts val="1200"/>
              </a:spcBef>
              <a:spcAft>
                <a:spcPts val="0"/>
              </a:spcAft>
              <a:buClr>
                <a:schemeClr val="dk1"/>
              </a:buClr>
              <a:buSzPts val="1100"/>
              <a:buFont typeface="Arial"/>
              <a:buNone/>
            </a:pPr>
            <a:r>
              <a:rPr lang="en-US"/>
              <a:t>Four levers move it, and each works by lifting GOP:</a:t>
            </a:r>
            <a:endParaRPr/>
          </a:p>
          <a:p>
            <a:pPr indent="0" lvl="0" marL="0" rtl="0" algn="l">
              <a:lnSpc>
                <a:spcPct val="115000"/>
              </a:lnSpc>
              <a:spcBef>
                <a:spcPts val="1200"/>
              </a:spcBef>
              <a:spcAft>
                <a:spcPts val="0"/>
              </a:spcAft>
              <a:buClr>
                <a:schemeClr val="dk1"/>
              </a:buClr>
              <a:buSzPts val="1100"/>
              <a:buFont typeface="Arial"/>
              <a:buNone/>
            </a:pPr>
            <a:r>
              <a:rPr lang="en-US"/>
              <a:t>One, direct bookings. They skip the OTA commission, which helps as long as winning them costs less than the commission would have.</a:t>
            </a:r>
            <a:endParaRPr/>
          </a:p>
          <a:p>
            <a:pPr indent="0" lvl="0" marL="0" rtl="0" algn="l">
              <a:lnSpc>
                <a:spcPct val="115000"/>
              </a:lnSpc>
              <a:spcBef>
                <a:spcPts val="1200"/>
              </a:spcBef>
              <a:spcAft>
                <a:spcPts val="0"/>
              </a:spcAft>
              <a:buClr>
                <a:schemeClr val="dk1"/>
              </a:buClr>
              <a:buSzPts val="1100"/>
              <a:buFont typeface="Arial"/>
              <a:buNone/>
            </a:pPr>
            <a:r>
              <a:rPr lang="en-US"/>
              <a:t>Two, ancillary revenue, as long as it flows through. More on that next.</a:t>
            </a:r>
            <a:endParaRPr/>
          </a:p>
          <a:p>
            <a:pPr indent="0" lvl="0" marL="0" rtl="0" algn="l">
              <a:lnSpc>
                <a:spcPct val="115000"/>
              </a:lnSpc>
              <a:spcBef>
                <a:spcPts val="1200"/>
              </a:spcBef>
              <a:spcAft>
                <a:spcPts val="0"/>
              </a:spcAft>
              <a:buClr>
                <a:schemeClr val="dk1"/>
              </a:buClr>
              <a:buSzPts val="1100"/>
              <a:buFont typeface="Arial"/>
              <a:buNone/>
            </a:pPr>
            <a:r>
              <a:rPr lang="en-US"/>
              <a:t>Three, filling nights that would otherwise sit empty. Much of the cost is there whether the room sells or not.</a:t>
            </a:r>
            <a:endParaRPr/>
          </a:p>
          <a:p>
            <a:pPr indent="0" lvl="0" marL="0" rtl="0" algn="l">
              <a:lnSpc>
                <a:spcPct val="115000"/>
              </a:lnSpc>
              <a:spcBef>
                <a:spcPts val="1200"/>
              </a:spcBef>
              <a:spcAft>
                <a:spcPts val="0"/>
              </a:spcAft>
              <a:buClr>
                <a:schemeClr val="dk1"/>
              </a:buClr>
              <a:buSzPts val="1100"/>
              <a:buFont typeface="Arial"/>
              <a:buNone/>
            </a:pPr>
            <a:r>
              <a:rPr lang="en-US"/>
              <a:t>Four, marketing efficiency. The same bookings for less spend.</a:t>
            </a:r>
            <a:endParaRPr/>
          </a:p>
          <a:p>
            <a:pPr indent="0" lvl="0" marL="0" rtl="0" algn="l">
              <a:lnSpc>
                <a:spcPct val="115000"/>
              </a:lnSpc>
              <a:spcBef>
                <a:spcPts val="1200"/>
              </a:spcBef>
              <a:spcAft>
                <a:spcPts val="0"/>
              </a:spcAft>
              <a:buClr>
                <a:schemeClr val="dk1"/>
              </a:buClr>
              <a:buSzPts val="1100"/>
              <a:buFont typeface="Arial"/>
              <a:buNone/>
            </a:pPr>
            <a:r>
              <a:rPr lang="en-US"/>
              <a:t>On a call: “When you think about selling or expanding one day, NOI is the number the buyer will look at first.”</a:t>
            </a:r>
            <a:endParaRPr/>
          </a:p>
          <a:p>
            <a:pPr indent="0" lvl="0" marL="0" rtl="0" algn="l">
              <a:spcBef>
                <a:spcPts val="1200"/>
              </a:spcBef>
              <a:spcAft>
                <a:spcPts val="0"/>
              </a:spcAft>
              <a:buNone/>
            </a:pPr>
            <a:r>
              <a:rPr lang="en-US"/>
              <a:t>----------</a:t>
            </a:r>
            <a:br>
              <a:rPr lang="en-US"/>
            </a:br>
            <a:br>
              <a:rPr lang="en-US"/>
            </a:br>
            <a:r>
              <a:rPr lang="en-US"/>
              <a:t>Net operating income, or NOI, </a:t>
            </a:r>
            <a:r>
              <a:rPr b="1" lang="en-US"/>
              <a:t>is the number that matters most to a hotel or resort owner</a:t>
            </a:r>
            <a:r>
              <a:rPr lang="en-US"/>
              <a:t>, because everything they want sits on it. A higher NOI means they can borrow more from a lender, and it means they can ask a higher price when they sell.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Buyers price a property as a multiple of its yearly NOI, so every extra dollar of NOI is worth several dollars at sale. You may also hear it called EBITDA, but owners still say NOI.</a:t>
            </a:r>
            <a:endParaRPr/>
          </a:p>
          <a:p>
            <a:pPr indent="0" lvl="0" marL="0" rtl="0" algn="l">
              <a:spcBef>
                <a:spcPts val="0"/>
              </a:spcBef>
              <a:spcAft>
                <a:spcPts val="0"/>
              </a:spcAft>
              <a:buNone/>
            </a:pPr>
            <a:br>
              <a:rPr lang="en-US"/>
            </a:br>
            <a:r>
              <a:rPr lang="en-US"/>
              <a:t>--------</a:t>
            </a:r>
            <a:br>
              <a:rPr lang="en-US"/>
            </a:br>
            <a:br>
              <a:rPr lang="en-US"/>
            </a:br>
            <a:r>
              <a:rPr b="1" lang="en-US" sz="1100">
                <a:latin typeface="Arial"/>
                <a:ea typeface="Arial"/>
                <a:cs typeface="Arial"/>
                <a:sym typeface="Arial"/>
              </a:rPr>
              <a:t>There are four ways we can help owners increase their NOI 👇</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Direct bookings replace commissioned ones.</a:t>
            </a:r>
            <a:r>
              <a:rPr lang="en-US" sz="1100">
                <a:latin typeface="Arial"/>
                <a:ea typeface="Arial"/>
                <a:cs typeface="Arial"/>
                <a:sym typeface="Arial"/>
              </a:rPr>
              <a:t> The same room night costs less, so more revenue reaches GOP. OTA commission rates vary by platform, so any figure is [VERIFY].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Ancillary revenue.</a:t>
            </a:r>
            <a:r>
              <a:rPr lang="en-US" sz="1100">
                <a:latin typeface="Arial"/>
                <a:ea typeface="Arial"/>
                <a:cs typeface="Arial"/>
                <a:sym typeface="Arial"/>
              </a:rPr>
              <a:t> Spa, dining, activities, and add-ons. In the deck's example, 40% of revenue comes from beyond the room.</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Filling orphan nights.</a:t>
            </a:r>
            <a:r>
              <a:rPr lang="en-US" sz="1100">
                <a:latin typeface="Arial"/>
                <a:ea typeface="Arial"/>
                <a:cs typeface="Arial"/>
                <a:sym typeface="Arial"/>
              </a:rPr>
              <a:t> Most costs are fixed, so a midweek booking at a reasonable rate mostly drops through to profit. This overlaps with Dustin's midweek training, and the boundary is still open.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Marketing efficiency.</a:t>
            </a:r>
            <a:r>
              <a:rPr lang="en-US" sz="1100">
                <a:latin typeface="Arial"/>
                <a:ea typeface="Arial"/>
                <a:cs typeface="Arial"/>
                <a:sym typeface="Arial"/>
              </a:rPr>
              <a:t> Sales and marketing is an undistributed cost, so the same bookings for less spend, or more bookings for the same spend, lifts GOP.</a:t>
            </a:r>
            <a:endParaRPr sz="1100">
              <a:latin typeface="Arial"/>
              <a:ea typeface="Arial"/>
              <a:cs typeface="Arial"/>
              <a:sym typeface="Arial"/>
            </a:endParaRPr>
          </a:p>
          <a:p>
            <a:pPr indent="0" lvl="0" marL="0" rtl="0" algn="l">
              <a:spcBef>
                <a:spcPts val="1200"/>
              </a:spcBef>
              <a:spcAft>
                <a:spcPts val="0"/>
              </a:spcAft>
              <a:buNone/>
            </a:pPr>
            <a:r>
              <a:rPr lang="en-US"/>
              <a:t>--------</a:t>
            </a:r>
            <a:br>
              <a:rPr lang="en-US"/>
            </a:br>
            <a:br>
              <a:rPr lang="en-US"/>
            </a:br>
            <a:r>
              <a:rPr lang="en-US"/>
              <a:t>Notes, if asked</a:t>
            </a:r>
            <a:br>
              <a:rPr lang="en-US"/>
            </a:br>
            <a:br>
              <a:rPr lang="en-US"/>
            </a:br>
            <a:r>
              <a:rPr b="1" lang="en-US"/>
              <a:t>Management fees</a:t>
            </a:r>
            <a:r>
              <a:rPr lang="en-US"/>
              <a:t>: What the owner pays a management company to run the property, usually a percentage of revenue. An owner who runs it themselves may pay none.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Fixed charges</a:t>
            </a:r>
            <a:r>
              <a:rPr lang="en-US"/>
              <a:t>: The costs of owning the property that don't change with how many guests stay, like property taxes and insurance.</a:t>
            </a:r>
            <a:br>
              <a:rPr lang="en-US"/>
            </a:br>
            <a:endParaRPr/>
          </a:p>
          <a:p>
            <a:pPr indent="-317500" lvl="0" marL="457200" rtl="0" algn="l">
              <a:spcBef>
                <a:spcPts val="0"/>
              </a:spcBef>
              <a:spcAft>
                <a:spcPts val="0"/>
              </a:spcAft>
              <a:buSzPts val="1400"/>
              <a:buChar char="●"/>
            </a:pPr>
            <a:r>
              <a:rPr lang="en-US"/>
              <a:t>USALI: the Uniform System of Accounts for the Lodging Industry, the global standard for hotel financial reporting.</a:t>
            </a:r>
            <a:endParaRPr/>
          </a:p>
          <a:p>
            <a:pPr indent="-317500" lvl="0" marL="457200" rtl="0" algn="l">
              <a:spcBef>
                <a:spcPts val="0"/>
              </a:spcBef>
              <a:spcAft>
                <a:spcPts val="0"/>
              </a:spcAft>
              <a:buSzPts val="1400"/>
              <a:buChar char="●"/>
            </a:pPr>
            <a:r>
              <a:rPr lang="en-US"/>
              <a:t>The multiple: 1 ÷ the cap rate, the return a buyer wants. For example, an 8% cap rate gives a 12.5× multiple. Both figures are illustrative, so don't quote a market rate.</a:t>
            </a:r>
            <a:endParaRPr/>
          </a:p>
          <a:p>
            <a:pPr indent="-317500" lvl="0" marL="457200" rtl="0" algn="l">
              <a:spcBef>
                <a:spcPts val="0"/>
              </a:spcBef>
              <a:spcAft>
                <a:spcPts val="0"/>
              </a:spcAft>
              <a:buSzPts val="1400"/>
              <a:buChar char="●"/>
            </a:pPr>
            <a:r>
              <a:rPr lang="en-US"/>
              <a:t>Valuation uses a full year of NOI. The Lakeside Lodge example is one month, so don't attach a sale price to it.</a:t>
            </a:r>
            <a:endParaRPr/>
          </a:p>
          <a:p>
            <a:pPr indent="-317500" lvl="0" marL="457200" rtl="0" algn="l">
              <a:spcBef>
                <a:spcPts val="0"/>
              </a:spcBef>
              <a:spcAft>
                <a:spcPts val="0"/>
              </a:spcAft>
              <a:buSzPts val="1400"/>
              <a:buChar char="●"/>
            </a:pPr>
            <a:r>
              <a:rPr lang="en-US"/>
              <a:t>Buyers adjust NOI before pricing. They use a market-rate manager and management fee, and deduct a reserve for furniture and equipment.</a:t>
            </a:r>
            <a:endParaRPr/>
          </a:p>
          <a:p>
            <a:pPr indent="-317500" lvl="0" marL="457200" rtl="0" algn="l">
              <a:spcBef>
                <a:spcPts val="0"/>
              </a:spcBef>
              <a:spcAft>
                <a:spcPts val="0"/>
              </a:spcAft>
              <a:buSzPts val="1400"/>
              <a:buChar char="●"/>
            </a:pPr>
            <a:r>
              <a:rPr lang="en-US"/>
              <a:t>How HGM helps: direct bookings instead of commissioned ones, more ancillary revenue, filling midweek nights, and more efficient marketing spend. This is my inference and not from HGM's service docs.</a:t>
            </a:r>
            <a:endParaRPr/>
          </a:p>
          <a:p>
            <a:pPr indent="-317500" lvl="0" marL="457200" rtl="0" algn="l">
              <a:spcBef>
                <a:spcPts val="0"/>
              </a:spcBef>
              <a:spcAft>
                <a:spcPts val="0"/>
              </a:spcAft>
              <a:buSzPts val="1400"/>
              <a:buChar char="●"/>
            </a:pPr>
            <a:r>
              <a:rPr lang="en-US"/>
              <a:t>Don't say that HGM guarantees a higher NOI, or that a higher RevPAR always means a higher NOI.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slide 12 of 65</a:t>
            </a:r>
            <a:endParaRPr/>
          </a:p>
        </p:txBody>
      </p:sp>
      <p:sp>
        <p:nvSpPr>
          <p:cNvPr id="632" name="Google Shape;6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b="1" lang="en-US"/>
            </a:br>
            <a:br>
              <a:rPr lang="en-US"/>
            </a:br>
            <a:r>
              <a:rPr lang="en-US"/>
              <a:t>Flow-through asks one question: of the extra revenue, how much actually reached profit? Only the change counts.</a:t>
            </a:r>
            <a:endParaRPr/>
          </a:p>
          <a:p>
            <a:pPr indent="0" lvl="0" marL="0" rtl="0" algn="l">
              <a:lnSpc>
                <a:spcPct val="115000"/>
              </a:lnSpc>
              <a:spcBef>
                <a:spcPts val="1200"/>
              </a:spcBef>
              <a:spcAft>
                <a:spcPts val="0"/>
              </a:spcAft>
              <a:buClr>
                <a:schemeClr val="dk1"/>
              </a:buClr>
              <a:buSzPts val="1100"/>
              <a:buFont typeface="Arial"/>
              <a:buNone/>
            </a:pPr>
            <a:r>
              <a:rPr lang="en-US"/>
              <a:t>Lakeside Lodge grew revenue from $500,000 to $600,000: $100,000 more. GOP grew from $150,000 to $175,000: $25,000 more. $25,000 of $100,000 is 25%. A quarter of the growth reached profit; the other $75,000 went on cost. We're not calling that good or bad. We don't have a checked benchmark to compare it with.</a:t>
            </a:r>
            <a:endParaRPr/>
          </a:p>
          <a:p>
            <a:pPr indent="0" lvl="0" marL="0" rtl="0" algn="l">
              <a:lnSpc>
                <a:spcPct val="115000"/>
              </a:lnSpc>
              <a:spcBef>
                <a:spcPts val="1200"/>
              </a:spcBef>
              <a:spcAft>
                <a:spcPts val="0"/>
              </a:spcAft>
              <a:buClr>
                <a:schemeClr val="dk1"/>
              </a:buClr>
              <a:buSzPts val="1100"/>
              <a:buFont typeface="Arial"/>
              <a:buNone/>
            </a:pPr>
            <a:r>
              <a:rPr b="1" lang="en-US"/>
              <a:t>Why the owner cares</a:t>
            </a:r>
            <a:r>
              <a:rPr lang="en-US"/>
              <a:t>: growth that costs as much as it brings in doesn't make them richer. It can even go negative. Spend $100,000 on ads to bring in $100,000, add the cost of serving those guests, and revenue goes up while profit goes down.</a:t>
            </a:r>
            <a:endParaRPr/>
          </a:p>
          <a:p>
            <a:pPr indent="0" lvl="0" marL="0" rtl="0" algn="l">
              <a:lnSpc>
                <a:spcPct val="115000"/>
              </a:lnSpc>
              <a:spcBef>
                <a:spcPts val="1200"/>
              </a:spcBef>
              <a:spcAft>
                <a:spcPts val="0"/>
              </a:spcAft>
              <a:buClr>
                <a:schemeClr val="dk1"/>
              </a:buClr>
              <a:buSzPts val="1100"/>
              <a:buFont typeface="Arial"/>
              <a:buNone/>
            </a:pPr>
            <a:r>
              <a:rPr b="1" lang="en-US"/>
              <a:t>On a call</a:t>
            </a:r>
            <a:r>
              <a:rPr lang="en-US"/>
              <a:t>: “More revenue is only good news if it flows through. What's the flow-through on the extra bookings from the promotion?”</a:t>
            </a:r>
            <a:endParaRPr/>
          </a:p>
          <a:p>
            <a:pPr indent="0" lvl="0" marL="0" rtl="0" algn="l">
              <a:spcBef>
                <a:spcPts val="1200"/>
              </a:spcBef>
              <a:spcAft>
                <a:spcPts val="0"/>
              </a:spcAft>
              <a:buNone/>
            </a:pPr>
            <a:r>
              <a:rPr lang="en-US"/>
              <a:t>--------</a:t>
            </a:r>
            <a:br>
              <a:rPr lang="en-US"/>
            </a:br>
            <a:br>
              <a:rPr lang="en-US"/>
            </a:br>
            <a:r>
              <a:rPr lang="en-US"/>
              <a:t>Flow-through is the share of each new revenue dollar the owner keeps. </a:t>
            </a:r>
            <a:r>
              <a:rPr b="1" lang="en-US"/>
              <a:t>Say a property adds $100,000 in revenue and $50,000 of it reaches GOP</a:t>
            </a:r>
            <a:r>
              <a:rPr lang="en-US"/>
              <a:t>. That's a 50% flow-through, and the growth was worth having.</a:t>
            </a:r>
            <a:endParaRPr/>
          </a:p>
          <a:p>
            <a:pPr indent="0" lvl="0" marL="0" rtl="0" algn="l">
              <a:lnSpc>
                <a:spcPct val="100000"/>
              </a:lnSpc>
              <a:spcBef>
                <a:spcPts val="1200"/>
              </a:spcBef>
              <a:spcAft>
                <a:spcPts val="0"/>
              </a:spcAft>
              <a:buSzPts val="1100"/>
              <a:buNone/>
            </a:pPr>
            <a:r>
              <a:rPr b="1" lang="en-US"/>
              <a:t>Now say a property spends $100,000 on ads to bring in $100,000, and serving those guests costs another $40,000</a:t>
            </a:r>
            <a:r>
              <a:rPr lang="en-US"/>
              <a:t>. Revenue grew, but GOP fell by $40,000. That's a negative 40% flow-through. Revenue looked great, but the owner ended up with less.</a:t>
            </a:r>
            <a:endParaRPr/>
          </a:p>
          <a:p>
            <a:pPr indent="0" lvl="0" marL="0" rtl="0" algn="l">
              <a:lnSpc>
                <a:spcPct val="115000"/>
              </a:lnSpc>
              <a:spcBef>
                <a:spcPts val="1200"/>
              </a:spcBef>
              <a:spcAft>
                <a:spcPts val="1200"/>
              </a:spcAft>
              <a:buSzPts val="1100"/>
              <a:buNone/>
            </a:pPr>
            <a:r>
              <a:rPr lang="en-US"/>
              <a:t>— slide 13 of 65</a:t>
            </a:r>
            <a:endParaRPr/>
          </a:p>
        </p:txBody>
      </p:sp>
      <p:sp>
        <p:nvSpPr>
          <p:cNvPr id="676" name="Google Shape;6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a:t>— slide 14 of 65</a:t>
            </a:r>
            <a:endParaRPr/>
          </a:p>
        </p:txBody>
      </p:sp>
      <p:sp>
        <p:nvSpPr>
          <p:cNvPr id="719" name="Google Shape;71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b="1" lang="en-US"/>
            </a:br>
            <a:br>
              <a:rPr lang="en-US"/>
            </a:br>
            <a:r>
              <a:rPr lang="en-US"/>
              <a:t>Formula: </a:t>
            </a:r>
            <a:r>
              <a:rPr b="1" lang="en-US"/>
              <a:t>Room revenue ÷ Rooms sold</a:t>
            </a:r>
            <a:br>
              <a:rPr lang="en-US"/>
            </a:br>
            <a:br>
              <a:rPr lang="en-US"/>
            </a:br>
            <a:r>
              <a:rPr b="1" lang="en-US"/>
              <a:t>ANSWER</a:t>
            </a:r>
            <a:r>
              <a:rPr lang="en-US"/>
              <a:t>: 2, $300 (warm-up)</a:t>
            </a:r>
            <a:br>
              <a:rPr lang="en-US"/>
            </a:br>
            <a:br>
              <a:rPr lang="en-US"/>
            </a:br>
            <a:r>
              <a:rPr b="1" lang="en-US"/>
              <a:t>TELLS</a:t>
            </a:r>
            <a:r>
              <a:rPr lang="en-US"/>
              <a:t>:</a:t>
            </a:r>
            <a:br>
              <a:rPr lang="en-US"/>
            </a:br>
            <a:r>
              <a:rPr lang="en-US"/>
              <a:t>  • $240 divided by rooms available: that is RevPAR, the next question.</a:t>
            </a:r>
            <a:br>
              <a:rPr lang="en-US"/>
            </a:br>
            <a:r>
              <a:rPr lang="en-US"/>
              <a:t>  • $500 used total revenue, so the spa and restaurant are in it.</a:t>
            </a:r>
            <a:br>
              <a:rPr lang="en-US"/>
            </a:br>
            <a:r>
              <a:rPr lang="en-US"/>
              <a:t>  • $7,200 divided by the 50 rooms: revenue per room for the whole month.</a:t>
            </a:r>
            <a:br>
              <a:rPr lang="en-US"/>
            </a:br>
            <a:r>
              <a:rPr lang="en-US"/>
              <a:t>  • The tell: “a room actually went for” means sold rooms. Total revenue is on the screen as a trap.</a:t>
            </a:r>
            <a:br>
              <a:rPr lang="en-US"/>
            </a:br>
            <a:br>
              <a:rPr lang="en-US"/>
            </a:br>
            <a:r>
              <a:rPr b="1" lang="en-US"/>
              <a:t>SAY THIS ON A CALL</a:t>
            </a:r>
            <a:r>
              <a:rPr lang="en-US"/>
              <a:t>: “So a sold room went for $300 on average in September. How does that sit against what you were aiming for?”</a:t>
            </a:r>
            <a:br>
              <a:rPr lang="en-US"/>
            </a:br>
            <a:br>
              <a:rPr lang="en-US"/>
            </a:br>
            <a:r>
              <a:rPr lang="en-US"/>
              <a:t>— slide 15 of 65</a:t>
            </a:r>
            <a:endParaRPr/>
          </a:p>
        </p:txBody>
      </p:sp>
      <p:sp>
        <p:nvSpPr>
          <p:cNvPr id="737" name="Google Shape;7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br>
              <a:rPr b="1" lang="en-US"/>
            </a:br>
            <a:br>
              <a:rPr lang="en-US"/>
            </a:br>
            <a:r>
              <a:rPr lang="en-US"/>
              <a:t>Formula: </a:t>
            </a:r>
            <a:r>
              <a:rPr b="1" lang="en-US"/>
              <a:t>Room revenue ÷ Rooms sold</a:t>
            </a:r>
            <a:br>
              <a:rPr lang="en-US"/>
            </a:br>
            <a:br>
              <a:rPr lang="en-US"/>
            </a:br>
            <a:r>
              <a:rPr b="1" lang="en-US"/>
              <a:t>ANSWER</a:t>
            </a:r>
            <a:r>
              <a:rPr lang="en-US"/>
              <a:t>: 2, $300 (warm-up)</a:t>
            </a:r>
            <a:br>
              <a:rPr lang="en-US"/>
            </a:br>
            <a:br>
              <a:rPr lang="en-US"/>
            </a:br>
            <a:r>
              <a:rPr b="1" lang="en-US"/>
              <a:t>TELLS</a:t>
            </a:r>
            <a:r>
              <a:rPr lang="en-US"/>
              <a:t>:</a:t>
            </a:r>
            <a:br>
              <a:rPr lang="en-US"/>
            </a:br>
            <a:r>
              <a:rPr lang="en-US"/>
              <a:t>  • $240 divided by rooms available: that is RevPAR, the next question.</a:t>
            </a:r>
            <a:br>
              <a:rPr lang="en-US"/>
            </a:br>
            <a:r>
              <a:rPr lang="en-US"/>
              <a:t>  • $500 used total revenue, so the spa and restaurant are in it.</a:t>
            </a:r>
            <a:br>
              <a:rPr lang="en-US"/>
            </a:br>
            <a:r>
              <a:rPr lang="en-US"/>
              <a:t>  • $7,200 divided by the 50 rooms: revenue per room for the whole month.</a:t>
            </a:r>
            <a:br>
              <a:rPr lang="en-US"/>
            </a:br>
            <a:r>
              <a:rPr lang="en-US"/>
              <a:t>  • The tell: “a room actually went for” means sold rooms. Total revenue is on the screen as a trap.</a:t>
            </a:r>
            <a:br>
              <a:rPr lang="en-US"/>
            </a:br>
            <a:br>
              <a:rPr lang="en-US"/>
            </a:br>
            <a:r>
              <a:rPr b="1" lang="en-US"/>
              <a:t>SAY THIS ON A CALL</a:t>
            </a:r>
            <a:r>
              <a:rPr lang="en-US"/>
              <a:t>: “So a sold room went for $300 on average in September. How does that sit against what you were aiming for?”</a:t>
            </a:r>
            <a:br>
              <a:rPr lang="en-US"/>
            </a:br>
            <a:br>
              <a:rPr lang="en-US"/>
            </a:br>
            <a:r>
              <a:rPr lang="en-US"/>
              <a:t>— slide 15 of 65</a:t>
            </a:r>
            <a:endParaRPr/>
          </a:p>
          <a:p>
            <a:pPr indent="0" lvl="0" marL="0" rtl="0" algn="l">
              <a:spcBef>
                <a:spcPts val="0"/>
              </a:spcBef>
              <a:spcAft>
                <a:spcPts val="0"/>
              </a:spcAft>
              <a:buNone/>
            </a:pPr>
            <a:r>
              <a:t/>
            </a:r>
            <a:endParaRPr/>
          </a:p>
        </p:txBody>
      </p:sp>
      <p:sp>
        <p:nvSpPr>
          <p:cNvPr id="787" name="Google Shape;78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b="1" lang="en-US"/>
            </a:br>
            <a:br>
              <a:rPr lang="en-US"/>
            </a:br>
            <a:r>
              <a:rPr lang="en-US"/>
              <a:t>Formula: </a:t>
            </a:r>
            <a:r>
              <a:rPr b="1" lang="en-US"/>
              <a:t>Room revenue ÷ Rooms available</a:t>
            </a:r>
            <a:r>
              <a:rPr lang="en-US"/>
              <a:t>  (= ADR × Occupancy)</a:t>
            </a:r>
            <a:br>
              <a:rPr lang="en-US"/>
            </a:br>
            <a:br>
              <a:rPr lang="en-US"/>
            </a:br>
            <a:r>
              <a:rPr b="1" lang="en-US"/>
              <a:t>ANSWER</a:t>
            </a:r>
            <a:r>
              <a:rPr lang="en-US"/>
              <a:t>: 1, $240</a:t>
            </a:r>
            <a:br>
              <a:rPr lang="en-US"/>
            </a:br>
            <a:br>
              <a:rPr lang="en-US"/>
            </a:br>
            <a:r>
              <a:rPr b="1" lang="en-US"/>
              <a:t>TELLS</a:t>
            </a:r>
            <a:r>
              <a:rPr lang="en-US"/>
              <a:t>:</a:t>
            </a:r>
            <a:br>
              <a:rPr lang="en-US"/>
            </a:br>
            <a:r>
              <a:rPr lang="en-US"/>
              <a:t>  • $300 divided by rooms sold: that is ADR.</a:t>
            </a:r>
            <a:br>
              <a:rPr lang="en-US"/>
            </a:br>
            <a:r>
              <a:rPr lang="en-US"/>
              <a:t>  • $400 used total revenue.</a:t>
            </a:r>
            <a:br>
              <a:rPr lang="en-US"/>
            </a:br>
            <a:r>
              <a:rPr lang="en-US"/>
              <a:t>  • 80% is occupancy: a share of rooms, not dollars.</a:t>
            </a:r>
            <a:br>
              <a:rPr lang="en-US"/>
            </a:br>
            <a:r>
              <a:rPr lang="en-US"/>
              <a:t>  • The tell: “per available room” means every room night available, sold or not. Same month as question 1; only the denominator changes.</a:t>
            </a:r>
            <a:br>
              <a:rPr lang="en-US"/>
            </a:br>
            <a:br>
              <a:rPr lang="en-US"/>
            </a:br>
            <a:r>
              <a:rPr b="1" lang="en-US"/>
              <a:t>SAY THIS ON A CALL</a:t>
            </a:r>
            <a:r>
              <a:rPr lang="en-US"/>
              <a:t>: “RevPAR was $240: rate and fill together. Lift either one and it moves.”</a:t>
            </a:r>
            <a:br>
              <a:rPr lang="en-US"/>
            </a:br>
            <a:br>
              <a:rPr lang="en-US"/>
            </a:br>
            <a:r>
              <a:rPr lang="en-US"/>
              <a:t>— slide 17 of 65</a:t>
            </a:r>
            <a:endParaRPr/>
          </a:p>
        </p:txBody>
      </p:sp>
      <p:sp>
        <p:nvSpPr>
          <p:cNvPr id="838" name="Google Shape;83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5" name="Google Shape;88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br>
              <a:rPr b="1" lang="en-US"/>
            </a:br>
            <a:br>
              <a:rPr lang="en-US"/>
            </a:br>
            <a:r>
              <a:rPr lang="en-US"/>
              <a:t>Formula: </a:t>
            </a:r>
            <a:r>
              <a:rPr b="1" lang="en-US"/>
              <a:t>Room revenue ÷ Rooms available</a:t>
            </a:r>
            <a:r>
              <a:rPr lang="en-US"/>
              <a:t>  (= ADR × Occupancy)</a:t>
            </a:r>
            <a:br>
              <a:rPr lang="en-US"/>
            </a:br>
            <a:br>
              <a:rPr lang="en-US"/>
            </a:br>
            <a:r>
              <a:rPr b="1" lang="en-US"/>
              <a:t>ANSWER</a:t>
            </a:r>
            <a:r>
              <a:rPr lang="en-US"/>
              <a:t>: 1, $240</a:t>
            </a:r>
            <a:br>
              <a:rPr lang="en-US"/>
            </a:br>
            <a:br>
              <a:rPr lang="en-US"/>
            </a:br>
            <a:r>
              <a:rPr b="1" lang="en-US"/>
              <a:t>TELLS</a:t>
            </a:r>
            <a:r>
              <a:rPr lang="en-US"/>
              <a:t>:</a:t>
            </a:r>
            <a:br>
              <a:rPr lang="en-US"/>
            </a:br>
            <a:r>
              <a:rPr lang="en-US"/>
              <a:t>  • $300 divided by rooms sold: that is ADR.</a:t>
            </a:r>
            <a:br>
              <a:rPr lang="en-US"/>
            </a:br>
            <a:r>
              <a:rPr lang="en-US"/>
              <a:t>  • $400 used total revenue.</a:t>
            </a:r>
            <a:br>
              <a:rPr lang="en-US"/>
            </a:br>
            <a:r>
              <a:rPr lang="en-US"/>
              <a:t>  • 80% is occupancy: a share of rooms, not dollars.</a:t>
            </a:r>
            <a:br>
              <a:rPr lang="en-US"/>
            </a:br>
            <a:r>
              <a:rPr lang="en-US"/>
              <a:t>  • The tell: “per available room” means every room night available, sold or not. Same month as question 1; only the denominator changes.</a:t>
            </a:r>
            <a:br>
              <a:rPr lang="en-US"/>
            </a:br>
            <a:br>
              <a:rPr lang="en-US"/>
            </a:br>
            <a:r>
              <a:rPr b="1" lang="en-US"/>
              <a:t>SAY THIS ON A CALL</a:t>
            </a:r>
            <a:r>
              <a:rPr lang="en-US"/>
              <a:t>: “RevPAR was $240: rate and fill together. Lift either one and it moves.”</a:t>
            </a:r>
            <a:br>
              <a:rPr lang="en-US"/>
            </a:br>
            <a:br>
              <a:rPr lang="en-US"/>
            </a:br>
            <a:r>
              <a:rPr lang="en-US"/>
              <a:t>— slide 17 of 65</a:t>
            </a:r>
            <a:endParaRPr/>
          </a:p>
          <a:p>
            <a:pPr indent="0" lvl="0" marL="0" rtl="0" algn="l">
              <a:spcBef>
                <a:spcPts val="0"/>
              </a:spcBef>
              <a:spcAft>
                <a:spcPts val="0"/>
              </a:spcAft>
              <a:buNone/>
            </a:pPr>
            <a:r>
              <a:t/>
            </a:r>
            <a:endParaRPr/>
          </a:p>
        </p:txBody>
      </p:sp>
      <p:sp>
        <p:nvSpPr>
          <p:cNvPr id="886" name="Google Shape;88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b="1" lang="en-US"/>
            </a:br>
            <a:br>
              <a:rPr lang="en-US"/>
            </a:br>
            <a:r>
              <a:rPr b="1" lang="en-US"/>
              <a:t>ANSWER</a:t>
            </a:r>
            <a:r>
              <a:rPr lang="en-US"/>
              <a:t>: 2, $240,000</a:t>
            </a:r>
            <a:br>
              <a:rPr lang="en-US"/>
            </a:br>
            <a:br>
              <a:rPr lang="en-US"/>
            </a:br>
            <a:r>
              <a:rPr b="1" lang="en-US"/>
              <a:t>TELLS</a:t>
            </a:r>
            <a:r>
              <a:rPr lang="en-US"/>
              <a:t>:</a:t>
            </a:r>
            <a:br>
              <a:rPr lang="en-US"/>
            </a:br>
            <a:r>
              <a:rPr lang="en-US"/>
              <a:t>  • $90,000 is the spa only.</a:t>
            </a:r>
            <a:br>
              <a:rPr lang="en-US"/>
            </a:br>
            <a:r>
              <a:rPr lang="en-US"/>
              <a:t>  • $360,000 is the rooms.</a:t>
            </a:r>
            <a:br>
              <a:rPr lang="en-US"/>
            </a:br>
            <a:r>
              <a:rPr lang="en-US"/>
              <a:t>  • $600,000 is everything.</a:t>
            </a:r>
            <a:br>
              <a:rPr lang="en-US"/>
            </a:br>
            <a:r>
              <a:rPr lang="en-US"/>
              <a:t>  • The tell: “beyond the room” means everything except room revenue.</a:t>
            </a:r>
            <a:br>
              <a:rPr lang="en-US"/>
            </a:br>
            <a:br>
              <a:rPr lang="en-US"/>
            </a:br>
            <a:r>
              <a:rPr b="1" lang="en-US"/>
              <a:t>SAY THIS ON A CALL</a:t>
            </a:r>
            <a:r>
              <a:rPr lang="en-US"/>
              <a:t>: “$240,000 outside the room, 40% of the month. Which of those could we grow: spa packages, dinner?”</a:t>
            </a:r>
            <a:br>
              <a:rPr lang="en-US"/>
            </a:br>
            <a:br>
              <a:rPr lang="en-US"/>
            </a:br>
            <a:r>
              <a:rPr lang="en-US"/>
              <a:t>— slide 19 of 65</a:t>
            </a:r>
            <a:endParaRPr/>
          </a:p>
        </p:txBody>
      </p:sp>
      <p:sp>
        <p:nvSpPr>
          <p:cNvPr id="935" name="Google Shape;93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br>
              <a:rPr b="1" lang="en-US"/>
            </a:br>
            <a:br>
              <a:rPr lang="en-US"/>
            </a:br>
            <a:r>
              <a:rPr b="1" lang="en-US"/>
              <a:t>ANSWER</a:t>
            </a:r>
            <a:r>
              <a:rPr lang="en-US"/>
              <a:t>: 2, $240,000</a:t>
            </a:r>
            <a:br>
              <a:rPr lang="en-US"/>
            </a:br>
            <a:br>
              <a:rPr lang="en-US"/>
            </a:br>
            <a:r>
              <a:rPr b="1" lang="en-US"/>
              <a:t>TELLS</a:t>
            </a:r>
            <a:r>
              <a:rPr lang="en-US"/>
              <a:t>:</a:t>
            </a:r>
            <a:br>
              <a:rPr lang="en-US"/>
            </a:br>
            <a:r>
              <a:rPr lang="en-US"/>
              <a:t>  • $90,000 is the spa only.</a:t>
            </a:r>
            <a:br>
              <a:rPr lang="en-US"/>
            </a:br>
            <a:r>
              <a:rPr lang="en-US"/>
              <a:t>  • $360,000 is the rooms.</a:t>
            </a:r>
            <a:br>
              <a:rPr lang="en-US"/>
            </a:br>
            <a:r>
              <a:rPr lang="en-US"/>
              <a:t>  • $600,000 is everything.</a:t>
            </a:r>
            <a:br>
              <a:rPr lang="en-US"/>
            </a:br>
            <a:r>
              <a:rPr lang="en-US"/>
              <a:t>  • The tell: “beyond the room” means everything except room revenue.</a:t>
            </a:r>
            <a:br>
              <a:rPr lang="en-US"/>
            </a:br>
            <a:br>
              <a:rPr lang="en-US"/>
            </a:br>
            <a:r>
              <a:rPr b="1" lang="en-US"/>
              <a:t>SAY THIS ON A CALL</a:t>
            </a:r>
            <a:r>
              <a:rPr lang="en-US"/>
              <a:t>: “$240,000 outside the room, 40% of the month. Which of those could we grow: spa packages, dinner?”</a:t>
            </a:r>
            <a:br>
              <a:rPr lang="en-US"/>
            </a:br>
            <a:br>
              <a:rPr lang="en-US"/>
            </a:br>
            <a:r>
              <a:rPr lang="en-US"/>
              <a:t>— slide 19 of 65</a:t>
            </a:r>
            <a:endParaRPr/>
          </a:p>
          <a:p>
            <a:pPr indent="0" lvl="0" marL="0" rtl="0" algn="l">
              <a:spcBef>
                <a:spcPts val="0"/>
              </a:spcBef>
              <a:spcAft>
                <a:spcPts val="0"/>
              </a:spcAft>
              <a:buNone/>
            </a:pPr>
            <a:r>
              <a:t/>
            </a:r>
            <a:endParaRPr/>
          </a:p>
        </p:txBody>
      </p:sp>
      <p:sp>
        <p:nvSpPr>
          <p:cNvPr id="983" name="Google Shape;98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1" name="Google Shape;103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a:t>Formula: </a:t>
            </a:r>
            <a:r>
              <a:rPr b="1" lang="en-US"/>
              <a:t>Change in GOP ÷ Change in revenue</a:t>
            </a:r>
            <a:br>
              <a:rPr lang="en-US"/>
            </a:br>
            <a:br>
              <a:rPr lang="en-US"/>
            </a:br>
            <a:r>
              <a:rPr b="1" lang="en-US"/>
              <a:t>ANSWER</a:t>
            </a:r>
            <a:r>
              <a:rPr lang="en-US"/>
              <a:t>: 1, 25% (the hard one)</a:t>
            </a:r>
            <a:br>
              <a:rPr lang="en-US"/>
            </a:br>
            <a:br>
              <a:rPr lang="en-US"/>
            </a:br>
            <a:r>
              <a:rPr b="1" lang="en-US"/>
              <a:t>TELLS</a:t>
            </a:r>
            <a:r>
              <a:rPr lang="en-US"/>
              <a:t>:</a:t>
            </a:r>
            <a:br>
              <a:rPr lang="en-US"/>
            </a:br>
            <a:r>
              <a:rPr lang="en-US"/>
              <a:t>  • 29% is this year's GOP ÷ this year's revenue: the margin on the whole month, not on the extra.</a:t>
            </a:r>
            <a:br>
              <a:rPr lang="en-US"/>
            </a:br>
            <a:r>
              <a:rPr lang="en-US"/>
              <a:t>  • 75% is the share of the extra that did not reach profit.</a:t>
            </a:r>
            <a:br>
              <a:rPr lang="en-US"/>
            </a:br>
            <a:r>
              <a:rPr lang="en-US"/>
              <a:t>  • 400% is the ratio upside down.</a:t>
            </a:r>
            <a:br>
              <a:rPr lang="en-US"/>
            </a:br>
            <a:r>
              <a:rPr lang="en-US"/>
              <a:t>  • The tell: “how much of that” means only the change counts. GOP is the operator's profit line from the slide just taught.</a:t>
            </a:r>
            <a:br>
              <a:rPr lang="en-US"/>
            </a:br>
            <a:br>
              <a:rPr lang="en-US"/>
            </a:br>
            <a:r>
              <a:rPr b="1" lang="en-US"/>
              <a:t>SAY THIS ON A CALL</a:t>
            </a:r>
            <a:r>
              <a:rPr lang="en-US"/>
              <a:t>: “A quarter of the extra $100,000 reached profit. Where did the other $75,000 go?”</a:t>
            </a:r>
            <a:br>
              <a:rPr lang="en-US"/>
            </a:br>
            <a:br>
              <a:rPr lang="en-US"/>
            </a:br>
            <a:r>
              <a:rPr lang="en-US"/>
              <a:t>— slide 21 of 65</a:t>
            </a:r>
            <a:endParaRPr/>
          </a:p>
        </p:txBody>
      </p:sp>
      <p:sp>
        <p:nvSpPr>
          <p:cNvPr id="1032" name="Google Shape;103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br>
              <a:rPr lang="en-US"/>
            </a:br>
            <a:br>
              <a:rPr lang="en-US"/>
            </a:br>
            <a:r>
              <a:rPr lang="en-US"/>
              <a:t>Formula: </a:t>
            </a:r>
            <a:r>
              <a:rPr b="1" lang="en-US"/>
              <a:t>Change in GOP ÷ Change in revenue</a:t>
            </a:r>
            <a:br>
              <a:rPr lang="en-US"/>
            </a:br>
            <a:br>
              <a:rPr lang="en-US"/>
            </a:br>
            <a:r>
              <a:rPr b="1" lang="en-US"/>
              <a:t>ANSWER</a:t>
            </a:r>
            <a:r>
              <a:rPr lang="en-US"/>
              <a:t>: 1, 25% (the hard one)</a:t>
            </a:r>
            <a:br>
              <a:rPr lang="en-US"/>
            </a:br>
            <a:br>
              <a:rPr lang="en-US"/>
            </a:br>
            <a:r>
              <a:rPr b="1" lang="en-US"/>
              <a:t>TELLS</a:t>
            </a:r>
            <a:r>
              <a:rPr lang="en-US"/>
              <a:t>:</a:t>
            </a:r>
            <a:br>
              <a:rPr lang="en-US"/>
            </a:br>
            <a:r>
              <a:rPr lang="en-US"/>
              <a:t>  • 29% is this year's GOP ÷ this year's revenue: the margin on the whole month, not on the extra.</a:t>
            </a:r>
            <a:br>
              <a:rPr lang="en-US"/>
            </a:br>
            <a:r>
              <a:rPr lang="en-US"/>
              <a:t>  • 75% is the share of the extra that did not reach profit.</a:t>
            </a:r>
            <a:br>
              <a:rPr lang="en-US"/>
            </a:br>
            <a:r>
              <a:rPr lang="en-US"/>
              <a:t>  • 400% is the ratio upside down.</a:t>
            </a:r>
            <a:br>
              <a:rPr lang="en-US"/>
            </a:br>
            <a:r>
              <a:rPr lang="en-US"/>
              <a:t>  • The tell: “how much of that” means only the change counts. GOP is the operator's profit line from the slide just taught.</a:t>
            </a:r>
            <a:br>
              <a:rPr lang="en-US"/>
            </a:br>
            <a:br>
              <a:rPr lang="en-US"/>
            </a:br>
            <a:r>
              <a:rPr b="1" lang="en-US"/>
              <a:t>SAY THIS ON A CALL</a:t>
            </a:r>
            <a:r>
              <a:rPr lang="en-US"/>
              <a:t>: “A quarter of the extra $100,000 reached profit. Where did the other $75,000 go?”</a:t>
            </a:r>
            <a:br>
              <a:rPr lang="en-US"/>
            </a:br>
            <a:br>
              <a:rPr lang="en-US"/>
            </a:br>
            <a:r>
              <a:rPr lang="en-US"/>
              <a:t>— slide 21 of 65</a:t>
            </a:r>
            <a:endParaRPr/>
          </a:p>
          <a:p>
            <a:pPr indent="0" lvl="0" marL="0" rtl="0" algn="l">
              <a:spcBef>
                <a:spcPts val="0"/>
              </a:spcBef>
              <a:spcAft>
                <a:spcPts val="0"/>
              </a:spcAft>
              <a:buNone/>
            </a:pPr>
            <a:r>
              <a:t/>
            </a:r>
            <a:endParaRPr/>
          </a:p>
        </p:txBody>
      </p:sp>
      <p:sp>
        <p:nvSpPr>
          <p:cNvPr id="1079" name="Google Shape;107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6" name="Google Shape;112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br>
              <a:rPr lang="en-US"/>
            </a:br>
            <a:br>
              <a:rPr lang="en-US"/>
            </a:br>
            <a:r>
              <a:rPr lang="en-US"/>
              <a:t>Formula: </a:t>
            </a:r>
            <a:r>
              <a:rPr b="1" lang="en-US"/>
              <a:t>GOP − management fees − fixed charges</a:t>
            </a:r>
            <a:br>
              <a:rPr lang="en-US"/>
            </a:br>
            <a:br>
              <a:rPr lang="en-US"/>
            </a:br>
            <a:r>
              <a:rPr b="1" lang="en-US"/>
              <a:t>ANSWER</a:t>
            </a:r>
            <a:r>
              <a:rPr lang="en-US"/>
              <a:t>: 1, $120,000 (finale)</a:t>
            </a:r>
            <a:br>
              <a:rPr lang="en-US"/>
            </a:br>
            <a:br>
              <a:rPr lang="en-US"/>
            </a:br>
            <a:r>
              <a:rPr b="1" lang="en-US"/>
              <a:t>TELLS</a:t>
            </a:r>
            <a:r>
              <a:rPr lang="en-US"/>
              <a:t>:</a:t>
            </a:r>
            <a:br>
              <a:rPr lang="en-US"/>
            </a:br>
            <a:r>
              <a:rPr lang="en-US"/>
              <a:t>  • $145,000 left the management fee in.</a:t>
            </a:r>
            <a:br>
              <a:rPr lang="en-US"/>
            </a:br>
            <a:r>
              <a:rPr lang="en-US"/>
              <a:t>  • $150,000 left property tax and insurance in.</a:t>
            </a:r>
            <a:br>
              <a:rPr lang="en-US"/>
            </a:br>
            <a:r>
              <a:rPr lang="en-US"/>
              <a:t>  • $230,000 added the costs instead of subtracting them.</a:t>
            </a:r>
            <a:br>
              <a:rPr lang="en-US"/>
            </a:br>
            <a:r>
              <a:rPr lang="en-US"/>
              <a:t>  • The tell: NOI sits one rung below GOP on the ladder, so both costs come off.</a:t>
            </a:r>
            <a:br>
              <a:rPr lang="en-US"/>
            </a:br>
            <a:br>
              <a:rPr lang="en-US"/>
            </a:br>
            <a:r>
              <a:rPr b="1" lang="en-US"/>
              <a:t>SAY THIS ON A CALL</a:t>
            </a:r>
            <a:r>
              <a:rPr lang="en-US"/>
              <a:t>: “September NOI was $120,000. That is the line a buyer prices you on.”</a:t>
            </a:r>
            <a:br>
              <a:rPr lang="en-US"/>
            </a:br>
            <a:br>
              <a:rPr lang="en-US"/>
            </a:br>
            <a:r>
              <a:rPr lang="en-US"/>
              <a:t>— slide 23 of 65</a:t>
            </a:r>
            <a:endParaRPr/>
          </a:p>
        </p:txBody>
      </p:sp>
      <p:sp>
        <p:nvSpPr>
          <p:cNvPr id="1127" name="Google Shape;112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2" name="Google Shape;117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br>
              <a:rPr lang="en-US"/>
            </a:br>
            <a:br>
              <a:rPr lang="en-US"/>
            </a:br>
            <a:r>
              <a:rPr lang="en-US"/>
              <a:t>Formula: </a:t>
            </a:r>
            <a:r>
              <a:rPr b="1" lang="en-US"/>
              <a:t>GOP − management fees − fixed charges</a:t>
            </a:r>
            <a:br>
              <a:rPr lang="en-US"/>
            </a:br>
            <a:br>
              <a:rPr lang="en-US"/>
            </a:br>
            <a:r>
              <a:rPr b="1" lang="en-US"/>
              <a:t>ANSWER</a:t>
            </a:r>
            <a:r>
              <a:rPr lang="en-US"/>
              <a:t>: 1, $120,000 (finale)</a:t>
            </a:r>
            <a:br>
              <a:rPr lang="en-US"/>
            </a:br>
            <a:br>
              <a:rPr lang="en-US"/>
            </a:br>
            <a:r>
              <a:rPr b="1" lang="en-US"/>
              <a:t>TELLS</a:t>
            </a:r>
            <a:r>
              <a:rPr lang="en-US"/>
              <a:t>:</a:t>
            </a:r>
            <a:br>
              <a:rPr lang="en-US"/>
            </a:br>
            <a:r>
              <a:rPr lang="en-US"/>
              <a:t>  • $145,000 left the management fee in.</a:t>
            </a:r>
            <a:br>
              <a:rPr lang="en-US"/>
            </a:br>
            <a:r>
              <a:rPr lang="en-US"/>
              <a:t>  • $150,000 left property tax and insurance in.</a:t>
            </a:r>
            <a:br>
              <a:rPr lang="en-US"/>
            </a:br>
            <a:r>
              <a:rPr lang="en-US"/>
              <a:t>  • $230,000 added the costs instead of subtracting them.</a:t>
            </a:r>
            <a:br>
              <a:rPr lang="en-US"/>
            </a:br>
            <a:r>
              <a:rPr lang="en-US"/>
              <a:t>  • The tell: NOI sits one rung below GOP on the ladder, so both costs come off.</a:t>
            </a:r>
            <a:br>
              <a:rPr lang="en-US"/>
            </a:br>
            <a:br>
              <a:rPr lang="en-US"/>
            </a:br>
            <a:r>
              <a:rPr b="1" lang="en-US"/>
              <a:t>SAY THIS ON A CALL</a:t>
            </a:r>
            <a:r>
              <a:rPr lang="en-US"/>
              <a:t>: “September NOI was $120,000. That is the line a buyer prices you on.”</a:t>
            </a:r>
            <a:br>
              <a:rPr lang="en-US"/>
            </a:br>
            <a:br>
              <a:rPr lang="en-US"/>
            </a:br>
            <a:r>
              <a:rPr lang="en-US"/>
              <a:t>— slide 23 of 65</a:t>
            </a:r>
            <a:endParaRPr/>
          </a:p>
          <a:p>
            <a:pPr indent="0" lvl="0" marL="0" rtl="0" algn="l">
              <a:spcBef>
                <a:spcPts val="0"/>
              </a:spcBef>
              <a:spcAft>
                <a:spcPts val="0"/>
              </a:spcAft>
              <a:buNone/>
            </a:pPr>
            <a:r>
              <a:t/>
            </a:r>
            <a:endParaRPr/>
          </a:p>
        </p:txBody>
      </p:sp>
      <p:sp>
        <p:nvSpPr>
          <p:cNvPr id="1173" name="Google Shape;117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br>
              <a:rPr b="1" lang="en-US"/>
            </a:br>
            <a:br>
              <a:rPr b="1" lang="en-US"/>
            </a:br>
            <a:r>
              <a:rPr b="1" lang="en-US"/>
              <a:t>Block 2</a:t>
            </a:r>
            <a:r>
              <a:rPr lang="en-US"/>
              <a:t>: setting the price. Six terms about who decides the rate, and what an owner leaves out when they tell you about it: comp set, revenue management, denial, regret, orphan night and rate parity.</a:t>
            </a:r>
            <a:endParaRPr/>
          </a:p>
          <a:p>
            <a:pPr indent="0" lvl="0" marL="0" rtl="0" algn="l">
              <a:lnSpc>
                <a:spcPct val="115000"/>
              </a:lnSpc>
              <a:spcBef>
                <a:spcPts val="1200"/>
              </a:spcBef>
              <a:spcAft>
                <a:spcPts val="0"/>
              </a:spcAft>
              <a:buClr>
                <a:schemeClr val="dk1"/>
              </a:buClr>
              <a:buSzPts val="1100"/>
              <a:buFont typeface="Arial"/>
              <a:buNone/>
            </a:pPr>
            <a:r>
              <a:rPr lang="en-US"/>
              <a:t>No math this time. Remember question five from block 1: what did they leave out? That's this whole block.</a:t>
            </a:r>
            <a:endParaRPr/>
          </a:p>
          <a:p>
            <a:pPr indent="0" lvl="0" marL="0" rtl="0" algn="l">
              <a:spcBef>
                <a:spcPts val="1200"/>
              </a:spcBef>
              <a:spcAft>
                <a:spcPts val="0"/>
              </a:spcAft>
              <a:buNone/>
            </a:pPr>
            <a:r>
              <a:t/>
            </a:r>
            <a:endParaRPr b="1"/>
          </a:p>
        </p:txBody>
      </p:sp>
      <p:sp>
        <p:nvSpPr>
          <p:cNvPr id="1220" name="Google Shape;12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5" name="Google Shape;126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br>
              <a:rPr b="1" lang="en-US"/>
            </a:br>
            <a:br>
              <a:rPr b="1" lang="en-US"/>
            </a:br>
            <a:r>
              <a:rPr b="1" lang="en-US" sz="1100">
                <a:latin typeface="Arial"/>
                <a:ea typeface="Arial"/>
                <a:cs typeface="Arial"/>
                <a:sym typeface="Arial"/>
              </a:rPr>
              <a:t>Comp set, short for competitive set</a:t>
            </a:r>
            <a:r>
              <a:rPr lang="en-US" sz="1100">
                <a:latin typeface="Arial"/>
                <a:ea typeface="Arial"/>
                <a:cs typeface="Arial"/>
                <a:sym typeface="Arial"/>
              </a:rPr>
              <a:t>: the handful of properties an owner measures themselves against. It's also what every number on their benchmark report is compared to. That report is usually STR, the industry's standard benchmarking report.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good comp set is the places guests actually choose between. They’re either close in distance and proximity, have similar amenities or rates and generally cater to the same type of guest.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it's who they think they compete with, so it tells you a lot about how they see themselves and how we can work with them to support those goals.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want to understand who their comp set is to understand the owner, not to copy anyone's rate.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"Who's in your comp set? I'd like to see who you're measuring yourself against before we talk about rate."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Lakeside Lodge, that's the lodge across the lake, the spa resort up the highway, the winery with rooms. Not the chain hotel by the highway, even though it shows up in every report. Guests never pick between the two.</a:t>
            </a:r>
            <a:endParaRPr sz="1100">
              <a:latin typeface="Arial"/>
              <a:ea typeface="Arial"/>
              <a:cs typeface="Arial"/>
              <a:sym typeface="Arial"/>
            </a:endParaRPr>
          </a:p>
          <a:p>
            <a:pPr indent="0" lvl="0" marL="0" rtl="0" algn="l">
              <a:spcBef>
                <a:spcPts val="1200"/>
              </a:spcBef>
              <a:spcAft>
                <a:spcPts val="0"/>
              </a:spcAft>
              <a:buClr>
                <a:schemeClr val="dk1"/>
              </a:buClr>
              <a:buFont typeface="Arial"/>
              <a:buNone/>
            </a:pPr>
            <a:r>
              <a:t/>
            </a:r>
            <a:endParaRPr b="1"/>
          </a:p>
        </p:txBody>
      </p:sp>
      <p:sp>
        <p:nvSpPr>
          <p:cNvPr id="1266" name="Google Shape;126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br>
              <a:rPr b="1" lang="en-US"/>
            </a:br>
            <a:br>
              <a:rPr b="1" lang="en-US"/>
            </a:br>
            <a:r>
              <a:rPr b="1" lang="en-US" sz="1100">
                <a:latin typeface="Arial"/>
                <a:ea typeface="Arial"/>
                <a:cs typeface="Arial"/>
                <a:sym typeface="Arial"/>
              </a:rPr>
              <a:t>Revenue management isn't a metric. It's a job</a:t>
            </a:r>
            <a:r>
              <a:rPr lang="en-US" sz="1100">
                <a:latin typeface="Arial"/>
                <a:ea typeface="Arial"/>
                <a:cs typeface="Arial"/>
                <a:sym typeface="Arial"/>
              </a:rPr>
              <a:t>: whoever decides when a rate moves. At a big hotel that's a whole team. At this ICP it might be the owner, someone on staff, or an outside firm.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You'll hear all three. The owner who moves rates when there's a minute, usually after the weekend's already sold out. The GM, or a part-timer doing it on Sunday nights. Or a firm that emails a monthly PDF, and nobody's sure who opens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it matters to us</a:t>
            </a:r>
            <a:r>
              <a:rPr lang="en-US" sz="1100">
                <a:latin typeface="Arial"/>
                <a:ea typeface="Arial"/>
                <a:cs typeface="Arial"/>
                <a:sym typeface="Arial"/>
              </a:rPr>
              <a:t>: any demand we send lands on prices somebody is, or isn't, watching. If nobody's moving the rate, our ads can fill the calendar at the wrong price.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So listen for three things</a:t>
            </a:r>
            <a:r>
              <a:rPr lang="en-US" sz="1100">
                <a:latin typeface="Arial"/>
                <a:ea typeface="Arial"/>
                <a:cs typeface="Arial"/>
                <a:sym typeface="Arial"/>
              </a:rPr>
              <a:t>: who has the final say, how often rates actually move, and whether anyone reads the report they pay for.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"Who handles revenue management for you right now: you, someone on the team, or an outside firm?"</a:t>
            </a:r>
            <a:endParaRPr sz="1100">
              <a:latin typeface="Arial"/>
              <a:ea typeface="Arial"/>
              <a:cs typeface="Arial"/>
              <a:sym typeface="Arial"/>
            </a:endParaRPr>
          </a:p>
          <a:p>
            <a:pPr indent="0" lvl="0" marL="0" rtl="0" algn="l">
              <a:spcBef>
                <a:spcPts val="1200"/>
              </a:spcBef>
              <a:spcAft>
                <a:spcPts val="0"/>
              </a:spcAft>
              <a:buClr>
                <a:schemeClr val="dk1"/>
              </a:buClr>
              <a:buFont typeface="Arial"/>
              <a:buNone/>
            </a:pPr>
            <a:r>
              <a:t/>
            </a:r>
            <a:endParaRPr b="1"/>
          </a:p>
        </p:txBody>
      </p:sp>
      <p:sp>
        <p:nvSpPr>
          <p:cNvPr id="1313" name="Google Shape;131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7" name="Google Shape;134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br>
              <a:rPr b="1" lang="en-US"/>
            </a:br>
            <a:br>
              <a:rPr b="1" lang="en-US"/>
            </a:br>
            <a:r>
              <a:rPr b="1" lang="en-US" sz="1100">
                <a:latin typeface="Arial"/>
                <a:ea typeface="Arial"/>
                <a:cs typeface="Arial"/>
                <a:sym typeface="Arial"/>
              </a:rPr>
              <a:t>Denial</a:t>
            </a:r>
            <a:r>
              <a:rPr lang="en-US" sz="1100">
                <a:latin typeface="Arial"/>
                <a:ea typeface="Arial"/>
                <a:cs typeface="Arial"/>
                <a:sym typeface="Arial"/>
              </a:rPr>
              <a:t>: demand that tried to book and couldn't, because the date was sold out.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nobody wants to hear their best summer left money on the table. But turned-away demand is the evidence for next season's rate. Count the calls, and that's next August's rate case.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so-what for us</a:t>
            </a:r>
            <a:r>
              <a:rPr lang="en-US" sz="1100">
                <a:latin typeface="Arial"/>
                <a:ea typeface="Arial"/>
                <a:cs typeface="Arial"/>
                <a:sym typeface="Arial"/>
              </a:rPr>
              <a:t>: when an owner celebrates selling out early, congratulate them, then ask how many people they turned away.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"If you're turning people away on peak weekends, that denial is demand we can price for, not just celebrate."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Denial comes as a pair with the next term. One guest</a:t>
            </a:r>
            <a:r>
              <a:rPr b="1" lang="en-US" sz="1100">
                <a:latin typeface="Arial"/>
                <a:ea typeface="Arial"/>
                <a:cs typeface="Arial"/>
                <a:sym typeface="Arial"/>
              </a:rPr>
              <a:t> couldn't book; the other wouldn't.</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what the owner sees: every August Saturday sold out by early June, and the phone kept ringing for summer weekends. Best summer ever.</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Here's what HiddenGem Brain sees: every one of those calls is a denial. Selling out that far ahead feels like safety. HiddenGem Brain reads it as a rate set too low.</a:t>
            </a:r>
            <a:endParaRPr b="1"/>
          </a:p>
        </p:txBody>
      </p:sp>
      <p:sp>
        <p:nvSpPr>
          <p:cNvPr id="1348" name="Google Shape;134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8" name="Google Shape;137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br>
              <a:rPr b="1" lang="en-US"/>
            </a:br>
            <a:br>
              <a:rPr b="1" lang="en-US"/>
            </a:br>
            <a:r>
              <a:rPr lang="en-US" sz="1100">
                <a:latin typeface="Arial"/>
                <a:ea typeface="Arial"/>
                <a:cs typeface="Arial"/>
                <a:sym typeface="Arial"/>
              </a:rPr>
              <a:t>Regret is the other half of that pair. The date was open. The guest looked at it, and left without booking.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Denial</a:t>
            </a:r>
            <a:r>
              <a:rPr lang="en-US" sz="1100">
                <a:latin typeface="Arial"/>
                <a:ea typeface="Arial"/>
                <a:cs typeface="Arial"/>
                <a:sym typeface="Arial"/>
              </a:rPr>
              <a:t>: couldn't book, it was sold out. Regret: wouldn't book. They saw the price, or a two-night minimum, and walked.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interest isn't the problem. Something at the moment of booking is, usually the rate or a restriction like a minimum stay. Picture 6,000 people looking at October on the website, and bookings flat. People are finding the dates. Something stops them when they get there.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so-what for us</a:t>
            </a:r>
            <a:r>
              <a:rPr lang="en-US" sz="1100">
                <a:latin typeface="Arial"/>
                <a:ea typeface="Arial"/>
                <a:cs typeface="Arial"/>
                <a:sym typeface="Arial"/>
              </a:rPr>
              <a:t>: when an owner says "lots of people are looking, the interest is there", that's your moment to ask what they saw when they got there.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"Lots of people are looking at those dates and leaving. That's regret, and it usually points to price or a minimum stay."</a:t>
            </a:r>
            <a:endParaRPr sz="1100">
              <a:latin typeface="Arial"/>
              <a:ea typeface="Arial"/>
              <a:cs typeface="Arial"/>
              <a:sym typeface="Arial"/>
            </a:endParaRPr>
          </a:p>
          <a:p>
            <a:pPr indent="0" lvl="0" marL="0" rtl="0" algn="l">
              <a:spcBef>
                <a:spcPts val="1200"/>
              </a:spcBef>
              <a:spcAft>
                <a:spcPts val="0"/>
              </a:spcAft>
              <a:buClr>
                <a:schemeClr val="dk1"/>
              </a:buClr>
              <a:buFont typeface="Arial"/>
              <a:buNone/>
            </a:pPr>
            <a:r>
              <a:t/>
            </a:r>
            <a:endParaRPr b="1"/>
          </a:p>
        </p:txBody>
      </p:sp>
      <p:sp>
        <p:nvSpPr>
          <p:cNvPr id="1379" name="Google Shape;137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9" name="Google Shape;140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br>
              <a:rPr b="1" lang="en-US"/>
            </a:br>
            <a:br>
              <a:rPr b="1" lang="en-US"/>
            </a:br>
            <a:r>
              <a:rPr b="1" lang="en-US" sz="1100">
                <a:latin typeface="Arial"/>
                <a:ea typeface="Arial"/>
                <a:cs typeface="Arial"/>
                <a:sym typeface="Arial"/>
              </a:rPr>
              <a:t>Orphan night</a:t>
            </a:r>
            <a:r>
              <a:rPr lang="en-US" sz="1100">
                <a:latin typeface="Arial"/>
                <a:ea typeface="Arial"/>
                <a:cs typeface="Arial"/>
                <a:sym typeface="Arial"/>
              </a:rPr>
              <a:t>: a single empty night stranded between two bookings. Too short for most guests to want.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One room, one month. See the three marked nights: a Friday, a Sunday, a Tuesday. Each one's stuck between two stays, and nobody's searching for exactly one Tuesday night.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Why the owner cares</a:t>
            </a:r>
            <a:r>
              <a:rPr lang="en-US" sz="1100">
                <a:latin typeface="Arial"/>
                <a:ea typeface="Arial"/>
                <a:cs typeface="Arial"/>
                <a:sym typeface="Arial"/>
              </a:rPr>
              <a:t>: "94% booked" sounds great, and it can hide a handful of these. They rarely sell on their own. And at a property with a two-night minimum, they can't be sold at all.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One idea, and it's a HiddenGem Brain hypothesis, not a proven play: offer the guests on either side an extra night. They're already coming, so they're the easiest people to sell to.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so-what for us</a:t>
            </a:r>
            <a:r>
              <a:rPr lang="en-US" sz="1100">
                <a:latin typeface="Arial"/>
                <a:ea typeface="Arial"/>
                <a:cs typeface="Arial"/>
                <a:sym typeface="Arial"/>
              </a:rPr>
              <a:t>: when an owner says they're basically full, ask what's left, and whether it's single nights.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"That single Tuesday between two bookings is an orphan night. A small offer could turn it into revenue."</a:t>
            </a:r>
            <a:endParaRPr sz="1100">
              <a:latin typeface="Arial"/>
              <a:ea typeface="Arial"/>
              <a:cs typeface="Arial"/>
              <a:sym typeface="Arial"/>
            </a:endParaRPr>
          </a:p>
          <a:p>
            <a:pPr indent="0" lvl="0" marL="0" rtl="0" algn="l">
              <a:spcBef>
                <a:spcPts val="1200"/>
              </a:spcBef>
              <a:spcAft>
                <a:spcPts val="0"/>
              </a:spcAft>
              <a:buClr>
                <a:schemeClr val="dk1"/>
              </a:buClr>
              <a:buFont typeface="Arial"/>
              <a:buNone/>
            </a:pPr>
            <a:r>
              <a:t/>
            </a:r>
            <a:endParaRPr b="1"/>
          </a:p>
        </p:txBody>
      </p:sp>
      <p:sp>
        <p:nvSpPr>
          <p:cNvPr id="1410" name="Google Shape;141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5" name="Google Shape;153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br>
              <a:rPr b="1" lang="en-US"/>
            </a:br>
            <a:br>
              <a:rPr b="1" lang="en-US"/>
            </a:br>
            <a:r>
              <a:rPr lang="en-US" sz="1100">
                <a:latin typeface="Arial"/>
                <a:ea typeface="Arial"/>
                <a:cs typeface="Arial"/>
                <a:sym typeface="Arial"/>
              </a:rPr>
              <a:t>Rate parity. First, OTA: online travel agency. Booking.com, Expedia, Airbnb: the sites that sell the room for a cut.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Rate parity is a clause that can be in an OTA contract: the property agrees not to sell the room cheaper on its own website than on the OTA.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US" sz="1100">
                <a:latin typeface="Arial"/>
                <a:ea typeface="Arial"/>
                <a:cs typeface="Arial"/>
                <a:sym typeface="Arial"/>
              </a:rPr>
              <a:t>[Point to the cards.]</a:t>
            </a:r>
            <a:r>
              <a:rPr lang="en-US" sz="1100">
                <a:latin typeface="Arial"/>
                <a:ea typeface="Arial"/>
                <a:cs typeface="Arial"/>
                <a:sym typeface="Arial"/>
              </a:rPr>
              <a:t> Here's Priya's plan. To push people to book direct, she drops her website to $170 while Expedia shows $200. It makes sense, and it's our goal too. But if her contract has parity, that's the one thing it forbids.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HiddenGem Brain works inside it. The public rate stays level on every channel, and the incentive goes through channels the property owns: a value-add, or an offer by email, SMS or DM.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And notice we're not saying anything about the law. The question is always what their contract says.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"Does your Booking.com contract include rate parity? That decides what we can offer on your own site."</a:t>
            </a:r>
            <a:endParaRPr sz="1100">
              <a:latin typeface="Arial"/>
              <a:ea typeface="Arial"/>
              <a:cs typeface="Arial"/>
              <a:sym typeface="Arial"/>
            </a:endParaRPr>
          </a:p>
          <a:p>
            <a:pPr indent="0" lvl="0" marL="0" rtl="0" algn="l">
              <a:spcBef>
                <a:spcPts val="1200"/>
              </a:spcBef>
              <a:spcAft>
                <a:spcPts val="0"/>
              </a:spcAft>
              <a:buClr>
                <a:schemeClr val="dk1"/>
              </a:buClr>
              <a:buFont typeface="Arial"/>
              <a:buNone/>
            </a:pPr>
            <a:r>
              <a:t/>
            </a:r>
            <a:endParaRPr b="1"/>
          </a:p>
        </p:txBody>
      </p:sp>
      <p:sp>
        <p:nvSpPr>
          <p:cNvPr id="1536" name="Google Shape;153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6" name="Google Shape;156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567" name="Google Shape;156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4" name="Google Shape;158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585" name="Google Shape;158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3" name="Google Shape;161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614" name="Google Shape;161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5" name="Google Shape;164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646" name="Google Shape;164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4" name="Google Shape;167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675" name="Google Shape;167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6" name="Google Shape;170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707" name="Google Shape;170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5" name="Google Shape;173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736" name="Google Shape;173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7" name="Google Shape;176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768" name="Google Shape;176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5" name="Shape 1795"/>
        <p:cNvGrpSpPr/>
        <p:nvPr/>
      </p:nvGrpSpPr>
      <p:grpSpPr>
        <a:xfrm>
          <a:off x="0" y="0"/>
          <a:ext cx="0" cy="0"/>
          <a:chOff x="0" y="0"/>
          <a:chExt cx="0" cy="0"/>
        </a:xfrm>
      </p:grpSpPr>
      <p:sp>
        <p:nvSpPr>
          <p:cNvPr id="1796" name="Google Shape;179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7" name="Google Shape;179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798" name="Google Shape;1798;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8" name="Shape 1828"/>
        <p:cNvGrpSpPr/>
        <p:nvPr/>
      </p:nvGrpSpPr>
      <p:grpSpPr>
        <a:xfrm>
          <a:off x="0" y="0"/>
          <a:ext cx="0" cy="0"/>
          <a:chOff x="0" y="0"/>
          <a:chExt cx="0" cy="0"/>
        </a:xfrm>
      </p:grpSpPr>
      <p:sp>
        <p:nvSpPr>
          <p:cNvPr id="1829" name="Google Shape;182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0" name="Google Shape;183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831" name="Google Shape;183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9" name="Google Shape;185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860" name="Google Shape;186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1" name="Google Shape;189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892" name="Google Shape;189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0" name="Google Shape;192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NICOLE</a:t>
            </a:r>
            <a:endParaRPr/>
          </a:p>
        </p:txBody>
      </p:sp>
      <p:sp>
        <p:nvSpPr>
          <p:cNvPr id="1921" name="Google Shape;192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2" name="Google Shape;195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KYLE</a:t>
            </a:r>
            <a:endParaRPr/>
          </a:p>
          <a:p>
            <a:pPr indent="0" lvl="0" marL="0" rtl="0" algn="l">
              <a:spcBef>
                <a:spcPts val="0"/>
              </a:spcBef>
              <a:spcAft>
                <a:spcPts val="0"/>
              </a:spcAft>
              <a:buClr>
                <a:schemeClr val="dk1"/>
              </a:buClr>
              <a:buFont typeface="Arial"/>
              <a:buNone/>
            </a:pPr>
            <a:r>
              <a:t/>
            </a:r>
            <a:endParaRPr b="1"/>
          </a:p>
        </p:txBody>
      </p:sp>
      <p:sp>
        <p:nvSpPr>
          <p:cNvPr id="1953" name="Google Shape;195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2" name="Google Shape;199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br>
              <a:rPr b="1" lang="en-US"/>
            </a:br>
            <a:br>
              <a:rPr b="1" lang="en-US"/>
            </a:br>
            <a:r>
              <a:rPr b="1" lang="en-US"/>
              <a:t>Let's start with the simplest question in this block</a:t>
            </a:r>
            <a:r>
              <a:rPr lang="en-US"/>
              <a:t>: how far ahead do people book? That's lead time. The gap between the day someone books and the day they arrive.</a:t>
            </a:r>
            <a:endParaRPr/>
          </a:p>
          <a:p>
            <a:pPr indent="0" lvl="0" marL="0" rtl="0" algn="l">
              <a:lnSpc>
                <a:spcPct val="115000"/>
              </a:lnSpc>
              <a:spcBef>
                <a:spcPts val="1200"/>
              </a:spcBef>
              <a:spcAft>
                <a:spcPts val="0"/>
              </a:spcAft>
              <a:buClr>
                <a:schemeClr val="dk1"/>
              </a:buClr>
              <a:buSzPts val="1100"/>
              <a:buFont typeface="Arial"/>
              <a:buNone/>
            </a:pPr>
            <a:r>
              <a:rPr lang="en-US"/>
              <a:t>And it's not one number. It changes with the kind of guest and the kind of date. Someone booking last minute might book a day or two out. A family planning a summer week books a month or two ahead. A wedding party can lock in rooms half a year out. The ranges on the screen are a general hotel pattern, not our clients' numbers, so read them as a shape, not a benchmark. If an owner tells you their lead time, theirs wins.</a:t>
            </a:r>
            <a:endParaRPr/>
          </a:p>
          <a:p>
            <a:pPr indent="0" lvl="0" marL="0" rtl="0" algn="l">
              <a:lnSpc>
                <a:spcPct val="115000"/>
              </a:lnSpc>
              <a:spcBef>
                <a:spcPts val="1200"/>
              </a:spcBef>
              <a:spcAft>
                <a:spcPts val="1200"/>
              </a:spcAft>
              <a:buClr>
                <a:schemeClr val="dk1"/>
              </a:buClr>
              <a:buSzPts val="1100"/>
              <a:buFont typeface="Arial"/>
              <a:buNone/>
            </a:pPr>
            <a:r>
              <a:rPr lang="en-US"/>
              <a:t>Why does the owner care? Because sooner or later they ask, “when should we start advertising?” Lead time is the answer. A ski weekend and a summer week open at different times, and the ads have to be running before that window opens, not halfway through it.</a:t>
            </a:r>
            <a:endParaRPr b="1"/>
          </a:p>
        </p:txBody>
      </p:sp>
      <p:sp>
        <p:nvSpPr>
          <p:cNvPr id="1993" name="Google Shape;199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6" name="Google Shape;203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lang="en-US" sz="1100">
                <a:latin typeface="Arial"/>
                <a:ea typeface="Arial"/>
                <a:cs typeface="Arial"/>
                <a:sym typeface="Arial"/>
              </a:rPr>
              <a:t>Lead time is about one booking. Add up every booking for a single date and you get the booking curve</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i="1" lang="en-US" sz="1100">
                <a:latin typeface="Arial"/>
                <a:ea typeface="Arial"/>
                <a:cs typeface="Arial"/>
                <a:sym typeface="Arial"/>
              </a:rPr>
              <a:t>[Point to the two dots.]</a:t>
            </a:r>
            <a:r>
              <a:rPr lang="en-US" sz="1100">
                <a:latin typeface="Arial"/>
                <a:ea typeface="Arial"/>
                <a:cs typeface="Arial"/>
                <a:sym typeface="Arial"/>
              </a:rPr>
              <a:t> Same distance from arrival, three months out. July is already at 70%. October is at 30%. On those numbers alone, October looks like trouble. It might not be. October just fills later. Different month, different guests, different curve.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That's the point for the owner</a:t>
            </a:r>
            <a:r>
              <a:rPr lang="en-US" sz="1100">
                <a:latin typeface="Arial"/>
                <a:ea typeface="Arial"/>
                <a:cs typeface="Arial"/>
                <a:sym typeface="Arial"/>
              </a:rPr>
              <a:t>: you can't call a date soft until you've compared it with its own curve. Not with July, and not with the place down the road. With how October usually fills.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On a call</a:t>
            </a:r>
            <a:r>
              <a:rPr lang="en-US" sz="1100">
                <a:latin typeface="Arial"/>
                <a:ea typeface="Arial"/>
                <a:cs typeface="Arial"/>
                <a:sym typeface="Arial"/>
              </a:rPr>
              <a:t>: “Your booking curve shows when each type of guest books, so we can time the ads to match.”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When an owner worries about a month that looks empty, the first question isn't “how do we fill it?” It's “is this normal for this month?”</a:t>
            </a:r>
            <a:endParaRPr sz="1100">
              <a:latin typeface="Arial"/>
              <a:ea typeface="Arial"/>
              <a:cs typeface="Arial"/>
              <a:sym typeface="Arial"/>
            </a:endParaRPr>
          </a:p>
          <a:p>
            <a:pPr indent="0" lvl="0" marL="0" rtl="0" algn="l">
              <a:spcBef>
                <a:spcPts val="1200"/>
              </a:spcBef>
              <a:spcAft>
                <a:spcPts val="0"/>
              </a:spcAft>
              <a:buNone/>
            </a:pPr>
            <a:r>
              <a:rPr lang="en-US"/>
              <a:t>— slide 47 of 65</a:t>
            </a:r>
            <a:endParaRPr/>
          </a:p>
        </p:txBody>
      </p:sp>
      <p:sp>
        <p:nvSpPr>
          <p:cNvPr id="2037" name="Google Shape;2037;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6" name="Google Shape;208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lang="en-US" sz="1100">
                <a:latin typeface="Arial"/>
                <a:ea typeface="Arial"/>
                <a:cs typeface="Arial"/>
                <a:sym typeface="Arial"/>
              </a:rPr>
              <a:t>If the booking curve is the map, pace tells you where you are on it. Pace answers one question about a date that hasn't happened yet: are we ahead or behind?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trick is comparing like with like. Same date, same distance out. </a:t>
            </a:r>
            <a:r>
              <a:rPr i="1" lang="en-US" sz="1100">
                <a:latin typeface="Arial"/>
                <a:ea typeface="Arial"/>
                <a:cs typeface="Arial"/>
                <a:sym typeface="Arial"/>
              </a:rPr>
              <a:t>[Point to the bars.]</a:t>
            </a:r>
            <a:r>
              <a:rPr lang="en-US" sz="1100">
                <a:latin typeface="Arial"/>
                <a:ea typeface="Arial"/>
                <a:cs typeface="Arial"/>
                <a:sym typeface="Arial"/>
              </a:rPr>
              <a:t> Last year, October was 30% booked at 90 days out. This year, at the same point, it's 36%. So October is pacing six points ahead of last year.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And the so-what for us</a:t>
            </a:r>
            <a:r>
              <a:rPr lang="en-US" sz="1100">
                <a:latin typeface="Arial"/>
                <a:ea typeface="Arial"/>
                <a:cs typeface="Arial"/>
                <a:sym typeface="Arial"/>
              </a:rPr>
              <a:t>: behind doesn't automatically mean run more ads, and it definitely doesn't mean drop the price. HiddenGem Brain's rule is never act on pace alone. First work out whether it's a traffic problem, a price problem, or a date that's selling faster than it should. So ask, “How is October pacing against last year?” and then ask why.</a:t>
            </a:r>
            <a:endParaRPr sz="1100">
              <a:latin typeface="Arial"/>
              <a:ea typeface="Arial"/>
              <a:cs typeface="Arial"/>
              <a:sym typeface="Arial"/>
            </a:endParaRPr>
          </a:p>
          <a:p>
            <a:pPr indent="0" lvl="0" marL="0" rtl="0" algn="l">
              <a:spcBef>
                <a:spcPts val="1200"/>
              </a:spcBef>
              <a:spcAft>
                <a:spcPts val="0"/>
              </a:spcAft>
              <a:buNone/>
            </a:pPr>
            <a:r>
              <a:rPr lang="en-US"/>
              <a:t>— slide 48 of 65</a:t>
            </a:r>
            <a:endParaRPr/>
          </a:p>
        </p:txBody>
      </p:sp>
      <p:sp>
        <p:nvSpPr>
          <p:cNvPr id="2087" name="Google Shape;208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6" name="Google Shape;211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lang="en-US"/>
              <a:t>OTB means on the books: bookings already sitting in the system for a future date. Owners quote it constantly. “October's 80% booked.”</a:t>
            </a:r>
            <a:endParaRPr/>
          </a:p>
          <a:p>
            <a:pPr indent="0" lvl="0" marL="0" rtl="0" algn="l">
              <a:lnSpc>
                <a:spcPct val="115000"/>
              </a:lnSpc>
              <a:spcBef>
                <a:spcPts val="1200"/>
              </a:spcBef>
              <a:spcAft>
                <a:spcPts val="0"/>
              </a:spcAft>
              <a:buClr>
                <a:schemeClr val="dk1"/>
              </a:buClr>
              <a:buSzPts val="1100"/>
              <a:buFont typeface="Arial"/>
              <a:buNone/>
            </a:pPr>
            <a:r>
              <a:rPr lang="en-US"/>
              <a:t>Effective OTB asks the follow-up: how much of that 80% is actually going to show up? Some bookings are refundable, and some refundable bookings cancel. So you take out the cancellations you'd expect.</a:t>
            </a:r>
            <a:endParaRPr/>
          </a:p>
          <a:p>
            <a:pPr indent="0" lvl="0" marL="0" rtl="0" algn="l">
              <a:lnSpc>
                <a:spcPct val="115000"/>
              </a:lnSpc>
              <a:spcBef>
                <a:spcPts val="1200"/>
              </a:spcBef>
              <a:spcAft>
                <a:spcPts val="0"/>
              </a:spcAft>
              <a:buClr>
                <a:schemeClr val="dk1"/>
              </a:buClr>
              <a:buSzPts val="1100"/>
              <a:buFont typeface="Arial"/>
              <a:buNone/>
            </a:pPr>
            <a:r>
              <a:rPr lang="en-US"/>
              <a:t>Take Theo. October is 80% on the books, all refundable, and about one in five refundable bookings usually cancel. One in five of 80 is 16 points. Take that off and October is really closer to 64%. The 20% is just for the example, not a benchmark.</a:t>
            </a:r>
            <a:endParaRPr/>
          </a:p>
          <a:p>
            <a:pPr indent="0" lvl="0" marL="0" rtl="0" algn="l">
              <a:lnSpc>
                <a:spcPct val="115000"/>
              </a:lnSpc>
              <a:spcBef>
                <a:spcPts val="1200"/>
              </a:spcBef>
              <a:spcAft>
                <a:spcPts val="0"/>
              </a:spcAft>
              <a:buClr>
                <a:schemeClr val="dk1"/>
              </a:buClr>
              <a:buSzPts val="1100"/>
              <a:buFont typeface="Arial"/>
              <a:buNone/>
            </a:pPr>
            <a:r>
              <a:rPr b="1" lang="en-US"/>
              <a:t>Why the owner cares</a:t>
            </a:r>
            <a:r>
              <a:rPr lang="en-US"/>
              <a:t>: “we're basically there” and “most of it's refundable” can both be true at once. HiddenGem Brain has a good phrase for a calendar filled far out with refundable bookings: cheap and fragile. Cheap, because it was sold early at old rates. Fragile, because it can still walk.</a:t>
            </a:r>
            <a:endParaRPr/>
          </a:p>
          <a:p>
            <a:pPr indent="0" lvl="0" marL="0" rtl="0" algn="l">
              <a:lnSpc>
                <a:spcPct val="115000"/>
              </a:lnSpc>
              <a:spcBef>
                <a:spcPts val="1200"/>
              </a:spcBef>
              <a:spcAft>
                <a:spcPts val="0"/>
              </a:spcAft>
              <a:buClr>
                <a:schemeClr val="dk1"/>
              </a:buClr>
              <a:buSzPts val="1100"/>
              <a:buFont typeface="Arial"/>
              <a:buNone/>
            </a:pPr>
            <a:r>
              <a:rPr b="1" lang="en-US"/>
              <a:t>On a call</a:t>
            </a:r>
            <a:r>
              <a:rPr lang="en-US"/>
              <a:t>: “Once we allow for likely cancellations, your effective OTB for October is a bit lower than it looks.” </a:t>
            </a:r>
            <a:br>
              <a:rPr lang="en-US"/>
            </a:br>
            <a:br>
              <a:rPr lang="en-US"/>
            </a:br>
            <a:r>
              <a:rPr b="1" lang="en-US"/>
              <a:t>And the so-what</a:t>
            </a:r>
            <a:r>
              <a:rPr lang="en-US"/>
              <a:t>: when an owner says a month is full and wants to pull the ads, that's your moment to ask “how much of that is refundable?” before anything gets switched off.</a:t>
            </a:r>
            <a:endParaRPr/>
          </a:p>
          <a:p>
            <a:pPr indent="0" lvl="0" marL="0" rtl="0" algn="l">
              <a:spcBef>
                <a:spcPts val="1200"/>
              </a:spcBef>
              <a:spcAft>
                <a:spcPts val="0"/>
              </a:spcAft>
              <a:buNone/>
            </a:pPr>
            <a:r>
              <a:rPr lang="en-US"/>
              <a:t>— slide 49 of 65</a:t>
            </a:r>
            <a:endParaRPr/>
          </a:p>
        </p:txBody>
      </p:sp>
      <p:sp>
        <p:nvSpPr>
          <p:cNvPr id="2117" name="Google Shape;2117;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8" name="Google Shape;215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lang="en-US"/>
              <a:t>Last one. Transient and group are two different businesses inside one property.</a:t>
            </a:r>
            <a:endParaRPr/>
          </a:p>
          <a:p>
            <a:pPr indent="0" lvl="0" marL="0" rtl="0" algn="l">
              <a:lnSpc>
                <a:spcPct val="115000"/>
              </a:lnSpc>
              <a:spcBef>
                <a:spcPts val="1200"/>
              </a:spcBef>
              <a:spcAft>
                <a:spcPts val="0"/>
              </a:spcAft>
              <a:buClr>
                <a:schemeClr val="dk1"/>
              </a:buClr>
              <a:buSzPts val="1100"/>
              <a:buFont typeface="Arial"/>
              <a:buNone/>
            </a:pPr>
            <a:r>
              <a:rPr lang="en-US"/>
              <a:t>Transient is individual guests booking their own room, usually at the public rate.</a:t>
            </a:r>
            <a:endParaRPr/>
          </a:p>
          <a:p>
            <a:pPr indent="0" lvl="0" marL="0" rtl="0" algn="l">
              <a:lnSpc>
                <a:spcPct val="115000"/>
              </a:lnSpc>
              <a:spcBef>
                <a:spcPts val="1200"/>
              </a:spcBef>
              <a:spcAft>
                <a:spcPts val="0"/>
              </a:spcAft>
              <a:buClr>
                <a:schemeClr val="dk1"/>
              </a:buClr>
              <a:buSzPts val="1100"/>
              <a:buFont typeface="Arial"/>
              <a:buNone/>
            </a:pPr>
            <a:r>
              <a:rPr b="1" lang="en-US"/>
              <a:t>Group is a contracted block</a:t>
            </a:r>
            <a:r>
              <a:rPr lang="en-US"/>
              <a:t>: a wedding, a retreat. Many rooms, one deal, a negotiated rate.</a:t>
            </a:r>
            <a:endParaRPr/>
          </a:p>
          <a:p>
            <a:pPr indent="0" lvl="0" marL="0" rtl="0" algn="l">
              <a:lnSpc>
                <a:spcPct val="115000"/>
              </a:lnSpc>
              <a:spcBef>
                <a:spcPts val="1200"/>
              </a:spcBef>
              <a:spcAft>
                <a:spcPts val="0"/>
              </a:spcAft>
              <a:buClr>
                <a:schemeClr val="dk1"/>
              </a:buClr>
              <a:buSzPts val="1100"/>
              <a:buFont typeface="Arial"/>
              <a:buNone/>
            </a:pPr>
            <a:r>
              <a:rPr lang="en-US"/>
              <a:t>A wedding planner wants every suite at 15% off. It feels like a sure thing. The real question is what it pushes out. On a Saturday that sells out anyway, that discount replaces guests who would have paid full rate. The dictionary calls that displacement. </a:t>
            </a:r>
            <a:endParaRPr/>
          </a:p>
          <a:p>
            <a:pPr indent="0" lvl="0" marL="0" rtl="0" algn="l">
              <a:lnSpc>
                <a:spcPct val="115000"/>
              </a:lnSpc>
              <a:spcBef>
                <a:spcPts val="1200"/>
              </a:spcBef>
              <a:spcAft>
                <a:spcPts val="0"/>
              </a:spcAft>
              <a:buClr>
                <a:schemeClr val="dk1"/>
              </a:buClr>
              <a:buSzPts val="1100"/>
              <a:buFont typeface="Arial"/>
              <a:buNone/>
            </a:pPr>
            <a:r>
              <a:rPr lang="en-US"/>
              <a:t>But the room rate isn't the whole deal. Remember ancillary revenue? A wedding can bring a dinner, a bar tab, the spa. Weigh everything the group spends against what those full-rate guests would have spent. That's why we read these numbers together.</a:t>
            </a:r>
            <a:endParaRPr/>
          </a:p>
          <a:p>
            <a:pPr indent="0" lvl="0" marL="0" rtl="0" algn="l">
              <a:spcBef>
                <a:spcPts val="1200"/>
              </a:spcBef>
              <a:spcAft>
                <a:spcPts val="0"/>
              </a:spcAft>
              <a:buNone/>
            </a:pPr>
            <a:r>
              <a:rPr lang="en-US"/>
              <a:t>— slide 50 of 65</a:t>
            </a:r>
            <a:endParaRPr/>
          </a:p>
        </p:txBody>
      </p:sp>
      <p:sp>
        <p:nvSpPr>
          <p:cNvPr id="2159" name="Google Shape;2159;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7" name="Shape 2187"/>
        <p:cNvGrpSpPr/>
        <p:nvPr/>
      </p:nvGrpSpPr>
      <p:grpSpPr>
        <a:xfrm>
          <a:off x="0" y="0"/>
          <a:ext cx="0" cy="0"/>
          <a:chOff x="0" y="0"/>
          <a:chExt cx="0" cy="0"/>
        </a:xfrm>
      </p:grpSpPr>
      <p:sp>
        <p:nvSpPr>
          <p:cNvPr id="2188" name="Google Shape;218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9" name="Google Shape;2189;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lang="en-US"/>
              <a:t>— slide 51 of 65</a:t>
            </a:r>
            <a:endParaRPr/>
          </a:p>
        </p:txBody>
      </p:sp>
      <p:sp>
        <p:nvSpPr>
          <p:cNvPr id="2190" name="Google Shape;2190;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5" name="Shape 2205"/>
        <p:cNvGrpSpPr/>
        <p:nvPr/>
      </p:nvGrpSpPr>
      <p:grpSpPr>
        <a:xfrm>
          <a:off x="0" y="0"/>
          <a:ext cx="0" cy="0"/>
          <a:chOff x="0" y="0"/>
          <a:chExt cx="0" cy="0"/>
        </a:xfrm>
      </p:grpSpPr>
      <p:sp>
        <p:nvSpPr>
          <p:cNvPr id="2206" name="Google Shape;220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7" name="Google Shape;220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1, Pace (warm-up)</a:t>
            </a:r>
            <a:br>
              <a:rPr lang="en-US"/>
            </a:br>
            <a:br>
              <a:rPr lang="en-US"/>
            </a:br>
            <a:r>
              <a:rPr b="1" lang="en-US"/>
              <a:t>TELLS</a:t>
            </a:r>
            <a:r>
              <a:rPr lang="en-US"/>
              <a:t>:</a:t>
            </a:r>
            <a:br>
              <a:rPr lang="en-US"/>
            </a:br>
            <a:r>
              <a:rPr lang="en-US"/>
              <a:t>  • “this time last year”: the same future date, compared at the same point.</a:t>
            </a:r>
            <a:br>
              <a:rPr lang="en-US"/>
            </a:br>
            <a:r>
              <a:rPr lang="en-US"/>
              <a:t>  • The trap: pickup is how many came in last week. Pace is how that compares with last year or target.</a:t>
            </a:r>
            <a:br>
              <a:rPr lang="en-US"/>
            </a:br>
            <a:br>
              <a:rPr lang="en-US"/>
            </a:br>
            <a:r>
              <a:rPr b="1" lang="en-US"/>
              <a:t>SAY THIS ON A CALL</a:t>
            </a:r>
            <a:r>
              <a:rPr lang="en-US"/>
              <a:t>: “Here's October against the same point last year, and against where we'd want it by now.”</a:t>
            </a:r>
            <a:br>
              <a:rPr lang="en-US"/>
            </a:br>
            <a:br>
              <a:rPr lang="en-US"/>
            </a:br>
            <a:r>
              <a:rPr lang="en-US"/>
              <a:t>— slide 52 of 65</a:t>
            </a:r>
            <a:endParaRPr/>
          </a:p>
        </p:txBody>
      </p:sp>
      <p:sp>
        <p:nvSpPr>
          <p:cNvPr id="2208" name="Google Shape;2208;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6" name="Google Shape;2246;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Clr>
                <a:schemeClr val="dk1"/>
              </a:buClr>
              <a:buFont typeface="Arial"/>
              <a:buNone/>
            </a:pPr>
            <a:br>
              <a:rPr lang="en-US"/>
            </a:br>
            <a:r>
              <a:rPr b="1" lang="en-US"/>
              <a:t>ANSWER</a:t>
            </a:r>
            <a:r>
              <a:rPr lang="en-US"/>
              <a:t>: 1, Pace (warm-up)</a:t>
            </a:r>
            <a:br>
              <a:rPr lang="en-US"/>
            </a:br>
            <a:br>
              <a:rPr lang="en-US"/>
            </a:br>
            <a:r>
              <a:rPr b="1" lang="en-US"/>
              <a:t>TELLS</a:t>
            </a:r>
            <a:r>
              <a:rPr lang="en-US"/>
              <a:t>:</a:t>
            </a:r>
            <a:br>
              <a:rPr lang="en-US"/>
            </a:br>
            <a:r>
              <a:rPr lang="en-US"/>
              <a:t>  • “this time last year”: the same future date, compared at the same point.</a:t>
            </a:r>
            <a:br>
              <a:rPr lang="en-US"/>
            </a:br>
            <a:r>
              <a:rPr lang="en-US"/>
              <a:t>  • The trap: pickup is how many came in last week. Pace is how that compares with last year or target.</a:t>
            </a:r>
            <a:br>
              <a:rPr lang="en-US"/>
            </a:br>
            <a:br>
              <a:rPr lang="en-US"/>
            </a:br>
            <a:r>
              <a:rPr b="1" lang="en-US"/>
              <a:t>SAY THIS ON A CALL</a:t>
            </a:r>
            <a:r>
              <a:rPr lang="en-US"/>
              <a:t>: “Here's October against the same point last year, and against where we'd want it by now.”</a:t>
            </a:r>
            <a:br>
              <a:rPr lang="en-US"/>
            </a:br>
            <a:br>
              <a:rPr lang="en-US"/>
            </a:br>
            <a:r>
              <a:rPr lang="en-US"/>
              <a:t>— slide 52 of 65</a:t>
            </a:r>
            <a:endParaRPr/>
          </a:p>
          <a:p>
            <a:pPr indent="0" lvl="0" marL="0" rtl="0" algn="l">
              <a:spcBef>
                <a:spcPts val="0"/>
              </a:spcBef>
              <a:spcAft>
                <a:spcPts val="0"/>
              </a:spcAft>
              <a:buNone/>
            </a:pPr>
            <a:r>
              <a:t/>
            </a:r>
            <a:endParaRPr b="1"/>
          </a:p>
        </p:txBody>
      </p:sp>
      <p:sp>
        <p:nvSpPr>
          <p:cNvPr id="2247" name="Google Shape;2247;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7" name="Google Shape;228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2, Lead time</a:t>
            </a:r>
            <a:br>
              <a:rPr lang="en-US"/>
            </a:br>
            <a:br>
              <a:rPr lang="en-US"/>
            </a:br>
            <a:r>
              <a:rPr b="1" lang="en-US"/>
              <a:t>TELLS</a:t>
            </a:r>
            <a:r>
              <a:rPr lang="en-US"/>
              <a:t>:</a:t>
            </a:r>
            <a:br>
              <a:rPr lang="en-US"/>
            </a:br>
            <a:r>
              <a:rPr lang="en-US"/>
              <a:t>  • “when should we start” is really asking how far ahead these guests book.</a:t>
            </a:r>
            <a:br>
              <a:rPr lang="en-US"/>
            </a:br>
            <a:r>
              <a:rPr lang="en-US"/>
              <a:t>  • Feeder market answers where to advertise, not when.</a:t>
            </a:r>
            <a:br>
              <a:rPr lang="en-US"/>
            </a:br>
            <a:r>
              <a:rPr lang="en-US"/>
              <a:t>  • Shoulder season is a time of year, not a booking window.</a:t>
            </a:r>
            <a:br>
              <a:rPr lang="en-US"/>
            </a:br>
            <a:br>
              <a:rPr lang="en-US"/>
            </a:br>
            <a:r>
              <a:rPr b="1" lang="en-US"/>
              <a:t>SAY THIS ON A CALL</a:t>
            </a:r>
            <a:r>
              <a:rPr lang="en-US"/>
              <a:t>: “How far ahead do your ski-weekend guests usually book? The ads need to be running before that window opens.”</a:t>
            </a:r>
            <a:br>
              <a:rPr lang="en-US"/>
            </a:br>
            <a:br>
              <a:rPr lang="en-US"/>
            </a:br>
            <a:r>
              <a:rPr lang="en-US"/>
              <a:t>— slide 54 of 65</a:t>
            </a:r>
            <a:endParaRPr/>
          </a:p>
        </p:txBody>
      </p:sp>
      <p:sp>
        <p:nvSpPr>
          <p:cNvPr id="2288" name="Google Shape;2288;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4" name="Shape 2324"/>
        <p:cNvGrpSpPr/>
        <p:nvPr/>
      </p:nvGrpSpPr>
      <p:grpSpPr>
        <a:xfrm>
          <a:off x="0" y="0"/>
          <a:ext cx="0" cy="0"/>
          <a:chOff x="0" y="0"/>
          <a:chExt cx="0" cy="0"/>
        </a:xfrm>
      </p:grpSpPr>
      <p:sp>
        <p:nvSpPr>
          <p:cNvPr id="2325" name="Google Shape;232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6" name="Google Shape;232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2, Lead time</a:t>
            </a:r>
            <a:br>
              <a:rPr lang="en-US"/>
            </a:br>
            <a:br>
              <a:rPr lang="en-US"/>
            </a:br>
            <a:r>
              <a:rPr b="1" lang="en-US"/>
              <a:t>TELLS</a:t>
            </a:r>
            <a:r>
              <a:rPr lang="en-US"/>
              <a:t>:</a:t>
            </a:r>
            <a:br>
              <a:rPr lang="en-US"/>
            </a:br>
            <a:r>
              <a:rPr lang="en-US"/>
              <a:t>  • “when should we start” is really asking how far ahead these guests book.</a:t>
            </a:r>
            <a:br>
              <a:rPr lang="en-US"/>
            </a:br>
            <a:r>
              <a:rPr lang="en-US"/>
              <a:t>  • Feeder market answers where to advertise, not when.</a:t>
            </a:r>
            <a:br>
              <a:rPr lang="en-US"/>
            </a:br>
            <a:r>
              <a:rPr lang="en-US"/>
              <a:t>  • Shoulder season is a time of year, not a booking window.</a:t>
            </a:r>
            <a:br>
              <a:rPr lang="en-US"/>
            </a:br>
            <a:br>
              <a:rPr lang="en-US"/>
            </a:br>
            <a:r>
              <a:rPr b="1" lang="en-US"/>
              <a:t>SAY THIS ON A CALL</a:t>
            </a:r>
            <a:r>
              <a:rPr lang="en-US"/>
              <a:t>: “How far ahead do your ski-weekend guests usually book? The ads need to be running before that window opens.”</a:t>
            </a:r>
            <a:br>
              <a:rPr lang="en-US"/>
            </a:br>
            <a:br>
              <a:rPr lang="en-US"/>
            </a:br>
            <a:r>
              <a:rPr lang="en-US"/>
              <a:t>— slide 55 of 65</a:t>
            </a:r>
            <a:endParaRPr/>
          </a:p>
        </p:txBody>
      </p:sp>
      <p:sp>
        <p:nvSpPr>
          <p:cNvPr id="2327" name="Google Shape;2327;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5" name="Shape 2365"/>
        <p:cNvGrpSpPr/>
        <p:nvPr/>
      </p:nvGrpSpPr>
      <p:grpSpPr>
        <a:xfrm>
          <a:off x="0" y="0"/>
          <a:ext cx="0" cy="0"/>
          <a:chOff x="0" y="0"/>
          <a:chExt cx="0" cy="0"/>
        </a:xfrm>
      </p:grpSpPr>
      <p:sp>
        <p:nvSpPr>
          <p:cNvPr id="2366" name="Google Shape;236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7" name="Google Shape;236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3, Transient vs group</a:t>
            </a:r>
            <a:br>
              <a:rPr lang="en-US"/>
            </a:br>
            <a:br>
              <a:rPr lang="en-US"/>
            </a:br>
            <a:r>
              <a:rPr b="1" lang="en-US"/>
              <a:t>TELLS</a:t>
            </a:r>
            <a:r>
              <a:rPr lang="en-US"/>
              <a:t>:</a:t>
            </a:r>
            <a:br>
              <a:rPr lang="en-US"/>
            </a:br>
            <a:r>
              <a:rPr lang="en-US"/>
              <a:t>  • “all 12 suites”, “a wedding planner”, “15% off”, “it sold out last year anyway”.</a:t>
            </a:r>
            <a:br>
              <a:rPr lang="en-US"/>
            </a:br>
            <a:r>
              <a:rPr lang="en-US"/>
              <a:t>  • The trap: package rate. A discounted block is not a package.</a:t>
            </a:r>
            <a:br>
              <a:rPr lang="en-US"/>
            </a:br>
            <a:r>
              <a:rPr lang="en-US"/>
              <a:t>  • Callback: Walt's summer Saturdays sold out in the second round.</a:t>
            </a:r>
            <a:br>
              <a:rPr lang="en-US"/>
            </a:br>
            <a:br>
              <a:rPr lang="en-US"/>
            </a:br>
            <a:r>
              <a:rPr b="1" lang="en-US"/>
              <a:t>SAY THIS ON A CALL</a:t>
            </a:r>
            <a:r>
              <a:rPr lang="en-US"/>
              <a:t>: “What does that Saturday usually sell for on its own? Let's put the block next to the individual bookings it would replace.”</a:t>
            </a:r>
            <a:br>
              <a:rPr lang="en-US"/>
            </a:br>
            <a:br>
              <a:rPr lang="en-US"/>
            </a:br>
            <a:r>
              <a:rPr lang="en-US"/>
              <a:t>— slide 56 of 65</a:t>
            </a:r>
            <a:endParaRPr/>
          </a:p>
        </p:txBody>
      </p:sp>
      <p:sp>
        <p:nvSpPr>
          <p:cNvPr id="2368" name="Google Shape;236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6" name="Google Shape;240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3, Transient vs group</a:t>
            </a:r>
            <a:br>
              <a:rPr lang="en-US"/>
            </a:br>
            <a:br>
              <a:rPr lang="en-US"/>
            </a:br>
            <a:r>
              <a:rPr b="1" lang="en-US"/>
              <a:t>TELLS</a:t>
            </a:r>
            <a:r>
              <a:rPr lang="en-US"/>
              <a:t>:</a:t>
            </a:r>
            <a:br>
              <a:rPr lang="en-US"/>
            </a:br>
            <a:r>
              <a:rPr lang="en-US"/>
              <a:t>  • “all 12 suites”, “a wedding planner”, “15% off”, “it sold out last year anyway”.</a:t>
            </a:r>
            <a:br>
              <a:rPr lang="en-US"/>
            </a:br>
            <a:r>
              <a:rPr lang="en-US"/>
              <a:t>  • The trap: package rate. A discounted block is not a package.</a:t>
            </a:r>
            <a:br>
              <a:rPr lang="en-US"/>
            </a:br>
            <a:r>
              <a:rPr lang="en-US"/>
              <a:t>  • Callback: Walt's summer Saturdays sold out in the second round.</a:t>
            </a:r>
            <a:br>
              <a:rPr lang="en-US"/>
            </a:br>
            <a:br>
              <a:rPr lang="en-US"/>
            </a:br>
            <a:r>
              <a:rPr b="1" lang="en-US"/>
              <a:t>SAY THIS ON A CALL</a:t>
            </a:r>
            <a:r>
              <a:rPr lang="en-US"/>
              <a:t>: “What does that Saturday usually sell for on its own? Let's put the block next to the individual bookings it would replace.”</a:t>
            </a:r>
            <a:br>
              <a:rPr lang="en-US"/>
            </a:br>
            <a:br>
              <a:rPr lang="en-US"/>
            </a:br>
            <a:r>
              <a:rPr lang="en-US"/>
              <a:t>— slide 57 of 65</a:t>
            </a:r>
            <a:endParaRPr/>
          </a:p>
        </p:txBody>
      </p:sp>
      <p:sp>
        <p:nvSpPr>
          <p:cNvPr id="2407" name="Google Shape;2407;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7" name="Google Shape;244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4, Effective OTB</a:t>
            </a:r>
            <a:br>
              <a:rPr lang="en-US"/>
            </a:br>
            <a:br>
              <a:rPr lang="en-US"/>
            </a:br>
            <a:r>
              <a:rPr b="1" lang="en-US"/>
              <a:t>TELLS</a:t>
            </a:r>
            <a:r>
              <a:rPr lang="en-US"/>
              <a:t>:</a:t>
            </a:r>
            <a:br>
              <a:rPr lang="en-US"/>
            </a:br>
            <a:r>
              <a:rPr lang="en-US"/>
              <a:t>  • “most of it is refundable” next to “basically there”.</a:t>
            </a:r>
            <a:br>
              <a:rPr lang="en-US"/>
            </a:br>
            <a:r>
              <a:rPr lang="en-US"/>
              <a:t>  • Both traps are pieces of the answer: OTB is the 80% Theo is quoting; cancellation rate is the input.</a:t>
            </a:r>
            <a:br>
              <a:rPr lang="en-US"/>
            </a:br>
            <a:br>
              <a:rPr lang="en-US"/>
            </a:br>
            <a:r>
              <a:rPr b="1" lang="en-US"/>
              <a:t>SAY THIS ON A CALL</a:t>
            </a:r>
            <a:r>
              <a:rPr lang="en-US"/>
              <a:t>: “How much of that is refundable? Let's read October with expected cancellations taken out before we pull any ads off it.”</a:t>
            </a:r>
            <a:br>
              <a:rPr lang="en-US"/>
            </a:br>
            <a:br>
              <a:rPr lang="en-US"/>
            </a:br>
            <a:r>
              <a:rPr lang="en-US"/>
              <a:t>— slide 58 of 65</a:t>
            </a:r>
            <a:endParaRPr/>
          </a:p>
        </p:txBody>
      </p:sp>
      <p:sp>
        <p:nvSpPr>
          <p:cNvPr id="2448" name="Google Shape;244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6" name="Google Shape;2486;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Clr>
                <a:schemeClr val="dk1"/>
              </a:buClr>
              <a:buFont typeface="Arial"/>
              <a:buNone/>
            </a:pPr>
            <a:br>
              <a:rPr lang="en-US"/>
            </a:br>
            <a:r>
              <a:rPr b="1" lang="en-US"/>
              <a:t>ANSWER</a:t>
            </a:r>
            <a:r>
              <a:rPr lang="en-US"/>
              <a:t>: 4, Effective OTB</a:t>
            </a:r>
            <a:br>
              <a:rPr lang="en-US"/>
            </a:br>
            <a:br>
              <a:rPr lang="en-US"/>
            </a:br>
            <a:r>
              <a:rPr b="1" lang="en-US"/>
              <a:t>TELLS</a:t>
            </a:r>
            <a:r>
              <a:rPr lang="en-US"/>
              <a:t>:</a:t>
            </a:r>
            <a:br>
              <a:rPr lang="en-US"/>
            </a:br>
            <a:r>
              <a:rPr lang="en-US"/>
              <a:t>  • “most of it is refundable” next to “basically there”.</a:t>
            </a:r>
            <a:br>
              <a:rPr lang="en-US"/>
            </a:br>
            <a:r>
              <a:rPr lang="en-US"/>
              <a:t>  • Both traps are pieces of the answer: OTB is the 80% Theo is quoting; cancellation rate is the input.</a:t>
            </a:r>
            <a:br>
              <a:rPr lang="en-US"/>
            </a:br>
            <a:br>
              <a:rPr lang="en-US"/>
            </a:br>
            <a:r>
              <a:rPr b="1" lang="en-US"/>
              <a:t>SAY THIS ON A CALL</a:t>
            </a:r>
            <a:r>
              <a:rPr lang="en-US"/>
              <a:t>: “How much of that is refundable? Let's read October with expected cancellations taken out before we pull any ads off it.”</a:t>
            </a:r>
            <a:br>
              <a:rPr lang="en-US"/>
            </a:br>
            <a:br>
              <a:rPr lang="en-US"/>
            </a:br>
            <a:r>
              <a:rPr lang="en-US"/>
              <a:t>— slide 58 of 65</a:t>
            </a:r>
            <a:endParaRPr/>
          </a:p>
          <a:p>
            <a:pPr indent="0" lvl="0" marL="0" rtl="0" algn="l">
              <a:spcBef>
                <a:spcPts val="0"/>
              </a:spcBef>
              <a:spcAft>
                <a:spcPts val="0"/>
              </a:spcAft>
              <a:buNone/>
            </a:pPr>
            <a:r>
              <a:t/>
            </a:r>
            <a:endParaRPr b="1"/>
          </a:p>
        </p:txBody>
      </p:sp>
      <p:sp>
        <p:nvSpPr>
          <p:cNvPr id="2487" name="Google Shape;2487;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5" name="Shape 2525"/>
        <p:cNvGrpSpPr/>
        <p:nvPr/>
      </p:nvGrpSpPr>
      <p:grpSpPr>
        <a:xfrm>
          <a:off x="0" y="0"/>
          <a:ext cx="0" cy="0"/>
          <a:chOff x="0" y="0"/>
          <a:chExt cx="0" cy="0"/>
        </a:xfrm>
      </p:grpSpPr>
      <p:sp>
        <p:nvSpPr>
          <p:cNvPr id="2526" name="Google Shape;252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7" name="Google Shape;2527;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b="1" lang="en-US"/>
              <a:t>ANSWER</a:t>
            </a:r>
            <a:r>
              <a:rPr lang="en-US"/>
              <a:t>: 3, Booking curve (finale)</a:t>
            </a:r>
            <a:br>
              <a:rPr lang="en-US"/>
            </a:br>
            <a:br>
              <a:rPr lang="en-US"/>
            </a:br>
            <a:r>
              <a:rPr b="1" lang="en-US"/>
              <a:t>TELLS</a:t>
            </a:r>
            <a:r>
              <a:rPr lang="en-US"/>
              <a:t>:</a:t>
            </a:r>
            <a:br>
              <a:rPr lang="en-US"/>
            </a:br>
            <a:r>
              <a:rPr lang="en-US"/>
              <a:t>  • She is comparing two different months at the same distance from arrival.</a:t>
            </a:r>
            <a:br>
              <a:rPr lang="en-US"/>
            </a:br>
            <a:r>
              <a:rPr lang="en-US"/>
              <a:t>  • Soft dates: you cannot call October soft until you compare it with October's own curve.</a:t>
            </a:r>
            <a:br>
              <a:rPr lang="en-US"/>
            </a:br>
            <a:r>
              <a:rPr lang="en-US"/>
              <a:t>  • Regret: nobody is looking and leaving here.</a:t>
            </a:r>
            <a:br>
              <a:rPr lang="en-US"/>
            </a:br>
            <a:r>
              <a:rPr lang="en-US"/>
              <a:t>  • Slow season: her fear, not the diagnosis.</a:t>
            </a:r>
            <a:br>
              <a:rPr lang="en-US"/>
            </a:br>
            <a:br>
              <a:rPr lang="en-US"/>
            </a:br>
            <a:r>
              <a:rPr b="1" lang="en-US"/>
              <a:t>SAY THIS ON A CALL</a:t>
            </a:r>
            <a:r>
              <a:rPr lang="en-US"/>
              <a:t>: “July and October fill on different curves. Let's compare October with how October usually fills. That's the number that says whether to worry.”</a:t>
            </a:r>
            <a:br>
              <a:rPr lang="en-US"/>
            </a:br>
            <a:br>
              <a:rPr lang="en-US"/>
            </a:br>
            <a:r>
              <a:rPr lang="en-US"/>
              <a:t>— slide 60 of 65</a:t>
            </a:r>
            <a:endParaRPr/>
          </a:p>
        </p:txBody>
      </p:sp>
      <p:sp>
        <p:nvSpPr>
          <p:cNvPr id="2528" name="Google Shape;2528;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4" name="Shape 2564"/>
        <p:cNvGrpSpPr/>
        <p:nvPr/>
      </p:nvGrpSpPr>
      <p:grpSpPr>
        <a:xfrm>
          <a:off x="0" y="0"/>
          <a:ext cx="0" cy="0"/>
          <a:chOff x="0" y="0"/>
          <a:chExt cx="0" cy="0"/>
        </a:xfrm>
      </p:grpSpPr>
      <p:sp>
        <p:nvSpPr>
          <p:cNvPr id="2565" name="Google Shape;256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6" name="Google Shape;256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Clr>
                <a:schemeClr val="dk1"/>
              </a:buClr>
              <a:buFont typeface="Arial"/>
              <a:buNone/>
            </a:pPr>
            <a:br>
              <a:rPr lang="en-US"/>
            </a:br>
            <a:r>
              <a:rPr b="1" lang="en-US"/>
              <a:t>ANSWER</a:t>
            </a:r>
            <a:r>
              <a:rPr lang="en-US"/>
              <a:t>: 3, Booking curve (finale)</a:t>
            </a:r>
            <a:br>
              <a:rPr lang="en-US"/>
            </a:br>
            <a:br>
              <a:rPr lang="en-US"/>
            </a:br>
            <a:r>
              <a:rPr b="1" lang="en-US"/>
              <a:t>TELLS</a:t>
            </a:r>
            <a:r>
              <a:rPr lang="en-US"/>
              <a:t>:</a:t>
            </a:r>
            <a:br>
              <a:rPr lang="en-US"/>
            </a:br>
            <a:r>
              <a:rPr lang="en-US"/>
              <a:t>  • She is comparing two different months at the same distance from arrival.</a:t>
            </a:r>
            <a:br>
              <a:rPr lang="en-US"/>
            </a:br>
            <a:r>
              <a:rPr lang="en-US"/>
              <a:t>  • Soft dates: you cannot call October soft until you compare it with October's own curve.</a:t>
            </a:r>
            <a:br>
              <a:rPr lang="en-US"/>
            </a:br>
            <a:r>
              <a:rPr lang="en-US"/>
              <a:t>  • Regret: nobody is looking and leaving here.</a:t>
            </a:r>
            <a:br>
              <a:rPr lang="en-US"/>
            </a:br>
            <a:r>
              <a:rPr lang="en-US"/>
              <a:t>  • Slow season: her fear, not the diagnosis.</a:t>
            </a:r>
            <a:br>
              <a:rPr lang="en-US"/>
            </a:br>
            <a:br>
              <a:rPr lang="en-US"/>
            </a:br>
            <a:r>
              <a:rPr b="1" lang="en-US"/>
              <a:t>SAY THIS ON A CALL</a:t>
            </a:r>
            <a:r>
              <a:rPr lang="en-US"/>
              <a:t>: “July and October fill on different curves. Let's compare October with how October usually fills. That's the number that says whether to worry.”</a:t>
            </a:r>
            <a:br>
              <a:rPr lang="en-US"/>
            </a:br>
            <a:br>
              <a:rPr lang="en-US"/>
            </a:br>
            <a:r>
              <a:rPr lang="en-US"/>
              <a:t>— slide 60 of 65</a:t>
            </a:r>
            <a:endParaRPr/>
          </a:p>
          <a:p>
            <a:pPr indent="0" lvl="0" marL="0" rtl="0" algn="l">
              <a:spcBef>
                <a:spcPts val="0"/>
              </a:spcBef>
              <a:spcAft>
                <a:spcPts val="0"/>
              </a:spcAft>
              <a:buNone/>
            </a:pPr>
            <a:r>
              <a:t/>
            </a:r>
            <a:endParaRPr b="1"/>
          </a:p>
        </p:txBody>
      </p:sp>
      <p:sp>
        <p:nvSpPr>
          <p:cNvPr id="2567" name="Google Shape;2567;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5" name="Shape 2605"/>
        <p:cNvGrpSpPr/>
        <p:nvPr/>
      </p:nvGrpSpPr>
      <p:grpSpPr>
        <a:xfrm>
          <a:off x="0" y="0"/>
          <a:ext cx="0" cy="0"/>
          <a:chOff x="0" y="0"/>
          <a:chExt cx="0" cy="0"/>
        </a:xfrm>
      </p:grpSpPr>
      <p:sp>
        <p:nvSpPr>
          <p:cNvPr id="2606" name="Google Shape;260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7" name="Google Shape;2607;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br>
              <a:rPr b="1" lang="en-US"/>
            </a:br>
            <a:br>
              <a:rPr b="1" lang="en-US"/>
            </a:br>
            <a:r>
              <a:rPr lang="en-US"/>
              <a:t>Sooner or later an owner will use a word you can't place, live on a call. Three moves, and none of them is bluffing.</a:t>
            </a:r>
            <a:endParaRPr/>
          </a:p>
          <a:p>
            <a:pPr indent="0" lvl="0" marL="0" rtl="0" algn="l">
              <a:lnSpc>
                <a:spcPct val="115000"/>
              </a:lnSpc>
              <a:spcBef>
                <a:spcPts val="1200"/>
              </a:spcBef>
              <a:spcAft>
                <a:spcPts val="0"/>
              </a:spcAft>
              <a:buClr>
                <a:schemeClr val="dk1"/>
              </a:buClr>
              <a:buSzPts val="1100"/>
              <a:buFont typeface="Arial"/>
              <a:buNone/>
            </a:pPr>
            <a:r>
              <a:rPr lang="en-US"/>
              <a:t>One: ask which they mean. "Remind me how you're counting that?" sounds like a revenue manager, not a beginner. Owners define their own words differently anyway.</a:t>
            </a:r>
            <a:endParaRPr/>
          </a:p>
          <a:p>
            <a:pPr indent="0" lvl="0" marL="0" rtl="0" algn="l">
              <a:lnSpc>
                <a:spcPct val="115000"/>
              </a:lnSpc>
              <a:spcBef>
                <a:spcPts val="1200"/>
              </a:spcBef>
              <a:spcAft>
                <a:spcPts val="0"/>
              </a:spcAft>
              <a:buClr>
                <a:schemeClr val="dk1"/>
              </a:buClr>
              <a:buSzPts val="1100"/>
              <a:buFont typeface="Arial"/>
              <a:buNone/>
            </a:pPr>
            <a:r>
              <a:rPr lang="en-US"/>
              <a:t>Two: open the dictionary. It's built for exactly this moment: the PDF now, and the page on the HGM portal once it's live.</a:t>
            </a:r>
            <a:endParaRPr/>
          </a:p>
          <a:p>
            <a:pPr indent="0" lvl="0" marL="0" rtl="0" algn="l">
              <a:lnSpc>
                <a:spcPct val="115000"/>
              </a:lnSpc>
              <a:spcBef>
                <a:spcPts val="1200"/>
              </a:spcBef>
              <a:spcAft>
                <a:spcPts val="0"/>
              </a:spcAft>
              <a:buClr>
                <a:schemeClr val="dk1"/>
              </a:buClr>
              <a:buSzPts val="1100"/>
              <a:buFont typeface="Arial"/>
              <a:buNone/>
            </a:pPr>
            <a:r>
              <a:rPr lang="en-US"/>
              <a:t>Three: come back to it. "Let me look at that properly and come back to you" costs nothing. Guessing costs the credibility this whole session is about.</a:t>
            </a:r>
            <a:endParaRPr/>
          </a:p>
          <a:p>
            <a:pPr indent="0" lvl="0" marL="0" rtl="0" algn="l">
              <a:spcBef>
                <a:spcPts val="1200"/>
              </a:spcBef>
              <a:spcAft>
                <a:spcPts val="0"/>
              </a:spcAft>
              <a:buNone/>
            </a:pPr>
            <a:r>
              <a:t/>
            </a:r>
            <a:endParaRPr b="1"/>
          </a:p>
        </p:txBody>
      </p:sp>
      <p:sp>
        <p:nvSpPr>
          <p:cNvPr id="2608" name="Google Shape;2608;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1" name="Google Shape;2631;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br>
              <a:rPr b="1" lang="en-US"/>
            </a:br>
            <a:br>
              <a:rPr b="1" lang="en-US"/>
            </a:br>
            <a:r>
              <a:rPr lang="en-US"/>
              <a:t>Here's what you have, and where it lives.</a:t>
            </a:r>
            <a:endParaRPr/>
          </a:p>
          <a:p>
            <a:pPr indent="0" lvl="0" marL="0" rtl="0" algn="l">
              <a:lnSpc>
                <a:spcPct val="115000"/>
              </a:lnSpc>
              <a:spcBef>
                <a:spcPts val="1200"/>
              </a:spcBef>
              <a:spcAft>
                <a:spcPts val="0"/>
              </a:spcAft>
              <a:buClr>
                <a:schemeClr val="dk1"/>
              </a:buClr>
              <a:buSzPts val="1100"/>
              <a:buFont typeface="Arial"/>
              <a:buNone/>
            </a:pPr>
            <a:r>
              <a:rPr b="1" lang="en-US"/>
              <a:t>The dictionary</a:t>
            </a:r>
            <a:r>
              <a:rPr lang="en-US"/>
              <a:t>: 253 terms in nine sections. You have the PDF already; it was the pre-reading. Every term has a plain definition, a formula where there is one, and a line you could say on a call.</a:t>
            </a:r>
            <a:endParaRPr/>
          </a:p>
          <a:p>
            <a:pPr indent="0" lvl="0" marL="0" rtl="0" algn="l">
              <a:lnSpc>
                <a:spcPct val="115000"/>
              </a:lnSpc>
              <a:spcBef>
                <a:spcPts val="1200"/>
              </a:spcBef>
              <a:spcAft>
                <a:spcPts val="0"/>
              </a:spcAft>
              <a:buClr>
                <a:schemeClr val="dk1"/>
              </a:buClr>
              <a:buSzPts val="1100"/>
              <a:buFont typeface="Arial"/>
              <a:buNone/>
            </a:pPr>
            <a:r>
              <a:rPr b="1" lang="en-US"/>
              <a:t>One honest caveat</a:t>
            </a:r>
            <a:r>
              <a:rPr lang="en-US"/>
              <a:t>: we built it in ten days, from HiddenGem Brain and vendor and industry glossaries. It's not a benchmark book. If an owner quotes a "typical" number, we don't have one to match it, and we say so rather than guess.</a:t>
            </a:r>
            <a:endParaRPr/>
          </a:p>
          <a:p>
            <a:pPr indent="0" lvl="0" marL="0" rtl="0" algn="l">
              <a:lnSpc>
                <a:spcPct val="115000"/>
              </a:lnSpc>
              <a:spcBef>
                <a:spcPts val="1200"/>
              </a:spcBef>
              <a:spcAft>
                <a:spcPts val="0"/>
              </a:spcAft>
              <a:buClr>
                <a:schemeClr val="dk1"/>
              </a:buClr>
              <a:buSzPts val="1100"/>
              <a:buFont typeface="Arial"/>
              <a:buNone/>
            </a:pPr>
            <a:r>
              <a:rPr b="1" lang="en-US"/>
              <a:t>The call cheat sheet</a:t>
            </a:r>
            <a:r>
              <a:rPr lang="en-US"/>
              <a:t>: one page with today's sixteen terms. What it is, why the owner cares, what to say, what to ask.</a:t>
            </a:r>
            <a:endParaRPr/>
          </a:p>
          <a:p>
            <a:pPr indent="0" lvl="0" marL="0" rtl="0" algn="l">
              <a:lnSpc>
                <a:spcPct val="115000"/>
              </a:lnSpc>
              <a:spcBef>
                <a:spcPts val="1200"/>
              </a:spcBef>
              <a:spcAft>
                <a:spcPts val="0"/>
              </a:spcAft>
              <a:buClr>
                <a:schemeClr val="dk1"/>
              </a:buClr>
              <a:buSzPts val="1100"/>
              <a:buFont typeface="Arial"/>
              <a:buNone/>
            </a:pPr>
            <a:r>
              <a:rPr b="1" lang="en-US"/>
              <a:t>The Client Tech Stack Guide</a:t>
            </a:r>
            <a:r>
              <a:rPr lang="en-US"/>
              <a:t>: the tools an owner will name, like their PMS, the property management system, or their booking engine. That's session 2, so skim it before then.</a:t>
            </a:r>
            <a:endParaRPr/>
          </a:p>
          <a:p>
            <a:pPr indent="0" lvl="0" marL="0" rtl="0" algn="l">
              <a:lnSpc>
                <a:spcPct val="115000"/>
              </a:lnSpc>
              <a:spcBef>
                <a:spcPts val="1200"/>
              </a:spcBef>
              <a:spcAft>
                <a:spcPts val="0"/>
              </a:spcAft>
              <a:buClr>
                <a:schemeClr val="dk1"/>
              </a:buClr>
              <a:buSzPts val="1100"/>
              <a:buFont typeface="Arial"/>
              <a:buNone/>
            </a:pPr>
            <a:r>
              <a:rPr lang="en-US"/>
              <a:t>All three are going on the HGM portal, hgmportal.com, under Docs. Sign in with your HGM Google account. We'll send the link as soon as it's up.</a:t>
            </a:r>
            <a:endParaRPr/>
          </a:p>
          <a:p>
            <a:pPr indent="0" lvl="0" marL="0" rtl="0" algn="l">
              <a:lnSpc>
                <a:spcPct val="115000"/>
              </a:lnSpc>
              <a:spcBef>
                <a:spcPts val="1200"/>
              </a:spcBef>
              <a:spcAft>
                <a:spcPts val="0"/>
              </a:spcAft>
              <a:buClr>
                <a:schemeClr val="dk1"/>
              </a:buClr>
              <a:buSzPts val="1100"/>
              <a:buFont typeface="Arial"/>
              <a:buNone/>
            </a:pPr>
            <a:r>
              <a:rPr b="1" lang="en-US"/>
              <a:t>Pro tip</a:t>
            </a:r>
            <a:r>
              <a:rPr lang="en-US"/>
              <a:t>: bookmark it where you take calls, so it's one click away.</a:t>
            </a:r>
            <a:endParaRPr/>
          </a:p>
          <a:p>
            <a:pPr indent="0" lvl="0" marL="0" rtl="0" algn="l">
              <a:spcBef>
                <a:spcPts val="1200"/>
              </a:spcBef>
              <a:spcAft>
                <a:spcPts val="0"/>
              </a:spcAft>
              <a:buNone/>
            </a:pPr>
            <a:r>
              <a:t/>
            </a:r>
            <a:endParaRPr b="1"/>
          </a:p>
        </p:txBody>
      </p:sp>
      <p:sp>
        <p:nvSpPr>
          <p:cNvPr id="2632" name="Google Shape;2632;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5" name="Google Shape;266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NICOLE</a:t>
            </a:r>
            <a:br>
              <a:rPr b="1" lang="en-US"/>
            </a:br>
            <a:br>
              <a:rPr b="1" lang="en-US"/>
            </a:br>
            <a:r>
              <a:rPr lang="en-US"/>
              <a:t>And here's what's coming in session 2. Same format: three blocks, each with a practice round.</a:t>
            </a:r>
            <a:endParaRPr/>
          </a:p>
          <a:p>
            <a:pPr indent="0" lvl="0" marL="0" rtl="0" algn="l">
              <a:lnSpc>
                <a:spcPct val="115000"/>
              </a:lnSpc>
              <a:spcBef>
                <a:spcPts val="1200"/>
              </a:spcBef>
              <a:spcAft>
                <a:spcPts val="0"/>
              </a:spcAft>
              <a:buClr>
                <a:schemeClr val="dk1"/>
              </a:buClr>
              <a:buSzPts val="1100"/>
              <a:buFont typeface="Arial"/>
              <a:buNone/>
            </a:pPr>
            <a:r>
              <a:rPr b="1" lang="en-US"/>
              <a:t>Block 4</a:t>
            </a:r>
            <a:r>
              <a:rPr lang="en-US"/>
              <a:t>, why direct pays: what an owner keeps when a guest books direct. Lakeside Lodge's buyer comes back with a price.</a:t>
            </a:r>
            <a:endParaRPr/>
          </a:p>
          <a:p>
            <a:pPr indent="0" lvl="0" marL="0" rtl="0" algn="l">
              <a:lnSpc>
                <a:spcPct val="115000"/>
              </a:lnSpc>
              <a:spcBef>
                <a:spcPts val="1200"/>
              </a:spcBef>
              <a:spcAft>
                <a:spcPts val="0"/>
              </a:spcAft>
              <a:buClr>
                <a:schemeClr val="dk1"/>
              </a:buClr>
              <a:buSzPts val="1100"/>
              <a:buFont typeface="Arial"/>
              <a:buNone/>
            </a:pPr>
            <a:r>
              <a:rPr b="1" lang="en-US"/>
              <a:t>Block 5</a:t>
            </a:r>
            <a:r>
              <a:rPr lang="en-US"/>
              <a:t>, is it working: the ad numbers an owner will quote at you, like CPM, the cost of a thousand ad views.</a:t>
            </a:r>
            <a:endParaRPr/>
          </a:p>
          <a:p>
            <a:pPr indent="0" lvl="0" marL="0" rtl="0" algn="l">
              <a:lnSpc>
                <a:spcPct val="115000"/>
              </a:lnSpc>
              <a:spcBef>
                <a:spcPts val="1200"/>
              </a:spcBef>
              <a:spcAft>
                <a:spcPts val="0"/>
              </a:spcAft>
              <a:buClr>
                <a:schemeClr val="dk1"/>
              </a:buClr>
              <a:buSzPts val="1100"/>
              <a:buFont typeface="Arial"/>
              <a:buNone/>
            </a:pPr>
            <a:r>
              <a:rPr b="1" lang="en-US"/>
              <a:t>Block 6</a:t>
            </a:r>
            <a:r>
              <a:rPr lang="en-US"/>
              <a:t>, the stack: the tools a property runs on, like Mews and Cloudbeds. You'll sort them on your own phone.</a:t>
            </a:r>
            <a:endParaRPr/>
          </a:p>
          <a:p>
            <a:pPr indent="0" lvl="0" marL="0" rtl="0" algn="l">
              <a:lnSpc>
                <a:spcPct val="115000"/>
              </a:lnSpc>
              <a:spcBef>
                <a:spcPts val="1200"/>
              </a:spcBef>
              <a:spcAft>
                <a:spcPts val="0"/>
              </a:spcAft>
              <a:buClr>
                <a:schemeClr val="dk1"/>
              </a:buClr>
              <a:buSzPts val="1100"/>
              <a:buFont typeface="Arial"/>
              <a:buNone/>
            </a:pPr>
            <a:r>
              <a:rPr lang="en-US"/>
              <a:t>The same five owners come back too. We'll share the date shortly.</a:t>
            </a:r>
            <a:endParaRPr/>
          </a:p>
          <a:p>
            <a:pPr indent="0" lvl="0" marL="0" rtl="0" algn="l">
              <a:spcBef>
                <a:spcPts val="1200"/>
              </a:spcBef>
              <a:spcAft>
                <a:spcPts val="0"/>
              </a:spcAft>
              <a:buNone/>
            </a:pPr>
            <a:r>
              <a:t/>
            </a:r>
            <a:endParaRPr b="1"/>
          </a:p>
        </p:txBody>
      </p:sp>
      <p:sp>
        <p:nvSpPr>
          <p:cNvPr id="2666" name="Google Shape;266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3" name="Shape 2723"/>
        <p:cNvGrpSpPr/>
        <p:nvPr/>
      </p:nvGrpSpPr>
      <p:grpSpPr>
        <a:xfrm>
          <a:off x="0" y="0"/>
          <a:ext cx="0" cy="0"/>
          <a:chOff x="0" y="0"/>
          <a:chExt cx="0" cy="0"/>
        </a:xfrm>
      </p:grpSpPr>
      <p:sp>
        <p:nvSpPr>
          <p:cNvPr id="2724" name="Google Shape;2724;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5" name="Google Shape;2725;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KYLE</a:t>
            </a:r>
            <a:endParaRPr/>
          </a:p>
          <a:p>
            <a:pPr indent="0" lvl="0" marL="0" rtl="0" algn="l">
              <a:spcBef>
                <a:spcPts val="0"/>
              </a:spcBef>
              <a:spcAft>
                <a:spcPts val="0"/>
              </a:spcAft>
              <a:buNone/>
            </a:pPr>
            <a:br>
              <a:rPr lang="en-US"/>
            </a:br>
            <a:r>
              <a:rPr lang="en-US"/>
              <a:t>Okay, and </a:t>
            </a:r>
            <a:r>
              <a:rPr b="1" lang="en-US"/>
              <a:t>that brings to a close session one of our Industry Acumen – Hotel and Resort Terminology training session</a:t>
            </a:r>
            <a:r>
              <a:rPr lang="en-US"/>
              <a:t>. </a:t>
            </a:r>
            <a:br>
              <a:rPr lang="en-US"/>
            </a:br>
            <a:br>
              <a:rPr lang="en-US"/>
            </a:br>
            <a:r>
              <a:rPr b="1" lang="en-US"/>
              <a:t>We hope you all enjoyed it, found it enlightening and educational, but also interactive and fun as well.</a:t>
            </a:r>
            <a:r>
              <a:rPr lang="en-US"/>
              <a:t> </a:t>
            </a:r>
            <a:br>
              <a:rPr lang="en-US"/>
            </a:br>
            <a:br>
              <a:rPr lang="en-US"/>
            </a:br>
            <a:r>
              <a:rPr b="1" lang="en-US"/>
              <a:t>Nicole and I are looking forward to session 2</a:t>
            </a:r>
            <a:r>
              <a:rPr lang="en-US"/>
              <a:t>, where we're going to finish up the last 14 terms, and then after that, a short little check-in quiz to test your knowledge that will also provide feedback and further training </a:t>
            </a:r>
            <a:r>
              <a:rPr lang="en-US"/>
              <a:t>assistance.</a:t>
            </a:r>
            <a:br>
              <a:rPr lang="en-US"/>
            </a:br>
            <a:br>
              <a:rPr lang="en-US"/>
            </a:br>
            <a:r>
              <a:rPr lang="en-US"/>
              <a:t>— slide 65 of 65</a:t>
            </a:r>
            <a:endParaRPr/>
          </a:p>
        </p:txBody>
      </p:sp>
      <p:sp>
        <p:nvSpPr>
          <p:cNvPr id="2726" name="Google Shape;2726;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43.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46.png"/><Relationship Id="rId5" Type="http://schemas.openxmlformats.org/officeDocument/2006/relationships/image" Target="../media/image13.png"/><Relationship Id="rId6" Type="http://schemas.openxmlformats.org/officeDocument/2006/relationships/image" Target="../media/image28.png"/><Relationship Id="rId7" Type="http://schemas.openxmlformats.org/officeDocument/2006/relationships/image" Target="../media/image5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26.png"/><Relationship Id="rId6" Type="http://schemas.openxmlformats.org/officeDocument/2006/relationships/image" Target="../media/image25.png"/><Relationship Id="rId7" Type="http://schemas.openxmlformats.org/officeDocument/2006/relationships/image" Target="../media/image66.png"/><Relationship Id="rId8"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1.png"/><Relationship Id="rId4" Type="http://schemas.openxmlformats.org/officeDocument/2006/relationships/image" Target="../media/image77.png"/><Relationship Id="rId5" Type="http://schemas.openxmlformats.org/officeDocument/2006/relationships/image" Target="../media/image72.png"/><Relationship Id="rId6" Type="http://schemas.openxmlformats.org/officeDocument/2006/relationships/image" Target="../media/image8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35.png"/><Relationship Id="rId5"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35.png"/><Relationship Id="rId5"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35.png"/><Relationship Id="rId5"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35.png"/><Relationship Id="rId5"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35.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99.png"/><Relationship Id="rId9" Type="http://schemas.openxmlformats.org/officeDocument/2006/relationships/image" Target="../media/image114.png"/><Relationship Id="rId5" Type="http://schemas.openxmlformats.org/officeDocument/2006/relationships/image" Target="../media/image5.png"/><Relationship Id="rId6" Type="http://schemas.openxmlformats.org/officeDocument/2006/relationships/image" Target="../media/image123.png"/><Relationship Id="rId7" Type="http://schemas.openxmlformats.org/officeDocument/2006/relationships/image" Target="../media/image106.png"/><Relationship Id="rId8" Type="http://schemas.openxmlformats.org/officeDocument/2006/relationships/image" Target="../media/image1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40.png"/><Relationship Id="rId8" Type="http://schemas.openxmlformats.org/officeDocument/2006/relationships/image" Target="../media/image10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40.png"/><Relationship Id="rId8" Type="http://schemas.openxmlformats.org/officeDocument/2006/relationships/image" Target="../media/image1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123.png"/><Relationship Id="rId8" Type="http://schemas.openxmlformats.org/officeDocument/2006/relationships/image" Target="../media/image10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173.png"/><Relationship Id="rId8" Type="http://schemas.openxmlformats.org/officeDocument/2006/relationships/image" Target="../media/image1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1.png"/><Relationship Id="rId4" Type="http://schemas.openxmlformats.org/officeDocument/2006/relationships/image" Target="../media/image134.png"/><Relationship Id="rId5" Type="http://schemas.openxmlformats.org/officeDocument/2006/relationships/image" Target="../media/image72.png"/><Relationship Id="rId6" Type="http://schemas.openxmlformats.org/officeDocument/2006/relationships/image" Target="../media/image2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15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52.png"/><Relationship Id="rId6" Type="http://schemas.openxmlformats.org/officeDocument/2006/relationships/image" Target="../media/image1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1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52.png"/><Relationship Id="rId6" Type="http://schemas.openxmlformats.org/officeDocument/2006/relationships/image" Target="../media/image15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1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52.png"/><Relationship Id="rId6" Type="http://schemas.openxmlformats.org/officeDocument/2006/relationships/image" Target="../media/image15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1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52.png"/><Relationship Id="rId6" Type="http://schemas.openxmlformats.org/officeDocument/2006/relationships/image" Target="../media/image1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15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2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38.png"/><Relationship Id="rId6" Type="http://schemas.openxmlformats.org/officeDocument/2006/relationships/image" Target="../media/image15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42.png"/><Relationship Id="rId5" Type="http://schemas.openxmlformats.org/officeDocument/2006/relationships/image" Target="../media/image152.png"/><Relationship Id="rId6" Type="http://schemas.openxmlformats.org/officeDocument/2006/relationships/image" Target="../media/image1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90.png"/><Relationship Id="rId6" Type="http://schemas.openxmlformats.org/officeDocument/2006/relationships/image" Target="../media/image195.png"/><Relationship Id="rId7" Type="http://schemas.openxmlformats.org/officeDocument/2006/relationships/image" Target="../media/image242.png"/><Relationship Id="rId8" Type="http://schemas.openxmlformats.org/officeDocument/2006/relationships/image" Target="../media/image19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216.png"/><Relationship Id="rId8" Type="http://schemas.openxmlformats.org/officeDocument/2006/relationships/image" Target="../media/image2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71.png"/><Relationship Id="rId4" Type="http://schemas.openxmlformats.org/officeDocument/2006/relationships/image" Target="../media/image219.png"/><Relationship Id="rId5" Type="http://schemas.openxmlformats.org/officeDocument/2006/relationships/image" Target="../media/image77.png"/><Relationship Id="rId6" Type="http://schemas.openxmlformats.org/officeDocument/2006/relationships/image" Target="../media/image23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5.png"/><Relationship Id="rId4" Type="http://schemas.openxmlformats.org/officeDocument/2006/relationships/image" Target="../media/image2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5.png"/><Relationship Id="rId4" Type="http://schemas.openxmlformats.org/officeDocument/2006/relationships/image" Target="../media/image224.png"/><Relationship Id="rId5" Type="http://schemas.openxmlformats.org/officeDocument/2006/relationships/image" Target="../media/image4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5.png"/><Relationship Id="rId4" Type="http://schemas.openxmlformats.org/officeDocument/2006/relationships/image" Target="../media/image2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5.png"/><Relationship Id="rId4" Type="http://schemas.openxmlformats.org/officeDocument/2006/relationships/image" Target="../media/image224.png"/><Relationship Id="rId5"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5.png"/><Relationship Id="rId4" Type="http://schemas.openxmlformats.org/officeDocument/2006/relationships/image" Target="../media/image2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5.png"/><Relationship Id="rId4" Type="http://schemas.openxmlformats.org/officeDocument/2006/relationships/image" Target="../media/image224.png"/><Relationship Id="rId5" Type="http://schemas.openxmlformats.org/officeDocument/2006/relationships/image" Target="../media/image4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5.png"/><Relationship Id="rId4" Type="http://schemas.openxmlformats.org/officeDocument/2006/relationships/image" Target="../media/image2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5.png"/><Relationship Id="rId4" Type="http://schemas.openxmlformats.org/officeDocument/2006/relationships/image" Target="../media/image224.png"/><Relationship Id="rId5"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5.png"/><Relationship Id="rId4" Type="http://schemas.openxmlformats.org/officeDocument/2006/relationships/image" Target="../media/image22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5.png"/><Relationship Id="rId4" Type="http://schemas.openxmlformats.org/officeDocument/2006/relationships/image" Target="../media/image224.png"/><Relationship Id="rId5" Type="http://schemas.openxmlformats.org/officeDocument/2006/relationships/image" Target="../media/image4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250.png"/><Relationship Id="rId6" Type="http://schemas.openxmlformats.org/officeDocument/2006/relationships/image" Target="../media/image257.png"/><Relationship Id="rId7" Type="http://schemas.openxmlformats.org/officeDocument/2006/relationships/image" Target="../media/image252.png"/><Relationship Id="rId8" Type="http://schemas.openxmlformats.org/officeDocument/2006/relationships/image" Target="../media/image2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5.png"/><Relationship Id="rId4" Type="http://schemas.openxmlformats.org/officeDocument/2006/relationships/image" Target="../media/image259.png"/><Relationship Id="rId5" Type="http://schemas.openxmlformats.org/officeDocument/2006/relationships/image" Target="../media/image255.png"/><Relationship Id="rId6" Type="http://schemas.openxmlformats.org/officeDocument/2006/relationships/image" Target="../media/image2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 name="Shape 15"/>
        <p:cNvGrpSpPr/>
        <p:nvPr/>
      </p:nvGrpSpPr>
      <p:grpSpPr>
        <a:xfrm>
          <a:off x="0" y="0"/>
          <a:ext cx="0" cy="0"/>
          <a:chOff x="0" y="0"/>
          <a:chExt cx="0" cy="0"/>
        </a:xfrm>
      </p:grpSpPr>
      <p:pic>
        <p:nvPicPr>
          <p:cNvPr descr="/home/claude/work/renderer/brand/mark.png" id="16" name="Google Shape;16;p3"/>
          <p:cNvPicPr preferRelativeResize="0"/>
          <p:nvPr/>
        </p:nvPicPr>
        <p:blipFill rotWithShape="1">
          <a:blip r:embed="rId3">
            <a:alphaModFix/>
          </a:blip>
          <a:srcRect b="0" l="0" r="0" t="0"/>
          <a:stretch/>
        </p:blipFill>
        <p:spPr>
          <a:xfrm>
            <a:off x="548640" y="530352"/>
            <a:ext cx="454457" cy="420624"/>
          </a:xfrm>
          <a:prstGeom prst="rect">
            <a:avLst/>
          </a:prstGeom>
          <a:noFill/>
          <a:ln>
            <a:noFill/>
          </a:ln>
        </p:spPr>
      </p:pic>
      <p:sp>
        <p:nvSpPr>
          <p:cNvPr id="17" name="Google Shape;17;p3"/>
          <p:cNvSpPr txBox="1"/>
          <p:nvPr/>
        </p:nvSpPr>
        <p:spPr>
          <a:xfrm>
            <a:off x="1097280" y="530352"/>
            <a:ext cx="3200400" cy="42062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HiddenGem Media</a:t>
            </a:r>
            <a:endParaRPr b="0" i="0" sz="1400" u="none" cap="none" strike="noStrike">
              <a:solidFill>
                <a:schemeClr val="dk1"/>
              </a:solidFill>
              <a:latin typeface="Calibri"/>
              <a:ea typeface="Calibri"/>
              <a:cs typeface="Calibri"/>
              <a:sym typeface="Calibri"/>
            </a:endParaRPr>
          </a:p>
        </p:txBody>
      </p:sp>
      <p:sp>
        <p:nvSpPr>
          <p:cNvPr id="18" name="Google Shape;18;p3"/>
          <p:cNvSpPr txBox="1"/>
          <p:nvPr/>
        </p:nvSpPr>
        <p:spPr>
          <a:xfrm>
            <a:off x="7498080" y="530352"/>
            <a:ext cx="4142232" cy="420624"/>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737373"/>
              </a:buClr>
              <a:buSzPts val="1000"/>
              <a:buFont typeface="Roboto Mono"/>
              <a:buNone/>
            </a:pPr>
            <a:r>
              <a:rPr b="0" i="0" lang="en-US" sz="1000" u="none" cap="none" strike="noStrike">
                <a:solidFill>
                  <a:srgbClr val="737373"/>
                </a:solidFill>
                <a:latin typeface="Roboto Mono"/>
                <a:ea typeface="Roboto Mono"/>
                <a:cs typeface="Roboto Mono"/>
                <a:sym typeface="Roboto Mono"/>
              </a:rPr>
              <a:t>HOW TO SPEAK OUR ICP'S LANGUAGE</a:t>
            </a:r>
            <a:endParaRPr b="0" i="0" sz="1000" u="none" cap="none" strike="noStrike">
              <a:solidFill>
                <a:schemeClr val="dk1"/>
              </a:solidFill>
              <a:latin typeface="Calibri"/>
              <a:ea typeface="Calibri"/>
              <a:cs typeface="Calibri"/>
              <a:sym typeface="Calibri"/>
            </a:endParaRPr>
          </a:p>
        </p:txBody>
      </p:sp>
      <p:pic>
        <p:nvPicPr>
          <p:cNvPr descr="/home/claude/work/assets/hero-message-chat.png" id="19" name="Google Shape;19;p3"/>
          <p:cNvPicPr preferRelativeResize="0"/>
          <p:nvPr/>
        </p:nvPicPr>
        <p:blipFill rotWithShape="1">
          <a:blip r:embed="rId4">
            <a:alphaModFix/>
          </a:blip>
          <a:srcRect b="0" l="0" r="0" t="0"/>
          <a:stretch/>
        </p:blipFill>
        <p:spPr>
          <a:xfrm>
            <a:off x="8321040" y="1920240"/>
            <a:ext cx="3291840" cy="3291840"/>
          </a:xfrm>
          <a:prstGeom prst="rect">
            <a:avLst/>
          </a:prstGeom>
          <a:noFill/>
          <a:ln>
            <a:noFill/>
          </a:ln>
        </p:spPr>
      </p:pic>
      <p:sp>
        <p:nvSpPr>
          <p:cNvPr id="20" name="Google Shape;20;p3"/>
          <p:cNvSpPr txBox="1"/>
          <p:nvPr/>
        </p:nvSpPr>
        <p:spPr>
          <a:xfrm>
            <a:off x="548640" y="2148840"/>
            <a:ext cx="7863840" cy="2103120"/>
          </a:xfrm>
          <a:prstGeom prst="rect">
            <a:avLst/>
          </a:prstGeom>
          <a:noFill/>
          <a:ln>
            <a:noFill/>
          </a:ln>
        </p:spPr>
        <p:txBody>
          <a:bodyPr anchorCtr="0" anchor="ctr" bIns="0" lIns="0" spcFirstLastPara="1" rIns="0" wrap="square" tIns="0">
            <a:noAutofit/>
          </a:bodyPr>
          <a:lstStyle/>
          <a:p>
            <a:pPr indent="0" lvl="0" marL="0" marR="0" rtl="0" algn="l">
              <a:lnSpc>
                <a:spcPct val="117999"/>
              </a:lnSpc>
              <a:spcBef>
                <a:spcPts val="0"/>
              </a:spcBef>
              <a:spcAft>
                <a:spcPts val="0"/>
              </a:spcAft>
              <a:buClr>
                <a:srgbClr val="FFFFFF"/>
              </a:buClr>
              <a:buSzPts val="4400"/>
              <a:buFont typeface="Inter"/>
              <a:buNone/>
            </a:pPr>
            <a:r>
              <a:rPr b="1" i="0" lang="en-US" sz="4400" u="none" cap="none" strike="noStrike">
                <a:solidFill>
                  <a:srgbClr val="FFFFFF"/>
                </a:solidFill>
                <a:latin typeface="Inter"/>
                <a:ea typeface="Inter"/>
                <a:cs typeface="Inter"/>
                <a:sym typeface="Inter"/>
              </a:rPr>
              <a:t>Industry Acumen – Hotel &amp; Resort Terminology</a:t>
            </a:r>
            <a:endParaRPr b="0" i="0" sz="4400" u="none" cap="none" strike="noStrike">
              <a:solidFill>
                <a:schemeClr val="dk1"/>
              </a:solidFill>
              <a:latin typeface="Calibri"/>
              <a:ea typeface="Calibri"/>
              <a:cs typeface="Calibri"/>
              <a:sym typeface="Calibri"/>
            </a:endParaRPr>
          </a:p>
        </p:txBody>
      </p:sp>
      <p:sp>
        <p:nvSpPr>
          <p:cNvPr id="21" name="Google Shape;21;p3"/>
          <p:cNvSpPr txBox="1"/>
          <p:nvPr/>
        </p:nvSpPr>
        <p:spPr>
          <a:xfrm>
            <a:off x="548640" y="4343400"/>
            <a:ext cx="6949440" cy="7315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A3A3A3"/>
              </a:buClr>
              <a:buSzPts val="1700"/>
              <a:buFont typeface="Inter"/>
              <a:buNone/>
            </a:pPr>
            <a:r>
              <a:rPr b="0" i="0" lang="en-US" sz="1700" u="none" cap="none" strike="noStrike">
                <a:solidFill>
                  <a:srgbClr val="A3A3A3"/>
                </a:solidFill>
                <a:latin typeface="Inter"/>
                <a:ea typeface="Inter"/>
                <a:cs typeface="Inter"/>
                <a:sym typeface="Inter"/>
              </a:rPr>
              <a:t>Session 1 of 2: sixteen terms in about 60 minutes</a:t>
            </a:r>
            <a:endParaRPr b="0" i="0" sz="1700" u="none" cap="none" strike="noStrike">
              <a:solidFill>
                <a:schemeClr val="dk1"/>
              </a:solidFill>
              <a:latin typeface="Calibri"/>
              <a:ea typeface="Calibri"/>
              <a:cs typeface="Calibri"/>
              <a:sym typeface="Calibri"/>
            </a:endParaRPr>
          </a:p>
        </p:txBody>
      </p:sp>
      <p:sp>
        <p:nvSpPr>
          <p:cNvPr id="22" name="Google Shape;22;p3"/>
          <p:cNvSpPr txBox="1"/>
          <p:nvPr/>
        </p:nvSpPr>
        <p:spPr>
          <a:xfrm>
            <a:off x="548640" y="5989320"/>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37373"/>
              </a:buClr>
              <a:buSzPts val="1050"/>
              <a:buFont typeface="Roboto Mono"/>
              <a:buNone/>
            </a:pPr>
            <a:r>
              <a:rPr b="0" i="0" lang="en-US" sz="1050" u="none" cap="none" strike="noStrike">
                <a:solidFill>
                  <a:srgbClr val="737373"/>
                </a:solidFill>
                <a:latin typeface="Roboto Mono"/>
                <a:ea typeface="Roboto Mono"/>
                <a:cs typeface="Roboto Mono"/>
                <a:sym typeface="Roboto Mono"/>
              </a:rPr>
              <a:t>from rate to profit</a:t>
            </a:r>
            <a:r>
              <a:rPr b="0" i="0" lang="en-US" sz="1050" u="none" cap="none" strike="noStrike">
                <a:solidFill>
                  <a:srgbClr val="404040"/>
                </a:solidFill>
                <a:latin typeface="Roboto Mono"/>
                <a:ea typeface="Roboto Mono"/>
                <a:cs typeface="Roboto Mono"/>
                <a:sym typeface="Roboto Mono"/>
              </a:rPr>
              <a:t>   ·   </a:t>
            </a:r>
            <a:r>
              <a:rPr b="0" i="0" lang="en-US" sz="1050" u="none" cap="none" strike="noStrike">
                <a:solidFill>
                  <a:srgbClr val="737373"/>
                </a:solidFill>
                <a:latin typeface="Roboto Mono"/>
                <a:ea typeface="Roboto Mono"/>
                <a:cs typeface="Roboto Mono"/>
                <a:sym typeface="Roboto Mono"/>
              </a:rPr>
              <a:t>setting the price</a:t>
            </a:r>
            <a:r>
              <a:rPr b="0" i="0" lang="en-US" sz="1050" u="none" cap="none" strike="noStrike">
                <a:solidFill>
                  <a:srgbClr val="404040"/>
                </a:solidFill>
                <a:latin typeface="Roboto Mono"/>
                <a:ea typeface="Roboto Mono"/>
                <a:cs typeface="Roboto Mono"/>
                <a:sym typeface="Roboto Mono"/>
              </a:rPr>
              <a:t>   ·   </a:t>
            </a:r>
            <a:r>
              <a:rPr b="0" i="0" lang="en-US" sz="1050" u="none" cap="none" strike="noStrike">
                <a:solidFill>
                  <a:srgbClr val="737373"/>
                </a:solidFill>
                <a:latin typeface="Roboto Mono"/>
                <a:ea typeface="Roboto Mono"/>
                <a:cs typeface="Roboto Mono"/>
                <a:sym typeface="Roboto Mono"/>
              </a:rPr>
              <a:t>when guests book</a:t>
            </a:r>
            <a:r>
              <a:rPr b="0" i="0" lang="en-US" sz="1050" u="none" cap="none" strike="noStrike">
                <a:solidFill>
                  <a:srgbClr val="404040"/>
                </a:solidFill>
                <a:latin typeface="Roboto Mono"/>
                <a:ea typeface="Roboto Mono"/>
                <a:cs typeface="Roboto Mono"/>
                <a:sym typeface="Roboto Mono"/>
              </a:rPr>
              <a:t>   ·   </a:t>
            </a:r>
            <a:r>
              <a:rPr b="0" i="0" lang="en-US" sz="1050" u="none" cap="none" strike="noStrike">
                <a:solidFill>
                  <a:srgbClr val="737373"/>
                </a:solidFill>
                <a:latin typeface="Roboto Mono"/>
                <a:ea typeface="Roboto Mono"/>
                <a:cs typeface="Roboto Mono"/>
                <a:sym typeface="Roboto Mono"/>
              </a:rPr>
              <a:t>three rounds of practice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7" name="Shape 27"/>
        <p:cNvGrpSpPr/>
        <p:nvPr/>
      </p:nvGrpSpPr>
      <p:grpSpPr>
        <a:xfrm>
          <a:off x="0" y="0"/>
          <a:ext cx="0" cy="0"/>
          <a:chOff x="0" y="0"/>
          <a:chExt cx="0" cy="0"/>
        </a:xfrm>
      </p:grpSpPr>
      <p:sp>
        <p:nvSpPr>
          <p:cNvPr id="28" name="Google Shape;28;p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01 · WHY WE'RE HERE</a:t>
            </a:r>
            <a:endParaRPr b="0" i="0" sz="1050" u="none" cap="none" strike="noStrike">
              <a:solidFill>
                <a:schemeClr val="dk1"/>
              </a:solidFill>
              <a:latin typeface="Calibri"/>
              <a:ea typeface="Calibri"/>
              <a:cs typeface="Calibri"/>
              <a:sym typeface="Calibri"/>
            </a:endParaRPr>
          </a:p>
        </p:txBody>
      </p:sp>
      <p:sp>
        <p:nvSpPr>
          <p:cNvPr id="29" name="Google Shape;29;p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Why we're here</a:t>
            </a:r>
            <a:endParaRPr b="0" i="0" sz="3000" u="none" cap="none" strike="noStrike">
              <a:solidFill>
                <a:schemeClr val="dk1"/>
              </a:solidFill>
              <a:latin typeface="Calibri"/>
              <a:ea typeface="Calibri"/>
              <a:cs typeface="Calibri"/>
              <a:sym typeface="Calibri"/>
            </a:endParaRPr>
          </a:p>
        </p:txBody>
      </p:sp>
      <p:pic>
        <p:nvPicPr>
          <p:cNvPr descr="/home/claude/work/renderer/brand/wordmark.png" id="30" name="Google Shape;30;p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31" name="Google Shape;31;p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02 / 65</a:t>
            </a:r>
            <a:endParaRPr b="0" i="0" sz="900" u="none" cap="none" strike="noStrike">
              <a:solidFill>
                <a:schemeClr val="dk1"/>
              </a:solidFill>
              <a:latin typeface="Calibri"/>
              <a:ea typeface="Calibri"/>
              <a:cs typeface="Calibri"/>
              <a:sym typeface="Calibri"/>
            </a:endParaRPr>
          </a:p>
        </p:txBody>
      </p:sp>
      <p:sp>
        <p:nvSpPr>
          <p:cNvPr id="32" name="Google Shape;32;p4"/>
          <p:cNvSpPr/>
          <p:nvPr/>
        </p:nvSpPr>
        <p:spPr>
          <a:xfrm>
            <a:off x="548640" y="1783080"/>
            <a:ext cx="5349240" cy="994410"/>
          </a:xfrm>
          <a:prstGeom prst="roundRect">
            <a:avLst>
              <a:gd fmla="val 1103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822960" y="2069973"/>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diamond.png" id="34" name="Google Shape;34;p4"/>
          <p:cNvPicPr preferRelativeResize="0"/>
          <p:nvPr/>
        </p:nvPicPr>
        <p:blipFill rotWithShape="1">
          <a:blip r:embed="rId4">
            <a:alphaModFix/>
          </a:blip>
          <a:srcRect b="0" l="0" r="0" t="0"/>
          <a:stretch/>
        </p:blipFill>
        <p:spPr>
          <a:xfrm>
            <a:off x="915497" y="2162510"/>
            <a:ext cx="235549" cy="235549"/>
          </a:xfrm>
          <a:prstGeom prst="rect">
            <a:avLst/>
          </a:prstGeom>
          <a:noFill/>
          <a:ln>
            <a:noFill/>
          </a:ln>
        </p:spPr>
      </p:pic>
      <p:sp>
        <p:nvSpPr>
          <p:cNvPr id="35" name="Google Shape;35;p4"/>
          <p:cNvSpPr txBox="1"/>
          <p:nvPr/>
        </p:nvSpPr>
        <p:spPr>
          <a:xfrm>
            <a:off x="1481328" y="1783080"/>
            <a:ext cx="4160520" cy="99441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HGM is moving upmarket</a:t>
            </a:r>
            <a:endParaRPr b="0" i="0" sz="1500" u="none" cap="none" strike="noStrike">
              <a:solidFill>
                <a:schemeClr val="dk1"/>
              </a:solidFill>
              <a:latin typeface="Calibri"/>
              <a:ea typeface="Calibri"/>
              <a:cs typeface="Calibri"/>
              <a:sym typeface="Calibri"/>
            </a:endParaRPr>
          </a:p>
        </p:txBody>
      </p:sp>
      <p:sp>
        <p:nvSpPr>
          <p:cNvPr id="36" name="Google Shape;36;p4"/>
          <p:cNvSpPr/>
          <p:nvPr/>
        </p:nvSpPr>
        <p:spPr>
          <a:xfrm>
            <a:off x="548640" y="2960370"/>
            <a:ext cx="5349240" cy="994410"/>
          </a:xfrm>
          <a:prstGeom prst="roundRect">
            <a:avLst>
              <a:gd fmla="val 1103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822960" y="3247263"/>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chat.png" id="38" name="Google Shape;38;p4"/>
          <p:cNvPicPr preferRelativeResize="0"/>
          <p:nvPr/>
        </p:nvPicPr>
        <p:blipFill rotWithShape="1">
          <a:blip r:embed="rId5">
            <a:alphaModFix/>
          </a:blip>
          <a:srcRect b="0" l="0" r="0" t="0"/>
          <a:stretch/>
        </p:blipFill>
        <p:spPr>
          <a:xfrm>
            <a:off x="915497" y="3339800"/>
            <a:ext cx="235549" cy="235549"/>
          </a:xfrm>
          <a:prstGeom prst="rect">
            <a:avLst/>
          </a:prstGeom>
          <a:noFill/>
          <a:ln>
            <a:noFill/>
          </a:ln>
        </p:spPr>
      </p:pic>
      <p:sp>
        <p:nvSpPr>
          <p:cNvPr id="39" name="Google Shape;39;p4"/>
          <p:cNvSpPr txBox="1"/>
          <p:nvPr/>
        </p:nvSpPr>
        <p:spPr>
          <a:xfrm>
            <a:off x="1481328" y="2960370"/>
            <a:ext cx="4160520" cy="99441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That owner speaks a different language</a:t>
            </a:r>
            <a:endParaRPr b="0" i="0" sz="1500" u="none" cap="none" strike="noStrike">
              <a:solidFill>
                <a:schemeClr val="dk1"/>
              </a:solidFill>
              <a:latin typeface="Calibri"/>
              <a:ea typeface="Calibri"/>
              <a:cs typeface="Calibri"/>
              <a:sym typeface="Calibri"/>
            </a:endParaRPr>
          </a:p>
        </p:txBody>
      </p:sp>
      <p:sp>
        <p:nvSpPr>
          <p:cNvPr id="40" name="Google Shape;40;p4"/>
          <p:cNvSpPr/>
          <p:nvPr/>
        </p:nvSpPr>
        <p:spPr>
          <a:xfrm>
            <a:off x="548640" y="4137660"/>
            <a:ext cx="5349240" cy="994410"/>
          </a:xfrm>
          <a:prstGeom prst="roundRect">
            <a:avLst>
              <a:gd fmla="val 1103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822960" y="4424553"/>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funnel.png" id="42" name="Google Shape;42;p4"/>
          <p:cNvPicPr preferRelativeResize="0"/>
          <p:nvPr/>
        </p:nvPicPr>
        <p:blipFill rotWithShape="1">
          <a:blip r:embed="rId6">
            <a:alphaModFix/>
          </a:blip>
          <a:srcRect b="0" l="0" r="0" t="0"/>
          <a:stretch/>
        </p:blipFill>
        <p:spPr>
          <a:xfrm>
            <a:off x="915497" y="4517090"/>
            <a:ext cx="235549" cy="235549"/>
          </a:xfrm>
          <a:prstGeom prst="rect">
            <a:avLst/>
          </a:prstGeom>
          <a:noFill/>
          <a:ln>
            <a:noFill/>
          </a:ln>
        </p:spPr>
      </p:pic>
      <p:sp>
        <p:nvSpPr>
          <p:cNvPr id="43" name="Google Shape;43;p4"/>
          <p:cNvSpPr txBox="1"/>
          <p:nvPr/>
        </p:nvSpPr>
        <p:spPr>
          <a:xfrm>
            <a:off x="1481328" y="4137660"/>
            <a:ext cx="4160520" cy="99441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Our own funnel already uses these words</a:t>
            </a:r>
            <a:endParaRPr b="0" i="0" sz="1500" u="none" cap="none" strike="noStrike">
              <a:solidFill>
                <a:schemeClr val="dk1"/>
              </a:solidFill>
              <a:latin typeface="Calibri"/>
              <a:ea typeface="Calibri"/>
              <a:cs typeface="Calibri"/>
              <a:sym typeface="Calibri"/>
            </a:endParaRPr>
          </a:p>
        </p:txBody>
      </p:sp>
      <p:sp>
        <p:nvSpPr>
          <p:cNvPr id="44" name="Google Shape;44;p4"/>
          <p:cNvSpPr/>
          <p:nvPr/>
        </p:nvSpPr>
        <p:spPr>
          <a:xfrm>
            <a:off x="548640" y="5314950"/>
            <a:ext cx="5349240" cy="994410"/>
          </a:xfrm>
          <a:prstGeom prst="roundRect">
            <a:avLst>
              <a:gd fmla="val 1103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822960" y="5601843"/>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open.png" id="46" name="Google Shape;46;p4"/>
          <p:cNvPicPr preferRelativeResize="0"/>
          <p:nvPr/>
        </p:nvPicPr>
        <p:blipFill rotWithShape="1">
          <a:blip r:embed="rId7">
            <a:alphaModFix/>
          </a:blip>
          <a:srcRect b="0" l="0" r="0" t="0"/>
          <a:stretch/>
        </p:blipFill>
        <p:spPr>
          <a:xfrm>
            <a:off x="915497" y="5694380"/>
            <a:ext cx="235549" cy="235549"/>
          </a:xfrm>
          <a:prstGeom prst="rect">
            <a:avLst/>
          </a:prstGeom>
          <a:noFill/>
          <a:ln>
            <a:noFill/>
          </a:ln>
        </p:spPr>
      </p:pic>
      <p:sp>
        <p:nvSpPr>
          <p:cNvPr id="47" name="Google Shape;47;p4"/>
          <p:cNvSpPr txBox="1"/>
          <p:nvPr/>
        </p:nvSpPr>
        <p:spPr>
          <a:xfrm>
            <a:off x="1481328" y="5314950"/>
            <a:ext cx="4160520" cy="99441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So we are learning it ahead of the calls</a:t>
            </a:r>
            <a:endParaRPr b="0" i="0" sz="1500" u="none" cap="none" strike="noStrike">
              <a:solidFill>
                <a:schemeClr val="dk1"/>
              </a:solidFill>
              <a:latin typeface="Calibri"/>
              <a:ea typeface="Calibri"/>
              <a:cs typeface="Calibri"/>
              <a:sym typeface="Calibri"/>
            </a:endParaRPr>
          </a:p>
        </p:txBody>
      </p:sp>
      <p:sp>
        <p:nvSpPr>
          <p:cNvPr id="48" name="Google Shape;48;p4"/>
          <p:cNvSpPr/>
          <p:nvPr/>
        </p:nvSpPr>
        <p:spPr>
          <a:xfrm>
            <a:off x="6291072" y="1783080"/>
            <a:ext cx="5349240"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 name="Google Shape;49;p4"/>
          <p:cNvCxnSpPr/>
          <p:nvPr/>
        </p:nvCxnSpPr>
        <p:spPr>
          <a:xfrm flipH="1" rot="10800000">
            <a:off x="8183880" y="2510028"/>
            <a:ext cx="1307592" cy="1517904"/>
          </a:xfrm>
          <a:prstGeom prst="straightConnector1">
            <a:avLst/>
          </a:prstGeom>
          <a:noFill/>
          <a:ln cap="flat" cmpd="sng" w="15875">
            <a:solidFill>
              <a:srgbClr val="D4D4D4"/>
            </a:solidFill>
            <a:prstDash val="solid"/>
            <a:round/>
            <a:headEnd len="sm" w="sm" type="none"/>
            <a:tailEnd len="sm" w="sm" type="none"/>
          </a:ln>
        </p:spPr>
      </p:cxnSp>
      <p:cxnSp>
        <p:nvCxnSpPr>
          <p:cNvPr id="50" name="Google Shape;50;p4"/>
          <p:cNvCxnSpPr/>
          <p:nvPr/>
        </p:nvCxnSpPr>
        <p:spPr>
          <a:xfrm flipH="1" rot="10800000">
            <a:off x="8183880" y="3268980"/>
            <a:ext cx="1307592" cy="758952"/>
          </a:xfrm>
          <a:prstGeom prst="straightConnector1">
            <a:avLst/>
          </a:prstGeom>
          <a:noFill/>
          <a:ln cap="flat" cmpd="sng" w="15875">
            <a:solidFill>
              <a:srgbClr val="D4D4D4"/>
            </a:solidFill>
            <a:prstDash val="solid"/>
            <a:round/>
            <a:headEnd len="sm" w="sm" type="none"/>
            <a:tailEnd len="sm" w="sm" type="none"/>
          </a:ln>
        </p:spPr>
      </p:cxnSp>
      <p:cxnSp>
        <p:nvCxnSpPr>
          <p:cNvPr id="51" name="Google Shape;51;p4"/>
          <p:cNvCxnSpPr/>
          <p:nvPr/>
        </p:nvCxnSpPr>
        <p:spPr>
          <a:xfrm>
            <a:off x="8183880" y="4027932"/>
            <a:ext cx="1307592" cy="0"/>
          </a:xfrm>
          <a:prstGeom prst="straightConnector1">
            <a:avLst/>
          </a:prstGeom>
          <a:noFill/>
          <a:ln cap="flat" cmpd="sng" w="15875">
            <a:solidFill>
              <a:srgbClr val="D4D4D4"/>
            </a:solidFill>
            <a:prstDash val="solid"/>
            <a:round/>
            <a:headEnd len="sm" w="sm" type="none"/>
            <a:tailEnd len="sm" w="sm" type="none"/>
          </a:ln>
        </p:spPr>
      </p:cxnSp>
      <p:cxnSp>
        <p:nvCxnSpPr>
          <p:cNvPr id="52" name="Google Shape;52;p4"/>
          <p:cNvCxnSpPr/>
          <p:nvPr/>
        </p:nvCxnSpPr>
        <p:spPr>
          <a:xfrm>
            <a:off x="8183880" y="4027932"/>
            <a:ext cx="1307592" cy="758952"/>
          </a:xfrm>
          <a:prstGeom prst="straightConnector1">
            <a:avLst/>
          </a:prstGeom>
          <a:noFill/>
          <a:ln cap="flat" cmpd="sng" w="15875">
            <a:solidFill>
              <a:srgbClr val="D4D4D4"/>
            </a:solidFill>
            <a:prstDash val="solid"/>
            <a:round/>
            <a:headEnd len="sm" w="sm" type="none"/>
            <a:tailEnd len="sm" w="sm" type="none"/>
          </a:ln>
        </p:spPr>
      </p:cxnSp>
      <p:cxnSp>
        <p:nvCxnSpPr>
          <p:cNvPr id="53" name="Google Shape;53;p4"/>
          <p:cNvCxnSpPr/>
          <p:nvPr/>
        </p:nvCxnSpPr>
        <p:spPr>
          <a:xfrm>
            <a:off x="8183880" y="4027932"/>
            <a:ext cx="1307592" cy="1517904"/>
          </a:xfrm>
          <a:prstGeom prst="straightConnector1">
            <a:avLst/>
          </a:prstGeom>
          <a:noFill/>
          <a:ln cap="flat" cmpd="sng" w="15875">
            <a:solidFill>
              <a:srgbClr val="D4D4D4"/>
            </a:solidFill>
            <a:prstDash val="solid"/>
            <a:round/>
            <a:headEnd len="sm" w="sm" type="none"/>
            <a:tailEnd len="sm" w="sm" type="none"/>
          </a:ln>
        </p:spPr>
      </p:cxnSp>
      <p:sp>
        <p:nvSpPr>
          <p:cNvPr id="54" name="Google Shape;54;p4"/>
          <p:cNvSpPr/>
          <p:nvPr/>
        </p:nvSpPr>
        <p:spPr>
          <a:xfrm>
            <a:off x="6611112" y="3643884"/>
            <a:ext cx="1572768" cy="768096"/>
          </a:xfrm>
          <a:prstGeom prst="roundRect">
            <a:avLst>
              <a:gd fmla="val 1190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txBox="1"/>
          <p:nvPr/>
        </p:nvSpPr>
        <p:spPr>
          <a:xfrm>
            <a:off x="6611112" y="3643884"/>
            <a:ext cx="1572768" cy="768096"/>
          </a:xfrm>
          <a:prstGeom prst="rect">
            <a:avLst/>
          </a:prstGeom>
          <a:noFill/>
          <a:ln>
            <a:noFill/>
          </a:ln>
        </p:spPr>
        <p:txBody>
          <a:bodyPr anchorCtr="0" anchor="ctr" bIns="0" lIns="0" spcFirstLastPara="1" rIns="0" wrap="square" tIns="0">
            <a:noAutofit/>
          </a:bodyPr>
          <a:lstStyle/>
          <a:p>
            <a:pPr indent="0" lvl="0" marL="0" marR="0" rtl="0" algn="ctr">
              <a:lnSpc>
                <a:spcPct val="135040"/>
              </a:lnSpc>
              <a:spcBef>
                <a:spcPts val="0"/>
              </a:spcBef>
              <a:spcAft>
                <a:spcPts val="0"/>
              </a:spcAft>
              <a:buClr>
                <a:srgbClr val="FFFFFF"/>
              </a:buClr>
              <a:buSzPts val="1250"/>
              <a:buFont typeface="Inter"/>
              <a:buNone/>
            </a:pPr>
            <a:r>
              <a:rPr b="1" i="0" lang="en-US" sz="1250" u="none" cap="none" strike="noStrike">
                <a:solidFill>
                  <a:srgbClr val="FFFFFF"/>
                </a:solidFill>
                <a:latin typeface="Inter"/>
                <a:ea typeface="Inter"/>
                <a:cs typeface="Inter"/>
                <a:sym typeface="Inter"/>
              </a:rPr>
              <a:t>Our new</a:t>
            </a:r>
            <a:endParaRPr b="0" i="0" sz="1250" u="none" cap="none" strike="noStrike">
              <a:solidFill>
                <a:schemeClr val="dk1"/>
              </a:solidFill>
              <a:latin typeface="Calibri"/>
              <a:ea typeface="Calibri"/>
              <a:cs typeface="Calibri"/>
              <a:sym typeface="Calibri"/>
            </a:endParaRPr>
          </a:p>
          <a:p>
            <a:pPr indent="0" lvl="0" marL="0" marR="0" rtl="0" algn="ctr">
              <a:lnSpc>
                <a:spcPct val="135040"/>
              </a:lnSpc>
              <a:spcBef>
                <a:spcPts val="0"/>
              </a:spcBef>
              <a:spcAft>
                <a:spcPts val="0"/>
              </a:spcAft>
              <a:buClr>
                <a:srgbClr val="FFFFFF"/>
              </a:buClr>
              <a:buSzPts val="1250"/>
              <a:buFont typeface="Inter"/>
              <a:buNone/>
            </a:pPr>
            <a:r>
              <a:rPr b="1" i="0" lang="en-US" sz="1250" u="none" cap="none" strike="noStrike">
                <a:solidFill>
                  <a:srgbClr val="FFFFFF"/>
                </a:solidFill>
                <a:latin typeface="Inter"/>
                <a:ea typeface="Inter"/>
                <a:cs typeface="Inter"/>
                <a:sym typeface="Inter"/>
              </a:rPr>
              <a:t>ICP says</a:t>
            </a:r>
            <a:endParaRPr b="0" i="0" sz="1250" u="none" cap="none" strike="noStrike">
              <a:solidFill>
                <a:schemeClr val="dk1"/>
              </a:solidFill>
              <a:latin typeface="Calibri"/>
              <a:ea typeface="Calibri"/>
              <a:cs typeface="Calibri"/>
              <a:sym typeface="Calibri"/>
            </a:endParaRPr>
          </a:p>
        </p:txBody>
      </p:sp>
      <p:sp>
        <p:nvSpPr>
          <p:cNvPr id="56" name="Google Shape;56;p4"/>
          <p:cNvSpPr/>
          <p:nvPr/>
        </p:nvSpPr>
        <p:spPr>
          <a:xfrm>
            <a:off x="9491472" y="2272284"/>
            <a:ext cx="1828800" cy="475488"/>
          </a:xfrm>
          <a:prstGeom prst="roundRect">
            <a:avLst>
              <a:gd fmla="val 1730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txBox="1"/>
          <p:nvPr/>
        </p:nvSpPr>
        <p:spPr>
          <a:xfrm>
            <a:off x="9491472" y="2272284"/>
            <a:ext cx="1828800" cy="47548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100"/>
              <a:buFont typeface="Inter"/>
              <a:buNone/>
            </a:pPr>
            <a:r>
              <a:rPr b="1" i="0" lang="en-US" sz="1100" u="none" cap="none" strike="noStrike">
                <a:solidFill>
                  <a:srgbClr val="004FAA"/>
                </a:solidFill>
                <a:latin typeface="Inter"/>
                <a:ea typeface="Inter"/>
                <a:cs typeface="Inter"/>
                <a:sym typeface="Inter"/>
              </a:rPr>
              <a:t>ADR</a:t>
            </a:r>
            <a:endParaRPr b="0" i="0" sz="1100" u="none" cap="none" strike="noStrike">
              <a:solidFill>
                <a:schemeClr val="dk1"/>
              </a:solidFill>
              <a:latin typeface="Calibri"/>
              <a:ea typeface="Calibri"/>
              <a:cs typeface="Calibri"/>
              <a:sym typeface="Calibri"/>
            </a:endParaRPr>
          </a:p>
        </p:txBody>
      </p:sp>
      <p:sp>
        <p:nvSpPr>
          <p:cNvPr id="58" name="Google Shape;58;p4"/>
          <p:cNvSpPr/>
          <p:nvPr/>
        </p:nvSpPr>
        <p:spPr>
          <a:xfrm>
            <a:off x="9491472" y="3031236"/>
            <a:ext cx="1828800" cy="475488"/>
          </a:xfrm>
          <a:prstGeom prst="roundRect">
            <a:avLst>
              <a:gd fmla="val 1730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txBox="1"/>
          <p:nvPr/>
        </p:nvSpPr>
        <p:spPr>
          <a:xfrm>
            <a:off x="9491472" y="3031236"/>
            <a:ext cx="1828800" cy="47548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100"/>
              <a:buFont typeface="Inter"/>
              <a:buNone/>
            </a:pPr>
            <a:r>
              <a:rPr b="1" i="0" lang="en-US" sz="1100" u="none" cap="none" strike="noStrike">
                <a:solidFill>
                  <a:srgbClr val="004FAA"/>
                </a:solidFill>
                <a:latin typeface="Inter"/>
                <a:ea typeface="Inter"/>
                <a:cs typeface="Inter"/>
                <a:sym typeface="Inter"/>
              </a:rPr>
              <a:t>RevPAR</a:t>
            </a:r>
            <a:endParaRPr b="0" i="0" sz="1100" u="none" cap="none" strike="noStrike">
              <a:solidFill>
                <a:schemeClr val="dk1"/>
              </a:solidFill>
              <a:latin typeface="Calibri"/>
              <a:ea typeface="Calibri"/>
              <a:cs typeface="Calibri"/>
              <a:sym typeface="Calibri"/>
            </a:endParaRPr>
          </a:p>
        </p:txBody>
      </p:sp>
      <p:sp>
        <p:nvSpPr>
          <p:cNvPr id="60" name="Google Shape;60;p4"/>
          <p:cNvSpPr/>
          <p:nvPr/>
        </p:nvSpPr>
        <p:spPr>
          <a:xfrm>
            <a:off x="9491472" y="3790188"/>
            <a:ext cx="1828800" cy="475488"/>
          </a:xfrm>
          <a:prstGeom prst="roundRect">
            <a:avLst>
              <a:gd fmla="val 1730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txBox="1"/>
          <p:nvPr/>
        </p:nvSpPr>
        <p:spPr>
          <a:xfrm>
            <a:off x="9491472" y="3790188"/>
            <a:ext cx="1828800" cy="47548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100"/>
              <a:buFont typeface="Inter"/>
              <a:buNone/>
            </a:pPr>
            <a:r>
              <a:rPr b="1" i="0" lang="en-US" sz="1100" u="none" cap="none" strike="noStrike">
                <a:solidFill>
                  <a:srgbClr val="004FAA"/>
                </a:solidFill>
                <a:latin typeface="Inter"/>
                <a:ea typeface="Inter"/>
                <a:cs typeface="Inter"/>
                <a:sym typeface="Inter"/>
              </a:rPr>
              <a:t>NOI</a:t>
            </a:r>
            <a:endParaRPr b="0" i="0" sz="1100" u="none" cap="none" strike="noStrike">
              <a:solidFill>
                <a:schemeClr val="dk1"/>
              </a:solidFill>
              <a:latin typeface="Calibri"/>
              <a:ea typeface="Calibri"/>
              <a:cs typeface="Calibri"/>
              <a:sym typeface="Calibri"/>
            </a:endParaRPr>
          </a:p>
        </p:txBody>
      </p:sp>
      <p:sp>
        <p:nvSpPr>
          <p:cNvPr id="62" name="Google Shape;62;p4"/>
          <p:cNvSpPr/>
          <p:nvPr/>
        </p:nvSpPr>
        <p:spPr>
          <a:xfrm>
            <a:off x="9491472" y="4549140"/>
            <a:ext cx="1828800" cy="475488"/>
          </a:xfrm>
          <a:prstGeom prst="roundRect">
            <a:avLst>
              <a:gd fmla="val 1730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txBox="1"/>
          <p:nvPr/>
        </p:nvSpPr>
        <p:spPr>
          <a:xfrm>
            <a:off x="9491472" y="4549140"/>
            <a:ext cx="1828800" cy="47548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100"/>
              <a:buFont typeface="Inter"/>
              <a:buNone/>
            </a:pPr>
            <a:r>
              <a:rPr b="1" i="0" lang="en-US" sz="1100" u="none" cap="none" strike="noStrike">
                <a:solidFill>
                  <a:srgbClr val="004FAA"/>
                </a:solidFill>
                <a:latin typeface="Inter"/>
                <a:ea typeface="Inter"/>
                <a:cs typeface="Inter"/>
                <a:sym typeface="Inter"/>
              </a:rPr>
              <a:t>Comp set</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9491472" y="5308092"/>
            <a:ext cx="1828800" cy="475488"/>
          </a:xfrm>
          <a:prstGeom prst="roundRect">
            <a:avLst>
              <a:gd fmla="val 1730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txBox="1"/>
          <p:nvPr/>
        </p:nvSpPr>
        <p:spPr>
          <a:xfrm>
            <a:off x="9491472" y="5308092"/>
            <a:ext cx="1828800" cy="47548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100"/>
              <a:buFont typeface="Inter"/>
              <a:buNone/>
            </a:pPr>
            <a:r>
              <a:rPr b="1" i="0" lang="en-US" sz="1100" u="none" cap="none" strike="noStrike">
                <a:solidFill>
                  <a:srgbClr val="004FAA"/>
                </a:solidFill>
                <a:latin typeface="Inter"/>
                <a:ea typeface="Inter"/>
                <a:cs typeface="Inter"/>
                <a:sym typeface="Inter"/>
              </a:rPr>
              <a:t>Pace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0" name="Shape 70"/>
        <p:cNvGrpSpPr/>
        <p:nvPr/>
      </p:nvGrpSpPr>
      <p:grpSpPr>
        <a:xfrm>
          <a:off x="0" y="0"/>
          <a:ext cx="0" cy="0"/>
          <a:chOff x="0" y="0"/>
          <a:chExt cx="0" cy="0"/>
        </a:xfrm>
      </p:grpSpPr>
      <p:sp>
        <p:nvSpPr>
          <p:cNvPr id="71" name="Google Shape;71;p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01 · WHY WE'RE HERE</a:t>
            </a:r>
            <a:endParaRPr b="0" i="0" sz="1050" u="none" cap="none" strike="noStrike">
              <a:solidFill>
                <a:schemeClr val="dk1"/>
              </a:solidFill>
              <a:latin typeface="Calibri"/>
              <a:ea typeface="Calibri"/>
              <a:cs typeface="Calibri"/>
              <a:sym typeface="Calibri"/>
            </a:endParaRPr>
          </a:p>
        </p:txBody>
      </p:sp>
      <p:sp>
        <p:nvSpPr>
          <p:cNvPr id="72" name="Google Shape;72;p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today gives you</a:t>
            </a:r>
            <a:endParaRPr b="0" i="0" sz="3000" u="none" cap="none" strike="noStrike">
              <a:solidFill>
                <a:schemeClr val="dk1"/>
              </a:solidFill>
              <a:latin typeface="Calibri"/>
              <a:ea typeface="Calibri"/>
              <a:cs typeface="Calibri"/>
              <a:sym typeface="Calibri"/>
            </a:endParaRPr>
          </a:p>
        </p:txBody>
      </p:sp>
      <p:pic>
        <p:nvPicPr>
          <p:cNvPr descr="/home/claude/work/renderer/brand/wordmark.png" id="73" name="Google Shape;73;p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74" name="Google Shape;74;p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03 / 65</a:t>
            </a:r>
            <a:endParaRPr b="0" i="0" sz="900" u="none" cap="none" strike="noStrike">
              <a:solidFill>
                <a:schemeClr val="dk1"/>
              </a:solidFill>
              <a:latin typeface="Calibri"/>
              <a:ea typeface="Calibri"/>
              <a:cs typeface="Calibri"/>
              <a:sym typeface="Calibri"/>
            </a:endParaRPr>
          </a:p>
        </p:txBody>
      </p:sp>
      <p:sp>
        <p:nvSpPr>
          <p:cNvPr id="75" name="Google Shape;75;p5"/>
          <p:cNvSpPr/>
          <p:nvPr/>
        </p:nvSpPr>
        <p:spPr>
          <a:xfrm>
            <a:off x="548640" y="1828800"/>
            <a:ext cx="3438144" cy="3291840"/>
          </a:xfrm>
          <a:prstGeom prst="roundRect">
            <a:avLst>
              <a:gd fmla="val 3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822960" y="213969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glasses.png" id="77" name="Google Shape;77;p5"/>
          <p:cNvPicPr preferRelativeResize="0"/>
          <p:nvPr/>
        </p:nvPicPr>
        <p:blipFill rotWithShape="1">
          <a:blip r:embed="rId4">
            <a:alphaModFix/>
          </a:blip>
          <a:srcRect b="0" l="0" r="0" t="0"/>
          <a:stretch/>
        </p:blipFill>
        <p:spPr>
          <a:xfrm>
            <a:off x="927567" y="2244303"/>
            <a:ext cx="266273" cy="266273"/>
          </a:xfrm>
          <a:prstGeom prst="rect">
            <a:avLst/>
          </a:prstGeom>
          <a:noFill/>
          <a:ln>
            <a:noFill/>
          </a:ln>
        </p:spPr>
      </p:pic>
      <p:sp>
        <p:nvSpPr>
          <p:cNvPr id="78" name="Google Shape;78;p5"/>
          <p:cNvSpPr txBox="1"/>
          <p:nvPr/>
        </p:nvSpPr>
        <p:spPr>
          <a:xfrm>
            <a:off x="822960" y="2834640"/>
            <a:ext cx="2889504" cy="777240"/>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Confidence, not fluency</a:t>
            </a:r>
            <a:endParaRPr b="0" i="0" sz="1550" u="none" cap="none" strike="noStrike">
              <a:solidFill>
                <a:schemeClr val="dk1"/>
              </a:solidFill>
              <a:latin typeface="Calibri"/>
              <a:ea typeface="Calibri"/>
              <a:cs typeface="Calibri"/>
              <a:sym typeface="Calibri"/>
            </a:endParaRPr>
          </a:p>
        </p:txBody>
      </p:sp>
      <p:sp>
        <p:nvSpPr>
          <p:cNvPr id="79" name="Google Shape;79;p5"/>
          <p:cNvSpPr txBox="1"/>
          <p:nvPr/>
        </p:nvSpPr>
        <p:spPr>
          <a:xfrm>
            <a:off x="822960" y="3657600"/>
            <a:ext cx="2889504" cy="1280160"/>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Recognise the term, know what it is about, ask the next question. Nobody becomes a revenue manager today. The dictionary carries the rest.</a:t>
            </a:r>
            <a:endParaRPr b="0" i="0" sz="1150" u="none" cap="none" strike="noStrike">
              <a:solidFill>
                <a:schemeClr val="dk1"/>
              </a:solidFill>
              <a:latin typeface="Calibri"/>
              <a:ea typeface="Calibri"/>
              <a:cs typeface="Calibri"/>
              <a:sym typeface="Calibri"/>
            </a:endParaRPr>
          </a:p>
        </p:txBody>
      </p:sp>
      <p:sp>
        <p:nvSpPr>
          <p:cNvPr id="80" name="Google Shape;80;p5"/>
          <p:cNvSpPr/>
          <p:nvPr/>
        </p:nvSpPr>
        <p:spPr>
          <a:xfrm>
            <a:off x="4375404" y="1828800"/>
            <a:ext cx="3438144" cy="3291840"/>
          </a:xfrm>
          <a:prstGeom prst="roundRect">
            <a:avLst>
              <a:gd fmla="val 3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649724" y="213969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ightbulb.png" id="82" name="Google Shape;82;p5"/>
          <p:cNvPicPr preferRelativeResize="0"/>
          <p:nvPr/>
        </p:nvPicPr>
        <p:blipFill rotWithShape="1">
          <a:blip r:embed="rId5">
            <a:alphaModFix/>
          </a:blip>
          <a:srcRect b="0" l="0" r="0" t="0"/>
          <a:stretch/>
        </p:blipFill>
        <p:spPr>
          <a:xfrm>
            <a:off x="4754331" y="2244303"/>
            <a:ext cx="266273" cy="266273"/>
          </a:xfrm>
          <a:prstGeom prst="rect">
            <a:avLst/>
          </a:prstGeom>
          <a:noFill/>
          <a:ln>
            <a:noFill/>
          </a:ln>
        </p:spPr>
      </p:pic>
      <p:sp>
        <p:nvSpPr>
          <p:cNvPr id="83" name="Google Shape;83;p5"/>
          <p:cNvSpPr txBox="1"/>
          <p:nvPr/>
        </p:nvSpPr>
        <p:spPr>
          <a:xfrm>
            <a:off x="4649724" y="2834640"/>
            <a:ext cx="2889504" cy="777240"/>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You already know more than you think</a:t>
            </a:r>
            <a:endParaRPr b="0" i="0" sz="1550" u="none" cap="none" strike="noStrike">
              <a:solidFill>
                <a:schemeClr val="dk1"/>
              </a:solidFill>
              <a:latin typeface="Calibri"/>
              <a:ea typeface="Calibri"/>
              <a:cs typeface="Calibri"/>
              <a:sym typeface="Calibri"/>
            </a:endParaRPr>
          </a:p>
        </p:txBody>
      </p:sp>
      <p:sp>
        <p:nvSpPr>
          <p:cNvPr id="84" name="Google Shape;84;p5"/>
          <p:cNvSpPr txBox="1"/>
          <p:nvPr/>
        </p:nvSpPr>
        <p:spPr>
          <a:xfrm>
            <a:off x="4649724" y="3657600"/>
            <a:ext cx="2889504" cy="1280160"/>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Seven of today's sixteen terms come straight from HiddenGem Brain: denial, regret, orphan night, lead time, pace, booking curve and effective OTB.</a:t>
            </a:r>
            <a:endParaRPr b="0" i="0" sz="1150" u="none" cap="none" strike="noStrike">
              <a:solidFill>
                <a:schemeClr val="dk1"/>
              </a:solidFill>
              <a:latin typeface="Calibri"/>
              <a:ea typeface="Calibri"/>
              <a:cs typeface="Calibri"/>
              <a:sym typeface="Calibri"/>
            </a:endParaRPr>
          </a:p>
        </p:txBody>
      </p:sp>
      <p:sp>
        <p:nvSpPr>
          <p:cNvPr id="85" name="Google Shape;85;p5"/>
          <p:cNvSpPr/>
          <p:nvPr/>
        </p:nvSpPr>
        <p:spPr>
          <a:xfrm>
            <a:off x="8202168" y="1828800"/>
            <a:ext cx="3438144" cy="3291840"/>
          </a:xfrm>
          <a:prstGeom prst="roundRect">
            <a:avLst>
              <a:gd fmla="val 333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8476488" y="213969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puzzle.png" id="87" name="Google Shape;87;p5"/>
          <p:cNvPicPr preferRelativeResize="0"/>
          <p:nvPr/>
        </p:nvPicPr>
        <p:blipFill rotWithShape="1">
          <a:blip r:embed="rId6">
            <a:alphaModFix/>
          </a:blip>
          <a:srcRect b="0" l="0" r="0" t="0"/>
          <a:stretch/>
        </p:blipFill>
        <p:spPr>
          <a:xfrm>
            <a:off x="8581095" y="2244303"/>
            <a:ext cx="266273" cy="266273"/>
          </a:xfrm>
          <a:prstGeom prst="rect">
            <a:avLst/>
          </a:prstGeom>
          <a:noFill/>
          <a:ln>
            <a:noFill/>
          </a:ln>
        </p:spPr>
      </p:pic>
      <p:sp>
        <p:nvSpPr>
          <p:cNvPr id="88" name="Google Shape;88;p5"/>
          <p:cNvSpPr txBox="1"/>
          <p:nvPr/>
        </p:nvSpPr>
        <p:spPr>
          <a:xfrm>
            <a:off x="8476488" y="2834640"/>
            <a:ext cx="2889504" cy="777240"/>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An open mind</a:t>
            </a:r>
            <a:endParaRPr b="0" i="0" sz="1550" u="none" cap="none" strike="noStrike">
              <a:solidFill>
                <a:schemeClr val="dk1"/>
              </a:solidFill>
              <a:latin typeface="Calibri"/>
              <a:ea typeface="Calibri"/>
              <a:cs typeface="Calibri"/>
              <a:sym typeface="Calibri"/>
            </a:endParaRPr>
          </a:p>
        </p:txBody>
      </p:sp>
      <p:sp>
        <p:nvSpPr>
          <p:cNvPr id="89" name="Google Shape;89;p5"/>
          <p:cNvSpPr txBox="1"/>
          <p:nvPr/>
        </p:nvSpPr>
        <p:spPr>
          <a:xfrm>
            <a:off x="8476488" y="3657600"/>
            <a:ext cx="2889504" cy="1280160"/>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These are new words for most of us, including the two presenting. Nobody is behind, and every question today is a good one.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4" name="Shape 94"/>
        <p:cNvGrpSpPr/>
        <p:nvPr/>
      </p:nvGrpSpPr>
      <p:grpSpPr>
        <a:xfrm>
          <a:off x="0" y="0"/>
          <a:ext cx="0" cy="0"/>
          <a:chOff x="0" y="0"/>
          <a:chExt cx="0" cy="0"/>
        </a:xfrm>
      </p:grpSpPr>
      <p:sp>
        <p:nvSpPr>
          <p:cNvPr id="95" name="Google Shape;95;p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02 · WHAT WE'LL COVER</a:t>
            </a:r>
            <a:endParaRPr b="0" i="0" sz="1050" u="none" cap="none" strike="noStrike">
              <a:solidFill>
                <a:schemeClr val="dk1"/>
              </a:solidFill>
              <a:latin typeface="Calibri"/>
              <a:ea typeface="Calibri"/>
              <a:cs typeface="Calibri"/>
              <a:sym typeface="Calibri"/>
            </a:endParaRPr>
          </a:p>
        </p:txBody>
      </p:sp>
      <p:sp>
        <p:nvSpPr>
          <p:cNvPr id="96" name="Google Shape;96;p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Today in three blocks</a:t>
            </a:r>
            <a:endParaRPr b="0" i="0" sz="3000" u="none" cap="none" strike="noStrike">
              <a:solidFill>
                <a:schemeClr val="dk1"/>
              </a:solidFill>
              <a:latin typeface="Calibri"/>
              <a:ea typeface="Calibri"/>
              <a:cs typeface="Calibri"/>
              <a:sym typeface="Calibri"/>
            </a:endParaRPr>
          </a:p>
        </p:txBody>
      </p:sp>
      <p:pic>
        <p:nvPicPr>
          <p:cNvPr descr="/home/claude/work/renderer/brand/wordmark.png" id="97" name="Google Shape;97;p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98" name="Google Shape;98;p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04 / 65</a:t>
            </a:r>
            <a:endParaRPr b="0" i="0" sz="900" u="none" cap="none" strike="noStrike">
              <a:solidFill>
                <a:schemeClr val="dk1"/>
              </a:solidFill>
              <a:latin typeface="Calibri"/>
              <a:ea typeface="Calibri"/>
              <a:cs typeface="Calibri"/>
              <a:sym typeface="Calibri"/>
            </a:endParaRPr>
          </a:p>
        </p:txBody>
      </p:sp>
      <p:sp>
        <p:nvSpPr>
          <p:cNvPr id="99" name="Google Shape;99;p6"/>
          <p:cNvSpPr/>
          <p:nvPr/>
        </p:nvSpPr>
        <p:spPr>
          <a:xfrm>
            <a:off x="548640"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822960"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oins.png" id="101" name="Google Shape;101;p6"/>
          <p:cNvPicPr preferRelativeResize="0"/>
          <p:nvPr/>
        </p:nvPicPr>
        <p:blipFill rotWithShape="1">
          <a:blip r:embed="rId4">
            <a:alphaModFix/>
          </a:blip>
          <a:srcRect b="0" l="0" r="0" t="0"/>
          <a:stretch/>
        </p:blipFill>
        <p:spPr>
          <a:xfrm>
            <a:off x="927567" y="2198583"/>
            <a:ext cx="266273" cy="266273"/>
          </a:xfrm>
          <a:prstGeom prst="rect">
            <a:avLst/>
          </a:prstGeom>
          <a:noFill/>
          <a:ln>
            <a:noFill/>
          </a:ln>
        </p:spPr>
      </p:pic>
      <p:sp>
        <p:nvSpPr>
          <p:cNvPr id="102" name="Google Shape;102;p6"/>
          <p:cNvSpPr txBox="1"/>
          <p:nvPr/>
        </p:nvSpPr>
        <p:spPr>
          <a:xfrm>
            <a:off x="822960"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1: from rate to profit</a:t>
            </a:r>
            <a:endParaRPr b="0" i="0" sz="1550" u="none" cap="none" strike="noStrike">
              <a:solidFill>
                <a:schemeClr val="dk1"/>
              </a:solidFill>
              <a:latin typeface="Calibri"/>
              <a:ea typeface="Calibri"/>
              <a:cs typeface="Calibri"/>
              <a:sym typeface="Calibri"/>
            </a:endParaRPr>
          </a:p>
        </p:txBody>
      </p:sp>
      <p:sp>
        <p:nvSpPr>
          <p:cNvPr id="103" name="Google Shape;103;p6"/>
          <p:cNvSpPr txBox="1"/>
          <p:nvPr/>
        </p:nvSpPr>
        <p:spPr>
          <a:xfrm>
            <a:off x="822960" y="335584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104" name="Google Shape;104;p6"/>
          <p:cNvSpPr txBox="1"/>
          <p:nvPr/>
        </p:nvSpPr>
        <p:spPr>
          <a:xfrm>
            <a:off x="1280160" y="335584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ADR</a:t>
            </a:r>
            <a:endParaRPr b="0" i="0" sz="1150" u="none" cap="none" strike="noStrike">
              <a:solidFill>
                <a:schemeClr val="dk1"/>
              </a:solidFill>
              <a:latin typeface="Calibri"/>
              <a:ea typeface="Calibri"/>
              <a:cs typeface="Calibri"/>
              <a:sym typeface="Calibri"/>
            </a:endParaRPr>
          </a:p>
        </p:txBody>
      </p:sp>
      <p:cxnSp>
        <p:nvCxnSpPr>
          <p:cNvPr id="105" name="Google Shape;105;p6"/>
          <p:cNvCxnSpPr/>
          <p:nvPr/>
        </p:nvCxnSpPr>
        <p:spPr>
          <a:xfrm>
            <a:off x="822960"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106" name="Google Shape;106;p6"/>
          <p:cNvSpPr txBox="1"/>
          <p:nvPr/>
        </p:nvSpPr>
        <p:spPr>
          <a:xfrm>
            <a:off x="822960" y="3758184"/>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107" name="Google Shape;107;p6"/>
          <p:cNvSpPr txBox="1"/>
          <p:nvPr/>
        </p:nvSpPr>
        <p:spPr>
          <a:xfrm>
            <a:off x="1280160" y="3758184"/>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RevPAR</a:t>
            </a:r>
            <a:endParaRPr b="0" i="0" sz="1150" u="none" cap="none" strike="noStrike">
              <a:solidFill>
                <a:schemeClr val="dk1"/>
              </a:solidFill>
              <a:latin typeface="Calibri"/>
              <a:ea typeface="Calibri"/>
              <a:cs typeface="Calibri"/>
              <a:sym typeface="Calibri"/>
            </a:endParaRPr>
          </a:p>
        </p:txBody>
      </p:sp>
      <p:cxnSp>
        <p:nvCxnSpPr>
          <p:cNvPr id="108" name="Google Shape;108;p6"/>
          <p:cNvCxnSpPr/>
          <p:nvPr/>
        </p:nvCxnSpPr>
        <p:spPr>
          <a:xfrm>
            <a:off x="822960"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109" name="Google Shape;109;p6"/>
          <p:cNvSpPr txBox="1"/>
          <p:nvPr/>
        </p:nvSpPr>
        <p:spPr>
          <a:xfrm>
            <a:off x="822960" y="4160520"/>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110" name="Google Shape;110;p6"/>
          <p:cNvSpPr txBox="1"/>
          <p:nvPr/>
        </p:nvSpPr>
        <p:spPr>
          <a:xfrm>
            <a:off x="1280160" y="4160520"/>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Ancillary revenue</a:t>
            </a:r>
            <a:endParaRPr b="0" i="0" sz="1150" u="none" cap="none" strike="noStrike">
              <a:solidFill>
                <a:schemeClr val="dk1"/>
              </a:solidFill>
              <a:latin typeface="Calibri"/>
              <a:ea typeface="Calibri"/>
              <a:cs typeface="Calibri"/>
              <a:sym typeface="Calibri"/>
            </a:endParaRPr>
          </a:p>
        </p:txBody>
      </p:sp>
      <p:cxnSp>
        <p:nvCxnSpPr>
          <p:cNvPr id="111" name="Google Shape;111;p6"/>
          <p:cNvCxnSpPr/>
          <p:nvPr/>
        </p:nvCxnSpPr>
        <p:spPr>
          <a:xfrm>
            <a:off x="822960"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112" name="Google Shape;112;p6"/>
          <p:cNvSpPr txBox="1"/>
          <p:nvPr/>
        </p:nvSpPr>
        <p:spPr>
          <a:xfrm>
            <a:off x="822960" y="4562856"/>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113" name="Google Shape;113;p6"/>
          <p:cNvSpPr txBox="1"/>
          <p:nvPr/>
        </p:nvSpPr>
        <p:spPr>
          <a:xfrm>
            <a:off x="1280160" y="4562856"/>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GOP</a:t>
            </a:r>
            <a:endParaRPr b="0" i="0" sz="1150" u="none" cap="none" strike="noStrike">
              <a:solidFill>
                <a:schemeClr val="dk1"/>
              </a:solidFill>
              <a:latin typeface="Calibri"/>
              <a:ea typeface="Calibri"/>
              <a:cs typeface="Calibri"/>
              <a:sym typeface="Calibri"/>
            </a:endParaRPr>
          </a:p>
        </p:txBody>
      </p:sp>
      <p:cxnSp>
        <p:nvCxnSpPr>
          <p:cNvPr id="114" name="Google Shape;114;p6"/>
          <p:cNvCxnSpPr/>
          <p:nvPr/>
        </p:nvCxnSpPr>
        <p:spPr>
          <a:xfrm>
            <a:off x="822960" y="4928616"/>
            <a:ext cx="2889504" cy="0"/>
          </a:xfrm>
          <a:prstGeom prst="straightConnector1">
            <a:avLst/>
          </a:prstGeom>
          <a:noFill/>
          <a:ln cap="flat" cmpd="sng" w="9525">
            <a:solidFill>
              <a:srgbClr val="E5E5E5"/>
            </a:solidFill>
            <a:prstDash val="solid"/>
            <a:round/>
            <a:headEnd len="sm" w="sm" type="none"/>
            <a:tailEnd len="sm" w="sm" type="none"/>
          </a:ln>
        </p:spPr>
      </p:cxnSp>
      <p:sp>
        <p:nvSpPr>
          <p:cNvPr id="115" name="Google Shape;115;p6"/>
          <p:cNvSpPr txBox="1"/>
          <p:nvPr/>
        </p:nvSpPr>
        <p:spPr>
          <a:xfrm>
            <a:off x="822960" y="4965192"/>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116" name="Google Shape;116;p6"/>
          <p:cNvSpPr txBox="1"/>
          <p:nvPr/>
        </p:nvSpPr>
        <p:spPr>
          <a:xfrm>
            <a:off x="1280160" y="4965192"/>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NOI</a:t>
            </a:r>
            <a:endParaRPr b="0" i="0" sz="1150" u="none" cap="none" strike="noStrike">
              <a:solidFill>
                <a:schemeClr val="dk1"/>
              </a:solidFill>
              <a:latin typeface="Calibri"/>
              <a:ea typeface="Calibri"/>
              <a:cs typeface="Calibri"/>
              <a:sym typeface="Calibri"/>
            </a:endParaRPr>
          </a:p>
        </p:txBody>
      </p:sp>
      <p:cxnSp>
        <p:nvCxnSpPr>
          <p:cNvPr id="117" name="Google Shape;117;p6"/>
          <p:cNvCxnSpPr/>
          <p:nvPr/>
        </p:nvCxnSpPr>
        <p:spPr>
          <a:xfrm>
            <a:off x="822960" y="5330952"/>
            <a:ext cx="2889504" cy="0"/>
          </a:xfrm>
          <a:prstGeom prst="straightConnector1">
            <a:avLst/>
          </a:prstGeom>
          <a:noFill/>
          <a:ln cap="flat" cmpd="sng" w="9525">
            <a:solidFill>
              <a:srgbClr val="E5E5E5"/>
            </a:solidFill>
            <a:prstDash val="solid"/>
            <a:round/>
            <a:headEnd len="sm" w="sm" type="none"/>
            <a:tailEnd len="sm" w="sm" type="none"/>
          </a:ln>
        </p:spPr>
      </p:cxnSp>
      <p:sp>
        <p:nvSpPr>
          <p:cNvPr id="118" name="Google Shape;118;p6"/>
          <p:cNvSpPr txBox="1"/>
          <p:nvPr/>
        </p:nvSpPr>
        <p:spPr>
          <a:xfrm>
            <a:off x="822960" y="536752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06</a:t>
            </a:r>
            <a:endParaRPr b="0" i="0" sz="1100" u="none" cap="none" strike="noStrike">
              <a:solidFill>
                <a:schemeClr val="dk1"/>
              </a:solidFill>
              <a:latin typeface="Calibri"/>
              <a:ea typeface="Calibri"/>
              <a:cs typeface="Calibri"/>
              <a:sym typeface="Calibri"/>
            </a:endParaRPr>
          </a:p>
        </p:txBody>
      </p:sp>
      <p:sp>
        <p:nvSpPr>
          <p:cNvPr id="119" name="Google Shape;119;p6"/>
          <p:cNvSpPr txBox="1"/>
          <p:nvPr/>
        </p:nvSpPr>
        <p:spPr>
          <a:xfrm>
            <a:off x="1280160" y="536752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Flow-through</a:t>
            </a:r>
            <a:endParaRPr b="0" i="0" sz="1150" u="none" cap="none" strike="noStrike">
              <a:solidFill>
                <a:schemeClr val="dk1"/>
              </a:solidFill>
              <a:latin typeface="Calibri"/>
              <a:ea typeface="Calibri"/>
              <a:cs typeface="Calibri"/>
              <a:sym typeface="Calibri"/>
            </a:endParaRPr>
          </a:p>
        </p:txBody>
      </p:sp>
      <p:sp>
        <p:nvSpPr>
          <p:cNvPr id="120" name="Google Shape;120;p6"/>
          <p:cNvSpPr/>
          <p:nvPr/>
        </p:nvSpPr>
        <p:spPr>
          <a:xfrm>
            <a:off x="4375404"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4649724"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liders.png" id="122" name="Google Shape;122;p6"/>
          <p:cNvPicPr preferRelativeResize="0"/>
          <p:nvPr/>
        </p:nvPicPr>
        <p:blipFill rotWithShape="1">
          <a:blip r:embed="rId5">
            <a:alphaModFix/>
          </a:blip>
          <a:srcRect b="0" l="0" r="0" t="0"/>
          <a:stretch/>
        </p:blipFill>
        <p:spPr>
          <a:xfrm>
            <a:off x="4754331" y="2198583"/>
            <a:ext cx="266273" cy="266273"/>
          </a:xfrm>
          <a:prstGeom prst="rect">
            <a:avLst/>
          </a:prstGeom>
          <a:noFill/>
          <a:ln>
            <a:noFill/>
          </a:ln>
        </p:spPr>
      </p:pic>
      <p:sp>
        <p:nvSpPr>
          <p:cNvPr id="123" name="Google Shape;123;p6"/>
          <p:cNvSpPr txBox="1"/>
          <p:nvPr/>
        </p:nvSpPr>
        <p:spPr>
          <a:xfrm>
            <a:off x="4649724"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2: setting the price</a:t>
            </a:r>
            <a:endParaRPr b="0" i="0" sz="1550" u="none" cap="none" strike="noStrike">
              <a:solidFill>
                <a:schemeClr val="dk1"/>
              </a:solidFill>
              <a:latin typeface="Calibri"/>
              <a:ea typeface="Calibri"/>
              <a:cs typeface="Calibri"/>
              <a:sym typeface="Calibri"/>
            </a:endParaRPr>
          </a:p>
        </p:txBody>
      </p:sp>
      <p:sp>
        <p:nvSpPr>
          <p:cNvPr id="124" name="Google Shape;124;p6"/>
          <p:cNvSpPr txBox="1"/>
          <p:nvPr/>
        </p:nvSpPr>
        <p:spPr>
          <a:xfrm>
            <a:off x="4649724" y="335584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125" name="Google Shape;125;p6"/>
          <p:cNvSpPr txBox="1"/>
          <p:nvPr/>
        </p:nvSpPr>
        <p:spPr>
          <a:xfrm>
            <a:off x="5106924" y="335584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Comp set</a:t>
            </a:r>
            <a:endParaRPr b="0" i="0" sz="1150" u="none" cap="none" strike="noStrike">
              <a:solidFill>
                <a:schemeClr val="dk1"/>
              </a:solidFill>
              <a:latin typeface="Calibri"/>
              <a:ea typeface="Calibri"/>
              <a:cs typeface="Calibri"/>
              <a:sym typeface="Calibri"/>
            </a:endParaRPr>
          </a:p>
        </p:txBody>
      </p:sp>
      <p:cxnSp>
        <p:nvCxnSpPr>
          <p:cNvPr id="126" name="Google Shape;126;p6"/>
          <p:cNvCxnSpPr/>
          <p:nvPr/>
        </p:nvCxnSpPr>
        <p:spPr>
          <a:xfrm>
            <a:off x="4649724"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127" name="Google Shape;127;p6"/>
          <p:cNvSpPr txBox="1"/>
          <p:nvPr/>
        </p:nvSpPr>
        <p:spPr>
          <a:xfrm>
            <a:off x="4649724" y="3758184"/>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128" name="Google Shape;128;p6"/>
          <p:cNvSpPr txBox="1"/>
          <p:nvPr/>
        </p:nvSpPr>
        <p:spPr>
          <a:xfrm>
            <a:off x="5106924" y="3758184"/>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Revenue management</a:t>
            </a:r>
            <a:endParaRPr b="0" i="0" sz="1150" u="none" cap="none" strike="noStrike">
              <a:solidFill>
                <a:schemeClr val="dk1"/>
              </a:solidFill>
              <a:latin typeface="Calibri"/>
              <a:ea typeface="Calibri"/>
              <a:cs typeface="Calibri"/>
              <a:sym typeface="Calibri"/>
            </a:endParaRPr>
          </a:p>
        </p:txBody>
      </p:sp>
      <p:cxnSp>
        <p:nvCxnSpPr>
          <p:cNvPr id="129" name="Google Shape;129;p6"/>
          <p:cNvCxnSpPr/>
          <p:nvPr/>
        </p:nvCxnSpPr>
        <p:spPr>
          <a:xfrm>
            <a:off x="4649724"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130" name="Google Shape;130;p6"/>
          <p:cNvSpPr txBox="1"/>
          <p:nvPr/>
        </p:nvSpPr>
        <p:spPr>
          <a:xfrm>
            <a:off x="4649724" y="4160520"/>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131" name="Google Shape;131;p6"/>
          <p:cNvSpPr txBox="1"/>
          <p:nvPr/>
        </p:nvSpPr>
        <p:spPr>
          <a:xfrm>
            <a:off x="5106924" y="4160520"/>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Denial</a:t>
            </a:r>
            <a:endParaRPr b="0" i="0" sz="1150" u="none" cap="none" strike="noStrike">
              <a:solidFill>
                <a:schemeClr val="dk1"/>
              </a:solidFill>
              <a:latin typeface="Calibri"/>
              <a:ea typeface="Calibri"/>
              <a:cs typeface="Calibri"/>
              <a:sym typeface="Calibri"/>
            </a:endParaRPr>
          </a:p>
        </p:txBody>
      </p:sp>
      <p:cxnSp>
        <p:nvCxnSpPr>
          <p:cNvPr id="132" name="Google Shape;132;p6"/>
          <p:cNvCxnSpPr/>
          <p:nvPr/>
        </p:nvCxnSpPr>
        <p:spPr>
          <a:xfrm>
            <a:off x="4649724"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133" name="Google Shape;133;p6"/>
          <p:cNvSpPr txBox="1"/>
          <p:nvPr/>
        </p:nvSpPr>
        <p:spPr>
          <a:xfrm>
            <a:off x="4649724" y="4562856"/>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134" name="Google Shape;134;p6"/>
          <p:cNvSpPr txBox="1"/>
          <p:nvPr/>
        </p:nvSpPr>
        <p:spPr>
          <a:xfrm>
            <a:off x="5106924" y="4562856"/>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Regret</a:t>
            </a:r>
            <a:endParaRPr b="0" i="0" sz="1150" u="none" cap="none" strike="noStrike">
              <a:solidFill>
                <a:schemeClr val="dk1"/>
              </a:solidFill>
              <a:latin typeface="Calibri"/>
              <a:ea typeface="Calibri"/>
              <a:cs typeface="Calibri"/>
              <a:sym typeface="Calibri"/>
            </a:endParaRPr>
          </a:p>
        </p:txBody>
      </p:sp>
      <p:cxnSp>
        <p:nvCxnSpPr>
          <p:cNvPr id="135" name="Google Shape;135;p6"/>
          <p:cNvCxnSpPr/>
          <p:nvPr/>
        </p:nvCxnSpPr>
        <p:spPr>
          <a:xfrm>
            <a:off x="4649724" y="4928616"/>
            <a:ext cx="2889504" cy="0"/>
          </a:xfrm>
          <a:prstGeom prst="straightConnector1">
            <a:avLst/>
          </a:prstGeom>
          <a:noFill/>
          <a:ln cap="flat" cmpd="sng" w="9525">
            <a:solidFill>
              <a:srgbClr val="E5E5E5"/>
            </a:solidFill>
            <a:prstDash val="solid"/>
            <a:round/>
            <a:headEnd len="sm" w="sm" type="none"/>
            <a:tailEnd len="sm" w="sm" type="none"/>
          </a:ln>
        </p:spPr>
      </p:cxnSp>
      <p:sp>
        <p:nvSpPr>
          <p:cNvPr id="136" name="Google Shape;136;p6"/>
          <p:cNvSpPr txBox="1"/>
          <p:nvPr/>
        </p:nvSpPr>
        <p:spPr>
          <a:xfrm>
            <a:off x="4649724" y="4965192"/>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137" name="Google Shape;137;p6"/>
          <p:cNvSpPr txBox="1"/>
          <p:nvPr/>
        </p:nvSpPr>
        <p:spPr>
          <a:xfrm>
            <a:off x="5106924" y="4965192"/>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Orphan night</a:t>
            </a:r>
            <a:endParaRPr b="0" i="0" sz="1150" u="none" cap="none" strike="noStrike">
              <a:solidFill>
                <a:schemeClr val="dk1"/>
              </a:solidFill>
              <a:latin typeface="Calibri"/>
              <a:ea typeface="Calibri"/>
              <a:cs typeface="Calibri"/>
              <a:sym typeface="Calibri"/>
            </a:endParaRPr>
          </a:p>
        </p:txBody>
      </p:sp>
      <p:cxnSp>
        <p:nvCxnSpPr>
          <p:cNvPr id="138" name="Google Shape;138;p6"/>
          <p:cNvCxnSpPr/>
          <p:nvPr/>
        </p:nvCxnSpPr>
        <p:spPr>
          <a:xfrm>
            <a:off x="4649724" y="5330952"/>
            <a:ext cx="2889504" cy="0"/>
          </a:xfrm>
          <a:prstGeom prst="straightConnector1">
            <a:avLst/>
          </a:prstGeom>
          <a:noFill/>
          <a:ln cap="flat" cmpd="sng" w="9525">
            <a:solidFill>
              <a:srgbClr val="E5E5E5"/>
            </a:solidFill>
            <a:prstDash val="solid"/>
            <a:round/>
            <a:headEnd len="sm" w="sm" type="none"/>
            <a:tailEnd len="sm" w="sm" type="none"/>
          </a:ln>
        </p:spPr>
      </p:cxnSp>
      <p:sp>
        <p:nvSpPr>
          <p:cNvPr id="139" name="Google Shape;139;p6"/>
          <p:cNvSpPr txBox="1"/>
          <p:nvPr/>
        </p:nvSpPr>
        <p:spPr>
          <a:xfrm>
            <a:off x="4649724" y="536752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06</a:t>
            </a:r>
            <a:endParaRPr b="0" i="0" sz="1100" u="none" cap="none" strike="noStrike">
              <a:solidFill>
                <a:schemeClr val="dk1"/>
              </a:solidFill>
              <a:latin typeface="Calibri"/>
              <a:ea typeface="Calibri"/>
              <a:cs typeface="Calibri"/>
              <a:sym typeface="Calibri"/>
            </a:endParaRPr>
          </a:p>
        </p:txBody>
      </p:sp>
      <p:sp>
        <p:nvSpPr>
          <p:cNvPr id="140" name="Google Shape;140;p6"/>
          <p:cNvSpPr txBox="1"/>
          <p:nvPr/>
        </p:nvSpPr>
        <p:spPr>
          <a:xfrm>
            <a:off x="5106924" y="536752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Rate parity</a:t>
            </a:r>
            <a:endParaRPr b="0" i="0" sz="1150" u="none" cap="none" strike="noStrike">
              <a:solidFill>
                <a:schemeClr val="dk1"/>
              </a:solidFill>
              <a:latin typeface="Calibri"/>
              <a:ea typeface="Calibri"/>
              <a:cs typeface="Calibri"/>
              <a:sym typeface="Calibri"/>
            </a:endParaRPr>
          </a:p>
        </p:txBody>
      </p:sp>
      <p:sp>
        <p:nvSpPr>
          <p:cNvPr id="141" name="Google Shape;141;p6"/>
          <p:cNvSpPr/>
          <p:nvPr/>
        </p:nvSpPr>
        <p:spPr>
          <a:xfrm>
            <a:off x="8202168"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8476488"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ourglass.png" id="143" name="Google Shape;143;p6"/>
          <p:cNvPicPr preferRelativeResize="0"/>
          <p:nvPr/>
        </p:nvPicPr>
        <p:blipFill rotWithShape="1">
          <a:blip r:embed="rId6">
            <a:alphaModFix/>
          </a:blip>
          <a:srcRect b="0" l="0" r="0" t="0"/>
          <a:stretch/>
        </p:blipFill>
        <p:spPr>
          <a:xfrm>
            <a:off x="8581095" y="2198583"/>
            <a:ext cx="266273" cy="266273"/>
          </a:xfrm>
          <a:prstGeom prst="rect">
            <a:avLst/>
          </a:prstGeom>
          <a:noFill/>
          <a:ln>
            <a:noFill/>
          </a:ln>
        </p:spPr>
      </p:pic>
      <p:sp>
        <p:nvSpPr>
          <p:cNvPr id="144" name="Google Shape;144;p6"/>
          <p:cNvSpPr txBox="1"/>
          <p:nvPr/>
        </p:nvSpPr>
        <p:spPr>
          <a:xfrm>
            <a:off x="8476488"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3: when guests book</a:t>
            </a:r>
            <a:endParaRPr b="0" i="0" sz="1550" u="none" cap="none" strike="noStrike">
              <a:solidFill>
                <a:schemeClr val="dk1"/>
              </a:solidFill>
              <a:latin typeface="Calibri"/>
              <a:ea typeface="Calibri"/>
              <a:cs typeface="Calibri"/>
              <a:sym typeface="Calibri"/>
            </a:endParaRPr>
          </a:p>
        </p:txBody>
      </p:sp>
      <p:sp>
        <p:nvSpPr>
          <p:cNvPr id="145" name="Google Shape;145;p6"/>
          <p:cNvSpPr txBox="1"/>
          <p:nvPr/>
        </p:nvSpPr>
        <p:spPr>
          <a:xfrm>
            <a:off x="8476488" y="335584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146" name="Google Shape;146;p6"/>
          <p:cNvSpPr txBox="1"/>
          <p:nvPr/>
        </p:nvSpPr>
        <p:spPr>
          <a:xfrm>
            <a:off x="8933688" y="335584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Lead time</a:t>
            </a:r>
            <a:endParaRPr b="0" i="0" sz="1150" u="none" cap="none" strike="noStrike">
              <a:solidFill>
                <a:schemeClr val="dk1"/>
              </a:solidFill>
              <a:latin typeface="Calibri"/>
              <a:ea typeface="Calibri"/>
              <a:cs typeface="Calibri"/>
              <a:sym typeface="Calibri"/>
            </a:endParaRPr>
          </a:p>
        </p:txBody>
      </p:sp>
      <p:cxnSp>
        <p:nvCxnSpPr>
          <p:cNvPr id="147" name="Google Shape;147;p6"/>
          <p:cNvCxnSpPr/>
          <p:nvPr/>
        </p:nvCxnSpPr>
        <p:spPr>
          <a:xfrm>
            <a:off x="8476488"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148" name="Google Shape;148;p6"/>
          <p:cNvSpPr txBox="1"/>
          <p:nvPr/>
        </p:nvSpPr>
        <p:spPr>
          <a:xfrm>
            <a:off x="8476488" y="3758184"/>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149" name="Google Shape;149;p6"/>
          <p:cNvSpPr txBox="1"/>
          <p:nvPr/>
        </p:nvSpPr>
        <p:spPr>
          <a:xfrm>
            <a:off x="8933688" y="3758184"/>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Booking curve</a:t>
            </a:r>
            <a:endParaRPr b="0" i="0" sz="1150" u="none" cap="none" strike="noStrike">
              <a:solidFill>
                <a:schemeClr val="dk1"/>
              </a:solidFill>
              <a:latin typeface="Calibri"/>
              <a:ea typeface="Calibri"/>
              <a:cs typeface="Calibri"/>
              <a:sym typeface="Calibri"/>
            </a:endParaRPr>
          </a:p>
        </p:txBody>
      </p:sp>
      <p:cxnSp>
        <p:nvCxnSpPr>
          <p:cNvPr id="150" name="Google Shape;150;p6"/>
          <p:cNvCxnSpPr/>
          <p:nvPr/>
        </p:nvCxnSpPr>
        <p:spPr>
          <a:xfrm>
            <a:off x="8476488"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151" name="Google Shape;151;p6"/>
          <p:cNvSpPr txBox="1"/>
          <p:nvPr/>
        </p:nvSpPr>
        <p:spPr>
          <a:xfrm>
            <a:off x="8476488" y="4160520"/>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152" name="Google Shape;152;p6"/>
          <p:cNvSpPr txBox="1"/>
          <p:nvPr/>
        </p:nvSpPr>
        <p:spPr>
          <a:xfrm>
            <a:off x="8933688" y="4160520"/>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Pace</a:t>
            </a:r>
            <a:endParaRPr b="0" i="0" sz="1150" u="none" cap="none" strike="noStrike">
              <a:solidFill>
                <a:schemeClr val="dk1"/>
              </a:solidFill>
              <a:latin typeface="Calibri"/>
              <a:ea typeface="Calibri"/>
              <a:cs typeface="Calibri"/>
              <a:sym typeface="Calibri"/>
            </a:endParaRPr>
          </a:p>
        </p:txBody>
      </p:sp>
      <p:cxnSp>
        <p:nvCxnSpPr>
          <p:cNvPr id="153" name="Google Shape;153;p6"/>
          <p:cNvCxnSpPr/>
          <p:nvPr/>
        </p:nvCxnSpPr>
        <p:spPr>
          <a:xfrm>
            <a:off x="8476488"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154" name="Google Shape;154;p6"/>
          <p:cNvSpPr txBox="1"/>
          <p:nvPr/>
        </p:nvSpPr>
        <p:spPr>
          <a:xfrm>
            <a:off x="8476488" y="4562856"/>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155" name="Google Shape;155;p6"/>
          <p:cNvSpPr txBox="1"/>
          <p:nvPr/>
        </p:nvSpPr>
        <p:spPr>
          <a:xfrm>
            <a:off x="8933688" y="4562856"/>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Effective OTB</a:t>
            </a:r>
            <a:endParaRPr b="0" i="0" sz="1150" u="none" cap="none" strike="noStrike">
              <a:solidFill>
                <a:schemeClr val="dk1"/>
              </a:solidFill>
              <a:latin typeface="Calibri"/>
              <a:ea typeface="Calibri"/>
              <a:cs typeface="Calibri"/>
              <a:sym typeface="Calibri"/>
            </a:endParaRPr>
          </a:p>
        </p:txBody>
      </p:sp>
      <p:cxnSp>
        <p:nvCxnSpPr>
          <p:cNvPr id="156" name="Google Shape;156;p6"/>
          <p:cNvCxnSpPr/>
          <p:nvPr/>
        </p:nvCxnSpPr>
        <p:spPr>
          <a:xfrm>
            <a:off x="8476488" y="4928616"/>
            <a:ext cx="2889504" cy="0"/>
          </a:xfrm>
          <a:prstGeom prst="straightConnector1">
            <a:avLst/>
          </a:prstGeom>
          <a:noFill/>
          <a:ln cap="flat" cmpd="sng" w="9525">
            <a:solidFill>
              <a:srgbClr val="E5E5E5"/>
            </a:solidFill>
            <a:prstDash val="solid"/>
            <a:round/>
            <a:headEnd len="sm" w="sm" type="none"/>
            <a:tailEnd len="sm" w="sm" type="none"/>
          </a:ln>
        </p:spPr>
      </p:cxnSp>
      <p:sp>
        <p:nvSpPr>
          <p:cNvPr id="157" name="Google Shape;157;p6"/>
          <p:cNvSpPr txBox="1"/>
          <p:nvPr/>
        </p:nvSpPr>
        <p:spPr>
          <a:xfrm>
            <a:off x="8476488" y="4965192"/>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158" name="Google Shape;158;p6"/>
          <p:cNvSpPr txBox="1"/>
          <p:nvPr/>
        </p:nvSpPr>
        <p:spPr>
          <a:xfrm>
            <a:off x="8933688" y="4965192"/>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Transient vs group</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3" name="Shape 163"/>
        <p:cNvGrpSpPr/>
        <p:nvPr/>
      </p:nvGrpSpPr>
      <p:grpSpPr>
        <a:xfrm>
          <a:off x="0" y="0"/>
          <a:ext cx="0" cy="0"/>
          <a:chOff x="0" y="0"/>
          <a:chExt cx="0" cy="0"/>
        </a:xfrm>
      </p:grpSpPr>
      <p:sp>
        <p:nvSpPr>
          <p:cNvPr id="164" name="Google Shape;164;p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sp>
        <p:nvSpPr>
          <p:cNvPr id="165" name="Google Shape;165;p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Block 1: from rate to profit</a:t>
            </a:r>
            <a:endParaRPr b="0" i="0" sz="3000" u="none" cap="none" strike="noStrike">
              <a:solidFill>
                <a:schemeClr val="dk1"/>
              </a:solidFill>
              <a:latin typeface="Calibri"/>
              <a:ea typeface="Calibri"/>
              <a:cs typeface="Calibri"/>
              <a:sym typeface="Calibri"/>
            </a:endParaRPr>
          </a:p>
        </p:txBody>
      </p:sp>
      <p:sp>
        <p:nvSpPr>
          <p:cNvPr id="166" name="Google Shape;166;p7"/>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Six terms that take a room rate down to the profit a buyer prices. One client throughout: Lakeside Lodge, 50 rooms, September.</a:t>
            </a:r>
            <a:endParaRPr b="0" i="0" sz="1400" u="none" cap="none" strike="noStrike">
              <a:solidFill>
                <a:schemeClr val="dk1"/>
              </a:solidFill>
              <a:latin typeface="Calibri"/>
              <a:ea typeface="Calibri"/>
              <a:cs typeface="Calibri"/>
              <a:sym typeface="Calibri"/>
            </a:endParaRPr>
          </a:p>
        </p:txBody>
      </p:sp>
      <p:pic>
        <p:nvPicPr>
          <p:cNvPr descr="/home/claude/work/renderer/brand/wordmark.png" id="167" name="Google Shape;167;p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68" name="Google Shape;168;p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05 / 65</a:t>
            </a:r>
            <a:endParaRPr b="0" i="0" sz="900" u="none" cap="none" strike="noStrike">
              <a:solidFill>
                <a:schemeClr val="dk1"/>
              </a:solidFill>
              <a:latin typeface="Calibri"/>
              <a:ea typeface="Calibri"/>
              <a:cs typeface="Calibri"/>
              <a:sym typeface="Calibri"/>
            </a:endParaRPr>
          </a:p>
        </p:txBody>
      </p:sp>
      <p:sp>
        <p:nvSpPr>
          <p:cNvPr id="169" name="Google Shape;169;p7"/>
          <p:cNvSpPr/>
          <p:nvPr/>
        </p:nvSpPr>
        <p:spPr>
          <a:xfrm>
            <a:off x="548640"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txBox="1"/>
          <p:nvPr/>
        </p:nvSpPr>
        <p:spPr>
          <a:xfrm>
            <a:off x="822960"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01</a:t>
            </a:r>
            <a:endParaRPr b="0" i="0" sz="1600" u="none" cap="none" strike="noStrike">
              <a:solidFill>
                <a:schemeClr val="dk1"/>
              </a:solidFill>
              <a:latin typeface="Calibri"/>
              <a:ea typeface="Calibri"/>
              <a:cs typeface="Calibri"/>
              <a:sym typeface="Calibri"/>
            </a:endParaRPr>
          </a:p>
        </p:txBody>
      </p:sp>
      <p:sp>
        <p:nvSpPr>
          <p:cNvPr id="171" name="Google Shape;171;p7"/>
          <p:cNvSpPr/>
          <p:nvPr/>
        </p:nvSpPr>
        <p:spPr>
          <a:xfrm>
            <a:off x="3399434"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ome.png" id="172" name="Google Shape;172;p7"/>
          <p:cNvPicPr preferRelativeResize="0"/>
          <p:nvPr/>
        </p:nvPicPr>
        <p:blipFill rotWithShape="1">
          <a:blip r:embed="rId4">
            <a:alphaModFix/>
          </a:blip>
          <a:srcRect b="0" l="0" r="0" t="0"/>
          <a:stretch/>
        </p:blipFill>
        <p:spPr>
          <a:xfrm>
            <a:off x="3491972" y="2213945"/>
            <a:ext cx="235549" cy="235549"/>
          </a:xfrm>
          <a:prstGeom prst="rect">
            <a:avLst/>
          </a:prstGeom>
          <a:noFill/>
          <a:ln>
            <a:noFill/>
          </a:ln>
        </p:spPr>
      </p:pic>
      <p:sp>
        <p:nvSpPr>
          <p:cNvPr id="173" name="Google Shape;173;p7"/>
          <p:cNvSpPr txBox="1"/>
          <p:nvPr/>
        </p:nvSpPr>
        <p:spPr>
          <a:xfrm>
            <a:off x="822960"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ADR</a:t>
            </a:r>
            <a:endParaRPr b="0" i="0" sz="1700" u="none" cap="none" strike="noStrike">
              <a:solidFill>
                <a:schemeClr val="dk1"/>
              </a:solidFill>
              <a:latin typeface="Calibri"/>
              <a:ea typeface="Calibri"/>
              <a:cs typeface="Calibri"/>
              <a:sym typeface="Calibri"/>
            </a:endParaRPr>
          </a:p>
        </p:txBody>
      </p:sp>
      <p:sp>
        <p:nvSpPr>
          <p:cNvPr id="174" name="Google Shape;174;p7"/>
          <p:cNvSpPr txBox="1"/>
          <p:nvPr/>
        </p:nvSpPr>
        <p:spPr>
          <a:xfrm>
            <a:off x="822960"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Average daily rate: what a sold room actually went for.</a:t>
            </a:r>
            <a:endParaRPr b="0" i="0" sz="1150" u="none" cap="none" strike="noStrike">
              <a:solidFill>
                <a:schemeClr val="dk1"/>
              </a:solidFill>
              <a:latin typeface="Calibri"/>
              <a:ea typeface="Calibri"/>
              <a:cs typeface="Calibri"/>
              <a:sym typeface="Calibri"/>
            </a:endParaRPr>
          </a:p>
        </p:txBody>
      </p:sp>
      <p:sp>
        <p:nvSpPr>
          <p:cNvPr id="175" name="Google Shape;175;p7"/>
          <p:cNvSpPr/>
          <p:nvPr/>
        </p:nvSpPr>
        <p:spPr>
          <a:xfrm>
            <a:off x="4322978"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txBox="1"/>
          <p:nvPr/>
        </p:nvSpPr>
        <p:spPr>
          <a:xfrm>
            <a:off x="4597298"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02</a:t>
            </a:r>
            <a:endParaRPr b="0" i="0" sz="1600" u="none" cap="none" strike="noStrike">
              <a:solidFill>
                <a:schemeClr val="dk1"/>
              </a:solidFill>
              <a:latin typeface="Calibri"/>
              <a:ea typeface="Calibri"/>
              <a:cs typeface="Calibri"/>
              <a:sym typeface="Calibri"/>
            </a:endParaRPr>
          </a:p>
        </p:txBody>
      </p:sp>
      <p:sp>
        <p:nvSpPr>
          <p:cNvPr id="177" name="Google Shape;177;p7"/>
          <p:cNvSpPr/>
          <p:nvPr/>
        </p:nvSpPr>
        <p:spPr>
          <a:xfrm>
            <a:off x="7173773"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oins.png" id="178" name="Google Shape;178;p7"/>
          <p:cNvPicPr preferRelativeResize="0"/>
          <p:nvPr/>
        </p:nvPicPr>
        <p:blipFill rotWithShape="1">
          <a:blip r:embed="rId5">
            <a:alphaModFix/>
          </a:blip>
          <a:srcRect b="0" l="0" r="0" t="0"/>
          <a:stretch/>
        </p:blipFill>
        <p:spPr>
          <a:xfrm>
            <a:off x="7266310" y="2213945"/>
            <a:ext cx="235549" cy="235549"/>
          </a:xfrm>
          <a:prstGeom prst="rect">
            <a:avLst/>
          </a:prstGeom>
          <a:noFill/>
          <a:ln>
            <a:noFill/>
          </a:ln>
        </p:spPr>
      </p:pic>
      <p:sp>
        <p:nvSpPr>
          <p:cNvPr id="179" name="Google Shape;179;p7"/>
          <p:cNvSpPr txBox="1"/>
          <p:nvPr/>
        </p:nvSpPr>
        <p:spPr>
          <a:xfrm>
            <a:off x="4597298"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RevPAR</a:t>
            </a:r>
            <a:endParaRPr b="0" i="0" sz="1700" u="none" cap="none" strike="noStrike">
              <a:solidFill>
                <a:schemeClr val="dk1"/>
              </a:solidFill>
              <a:latin typeface="Calibri"/>
              <a:ea typeface="Calibri"/>
              <a:cs typeface="Calibri"/>
              <a:sym typeface="Calibri"/>
            </a:endParaRPr>
          </a:p>
        </p:txBody>
      </p:sp>
      <p:sp>
        <p:nvSpPr>
          <p:cNvPr id="180" name="Google Shape;180;p7"/>
          <p:cNvSpPr txBox="1"/>
          <p:nvPr/>
        </p:nvSpPr>
        <p:spPr>
          <a:xfrm>
            <a:off x="4597298"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Revenue per available room: rate and fill in one number.</a:t>
            </a:r>
            <a:endParaRPr b="0" i="0" sz="1150" u="none" cap="none" strike="noStrike">
              <a:solidFill>
                <a:schemeClr val="dk1"/>
              </a:solidFill>
              <a:latin typeface="Calibri"/>
              <a:ea typeface="Calibri"/>
              <a:cs typeface="Calibri"/>
              <a:sym typeface="Calibri"/>
            </a:endParaRPr>
          </a:p>
        </p:txBody>
      </p:sp>
      <p:sp>
        <p:nvSpPr>
          <p:cNvPr id="181" name="Google Shape;181;p7"/>
          <p:cNvSpPr/>
          <p:nvPr/>
        </p:nvSpPr>
        <p:spPr>
          <a:xfrm>
            <a:off x="8097317"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txBox="1"/>
          <p:nvPr/>
        </p:nvSpPr>
        <p:spPr>
          <a:xfrm>
            <a:off x="8371637"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03</a:t>
            </a:r>
            <a:endParaRPr b="0" i="0" sz="1600" u="none" cap="none" strike="noStrike">
              <a:solidFill>
                <a:schemeClr val="dk1"/>
              </a:solidFill>
              <a:latin typeface="Calibri"/>
              <a:ea typeface="Calibri"/>
              <a:cs typeface="Calibri"/>
              <a:sym typeface="Calibri"/>
            </a:endParaRPr>
          </a:p>
        </p:txBody>
      </p:sp>
      <p:sp>
        <p:nvSpPr>
          <p:cNvPr id="183" name="Google Shape;183;p7"/>
          <p:cNvSpPr/>
          <p:nvPr/>
        </p:nvSpPr>
        <p:spPr>
          <a:xfrm>
            <a:off x="10948111"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gift.png" id="184" name="Google Shape;184;p7"/>
          <p:cNvPicPr preferRelativeResize="0"/>
          <p:nvPr/>
        </p:nvPicPr>
        <p:blipFill rotWithShape="1">
          <a:blip r:embed="rId6">
            <a:alphaModFix/>
          </a:blip>
          <a:srcRect b="0" l="0" r="0" t="0"/>
          <a:stretch/>
        </p:blipFill>
        <p:spPr>
          <a:xfrm>
            <a:off x="11040648" y="2213945"/>
            <a:ext cx="235549" cy="235549"/>
          </a:xfrm>
          <a:prstGeom prst="rect">
            <a:avLst/>
          </a:prstGeom>
          <a:noFill/>
          <a:ln>
            <a:noFill/>
          </a:ln>
        </p:spPr>
      </p:pic>
      <p:sp>
        <p:nvSpPr>
          <p:cNvPr id="185" name="Google Shape;185;p7"/>
          <p:cNvSpPr txBox="1"/>
          <p:nvPr/>
        </p:nvSpPr>
        <p:spPr>
          <a:xfrm>
            <a:off x="8371637"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Ancillary revenue</a:t>
            </a:r>
            <a:endParaRPr b="0" i="0" sz="1700" u="none" cap="none" strike="noStrike">
              <a:solidFill>
                <a:schemeClr val="dk1"/>
              </a:solidFill>
              <a:latin typeface="Calibri"/>
              <a:ea typeface="Calibri"/>
              <a:cs typeface="Calibri"/>
              <a:sym typeface="Calibri"/>
            </a:endParaRPr>
          </a:p>
        </p:txBody>
      </p:sp>
      <p:sp>
        <p:nvSpPr>
          <p:cNvPr id="186" name="Google Shape;186;p7"/>
          <p:cNvSpPr txBox="1"/>
          <p:nvPr/>
        </p:nvSpPr>
        <p:spPr>
          <a:xfrm>
            <a:off x="8371637"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Everything a guest spends beyond the room.</a:t>
            </a:r>
            <a:endParaRPr b="0" i="0" sz="1150" u="none" cap="none" strike="noStrike">
              <a:solidFill>
                <a:schemeClr val="dk1"/>
              </a:solidFill>
              <a:latin typeface="Calibri"/>
              <a:ea typeface="Calibri"/>
              <a:cs typeface="Calibri"/>
              <a:sym typeface="Calibri"/>
            </a:endParaRPr>
          </a:p>
        </p:txBody>
      </p:sp>
      <p:sp>
        <p:nvSpPr>
          <p:cNvPr id="187" name="Google Shape;187;p7"/>
          <p:cNvSpPr/>
          <p:nvPr/>
        </p:nvSpPr>
        <p:spPr>
          <a:xfrm>
            <a:off x="548640"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txBox="1"/>
          <p:nvPr/>
        </p:nvSpPr>
        <p:spPr>
          <a:xfrm>
            <a:off x="822960"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04</a:t>
            </a:r>
            <a:endParaRPr b="0" i="0" sz="1600" u="none" cap="none" strike="noStrike">
              <a:solidFill>
                <a:schemeClr val="dk1"/>
              </a:solidFill>
              <a:latin typeface="Calibri"/>
              <a:ea typeface="Calibri"/>
              <a:cs typeface="Calibri"/>
              <a:sym typeface="Calibri"/>
            </a:endParaRPr>
          </a:p>
        </p:txBody>
      </p:sp>
      <p:sp>
        <p:nvSpPr>
          <p:cNvPr id="189" name="Google Shape;189;p7"/>
          <p:cNvSpPr/>
          <p:nvPr/>
        </p:nvSpPr>
        <p:spPr>
          <a:xfrm>
            <a:off x="3399434"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pie-chart.png" id="190" name="Google Shape;190;p7"/>
          <p:cNvPicPr preferRelativeResize="0"/>
          <p:nvPr/>
        </p:nvPicPr>
        <p:blipFill rotWithShape="1">
          <a:blip r:embed="rId7">
            <a:alphaModFix/>
          </a:blip>
          <a:srcRect b="0" l="0" r="0" t="0"/>
          <a:stretch/>
        </p:blipFill>
        <p:spPr>
          <a:xfrm>
            <a:off x="3491972" y="4541093"/>
            <a:ext cx="235549" cy="235549"/>
          </a:xfrm>
          <a:prstGeom prst="rect">
            <a:avLst/>
          </a:prstGeom>
          <a:noFill/>
          <a:ln>
            <a:noFill/>
          </a:ln>
        </p:spPr>
      </p:pic>
      <p:sp>
        <p:nvSpPr>
          <p:cNvPr id="191" name="Google Shape;191;p7"/>
          <p:cNvSpPr txBox="1"/>
          <p:nvPr/>
        </p:nvSpPr>
        <p:spPr>
          <a:xfrm>
            <a:off x="822960"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GOP</a:t>
            </a:r>
            <a:endParaRPr b="0" i="0" sz="1700" u="none" cap="none" strike="noStrike">
              <a:solidFill>
                <a:schemeClr val="dk1"/>
              </a:solidFill>
              <a:latin typeface="Calibri"/>
              <a:ea typeface="Calibri"/>
              <a:cs typeface="Calibri"/>
              <a:sym typeface="Calibri"/>
            </a:endParaRPr>
          </a:p>
        </p:txBody>
      </p:sp>
      <p:sp>
        <p:nvSpPr>
          <p:cNvPr id="192" name="Google Shape;192;p7"/>
          <p:cNvSpPr txBox="1"/>
          <p:nvPr/>
        </p:nvSpPr>
        <p:spPr>
          <a:xfrm>
            <a:off x="822960"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Gross operating profit: what running the place leaves.</a:t>
            </a:r>
            <a:endParaRPr b="0" i="0" sz="1150" u="none" cap="none" strike="noStrike">
              <a:solidFill>
                <a:schemeClr val="dk1"/>
              </a:solidFill>
              <a:latin typeface="Calibri"/>
              <a:ea typeface="Calibri"/>
              <a:cs typeface="Calibri"/>
              <a:sym typeface="Calibri"/>
            </a:endParaRPr>
          </a:p>
        </p:txBody>
      </p:sp>
      <p:sp>
        <p:nvSpPr>
          <p:cNvPr id="193" name="Google Shape;193;p7"/>
          <p:cNvSpPr/>
          <p:nvPr/>
        </p:nvSpPr>
        <p:spPr>
          <a:xfrm>
            <a:off x="4322978"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txBox="1"/>
          <p:nvPr/>
        </p:nvSpPr>
        <p:spPr>
          <a:xfrm>
            <a:off x="4597298"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05</a:t>
            </a:r>
            <a:endParaRPr b="0" i="0" sz="1600" u="none" cap="none" strike="noStrike">
              <a:solidFill>
                <a:schemeClr val="dk1"/>
              </a:solidFill>
              <a:latin typeface="Calibri"/>
              <a:ea typeface="Calibri"/>
              <a:cs typeface="Calibri"/>
              <a:sym typeface="Calibri"/>
            </a:endParaRPr>
          </a:p>
        </p:txBody>
      </p:sp>
      <p:sp>
        <p:nvSpPr>
          <p:cNvPr id="195" name="Google Shape;195;p7"/>
          <p:cNvSpPr/>
          <p:nvPr/>
        </p:nvSpPr>
        <p:spPr>
          <a:xfrm>
            <a:off x="7173773"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ank.png" id="196" name="Google Shape;196;p7"/>
          <p:cNvPicPr preferRelativeResize="0"/>
          <p:nvPr/>
        </p:nvPicPr>
        <p:blipFill rotWithShape="1">
          <a:blip r:embed="rId8">
            <a:alphaModFix/>
          </a:blip>
          <a:srcRect b="0" l="0" r="0" t="0"/>
          <a:stretch/>
        </p:blipFill>
        <p:spPr>
          <a:xfrm>
            <a:off x="7266310" y="4541093"/>
            <a:ext cx="235549" cy="235549"/>
          </a:xfrm>
          <a:prstGeom prst="rect">
            <a:avLst/>
          </a:prstGeom>
          <a:noFill/>
          <a:ln>
            <a:noFill/>
          </a:ln>
        </p:spPr>
      </p:pic>
      <p:sp>
        <p:nvSpPr>
          <p:cNvPr id="197" name="Google Shape;197;p7"/>
          <p:cNvSpPr txBox="1"/>
          <p:nvPr/>
        </p:nvSpPr>
        <p:spPr>
          <a:xfrm>
            <a:off x="4597298"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NOI</a:t>
            </a:r>
            <a:endParaRPr b="0" i="0" sz="1700" u="none" cap="none" strike="noStrike">
              <a:solidFill>
                <a:schemeClr val="dk1"/>
              </a:solidFill>
              <a:latin typeface="Calibri"/>
              <a:ea typeface="Calibri"/>
              <a:cs typeface="Calibri"/>
              <a:sym typeface="Calibri"/>
            </a:endParaRPr>
          </a:p>
        </p:txBody>
      </p:sp>
      <p:sp>
        <p:nvSpPr>
          <p:cNvPr id="198" name="Google Shape;198;p7"/>
          <p:cNvSpPr txBox="1"/>
          <p:nvPr/>
        </p:nvSpPr>
        <p:spPr>
          <a:xfrm>
            <a:off x="4597298"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Net operating income: what a buyer prices the property on.</a:t>
            </a:r>
            <a:endParaRPr b="0" i="0" sz="1150" u="none" cap="none" strike="noStrike">
              <a:solidFill>
                <a:schemeClr val="dk1"/>
              </a:solidFill>
              <a:latin typeface="Calibri"/>
              <a:ea typeface="Calibri"/>
              <a:cs typeface="Calibri"/>
              <a:sym typeface="Calibri"/>
            </a:endParaRPr>
          </a:p>
        </p:txBody>
      </p:sp>
      <p:sp>
        <p:nvSpPr>
          <p:cNvPr id="199" name="Google Shape;199;p7"/>
          <p:cNvSpPr/>
          <p:nvPr/>
        </p:nvSpPr>
        <p:spPr>
          <a:xfrm>
            <a:off x="8097317"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txBox="1"/>
          <p:nvPr/>
        </p:nvSpPr>
        <p:spPr>
          <a:xfrm>
            <a:off x="8371637"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06</a:t>
            </a:r>
            <a:endParaRPr b="0" i="0" sz="1600" u="none" cap="none" strike="noStrike">
              <a:solidFill>
                <a:schemeClr val="dk1"/>
              </a:solidFill>
              <a:latin typeface="Calibri"/>
              <a:ea typeface="Calibri"/>
              <a:cs typeface="Calibri"/>
              <a:sym typeface="Calibri"/>
            </a:endParaRPr>
          </a:p>
        </p:txBody>
      </p:sp>
      <p:sp>
        <p:nvSpPr>
          <p:cNvPr id="201" name="Google Shape;201;p7"/>
          <p:cNvSpPr/>
          <p:nvPr/>
        </p:nvSpPr>
        <p:spPr>
          <a:xfrm>
            <a:off x="10948111"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arrow-circle-right.png" id="202" name="Google Shape;202;p7"/>
          <p:cNvPicPr preferRelativeResize="0"/>
          <p:nvPr/>
        </p:nvPicPr>
        <p:blipFill rotWithShape="1">
          <a:blip r:embed="rId9">
            <a:alphaModFix/>
          </a:blip>
          <a:srcRect b="0" l="0" r="0" t="0"/>
          <a:stretch/>
        </p:blipFill>
        <p:spPr>
          <a:xfrm>
            <a:off x="11040648" y="4541093"/>
            <a:ext cx="235549" cy="235549"/>
          </a:xfrm>
          <a:prstGeom prst="rect">
            <a:avLst/>
          </a:prstGeom>
          <a:noFill/>
          <a:ln>
            <a:noFill/>
          </a:ln>
        </p:spPr>
      </p:pic>
      <p:sp>
        <p:nvSpPr>
          <p:cNvPr id="203" name="Google Shape;203;p7"/>
          <p:cNvSpPr txBox="1"/>
          <p:nvPr/>
        </p:nvSpPr>
        <p:spPr>
          <a:xfrm>
            <a:off x="8371637"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Flow-through</a:t>
            </a:r>
            <a:endParaRPr b="0" i="0" sz="1700" u="none" cap="none" strike="noStrike">
              <a:solidFill>
                <a:schemeClr val="dk1"/>
              </a:solidFill>
              <a:latin typeface="Calibri"/>
              <a:ea typeface="Calibri"/>
              <a:cs typeface="Calibri"/>
              <a:sym typeface="Calibri"/>
            </a:endParaRPr>
          </a:p>
        </p:txBody>
      </p:sp>
      <p:sp>
        <p:nvSpPr>
          <p:cNvPr id="204" name="Google Shape;204;p7"/>
          <p:cNvSpPr txBox="1"/>
          <p:nvPr/>
        </p:nvSpPr>
        <p:spPr>
          <a:xfrm>
            <a:off x="8371637"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How much of each extra dollar of revenue reaches profit.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09" name="Shape 209"/>
        <p:cNvGrpSpPr/>
        <p:nvPr/>
      </p:nvGrpSpPr>
      <p:grpSpPr>
        <a:xfrm>
          <a:off x="0" y="0"/>
          <a:ext cx="0" cy="0"/>
          <a:chOff x="0" y="0"/>
          <a:chExt cx="0" cy="0"/>
        </a:xfrm>
      </p:grpSpPr>
      <p:sp>
        <p:nvSpPr>
          <p:cNvPr id="210" name="Google Shape;210;p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sp>
        <p:nvSpPr>
          <p:cNvPr id="211" name="Google Shape;211;p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The profit ladder: three numbers, top to bottom</a:t>
            </a:r>
            <a:endParaRPr b="0" i="0" sz="3000" u="none" cap="none" strike="noStrike">
              <a:solidFill>
                <a:schemeClr val="dk1"/>
              </a:solidFill>
              <a:latin typeface="Calibri"/>
              <a:ea typeface="Calibri"/>
              <a:cs typeface="Calibri"/>
              <a:sym typeface="Calibri"/>
            </a:endParaRPr>
          </a:p>
        </p:txBody>
      </p:sp>
      <p:sp>
        <p:nvSpPr>
          <p:cNvPr id="212" name="Google Shape;212;p8"/>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The order revenue falls through on a hotel P&amp;L, from total revenue down to NOI, and where each cost is deducted.</a:t>
            </a:r>
            <a:endParaRPr b="0" i="0" sz="1400" u="none" cap="none" strike="noStrike">
              <a:solidFill>
                <a:schemeClr val="dk1"/>
              </a:solidFill>
              <a:latin typeface="Calibri"/>
              <a:ea typeface="Calibri"/>
              <a:cs typeface="Calibri"/>
              <a:sym typeface="Calibri"/>
            </a:endParaRPr>
          </a:p>
        </p:txBody>
      </p:sp>
      <p:pic>
        <p:nvPicPr>
          <p:cNvPr descr="/home/claude/work/renderer/brand/wordmark.png" id="213" name="Google Shape;213;p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14" name="Google Shape;214;p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06 / 65</a:t>
            </a:r>
            <a:endParaRPr b="0" i="0" sz="900" u="none" cap="none" strike="noStrike">
              <a:solidFill>
                <a:schemeClr val="dk1"/>
              </a:solidFill>
              <a:latin typeface="Calibri"/>
              <a:ea typeface="Calibri"/>
              <a:cs typeface="Calibri"/>
              <a:sym typeface="Calibri"/>
            </a:endParaRPr>
          </a:p>
        </p:txBody>
      </p:sp>
      <p:sp>
        <p:nvSpPr>
          <p:cNvPr id="215" name="Google Shape;215;p8"/>
          <p:cNvSpPr/>
          <p:nvPr/>
        </p:nvSpPr>
        <p:spPr>
          <a:xfrm>
            <a:off x="548640" y="1874520"/>
            <a:ext cx="3182112" cy="2651760"/>
          </a:xfrm>
          <a:prstGeom prst="roundRect">
            <a:avLst>
              <a:gd fmla="val 4138"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822960" y="2221992"/>
            <a:ext cx="512064" cy="512064"/>
          </a:xfrm>
          <a:prstGeom prst="roundRect">
            <a:avLst>
              <a:gd fmla="val 1964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dollar-circle.png" id="217" name="Google Shape;217;p8"/>
          <p:cNvPicPr preferRelativeResize="0"/>
          <p:nvPr/>
        </p:nvPicPr>
        <p:blipFill rotWithShape="1">
          <a:blip r:embed="rId4">
            <a:alphaModFix/>
          </a:blip>
          <a:srcRect b="0" l="0" r="0" t="0"/>
          <a:stretch/>
        </p:blipFill>
        <p:spPr>
          <a:xfrm>
            <a:off x="935614" y="2334646"/>
            <a:ext cx="286756" cy="286756"/>
          </a:xfrm>
          <a:prstGeom prst="rect">
            <a:avLst/>
          </a:prstGeom>
          <a:noFill/>
          <a:ln>
            <a:noFill/>
          </a:ln>
        </p:spPr>
      </p:pic>
      <p:sp>
        <p:nvSpPr>
          <p:cNvPr id="218" name="Google Shape;218;p8"/>
          <p:cNvSpPr txBox="1"/>
          <p:nvPr/>
        </p:nvSpPr>
        <p:spPr>
          <a:xfrm>
            <a:off x="822960" y="2916936"/>
            <a:ext cx="2633472" cy="38404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900"/>
              <a:buFont typeface="Inter"/>
              <a:buNone/>
            </a:pPr>
            <a:r>
              <a:rPr b="1" i="0" lang="en-US" sz="1900" u="none" cap="none" strike="noStrike">
                <a:solidFill>
                  <a:srgbClr val="171717"/>
                </a:solidFill>
                <a:latin typeface="Inter"/>
                <a:ea typeface="Inter"/>
                <a:cs typeface="Inter"/>
                <a:sym typeface="Inter"/>
              </a:rPr>
              <a:t>1 · Total revenue</a:t>
            </a:r>
            <a:endParaRPr b="0" i="0" sz="1900" u="none" cap="none" strike="noStrike">
              <a:solidFill>
                <a:schemeClr val="dk1"/>
              </a:solidFill>
              <a:latin typeface="Calibri"/>
              <a:ea typeface="Calibri"/>
              <a:cs typeface="Calibri"/>
              <a:sym typeface="Calibri"/>
            </a:endParaRPr>
          </a:p>
        </p:txBody>
      </p:sp>
      <p:sp>
        <p:nvSpPr>
          <p:cNvPr id="219" name="Google Shape;219;p8"/>
          <p:cNvSpPr txBox="1"/>
          <p:nvPr/>
        </p:nvSpPr>
        <p:spPr>
          <a:xfrm>
            <a:off x="822960" y="3355848"/>
            <a:ext cx="2633472" cy="1005840"/>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Everything guests spend: rooms, spa, restaurant. Lakeside Lodge, September: $600,000.</a:t>
            </a:r>
            <a:endParaRPr b="0" i="0" sz="1150" u="none" cap="none" strike="noStrike">
              <a:solidFill>
                <a:schemeClr val="dk1"/>
              </a:solidFill>
              <a:latin typeface="Calibri"/>
              <a:ea typeface="Calibri"/>
              <a:cs typeface="Calibri"/>
              <a:sym typeface="Calibri"/>
            </a:endParaRPr>
          </a:p>
        </p:txBody>
      </p:sp>
      <p:sp>
        <p:nvSpPr>
          <p:cNvPr id="220" name="Google Shape;220;p8"/>
          <p:cNvSpPr/>
          <p:nvPr/>
        </p:nvSpPr>
        <p:spPr>
          <a:xfrm>
            <a:off x="4503420" y="1874520"/>
            <a:ext cx="3182112" cy="2651760"/>
          </a:xfrm>
          <a:prstGeom prst="roundRect">
            <a:avLst>
              <a:gd fmla="val 4138"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4777740" y="2221992"/>
            <a:ext cx="512064" cy="512064"/>
          </a:xfrm>
          <a:prstGeom prst="roundRect">
            <a:avLst>
              <a:gd fmla="val 1964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pie-chart.png" id="222" name="Google Shape;222;p8"/>
          <p:cNvPicPr preferRelativeResize="0"/>
          <p:nvPr/>
        </p:nvPicPr>
        <p:blipFill rotWithShape="1">
          <a:blip r:embed="rId5">
            <a:alphaModFix/>
          </a:blip>
          <a:srcRect b="0" l="0" r="0" t="0"/>
          <a:stretch/>
        </p:blipFill>
        <p:spPr>
          <a:xfrm>
            <a:off x="4890394" y="2334646"/>
            <a:ext cx="286756" cy="286756"/>
          </a:xfrm>
          <a:prstGeom prst="rect">
            <a:avLst/>
          </a:prstGeom>
          <a:noFill/>
          <a:ln>
            <a:noFill/>
          </a:ln>
        </p:spPr>
      </p:pic>
      <p:sp>
        <p:nvSpPr>
          <p:cNvPr id="223" name="Google Shape;223;p8"/>
          <p:cNvSpPr txBox="1"/>
          <p:nvPr/>
        </p:nvSpPr>
        <p:spPr>
          <a:xfrm>
            <a:off x="4777740" y="2916936"/>
            <a:ext cx="2633472" cy="38404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900"/>
              <a:buFont typeface="Inter"/>
              <a:buNone/>
            </a:pPr>
            <a:r>
              <a:rPr b="1" i="0" lang="en-US" sz="1900" u="none" cap="none" strike="noStrike">
                <a:solidFill>
                  <a:srgbClr val="171717"/>
                </a:solidFill>
                <a:latin typeface="Inter"/>
                <a:ea typeface="Inter"/>
                <a:cs typeface="Inter"/>
                <a:sym typeface="Inter"/>
              </a:rPr>
              <a:t>2 · GOP</a:t>
            </a:r>
            <a:endParaRPr b="0" i="0" sz="1900" u="none" cap="none" strike="noStrike">
              <a:solidFill>
                <a:schemeClr val="dk1"/>
              </a:solidFill>
              <a:latin typeface="Calibri"/>
              <a:ea typeface="Calibri"/>
              <a:cs typeface="Calibri"/>
              <a:sym typeface="Calibri"/>
            </a:endParaRPr>
          </a:p>
        </p:txBody>
      </p:sp>
      <p:sp>
        <p:nvSpPr>
          <p:cNvPr id="224" name="Google Shape;224;p8"/>
          <p:cNvSpPr txBox="1"/>
          <p:nvPr/>
        </p:nvSpPr>
        <p:spPr>
          <a:xfrm>
            <a:off x="4777740" y="3355848"/>
            <a:ext cx="2633472" cy="1005840"/>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Gross operating profit: what is left after the cost of running the place. $175,000.</a:t>
            </a:r>
            <a:endParaRPr b="0" i="0" sz="1150" u="none" cap="none" strike="noStrike">
              <a:solidFill>
                <a:schemeClr val="dk1"/>
              </a:solidFill>
              <a:latin typeface="Calibri"/>
              <a:ea typeface="Calibri"/>
              <a:cs typeface="Calibri"/>
              <a:sym typeface="Calibri"/>
            </a:endParaRPr>
          </a:p>
        </p:txBody>
      </p:sp>
      <p:sp>
        <p:nvSpPr>
          <p:cNvPr id="225" name="Google Shape;225;p8"/>
          <p:cNvSpPr/>
          <p:nvPr/>
        </p:nvSpPr>
        <p:spPr>
          <a:xfrm>
            <a:off x="8458200" y="1874520"/>
            <a:ext cx="3182112" cy="2651760"/>
          </a:xfrm>
          <a:prstGeom prst="roundRect">
            <a:avLst>
              <a:gd fmla="val 4138"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8732520" y="2221992"/>
            <a:ext cx="512064" cy="512064"/>
          </a:xfrm>
          <a:prstGeom prst="roundRect">
            <a:avLst>
              <a:gd fmla="val 1964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ank.png" id="227" name="Google Shape;227;p8"/>
          <p:cNvPicPr preferRelativeResize="0"/>
          <p:nvPr/>
        </p:nvPicPr>
        <p:blipFill rotWithShape="1">
          <a:blip r:embed="rId6">
            <a:alphaModFix/>
          </a:blip>
          <a:srcRect b="0" l="0" r="0" t="0"/>
          <a:stretch/>
        </p:blipFill>
        <p:spPr>
          <a:xfrm>
            <a:off x="8845174" y="2334646"/>
            <a:ext cx="286756" cy="286756"/>
          </a:xfrm>
          <a:prstGeom prst="rect">
            <a:avLst/>
          </a:prstGeom>
          <a:noFill/>
          <a:ln>
            <a:noFill/>
          </a:ln>
        </p:spPr>
      </p:pic>
      <p:sp>
        <p:nvSpPr>
          <p:cNvPr id="228" name="Google Shape;228;p8"/>
          <p:cNvSpPr txBox="1"/>
          <p:nvPr/>
        </p:nvSpPr>
        <p:spPr>
          <a:xfrm>
            <a:off x="8732520" y="2916936"/>
            <a:ext cx="2633472" cy="38404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900"/>
              <a:buFont typeface="Inter"/>
              <a:buNone/>
            </a:pPr>
            <a:r>
              <a:rPr b="1" i="0" lang="en-US" sz="1900" u="none" cap="none" strike="noStrike">
                <a:solidFill>
                  <a:srgbClr val="171717"/>
                </a:solidFill>
                <a:latin typeface="Inter"/>
                <a:ea typeface="Inter"/>
                <a:cs typeface="Inter"/>
                <a:sym typeface="Inter"/>
              </a:rPr>
              <a:t>3 · NOI</a:t>
            </a:r>
            <a:endParaRPr b="0" i="0" sz="1900" u="none" cap="none" strike="noStrike">
              <a:solidFill>
                <a:schemeClr val="dk1"/>
              </a:solidFill>
              <a:latin typeface="Calibri"/>
              <a:ea typeface="Calibri"/>
              <a:cs typeface="Calibri"/>
              <a:sym typeface="Calibri"/>
            </a:endParaRPr>
          </a:p>
        </p:txBody>
      </p:sp>
      <p:sp>
        <p:nvSpPr>
          <p:cNvPr id="229" name="Google Shape;229;p8"/>
          <p:cNvSpPr txBox="1"/>
          <p:nvPr/>
        </p:nvSpPr>
        <p:spPr>
          <a:xfrm>
            <a:off x="8732520" y="3355848"/>
            <a:ext cx="2633472" cy="1005840"/>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Net operating income: after the owner's fixed costs. The buyer's number. $120,000.</a:t>
            </a:r>
            <a:endParaRPr b="0" i="0" sz="1150" u="none" cap="none" strike="noStrike">
              <a:solidFill>
                <a:schemeClr val="dk1"/>
              </a:solidFill>
              <a:latin typeface="Calibri"/>
              <a:ea typeface="Calibri"/>
              <a:cs typeface="Calibri"/>
              <a:sym typeface="Calibri"/>
            </a:endParaRPr>
          </a:p>
        </p:txBody>
      </p:sp>
      <p:pic>
        <p:nvPicPr>
          <p:cNvPr descr="/home/claude/work/renderer/icons/arrow-right.png" id="230" name="Google Shape;230;p8"/>
          <p:cNvPicPr preferRelativeResize="0"/>
          <p:nvPr/>
        </p:nvPicPr>
        <p:blipFill rotWithShape="1">
          <a:blip r:embed="rId7">
            <a:alphaModFix/>
          </a:blip>
          <a:srcRect b="0" l="0" r="0" t="0"/>
          <a:stretch/>
        </p:blipFill>
        <p:spPr>
          <a:xfrm>
            <a:off x="3950208" y="3026664"/>
            <a:ext cx="347472" cy="347472"/>
          </a:xfrm>
          <a:prstGeom prst="rect">
            <a:avLst/>
          </a:prstGeom>
          <a:noFill/>
          <a:ln>
            <a:noFill/>
          </a:ln>
        </p:spPr>
      </p:pic>
      <p:pic>
        <p:nvPicPr>
          <p:cNvPr descr="/home/claude/work/renderer/icons/arrow-right.png" id="231" name="Google Shape;231;p8"/>
          <p:cNvPicPr preferRelativeResize="0"/>
          <p:nvPr/>
        </p:nvPicPr>
        <p:blipFill rotWithShape="1">
          <a:blip r:embed="rId7">
            <a:alphaModFix/>
          </a:blip>
          <a:srcRect b="0" l="0" r="0" t="0"/>
          <a:stretch/>
        </p:blipFill>
        <p:spPr>
          <a:xfrm>
            <a:off x="7904988" y="3026664"/>
            <a:ext cx="347472" cy="347472"/>
          </a:xfrm>
          <a:prstGeom prst="rect">
            <a:avLst/>
          </a:prstGeom>
          <a:noFill/>
          <a:ln>
            <a:noFill/>
          </a:ln>
        </p:spPr>
      </p:pic>
      <p:sp>
        <p:nvSpPr>
          <p:cNvPr id="232" name="Google Shape;232;p8"/>
          <p:cNvSpPr txBox="1"/>
          <p:nvPr/>
        </p:nvSpPr>
        <p:spPr>
          <a:xfrm>
            <a:off x="548640" y="4892040"/>
            <a:ext cx="7406640" cy="7315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737373"/>
              </a:buClr>
              <a:buSzPts val="1400"/>
              <a:buFont typeface="Inter"/>
              <a:buNone/>
            </a:pPr>
            <a:r>
              <a:rPr b="0" i="0" lang="en-US" sz="1400" u="none" cap="none" strike="noStrike">
                <a:solidFill>
                  <a:srgbClr val="737373"/>
                </a:solidFill>
                <a:latin typeface="Inter"/>
                <a:ea typeface="Inter"/>
                <a:cs typeface="Inter"/>
                <a:sym typeface="Inter"/>
              </a:rPr>
              <a:t>When an owner says “profit”, it is one of these three. Block 1 walks down the ladder with Lakeside Lodge's September, and asks which rung a number sits on before reacting to it.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37" name="Shape 237"/>
        <p:cNvGrpSpPr/>
        <p:nvPr/>
      </p:nvGrpSpPr>
      <p:grpSpPr>
        <a:xfrm>
          <a:off x="0" y="0"/>
          <a:ext cx="0" cy="0"/>
          <a:chOff x="0" y="0"/>
          <a:chExt cx="0" cy="0"/>
        </a:xfrm>
      </p:grpSpPr>
      <p:sp>
        <p:nvSpPr>
          <p:cNvPr id="238" name="Google Shape;238;p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sp>
        <p:nvSpPr>
          <p:cNvPr id="239" name="Google Shape;239;p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When you hear a number: five questions</a:t>
            </a:r>
            <a:endParaRPr b="0" i="0" sz="3000" u="none" cap="none" strike="noStrike">
              <a:solidFill>
                <a:schemeClr val="dk1"/>
              </a:solidFill>
              <a:latin typeface="Calibri"/>
              <a:ea typeface="Calibri"/>
              <a:cs typeface="Calibri"/>
              <a:sym typeface="Calibri"/>
            </a:endParaRPr>
          </a:p>
        </p:txBody>
      </p:sp>
      <p:sp>
        <p:nvSpPr>
          <p:cNvPr id="240" name="Google Shape;240;p9"/>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A habit, not a checklist to memorise. Before you react to a number an owner quotes, find out which number it is.</a:t>
            </a:r>
            <a:endParaRPr b="0" i="0" sz="1400" u="none" cap="none" strike="noStrike">
              <a:solidFill>
                <a:schemeClr val="dk1"/>
              </a:solidFill>
              <a:latin typeface="Calibri"/>
              <a:ea typeface="Calibri"/>
              <a:cs typeface="Calibri"/>
              <a:sym typeface="Calibri"/>
            </a:endParaRPr>
          </a:p>
        </p:txBody>
      </p:sp>
      <p:pic>
        <p:nvPicPr>
          <p:cNvPr descr="/home/claude/work/renderer/brand/wordmark.png" id="241" name="Google Shape;241;p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42" name="Google Shape;242;p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07 / 65</a:t>
            </a:r>
            <a:endParaRPr b="0" i="0" sz="900" u="none" cap="none" strike="noStrike">
              <a:solidFill>
                <a:schemeClr val="dk1"/>
              </a:solidFill>
              <a:latin typeface="Calibri"/>
              <a:ea typeface="Calibri"/>
              <a:cs typeface="Calibri"/>
              <a:sym typeface="Calibri"/>
            </a:endParaRPr>
          </a:p>
        </p:txBody>
      </p:sp>
      <p:sp>
        <p:nvSpPr>
          <p:cNvPr id="243" name="Google Shape;243;p9"/>
          <p:cNvSpPr/>
          <p:nvPr/>
        </p:nvSpPr>
        <p:spPr>
          <a:xfrm>
            <a:off x="548640" y="1920240"/>
            <a:ext cx="11094415" cy="782726"/>
          </a:xfrm>
          <a:prstGeom prst="roundRect">
            <a:avLst>
              <a:gd fmla="val 1401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txBox="1"/>
          <p:nvPr/>
        </p:nvSpPr>
        <p:spPr>
          <a:xfrm>
            <a:off x="804672" y="2037283"/>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1</a:t>
            </a:r>
            <a:endParaRPr b="0" i="0" sz="1600" u="none" cap="none" strike="noStrike">
              <a:solidFill>
                <a:schemeClr val="dk1"/>
              </a:solidFill>
              <a:latin typeface="Calibri"/>
              <a:ea typeface="Calibri"/>
              <a:cs typeface="Calibri"/>
              <a:sym typeface="Calibri"/>
            </a:endParaRPr>
          </a:p>
        </p:txBody>
      </p:sp>
      <p:sp>
        <p:nvSpPr>
          <p:cNvPr id="245" name="Google Shape;245;p9"/>
          <p:cNvSpPr/>
          <p:nvPr/>
        </p:nvSpPr>
        <p:spPr>
          <a:xfrm>
            <a:off x="1280160" y="21012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ome.png" id="246" name="Google Shape;246;p9"/>
          <p:cNvPicPr preferRelativeResize="0"/>
          <p:nvPr/>
        </p:nvPicPr>
        <p:blipFill rotWithShape="1">
          <a:blip r:embed="rId4">
            <a:alphaModFix/>
          </a:blip>
          <a:srcRect b="0" l="0" r="0" t="0"/>
          <a:stretch/>
        </p:blipFill>
        <p:spPr>
          <a:xfrm>
            <a:off x="1372697" y="2193828"/>
            <a:ext cx="235549" cy="235549"/>
          </a:xfrm>
          <a:prstGeom prst="rect">
            <a:avLst/>
          </a:prstGeom>
          <a:noFill/>
          <a:ln>
            <a:noFill/>
          </a:ln>
        </p:spPr>
      </p:pic>
      <p:sp>
        <p:nvSpPr>
          <p:cNvPr id="247" name="Google Shape;247;p9"/>
          <p:cNvSpPr txBox="1"/>
          <p:nvPr/>
        </p:nvSpPr>
        <p:spPr>
          <a:xfrm>
            <a:off x="1975104" y="2039112"/>
            <a:ext cx="3566160"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Rooms, or total?</a:t>
            </a:r>
            <a:endParaRPr b="0" i="0" sz="1400" u="none" cap="none" strike="noStrike">
              <a:solidFill>
                <a:schemeClr val="dk1"/>
              </a:solidFill>
              <a:latin typeface="Calibri"/>
              <a:ea typeface="Calibri"/>
              <a:cs typeface="Calibri"/>
              <a:sym typeface="Calibri"/>
            </a:endParaRPr>
          </a:p>
        </p:txBody>
      </p:sp>
      <p:sp>
        <p:nvSpPr>
          <p:cNvPr id="248" name="Google Shape;248;p9"/>
          <p:cNvSpPr txBox="1"/>
          <p:nvPr/>
        </p:nvSpPr>
        <p:spPr>
          <a:xfrm>
            <a:off x="5632704" y="2039112"/>
            <a:ext cx="5754319"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“Revenue is up” can mean room revenue or everything. Lakeside Lodge's rooms are $360,000; its month is $600,000.</a:t>
            </a:r>
            <a:endParaRPr b="0" i="0" sz="1100" u="none" cap="none" strike="noStrike">
              <a:solidFill>
                <a:schemeClr val="dk1"/>
              </a:solidFill>
              <a:latin typeface="Calibri"/>
              <a:ea typeface="Calibri"/>
              <a:cs typeface="Calibri"/>
              <a:sym typeface="Calibri"/>
            </a:endParaRPr>
          </a:p>
        </p:txBody>
      </p:sp>
      <p:sp>
        <p:nvSpPr>
          <p:cNvPr id="249" name="Google Shape;249;p9"/>
          <p:cNvSpPr/>
          <p:nvPr/>
        </p:nvSpPr>
        <p:spPr>
          <a:xfrm>
            <a:off x="548640" y="2830982"/>
            <a:ext cx="11094415" cy="782726"/>
          </a:xfrm>
          <a:prstGeom prst="roundRect">
            <a:avLst>
              <a:gd fmla="val 1401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txBox="1"/>
          <p:nvPr/>
        </p:nvSpPr>
        <p:spPr>
          <a:xfrm>
            <a:off x="804672" y="2948026"/>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2</a:t>
            </a:r>
            <a:endParaRPr b="0" i="0" sz="1600" u="none" cap="none" strike="noStrike">
              <a:solidFill>
                <a:schemeClr val="dk1"/>
              </a:solidFill>
              <a:latin typeface="Calibri"/>
              <a:ea typeface="Calibri"/>
              <a:cs typeface="Calibri"/>
              <a:sym typeface="Calibri"/>
            </a:endParaRPr>
          </a:p>
        </p:txBody>
      </p:sp>
      <p:sp>
        <p:nvSpPr>
          <p:cNvPr id="251" name="Google Shape;251;p9"/>
          <p:cNvSpPr/>
          <p:nvPr/>
        </p:nvSpPr>
        <p:spPr>
          <a:xfrm>
            <a:off x="1280160" y="3012034"/>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key.png" id="252" name="Google Shape;252;p9"/>
          <p:cNvPicPr preferRelativeResize="0"/>
          <p:nvPr/>
        </p:nvPicPr>
        <p:blipFill rotWithShape="1">
          <a:blip r:embed="rId5">
            <a:alphaModFix/>
          </a:blip>
          <a:srcRect b="0" l="0" r="0" t="0"/>
          <a:stretch/>
        </p:blipFill>
        <p:spPr>
          <a:xfrm>
            <a:off x="1372697" y="3104571"/>
            <a:ext cx="235549" cy="235549"/>
          </a:xfrm>
          <a:prstGeom prst="rect">
            <a:avLst/>
          </a:prstGeom>
          <a:noFill/>
          <a:ln>
            <a:noFill/>
          </a:ln>
        </p:spPr>
      </p:pic>
      <p:sp>
        <p:nvSpPr>
          <p:cNvPr id="253" name="Google Shape;253;p9"/>
          <p:cNvSpPr txBox="1"/>
          <p:nvPr/>
        </p:nvSpPr>
        <p:spPr>
          <a:xfrm>
            <a:off x="1975104" y="2949854"/>
            <a:ext cx="3566160"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Sold, or available?</a:t>
            </a:r>
            <a:endParaRPr b="0" i="0" sz="1400" u="none" cap="none" strike="noStrike">
              <a:solidFill>
                <a:schemeClr val="dk1"/>
              </a:solidFill>
              <a:latin typeface="Calibri"/>
              <a:ea typeface="Calibri"/>
              <a:cs typeface="Calibri"/>
              <a:sym typeface="Calibri"/>
            </a:endParaRPr>
          </a:p>
        </p:txBody>
      </p:sp>
      <p:sp>
        <p:nvSpPr>
          <p:cNvPr id="254" name="Google Shape;254;p9"/>
          <p:cNvSpPr txBox="1"/>
          <p:nvPr/>
        </p:nvSpPr>
        <p:spPr>
          <a:xfrm>
            <a:off x="5632704" y="2949854"/>
            <a:ext cx="5754319"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Room revenue ÷ rooms sold is ADR. Room revenue ÷ rooms available is RevPAR. Same month, $300 or $240.</a:t>
            </a:r>
            <a:endParaRPr b="0" i="0" sz="1100" u="none" cap="none" strike="noStrike">
              <a:solidFill>
                <a:schemeClr val="dk1"/>
              </a:solidFill>
              <a:latin typeface="Calibri"/>
              <a:ea typeface="Calibri"/>
              <a:cs typeface="Calibri"/>
              <a:sym typeface="Calibri"/>
            </a:endParaRPr>
          </a:p>
        </p:txBody>
      </p:sp>
      <p:sp>
        <p:nvSpPr>
          <p:cNvPr id="255" name="Google Shape;255;p9"/>
          <p:cNvSpPr/>
          <p:nvPr/>
        </p:nvSpPr>
        <p:spPr>
          <a:xfrm>
            <a:off x="548640" y="3741725"/>
            <a:ext cx="11094415" cy="782726"/>
          </a:xfrm>
          <a:prstGeom prst="roundRect">
            <a:avLst>
              <a:gd fmla="val 1401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txBox="1"/>
          <p:nvPr/>
        </p:nvSpPr>
        <p:spPr>
          <a:xfrm>
            <a:off x="804672" y="3858768"/>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3</a:t>
            </a:r>
            <a:endParaRPr b="0" i="0" sz="1600" u="none" cap="none" strike="noStrike">
              <a:solidFill>
                <a:schemeClr val="dk1"/>
              </a:solidFill>
              <a:latin typeface="Calibri"/>
              <a:ea typeface="Calibri"/>
              <a:cs typeface="Calibri"/>
              <a:sym typeface="Calibri"/>
            </a:endParaRPr>
          </a:p>
        </p:txBody>
      </p:sp>
      <p:sp>
        <p:nvSpPr>
          <p:cNvPr id="257" name="Google Shape;257;p9"/>
          <p:cNvSpPr/>
          <p:nvPr/>
        </p:nvSpPr>
        <p:spPr>
          <a:xfrm>
            <a:off x="1280160" y="392277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ayers.png" id="258" name="Google Shape;258;p9"/>
          <p:cNvPicPr preferRelativeResize="0"/>
          <p:nvPr/>
        </p:nvPicPr>
        <p:blipFill rotWithShape="1">
          <a:blip r:embed="rId6">
            <a:alphaModFix/>
          </a:blip>
          <a:srcRect b="0" l="0" r="0" t="0"/>
          <a:stretch/>
        </p:blipFill>
        <p:spPr>
          <a:xfrm>
            <a:off x="1372697" y="4015313"/>
            <a:ext cx="235549" cy="235549"/>
          </a:xfrm>
          <a:prstGeom prst="rect">
            <a:avLst/>
          </a:prstGeom>
          <a:noFill/>
          <a:ln>
            <a:noFill/>
          </a:ln>
        </p:spPr>
      </p:pic>
      <p:sp>
        <p:nvSpPr>
          <p:cNvPr id="259" name="Google Shape;259;p9"/>
          <p:cNvSpPr txBox="1"/>
          <p:nvPr/>
        </p:nvSpPr>
        <p:spPr>
          <a:xfrm>
            <a:off x="1975104" y="3860597"/>
            <a:ext cx="3566160"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Which rung?</a:t>
            </a:r>
            <a:endParaRPr b="0" i="0" sz="1400" u="none" cap="none" strike="noStrike">
              <a:solidFill>
                <a:schemeClr val="dk1"/>
              </a:solidFill>
              <a:latin typeface="Calibri"/>
              <a:ea typeface="Calibri"/>
              <a:cs typeface="Calibri"/>
              <a:sym typeface="Calibri"/>
            </a:endParaRPr>
          </a:p>
        </p:txBody>
      </p:sp>
      <p:sp>
        <p:nvSpPr>
          <p:cNvPr id="260" name="Google Shape;260;p9"/>
          <p:cNvSpPr txBox="1"/>
          <p:nvPr/>
        </p:nvSpPr>
        <p:spPr>
          <a:xfrm>
            <a:off x="5632704" y="3860597"/>
            <a:ext cx="5754319"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Revenue, GOP or NOI. Lakeside Lodge's September is $600,000, $175,000 or $120,000 depending on which the owner means.</a:t>
            </a:r>
            <a:endParaRPr b="0" i="0" sz="1100" u="none" cap="none" strike="noStrike">
              <a:solidFill>
                <a:schemeClr val="dk1"/>
              </a:solidFill>
              <a:latin typeface="Calibri"/>
              <a:ea typeface="Calibri"/>
              <a:cs typeface="Calibri"/>
              <a:sym typeface="Calibri"/>
            </a:endParaRPr>
          </a:p>
        </p:txBody>
      </p:sp>
      <p:sp>
        <p:nvSpPr>
          <p:cNvPr id="261" name="Google Shape;261;p9"/>
          <p:cNvSpPr/>
          <p:nvPr/>
        </p:nvSpPr>
        <p:spPr>
          <a:xfrm>
            <a:off x="548640" y="4652467"/>
            <a:ext cx="11094415" cy="782726"/>
          </a:xfrm>
          <a:prstGeom prst="roundRect">
            <a:avLst>
              <a:gd fmla="val 1401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txBox="1"/>
          <p:nvPr/>
        </p:nvSpPr>
        <p:spPr>
          <a:xfrm>
            <a:off x="804672" y="4769510"/>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4</a:t>
            </a:r>
            <a:endParaRPr b="0" i="0" sz="1600" u="none" cap="none" strike="noStrike">
              <a:solidFill>
                <a:schemeClr val="dk1"/>
              </a:solidFill>
              <a:latin typeface="Calibri"/>
              <a:ea typeface="Calibri"/>
              <a:cs typeface="Calibri"/>
              <a:sym typeface="Calibri"/>
            </a:endParaRPr>
          </a:p>
        </p:txBody>
      </p:sp>
      <p:sp>
        <p:nvSpPr>
          <p:cNvPr id="263" name="Google Shape;263;p9"/>
          <p:cNvSpPr/>
          <p:nvPr/>
        </p:nvSpPr>
        <p:spPr>
          <a:xfrm>
            <a:off x="1280160" y="483351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rend-up.png" id="264" name="Google Shape;264;p9"/>
          <p:cNvPicPr preferRelativeResize="0"/>
          <p:nvPr/>
        </p:nvPicPr>
        <p:blipFill rotWithShape="1">
          <a:blip r:embed="rId7">
            <a:alphaModFix/>
          </a:blip>
          <a:srcRect b="0" l="0" r="0" t="0"/>
          <a:stretch/>
        </p:blipFill>
        <p:spPr>
          <a:xfrm>
            <a:off x="1372697" y="4926056"/>
            <a:ext cx="235549" cy="235549"/>
          </a:xfrm>
          <a:prstGeom prst="rect">
            <a:avLst/>
          </a:prstGeom>
          <a:noFill/>
          <a:ln>
            <a:noFill/>
          </a:ln>
        </p:spPr>
      </p:pic>
      <p:sp>
        <p:nvSpPr>
          <p:cNvPr id="265" name="Google Shape;265;p9"/>
          <p:cNvSpPr txBox="1"/>
          <p:nvPr/>
        </p:nvSpPr>
        <p:spPr>
          <a:xfrm>
            <a:off x="1975104" y="4771339"/>
            <a:ext cx="3566160"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level, or the change?</a:t>
            </a:r>
            <a:endParaRPr b="0" i="0" sz="1400" u="none" cap="none" strike="noStrike">
              <a:solidFill>
                <a:schemeClr val="dk1"/>
              </a:solidFill>
              <a:latin typeface="Calibri"/>
              <a:ea typeface="Calibri"/>
              <a:cs typeface="Calibri"/>
              <a:sym typeface="Calibri"/>
            </a:endParaRPr>
          </a:p>
        </p:txBody>
      </p:sp>
      <p:sp>
        <p:nvSpPr>
          <p:cNvPr id="266" name="Google Shape;266;p9"/>
          <p:cNvSpPr txBox="1"/>
          <p:nvPr/>
        </p:nvSpPr>
        <p:spPr>
          <a:xfrm>
            <a:off x="5632704" y="4771339"/>
            <a:ext cx="5754319"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A margin on the month is one thing; how much of the extra revenue reached profit is another. That is flow-through.</a:t>
            </a:r>
            <a:endParaRPr b="0" i="0" sz="1100" u="none" cap="none" strike="noStrike">
              <a:solidFill>
                <a:schemeClr val="dk1"/>
              </a:solidFill>
              <a:latin typeface="Calibri"/>
              <a:ea typeface="Calibri"/>
              <a:cs typeface="Calibri"/>
              <a:sym typeface="Calibri"/>
            </a:endParaRPr>
          </a:p>
        </p:txBody>
      </p:sp>
      <p:sp>
        <p:nvSpPr>
          <p:cNvPr id="267" name="Google Shape;267;p9"/>
          <p:cNvSpPr/>
          <p:nvPr/>
        </p:nvSpPr>
        <p:spPr>
          <a:xfrm>
            <a:off x="548640" y="5563210"/>
            <a:ext cx="11094415" cy="782726"/>
          </a:xfrm>
          <a:prstGeom prst="roundRect">
            <a:avLst>
              <a:gd fmla="val 1401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txBox="1"/>
          <p:nvPr/>
        </p:nvSpPr>
        <p:spPr>
          <a:xfrm>
            <a:off x="804672" y="5680253"/>
            <a:ext cx="365760" cy="5486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5</a:t>
            </a:r>
            <a:endParaRPr b="0" i="0" sz="1600" u="none" cap="none" strike="noStrike">
              <a:solidFill>
                <a:schemeClr val="dk1"/>
              </a:solidFill>
              <a:latin typeface="Calibri"/>
              <a:ea typeface="Calibri"/>
              <a:cs typeface="Calibri"/>
              <a:sym typeface="Calibri"/>
            </a:endParaRPr>
          </a:p>
        </p:txBody>
      </p:sp>
      <p:sp>
        <p:nvSpPr>
          <p:cNvPr id="269" name="Google Shape;269;p9"/>
          <p:cNvSpPr/>
          <p:nvPr/>
        </p:nvSpPr>
        <p:spPr>
          <a:xfrm>
            <a:off x="1280160" y="574426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eye-off.png" id="270" name="Google Shape;270;p9"/>
          <p:cNvPicPr preferRelativeResize="0"/>
          <p:nvPr/>
        </p:nvPicPr>
        <p:blipFill rotWithShape="1">
          <a:blip r:embed="rId8">
            <a:alphaModFix/>
          </a:blip>
          <a:srcRect b="0" l="0" r="0" t="0"/>
          <a:stretch/>
        </p:blipFill>
        <p:spPr>
          <a:xfrm>
            <a:off x="1372697" y="5836798"/>
            <a:ext cx="235549" cy="235549"/>
          </a:xfrm>
          <a:prstGeom prst="rect">
            <a:avLst/>
          </a:prstGeom>
          <a:noFill/>
          <a:ln>
            <a:noFill/>
          </a:ln>
        </p:spPr>
      </p:pic>
      <p:sp>
        <p:nvSpPr>
          <p:cNvPr id="271" name="Google Shape;271;p9"/>
          <p:cNvSpPr txBox="1"/>
          <p:nvPr/>
        </p:nvSpPr>
        <p:spPr>
          <a:xfrm>
            <a:off x="1975104" y="5682082"/>
            <a:ext cx="3566160"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What did they leave out?</a:t>
            </a:r>
            <a:endParaRPr b="0" i="0" sz="1400" u="none" cap="none" strike="noStrike">
              <a:solidFill>
                <a:schemeClr val="dk1"/>
              </a:solidFill>
              <a:latin typeface="Calibri"/>
              <a:ea typeface="Calibri"/>
              <a:cs typeface="Calibri"/>
              <a:sym typeface="Calibri"/>
            </a:endParaRPr>
          </a:p>
        </p:txBody>
      </p:sp>
      <p:sp>
        <p:nvSpPr>
          <p:cNvPr id="272" name="Google Shape;272;p9"/>
          <p:cNvSpPr txBox="1"/>
          <p:nvPr/>
        </p:nvSpPr>
        <p:spPr>
          <a:xfrm>
            <a:off x="5632704" y="5682082"/>
            <a:ext cx="5754319" cy="54498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“Basically full.” “Best summer yet.” “Rates are sort of everyone's job.” The qualifier is usually the question worth asking.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77" name="Shape 277"/>
        <p:cNvGrpSpPr/>
        <p:nvPr/>
      </p:nvGrpSpPr>
      <p:grpSpPr>
        <a:xfrm>
          <a:off x="0" y="0"/>
          <a:ext cx="0" cy="0"/>
          <a:chOff x="0" y="0"/>
          <a:chExt cx="0" cy="0"/>
        </a:xfrm>
      </p:grpSpPr>
      <p:sp>
        <p:nvSpPr>
          <p:cNvPr id="278" name="Google Shape;278;p1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pic>
        <p:nvPicPr>
          <p:cNvPr descr="/home/claude/work/renderer/brand/wordmark.png" id="279" name="Google Shape;279;p1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80" name="Google Shape;280;p1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08 / 65</a:t>
            </a:r>
            <a:endParaRPr b="0" i="0" sz="900" u="none" cap="none" strike="noStrike">
              <a:solidFill>
                <a:schemeClr val="dk1"/>
              </a:solidFill>
              <a:latin typeface="Calibri"/>
              <a:ea typeface="Calibri"/>
              <a:cs typeface="Calibri"/>
              <a:sym typeface="Calibri"/>
            </a:endParaRPr>
          </a:p>
        </p:txBody>
      </p:sp>
      <p:sp>
        <p:nvSpPr>
          <p:cNvPr id="281" name="Google Shape;281;p1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ADR</a:t>
            </a:r>
            <a:r>
              <a:rPr b="0" i="0" lang="en-US" sz="1700" u="none" cap="none" strike="noStrike">
                <a:solidFill>
                  <a:srgbClr val="004FAA"/>
                </a:solidFill>
                <a:latin typeface="Inter"/>
                <a:ea typeface="Inter"/>
                <a:cs typeface="Inter"/>
                <a:sym typeface="Inter"/>
              </a:rPr>
              <a:t>  average daily rate</a:t>
            </a:r>
            <a:endParaRPr b="0" i="0" sz="3000" u="none" cap="none" strike="noStrike">
              <a:solidFill>
                <a:schemeClr val="dk1"/>
              </a:solidFill>
              <a:latin typeface="Calibri"/>
              <a:ea typeface="Calibri"/>
              <a:cs typeface="Calibri"/>
              <a:sym typeface="Calibri"/>
            </a:endParaRPr>
          </a:p>
        </p:txBody>
      </p:sp>
      <p:sp>
        <p:nvSpPr>
          <p:cNvPr id="282" name="Google Shape;282;p10"/>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84" name="Google Shape;284;p10"/>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85" name="Google Shape;285;p10"/>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86" name="Google Shape;286;p10"/>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Room revenue divided by rooms sold — the average price a sold room actually went for.</a:t>
            </a:r>
            <a:endParaRPr b="0" i="0" sz="1150" u="none" cap="none" strike="noStrike">
              <a:solidFill>
                <a:schemeClr val="dk1"/>
              </a:solidFill>
              <a:latin typeface="Calibri"/>
              <a:ea typeface="Calibri"/>
              <a:cs typeface="Calibri"/>
              <a:sym typeface="Calibri"/>
            </a:endParaRPr>
          </a:p>
        </p:txBody>
      </p:sp>
      <p:sp>
        <p:nvSpPr>
          <p:cNvPr id="287" name="Google Shape;287;p10"/>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288" name="Google Shape;288;p10"/>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289" name="Google Shape;289;p10"/>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90" name="Google Shape;290;p10"/>
          <p:cNvSpPr txBox="1"/>
          <p:nvPr/>
        </p:nvSpPr>
        <p:spPr>
          <a:xfrm>
            <a:off x="1170432" y="369531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is the number they quote without being asked. Rate is the thing an owner feels most, and the first thing a bank or a buyer asks about.</a:t>
            </a:r>
            <a:endParaRPr b="0" i="0" sz="1150" u="none" cap="none" strike="noStrike">
              <a:solidFill>
                <a:schemeClr val="dk1"/>
              </a:solidFill>
              <a:latin typeface="Calibri"/>
              <a:ea typeface="Calibri"/>
              <a:cs typeface="Calibri"/>
              <a:sym typeface="Calibri"/>
            </a:endParaRPr>
          </a:p>
        </p:txBody>
      </p:sp>
      <p:sp>
        <p:nvSpPr>
          <p:cNvPr id="291" name="Google Shape;291;p10"/>
          <p:cNvSpPr/>
          <p:nvPr/>
        </p:nvSpPr>
        <p:spPr>
          <a:xfrm>
            <a:off x="548640" y="521951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292" name="Google Shape;292;p10"/>
          <p:cNvPicPr preferRelativeResize="0"/>
          <p:nvPr/>
        </p:nvPicPr>
        <p:blipFill rotWithShape="1">
          <a:blip r:embed="rId6">
            <a:alphaModFix/>
          </a:blip>
          <a:srcRect b="0" l="0" r="0" t="0"/>
          <a:stretch/>
        </p:blipFill>
        <p:spPr>
          <a:xfrm>
            <a:off x="641177" y="5312047"/>
            <a:ext cx="235549" cy="235549"/>
          </a:xfrm>
          <a:prstGeom prst="rect">
            <a:avLst/>
          </a:prstGeom>
          <a:noFill/>
          <a:ln>
            <a:noFill/>
          </a:ln>
        </p:spPr>
      </p:pic>
      <p:sp>
        <p:nvSpPr>
          <p:cNvPr id="293" name="Google Shape;293;p10"/>
          <p:cNvSpPr txBox="1"/>
          <p:nvPr/>
        </p:nvSpPr>
        <p:spPr>
          <a:xfrm>
            <a:off x="1170432" y="520122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94" name="Google Shape;294;p10"/>
          <p:cNvSpPr txBox="1"/>
          <p:nvPr/>
        </p:nvSpPr>
        <p:spPr>
          <a:xfrm>
            <a:off x="1170432" y="551211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Your ADR held up nicely this month — the question is whether the discounting on quiet nights is pulling it down.</a:t>
            </a:r>
            <a:endParaRPr b="0" i="0" sz="1150" u="none" cap="none" strike="noStrike">
              <a:solidFill>
                <a:schemeClr val="dk1"/>
              </a:solidFill>
              <a:latin typeface="Calibri"/>
              <a:ea typeface="Calibri"/>
              <a:cs typeface="Calibri"/>
              <a:sym typeface="Calibri"/>
            </a:endParaRPr>
          </a:p>
        </p:txBody>
      </p:sp>
      <p:sp>
        <p:nvSpPr>
          <p:cNvPr id="295" name="Google Shape;295;p10"/>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297" name="Google Shape;297;p10"/>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298" name="Google Shape;298;p10"/>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Room revenue ÷ Rooms sold</a:t>
            </a:r>
            <a:endParaRPr b="0" i="0" sz="1200" u="none" cap="none" strike="noStrike">
              <a:solidFill>
                <a:schemeClr val="dk1"/>
              </a:solidFill>
              <a:latin typeface="Calibri"/>
              <a:ea typeface="Calibri"/>
              <a:cs typeface="Calibri"/>
              <a:sym typeface="Calibri"/>
            </a:endParaRPr>
          </a:p>
        </p:txBody>
      </p:sp>
      <p:sp>
        <p:nvSpPr>
          <p:cNvPr id="299" name="Google Shape;299;p10"/>
          <p:cNvSpPr txBox="1"/>
          <p:nvPr/>
        </p:nvSpPr>
        <p:spPr>
          <a:xfrm>
            <a:off x="5989320" y="2532888"/>
            <a:ext cx="5379415" cy="54178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Lakeside Lodge sold </a:t>
            </a:r>
            <a:r>
              <a:rPr b="1" i="0" lang="en-US" sz="1100" u="none" cap="none" strike="noStrike">
                <a:solidFill>
                  <a:srgbClr val="404040"/>
                </a:solidFill>
                <a:latin typeface="Inter"/>
                <a:ea typeface="Inter"/>
                <a:cs typeface="Inter"/>
                <a:sym typeface="Inter"/>
              </a:rPr>
              <a:t>1,200</a:t>
            </a:r>
            <a:r>
              <a:rPr b="0" i="0" lang="en-US" sz="1100" u="none" cap="none" strike="noStrike">
                <a:solidFill>
                  <a:srgbClr val="404040"/>
                </a:solidFill>
                <a:latin typeface="Inter"/>
                <a:ea typeface="Inter"/>
                <a:cs typeface="Inter"/>
                <a:sym typeface="Inter"/>
              </a:rPr>
              <a:t> room nights in September, for </a:t>
            </a:r>
            <a:r>
              <a:rPr b="1" i="0" lang="en-US" sz="1100" u="none" cap="none" strike="noStrike">
                <a:solidFill>
                  <a:srgbClr val="404040"/>
                </a:solidFill>
                <a:latin typeface="Inter"/>
                <a:ea typeface="Inter"/>
                <a:cs typeface="Inter"/>
                <a:sym typeface="Inter"/>
              </a:rPr>
              <a:t>$360,000</a:t>
            </a:r>
            <a:r>
              <a:rPr b="0" i="0" lang="en-US" sz="1100" u="none" cap="none" strike="noStrike">
                <a:solidFill>
                  <a:srgbClr val="404040"/>
                </a:solidFill>
                <a:latin typeface="Inter"/>
                <a:ea typeface="Inter"/>
                <a:cs typeface="Inter"/>
                <a:sym typeface="Inter"/>
              </a:rPr>
              <a:t> of room revenue. What did a sold room go for, on average?</a:t>
            </a:r>
            <a:endParaRPr b="0" i="0" sz="1100" u="none" cap="none" strike="noStrike">
              <a:solidFill>
                <a:schemeClr val="dk1"/>
              </a:solidFill>
              <a:latin typeface="Calibri"/>
              <a:ea typeface="Calibri"/>
              <a:cs typeface="Calibri"/>
              <a:sym typeface="Calibri"/>
            </a:endParaRPr>
          </a:p>
        </p:txBody>
      </p:sp>
      <p:sp>
        <p:nvSpPr>
          <p:cNvPr id="300" name="Google Shape;300;p10"/>
          <p:cNvSpPr txBox="1"/>
          <p:nvPr/>
        </p:nvSpPr>
        <p:spPr>
          <a:xfrm>
            <a:off x="6172200" y="3129534"/>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ADR = $360,000 ÷ 1,200</a:t>
            </a:r>
            <a:endParaRPr b="0" i="0" sz="1100" u="none" cap="none" strike="noStrike">
              <a:solidFill>
                <a:schemeClr val="dk1"/>
              </a:solidFill>
              <a:latin typeface="Calibri"/>
              <a:ea typeface="Calibri"/>
              <a:cs typeface="Calibri"/>
              <a:sym typeface="Calibri"/>
            </a:endParaRPr>
          </a:p>
        </p:txBody>
      </p:sp>
      <p:sp>
        <p:nvSpPr>
          <p:cNvPr id="301" name="Google Shape;301;p10"/>
          <p:cNvSpPr/>
          <p:nvPr/>
        </p:nvSpPr>
        <p:spPr>
          <a:xfrm>
            <a:off x="5989320" y="3422142"/>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302" name="Google Shape;302;p10"/>
          <p:cNvPicPr preferRelativeResize="0"/>
          <p:nvPr/>
        </p:nvPicPr>
        <p:blipFill rotWithShape="1">
          <a:blip r:embed="rId8">
            <a:alphaModFix/>
          </a:blip>
          <a:srcRect b="0" l="0" r="0" t="0"/>
          <a:stretch/>
        </p:blipFill>
        <p:spPr>
          <a:xfrm>
            <a:off x="6117336" y="3486150"/>
            <a:ext cx="237744" cy="237744"/>
          </a:xfrm>
          <a:prstGeom prst="rect">
            <a:avLst/>
          </a:prstGeom>
          <a:noFill/>
          <a:ln>
            <a:noFill/>
          </a:ln>
        </p:spPr>
      </p:pic>
      <p:sp>
        <p:nvSpPr>
          <p:cNvPr id="303" name="Google Shape;303;p10"/>
          <p:cNvSpPr txBox="1"/>
          <p:nvPr/>
        </p:nvSpPr>
        <p:spPr>
          <a:xfrm>
            <a:off x="6464808" y="3422142"/>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ADR = $300</a:t>
            </a:r>
            <a:endParaRPr b="0" i="0" sz="1200" u="none" cap="none" strike="noStrike">
              <a:solidFill>
                <a:schemeClr val="dk1"/>
              </a:solidFill>
              <a:latin typeface="Calibri"/>
              <a:ea typeface="Calibri"/>
              <a:cs typeface="Calibri"/>
              <a:sym typeface="Calibri"/>
            </a:endParaRPr>
          </a:p>
        </p:txBody>
      </p:sp>
      <p:sp>
        <p:nvSpPr>
          <p:cNvPr id="304" name="Google Shape;304;p10"/>
          <p:cNvSpPr txBox="1"/>
          <p:nvPr/>
        </p:nvSpPr>
        <p:spPr>
          <a:xfrm>
            <a:off x="5989320" y="3897630"/>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SEPTEMBER AT LAKESIDE LODGE: THE NIGHTLY RATE</a:t>
            </a:r>
            <a:endParaRPr b="0" i="0" sz="900" u="none" cap="none" strike="noStrike">
              <a:solidFill>
                <a:schemeClr val="dk1"/>
              </a:solidFill>
              <a:latin typeface="Calibri"/>
              <a:ea typeface="Calibri"/>
              <a:cs typeface="Calibri"/>
              <a:sym typeface="Calibri"/>
            </a:endParaRPr>
          </a:p>
        </p:txBody>
      </p:sp>
      <p:sp>
        <p:nvSpPr>
          <p:cNvPr id="305" name="Google Shape;305;p10"/>
          <p:cNvSpPr txBox="1"/>
          <p:nvPr/>
        </p:nvSpPr>
        <p:spPr>
          <a:xfrm>
            <a:off x="5989320"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S</a:t>
            </a:r>
            <a:endParaRPr b="0" i="0" sz="850" u="none" cap="none" strike="noStrike">
              <a:solidFill>
                <a:schemeClr val="dk1"/>
              </a:solidFill>
              <a:latin typeface="Calibri"/>
              <a:ea typeface="Calibri"/>
              <a:cs typeface="Calibri"/>
              <a:sym typeface="Calibri"/>
            </a:endParaRPr>
          </a:p>
        </p:txBody>
      </p:sp>
      <p:sp>
        <p:nvSpPr>
          <p:cNvPr id="306" name="Google Shape;306;p10"/>
          <p:cNvSpPr txBox="1"/>
          <p:nvPr/>
        </p:nvSpPr>
        <p:spPr>
          <a:xfrm>
            <a:off x="6764339"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M</a:t>
            </a:r>
            <a:endParaRPr b="0" i="0" sz="850" u="none" cap="none" strike="noStrike">
              <a:solidFill>
                <a:schemeClr val="dk1"/>
              </a:solidFill>
              <a:latin typeface="Calibri"/>
              <a:ea typeface="Calibri"/>
              <a:cs typeface="Calibri"/>
              <a:sym typeface="Calibri"/>
            </a:endParaRPr>
          </a:p>
        </p:txBody>
      </p:sp>
      <p:sp>
        <p:nvSpPr>
          <p:cNvPr id="307" name="Google Shape;307;p10"/>
          <p:cNvSpPr txBox="1"/>
          <p:nvPr/>
        </p:nvSpPr>
        <p:spPr>
          <a:xfrm>
            <a:off x="7539359"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T</a:t>
            </a:r>
            <a:endParaRPr b="0" i="0" sz="850" u="none" cap="none" strike="noStrike">
              <a:solidFill>
                <a:schemeClr val="dk1"/>
              </a:solidFill>
              <a:latin typeface="Calibri"/>
              <a:ea typeface="Calibri"/>
              <a:cs typeface="Calibri"/>
              <a:sym typeface="Calibri"/>
            </a:endParaRPr>
          </a:p>
        </p:txBody>
      </p:sp>
      <p:sp>
        <p:nvSpPr>
          <p:cNvPr id="308" name="Google Shape;308;p10"/>
          <p:cNvSpPr txBox="1"/>
          <p:nvPr/>
        </p:nvSpPr>
        <p:spPr>
          <a:xfrm>
            <a:off x="8314378"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W</a:t>
            </a:r>
            <a:endParaRPr b="0" i="0" sz="850" u="none" cap="none" strike="noStrike">
              <a:solidFill>
                <a:schemeClr val="dk1"/>
              </a:solidFill>
              <a:latin typeface="Calibri"/>
              <a:ea typeface="Calibri"/>
              <a:cs typeface="Calibri"/>
              <a:sym typeface="Calibri"/>
            </a:endParaRPr>
          </a:p>
        </p:txBody>
      </p:sp>
      <p:sp>
        <p:nvSpPr>
          <p:cNvPr id="309" name="Google Shape;309;p10"/>
          <p:cNvSpPr txBox="1"/>
          <p:nvPr/>
        </p:nvSpPr>
        <p:spPr>
          <a:xfrm>
            <a:off x="9089397"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T</a:t>
            </a:r>
            <a:endParaRPr b="0" i="0" sz="850" u="none" cap="none" strike="noStrike">
              <a:solidFill>
                <a:schemeClr val="dk1"/>
              </a:solidFill>
              <a:latin typeface="Calibri"/>
              <a:ea typeface="Calibri"/>
              <a:cs typeface="Calibri"/>
              <a:sym typeface="Calibri"/>
            </a:endParaRPr>
          </a:p>
        </p:txBody>
      </p:sp>
      <p:sp>
        <p:nvSpPr>
          <p:cNvPr id="310" name="Google Shape;310;p10"/>
          <p:cNvSpPr txBox="1"/>
          <p:nvPr/>
        </p:nvSpPr>
        <p:spPr>
          <a:xfrm>
            <a:off x="9864417"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F</a:t>
            </a:r>
            <a:endParaRPr b="0" i="0" sz="850" u="none" cap="none" strike="noStrike">
              <a:solidFill>
                <a:schemeClr val="dk1"/>
              </a:solidFill>
              <a:latin typeface="Calibri"/>
              <a:ea typeface="Calibri"/>
              <a:cs typeface="Calibri"/>
              <a:sym typeface="Calibri"/>
            </a:endParaRPr>
          </a:p>
        </p:txBody>
      </p:sp>
      <p:sp>
        <p:nvSpPr>
          <p:cNvPr id="311" name="Google Shape;311;p10"/>
          <p:cNvSpPr txBox="1"/>
          <p:nvPr/>
        </p:nvSpPr>
        <p:spPr>
          <a:xfrm>
            <a:off x="10639436"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S</a:t>
            </a:r>
            <a:endParaRPr b="0" i="0" sz="850" u="none" cap="none" strike="noStrike">
              <a:solidFill>
                <a:schemeClr val="dk1"/>
              </a:solidFill>
              <a:latin typeface="Calibri"/>
              <a:ea typeface="Calibri"/>
              <a:cs typeface="Calibri"/>
              <a:sym typeface="Calibri"/>
            </a:endParaRPr>
          </a:p>
        </p:txBody>
      </p:sp>
      <p:sp>
        <p:nvSpPr>
          <p:cNvPr id="312" name="Google Shape;312;p10"/>
          <p:cNvSpPr/>
          <p:nvPr/>
        </p:nvSpPr>
        <p:spPr>
          <a:xfrm>
            <a:off x="7539359" y="4391406"/>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txBox="1"/>
          <p:nvPr/>
        </p:nvSpPr>
        <p:spPr>
          <a:xfrm>
            <a:off x="7585079"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a:t>
            </a:r>
            <a:endParaRPr b="0" i="0" sz="800" u="none" cap="none" strike="noStrike">
              <a:solidFill>
                <a:schemeClr val="dk1"/>
              </a:solidFill>
              <a:latin typeface="Calibri"/>
              <a:ea typeface="Calibri"/>
              <a:cs typeface="Calibri"/>
              <a:sym typeface="Calibri"/>
            </a:endParaRPr>
          </a:p>
        </p:txBody>
      </p:sp>
      <p:sp>
        <p:nvSpPr>
          <p:cNvPr id="314" name="Google Shape;314;p10"/>
          <p:cNvSpPr txBox="1"/>
          <p:nvPr/>
        </p:nvSpPr>
        <p:spPr>
          <a:xfrm>
            <a:off x="7758815"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15" name="Google Shape;315;p10"/>
          <p:cNvSpPr/>
          <p:nvPr/>
        </p:nvSpPr>
        <p:spPr>
          <a:xfrm>
            <a:off x="8314378" y="4391406"/>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txBox="1"/>
          <p:nvPr/>
        </p:nvSpPr>
        <p:spPr>
          <a:xfrm>
            <a:off x="8360098"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a:t>
            </a:r>
            <a:endParaRPr b="0" i="0" sz="800" u="none" cap="none" strike="noStrike">
              <a:solidFill>
                <a:schemeClr val="dk1"/>
              </a:solidFill>
              <a:latin typeface="Calibri"/>
              <a:ea typeface="Calibri"/>
              <a:cs typeface="Calibri"/>
              <a:sym typeface="Calibri"/>
            </a:endParaRPr>
          </a:p>
        </p:txBody>
      </p:sp>
      <p:sp>
        <p:nvSpPr>
          <p:cNvPr id="317" name="Google Shape;317;p10"/>
          <p:cNvSpPr txBox="1"/>
          <p:nvPr/>
        </p:nvSpPr>
        <p:spPr>
          <a:xfrm>
            <a:off x="8533834"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18" name="Google Shape;318;p10"/>
          <p:cNvSpPr/>
          <p:nvPr/>
        </p:nvSpPr>
        <p:spPr>
          <a:xfrm>
            <a:off x="9089397" y="4391406"/>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txBox="1"/>
          <p:nvPr/>
        </p:nvSpPr>
        <p:spPr>
          <a:xfrm>
            <a:off x="9135117"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3</a:t>
            </a:r>
            <a:endParaRPr b="0" i="0" sz="800" u="none" cap="none" strike="noStrike">
              <a:solidFill>
                <a:schemeClr val="dk1"/>
              </a:solidFill>
              <a:latin typeface="Calibri"/>
              <a:ea typeface="Calibri"/>
              <a:cs typeface="Calibri"/>
              <a:sym typeface="Calibri"/>
            </a:endParaRPr>
          </a:p>
        </p:txBody>
      </p:sp>
      <p:sp>
        <p:nvSpPr>
          <p:cNvPr id="320" name="Google Shape;320;p10"/>
          <p:cNvSpPr txBox="1"/>
          <p:nvPr/>
        </p:nvSpPr>
        <p:spPr>
          <a:xfrm>
            <a:off x="9308853"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21" name="Google Shape;321;p10"/>
          <p:cNvSpPr/>
          <p:nvPr/>
        </p:nvSpPr>
        <p:spPr>
          <a:xfrm>
            <a:off x="9864417" y="4391406"/>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txBox="1"/>
          <p:nvPr/>
        </p:nvSpPr>
        <p:spPr>
          <a:xfrm>
            <a:off x="9910137"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4</a:t>
            </a:r>
            <a:endParaRPr b="0" i="0" sz="800" u="none" cap="none" strike="noStrike">
              <a:solidFill>
                <a:schemeClr val="dk1"/>
              </a:solidFill>
              <a:latin typeface="Calibri"/>
              <a:ea typeface="Calibri"/>
              <a:cs typeface="Calibri"/>
              <a:sym typeface="Calibri"/>
            </a:endParaRPr>
          </a:p>
        </p:txBody>
      </p:sp>
      <p:sp>
        <p:nvSpPr>
          <p:cNvPr id="323" name="Google Shape;323;p10"/>
          <p:cNvSpPr txBox="1"/>
          <p:nvPr/>
        </p:nvSpPr>
        <p:spPr>
          <a:xfrm>
            <a:off x="10083873"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24" name="Google Shape;324;p10"/>
          <p:cNvSpPr/>
          <p:nvPr/>
        </p:nvSpPr>
        <p:spPr>
          <a:xfrm>
            <a:off x="10639436" y="4391406"/>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txBox="1"/>
          <p:nvPr/>
        </p:nvSpPr>
        <p:spPr>
          <a:xfrm>
            <a:off x="10685156"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5</a:t>
            </a:r>
            <a:endParaRPr b="0" i="0" sz="800" u="none" cap="none" strike="noStrike">
              <a:solidFill>
                <a:schemeClr val="dk1"/>
              </a:solidFill>
              <a:latin typeface="Calibri"/>
              <a:ea typeface="Calibri"/>
              <a:cs typeface="Calibri"/>
              <a:sym typeface="Calibri"/>
            </a:endParaRPr>
          </a:p>
        </p:txBody>
      </p:sp>
      <p:sp>
        <p:nvSpPr>
          <p:cNvPr id="326" name="Google Shape;326;p10"/>
          <p:cNvSpPr txBox="1"/>
          <p:nvPr/>
        </p:nvSpPr>
        <p:spPr>
          <a:xfrm>
            <a:off x="10858892"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27" name="Google Shape;327;p10"/>
          <p:cNvSpPr/>
          <p:nvPr/>
        </p:nvSpPr>
        <p:spPr>
          <a:xfrm>
            <a:off x="5989320"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txBox="1"/>
          <p:nvPr/>
        </p:nvSpPr>
        <p:spPr>
          <a:xfrm>
            <a:off x="6035040"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6</a:t>
            </a:r>
            <a:endParaRPr b="0" i="0" sz="800" u="none" cap="none" strike="noStrike">
              <a:solidFill>
                <a:schemeClr val="dk1"/>
              </a:solidFill>
              <a:latin typeface="Calibri"/>
              <a:ea typeface="Calibri"/>
              <a:cs typeface="Calibri"/>
              <a:sym typeface="Calibri"/>
            </a:endParaRPr>
          </a:p>
        </p:txBody>
      </p:sp>
      <p:sp>
        <p:nvSpPr>
          <p:cNvPr id="329" name="Google Shape;329;p10"/>
          <p:cNvSpPr txBox="1"/>
          <p:nvPr/>
        </p:nvSpPr>
        <p:spPr>
          <a:xfrm>
            <a:off x="6208776"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30" name="Google Shape;330;p10"/>
          <p:cNvSpPr/>
          <p:nvPr/>
        </p:nvSpPr>
        <p:spPr>
          <a:xfrm>
            <a:off x="6764339"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txBox="1"/>
          <p:nvPr/>
        </p:nvSpPr>
        <p:spPr>
          <a:xfrm>
            <a:off x="6810059"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7</a:t>
            </a:r>
            <a:endParaRPr b="0" i="0" sz="800" u="none" cap="none" strike="noStrike">
              <a:solidFill>
                <a:schemeClr val="dk1"/>
              </a:solidFill>
              <a:latin typeface="Calibri"/>
              <a:ea typeface="Calibri"/>
              <a:cs typeface="Calibri"/>
              <a:sym typeface="Calibri"/>
            </a:endParaRPr>
          </a:p>
        </p:txBody>
      </p:sp>
      <p:sp>
        <p:nvSpPr>
          <p:cNvPr id="332" name="Google Shape;332;p10"/>
          <p:cNvSpPr txBox="1"/>
          <p:nvPr/>
        </p:nvSpPr>
        <p:spPr>
          <a:xfrm>
            <a:off x="6983795"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33" name="Google Shape;333;p10"/>
          <p:cNvSpPr/>
          <p:nvPr/>
        </p:nvSpPr>
        <p:spPr>
          <a:xfrm>
            <a:off x="7539359" y="4678070"/>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txBox="1"/>
          <p:nvPr/>
        </p:nvSpPr>
        <p:spPr>
          <a:xfrm>
            <a:off x="7585079"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8</a:t>
            </a:r>
            <a:endParaRPr b="0" i="0" sz="800" u="none" cap="none" strike="noStrike">
              <a:solidFill>
                <a:schemeClr val="dk1"/>
              </a:solidFill>
              <a:latin typeface="Calibri"/>
              <a:ea typeface="Calibri"/>
              <a:cs typeface="Calibri"/>
              <a:sym typeface="Calibri"/>
            </a:endParaRPr>
          </a:p>
        </p:txBody>
      </p:sp>
      <p:sp>
        <p:nvSpPr>
          <p:cNvPr id="335" name="Google Shape;335;p10"/>
          <p:cNvSpPr txBox="1"/>
          <p:nvPr/>
        </p:nvSpPr>
        <p:spPr>
          <a:xfrm>
            <a:off x="7758815"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36" name="Google Shape;336;p10"/>
          <p:cNvSpPr/>
          <p:nvPr/>
        </p:nvSpPr>
        <p:spPr>
          <a:xfrm>
            <a:off x="8314378" y="4678070"/>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0"/>
          <p:cNvSpPr txBox="1"/>
          <p:nvPr/>
        </p:nvSpPr>
        <p:spPr>
          <a:xfrm>
            <a:off x="8360098"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9</a:t>
            </a:r>
            <a:endParaRPr b="0" i="0" sz="800" u="none" cap="none" strike="noStrike">
              <a:solidFill>
                <a:schemeClr val="dk1"/>
              </a:solidFill>
              <a:latin typeface="Calibri"/>
              <a:ea typeface="Calibri"/>
              <a:cs typeface="Calibri"/>
              <a:sym typeface="Calibri"/>
            </a:endParaRPr>
          </a:p>
        </p:txBody>
      </p:sp>
      <p:sp>
        <p:nvSpPr>
          <p:cNvPr id="338" name="Google Shape;338;p10"/>
          <p:cNvSpPr txBox="1"/>
          <p:nvPr/>
        </p:nvSpPr>
        <p:spPr>
          <a:xfrm>
            <a:off x="8533834"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39" name="Google Shape;339;p10"/>
          <p:cNvSpPr/>
          <p:nvPr/>
        </p:nvSpPr>
        <p:spPr>
          <a:xfrm>
            <a:off x="9089397" y="4678070"/>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0"/>
          <p:cNvSpPr txBox="1"/>
          <p:nvPr/>
        </p:nvSpPr>
        <p:spPr>
          <a:xfrm>
            <a:off x="9135117"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10</a:t>
            </a:r>
            <a:endParaRPr b="0" i="0" sz="800" u="none" cap="none" strike="noStrike">
              <a:solidFill>
                <a:schemeClr val="dk1"/>
              </a:solidFill>
              <a:latin typeface="Calibri"/>
              <a:ea typeface="Calibri"/>
              <a:cs typeface="Calibri"/>
              <a:sym typeface="Calibri"/>
            </a:endParaRPr>
          </a:p>
        </p:txBody>
      </p:sp>
      <p:sp>
        <p:nvSpPr>
          <p:cNvPr id="341" name="Google Shape;341;p10"/>
          <p:cNvSpPr txBox="1"/>
          <p:nvPr/>
        </p:nvSpPr>
        <p:spPr>
          <a:xfrm>
            <a:off x="9308853"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42" name="Google Shape;342;p10"/>
          <p:cNvSpPr/>
          <p:nvPr/>
        </p:nvSpPr>
        <p:spPr>
          <a:xfrm>
            <a:off x="9864417"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0"/>
          <p:cNvSpPr txBox="1"/>
          <p:nvPr/>
        </p:nvSpPr>
        <p:spPr>
          <a:xfrm>
            <a:off x="9910137"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11</a:t>
            </a:r>
            <a:endParaRPr b="0" i="0" sz="800" u="none" cap="none" strike="noStrike">
              <a:solidFill>
                <a:schemeClr val="dk1"/>
              </a:solidFill>
              <a:latin typeface="Calibri"/>
              <a:ea typeface="Calibri"/>
              <a:cs typeface="Calibri"/>
              <a:sym typeface="Calibri"/>
            </a:endParaRPr>
          </a:p>
        </p:txBody>
      </p:sp>
      <p:sp>
        <p:nvSpPr>
          <p:cNvPr id="344" name="Google Shape;344;p10"/>
          <p:cNvSpPr txBox="1"/>
          <p:nvPr/>
        </p:nvSpPr>
        <p:spPr>
          <a:xfrm>
            <a:off x="10083873"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45" name="Google Shape;345;p10"/>
          <p:cNvSpPr/>
          <p:nvPr/>
        </p:nvSpPr>
        <p:spPr>
          <a:xfrm>
            <a:off x="10639436"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txBox="1"/>
          <p:nvPr/>
        </p:nvSpPr>
        <p:spPr>
          <a:xfrm>
            <a:off x="10685156"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12</a:t>
            </a:r>
            <a:endParaRPr b="0" i="0" sz="800" u="none" cap="none" strike="noStrike">
              <a:solidFill>
                <a:schemeClr val="dk1"/>
              </a:solidFill>
              <a:latin typeface="Calibri"/>
              <a:ea typeface="Calibri"/>
              <a:cs typeface="Calibri"/>
              <a:sym typeface="Calibri"/>
            </a:endParaRPr>
          </a:p>
        </p:txBody>
      </p:sp>
      <p:sp>
        <p:nvSpPr>
          <p:cNvPr id="347" name="Google Shape;347;p10"/>
          <p:cNvSpPr txBox="1"/>
          <p:nvPr/>
        </p:nvSpPr>
        <p:spPr>
          <a:xfrm>
            <a:off x="10858892"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48" name="Google Shape;348;p10"/>
          <p:cNvSpPr/>
          <p:nvPr/>
        </p:nvSpPr>
        <p:spPr>
          <a:xfrm>
            <a:off x="5989320"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txBox="1"/>
          <p:nvPr/>
        </p:nvSpPr>
        <p:spPr>
          <a:xfrm>
            <a:off x="6035040"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13</a:t>
            </a:r>
            <a:endParaRPr b="0" i="0" sz="800" u="none" cap="none" strike="noStrike">
              <a:solidFill>
                <a:schemeClr val="dk1"/>
              </a:solidFill>
              <a:latin typeface="Calibri"/>
              <a:ea typeface="Calibri"/>
              <a:cs typeface="Calibri"/>
              <a:sym typeface="Calibri"/>
            </a:endParaRPr>
          </a:p>
        </p:txBody>
      </p:sp>
      <p:sp>
        <p:nvSpPr>
          <p:cNvPr id="350" name="Google Shape;350;p10"/>
          <p:cNvSpPr txBox="1"/>
          <p:nvPr/>
        </p:nvSpPr>
        <p:spPr>
          <a:xfrm>
            <a:off x="6208776"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51" name="Google Shape;351;p10"/>
          <p:cNvSpPr/>
          <p:nvPr/>
        </p:nvSpPr>
        <p:spPr>
          <a:xfrm>
            <a:off x="6764339"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0"/>
          <p:cNvSpPr txBox="1"/>
          <p:nvPr/>
        </p:nvSpPr>
        <p:spPr>
          <a:xfrm>
            <a:off x="6810059"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14</a:t>
            </a:r>
            <a:endParaRPr b="0" i="0" sz="800" u="none" cap="none" strike="noStrike">
              <a:solidFill>
                <a:schemeClr val="dk1"/>
              </a:solidFill>
              <a:latin typeface="Calibri"/>
              <a:ea typeface="Calibri"/>
              <a:cs typeface="Calibri"/>
              <a:sym typeface="Calibri"/>
            </a:endParaRPr>
          </a:p>
        </p:txBody>
      </p:sp>
      <p:sp>
        <p:nvSpPr>
          <p:cNvPr id="353" name="Google Shape;353;p10"/>
          <p:cNvSpPr txBox="1"/>
          <p:nvPr/>
        </p:nvSpPr>
        <p:spPr>
          <a:xfrm>
            <a:off x="6983795"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54" name="Google Shape;354;p10"/>
          <p:cNvSpPr/>
          <p:nvPr/>
        </p:nvSpPr>
        <p:spPr>
          <a:xfrm>
            <a:off x="7539359"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txBox="1"/>
          <p:nvPr/>
        </p:nvSpPr>
        <p:spPr>
          <a:xfrm>
            <a:off x="7585079"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15</a:t>
            </a:r>
            <a:endParaRPr b="0" i="0" sz="800" u="none" cap="none" strike="noStrike">
              <a:solidFill>
                <a:schemeClr val="dk1"/>
              </a:solidFill>
              <a:latin typeface="Calibri"/>
              <a:ea typeface="Calibri"/>
              <a:cs typeface="Calibri"/>
              <a:sym typeface="Calibri"/>
            </a:endParaRPr>
          </a:p>
        </p:txBody>
      </p:sp>
      <p:sp>
        <p:nvSpPr>
          <p:cNvPr id="356" name="Google Shape;356;p10"/>
          <p:cNvSpPr txBox="1"/>
          <p:nvPr/>
        </p:nvSpPr>
        <p:spPr>
          <a:xfrm>
            <a:off x="7758815"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57" name="Google Shape;357;p10"/>
          <p:cNvSpPr/>
          <p:nvPr/>
        </p:nvSpPr>
        <p:spPr>
          <a:xfrm>
            <a:off x="8314378"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txBox="1"/>
          <p:nvPr/>
        </p:nvSpPr>
        <p:spPr>
          <a:xfrm>
            <a:off x="8360098"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16</a:t>
            </a:r>
            <a:endParaRPr b="0" i="0" sz="800" u="none" cap="none" strike="noStrike">
              <a:solidFill>
                <a:schemeClr val="dk1"/>
              </a:solidFill>
              <a:latin typeface="Calibri"/>
              <a:ea typeface="Calibri"/>
              <a:cs typeface="Calibri"/>
              <a:sym typeface="Calibri"/>
            </a:endParaRPr>
          </a:p>
        </p:txBody>
      </p:sp>
      <p:sp>
        <p:nvSpPr>
          <p:cNvPr id="359" name="Google Shape;359;p10"/>
          <p:cNvSpPr txBox="1"/>
          <p:nvPr/>
        </p:nvSpPr>
        <p:spPr>
          <a:xfrm>
            <a:off x="8533834"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60" name="Google Shape;360;p10"/>
          <p:cNvSpPr/>
          <p:nvPr/>
        </p:nvSpPr>
        <p:spPr>
          <a:xfrm>
            <a:off x="9089397"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txBox="1"/>
          <p:nvPr/>
        </p:nvSpPr>
        <p:spPr>
          <a:xfrm>
            <a:off x="9135117"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17</a:t>
            </a:r>
            <a:endParaRPr b="0" i="0" sz="800" u="none" cap="none" strike="noStrike">
              <a:solidFill>
                <a:schemeClr val="dk1"/>
              </a:solidFill>
              <a:latin typeface="Calibri"/>
              <a:ea typeface="Calibri"/>
              <a:cs typeface="Calibri"/>
              <a:sym typeface="Calibri"/>
            </a:endParaRPr>
          </a:p>
        </p:txBody>
      </p:sp>
      <p:sp>
        <p:nvSpPr>
          <p:cNvPr id="362" name="Google Shape;362;p10"/>
          <p:cNvSpPr txBox="1"/>
          <p:nvPr/>
        </p:nvSpPr>
        <p:spPr>
          <a:xfrm>
            <a:off x="9308853"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63" name="Google Shape;363;p10"/>
          <p:cNvSpPr/>
          <p:nvPr/>
        </p:nvSpPr>
        <p:spPr>
          <a:xfrm>
            <a:off x="9864417" y="4964735"/>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
          <p:cNvSpPr txBox="1"/>
          <p:nvPr/>
        </p:nvSpPr>
        <p:spPr>
          <a:xfrm>
            <a:off x="9910137"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18</a:t>
            </a:r>
            <a:endParaRPr b="0" i="0" sz="800" u="none" cap="none" strike="noStrike">
              <a:solidFill>
                <a:schemeClr val="dk1"/>
              </a:solidFill>
              <a:latin typeface="Calibri"/>
              <a:ea typeface="Calibri"/>
              <a:cs typeface="Calibri"/>
              <a:sym typeface="Calibri"/>
            </a:endParaRPr>
          </a:p>
        </p:txBody>
      </p:sp>
      <p:sp>
        <p:nvSpPr>
          <p:cNvPr id="365" name="Google Shape;365;p10"/>
          <p:cNvSpPr txBox="1"/>
          <p:nvPr/>
        </p:nvSpPr>
        <p:spPr>
          <a:xfrm>
            <a:off x="10083873"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66" name="Google Shape;366;p10"/>
          <p:cNvSpPr/>
          <p:nvPr/>
        </p:nvSpPr>
        <p:spPr>
          <a:xfrm>
            <a:off x="10639436" y="4964735"/>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txBox="1"/>
          <p:nvPr/>
        </p:nvSpPr>
        <p:spPr>
          <a:xfrm>
            <a:off x="10685156"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19</a:t>
            </a:r>
            <a:endParaRPr b="0" i="0" sz="800" u="none" cap="none" strike="noStrike">
              <a:solidFill>
                <a:schemeClr val="dk1"/>
              </a:solidFill>
              <a:latin typeface="Calibri"/>
              <a:ea typeface="Calibri"/>
              <a:cs typeface="Calibri"/>
              <a:sym typeface="Calibri"/>
            </a:endParaRPr>
          </a:p>
        </p:txBody>
      </p:sp>
      <p:sp>
        <p:nvSpPr>
          <p:cNvPr id="368" name="Google Shape;368;p10"/>
          <p:cNvSpPr txBox="1"/>
          <p:nvPr/>
        </p:nvSpPr>
        <p:spPr>
          <a:xfrm>
            <a:off x="10858892"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69" name="Google Shape;369;p10"/>
          <p:cNvSpPr/>
          <p:nvPr/>
        </p:nvSpPr>
        <p:spPr>
          <a:xfrm>
            <a:off x="5989320"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
          <p:cNvSpPr txBox="1"/>
          <p:nvPr/>
        </p:nvSpPr>
        <p:spPr>
          <a:xfrm>
            <a:off x="6035040"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20</a:t>
            </a:r>
            <a:endParaRPr b="0" i="0" sz="800" u="none" cap="none" strike="noStrike">
              <a:solidFill>
                <a:schemeClr val="dk1"/>
              </a:solidFill>
              <a:latin typeface="Calibri"/>
              <a:ea typeface="Calibri"/>
              <a:cs typeface="Calibri"/>
              <a:sym typeface="Calibri"/>
            </a:endParaRPr>
          </a:p>
        </p:txBody>
      </p:sp>
      <p:sp>
        <p:nvSpPr>
          <p:cNvPr id="371" name="Google Shape;371;p10"/>
          <p:cNvSpPr txBox="1"/>
          <p:nvPr/>
        </p:nvSpPr>
        <p:spPr>
          <a:xfrm>
            <a:off x="6208776"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72" name="Google Shape;372;p10"/>
          <p:cNvSpPr/>
          <p:nvPr/>
        </p:nvSpPr>
        <p:spPr>
          <a:xfrm>
            <a:off x="6764339"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0"/>
          <p:cNvSpPr txBox="1"/>
          <p:nvPr/>
        </p:nvSpPr>
        <p:spPr>
          <a:xfrm>
            <a:off x="6810059"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21</a:t>
            </a:r>
            <a:endParaRPr b="0" i="0" sz="800" u="none" cap="none" strike="noStrike">
              <a:solidFill>
                <a:schemeClr val="dk1"/>
              </a:solidFill>
              <a:latin typeface="Calibri"/>
              <a:ea typeface="Calibri"/>
              <a:cs typeface="Calibri"/>
              <a:sym typeface="Calibri"/>
            </a:endParaRPr>
          </a:p>
        </p:txBody>
      </p:sp>
      <p:sp>
        <p:nvSpPr>
          <p:cNvPr id="374" name="Google Shape;374;p10"/>
          <p:cNvSpPr txBox="1"/>
          <p:nvPr/>
        </p:nvSpPr>
        <p:spPr>
          <a:xfrm>
            <a:off x="6983795"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75" name="Google Shape;375;p10"/>
          <p:cNvSpPr/>
          <p:nvPr/>
        </p:nvSpPr>
        <p:spPr>
          <a:xfrm>
            <a:off x="7539359"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txBox="1"/>
          <p:nvPr/>
        </p:nvSpPr>
        <p:spPr>
          <a:xfrm>
            <a:off x="7585079"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22</a:t>
            </a:r>
            <a:endParaRPr b="0" i="0" sz="800" u="none" cap="none" strike="noStrike">
              <a:solidFill>
                <a:schemeClr val="dk1"/>
              </a:solidFill>
              <a:latin typeface="Calibri"/>
              <a:ea typeface="Calibri"/>
              <a:cs typeface="Calibri"/>
              <a:sym typeface="Calibri"/>
            </a:endParaRPr>
          </a:p>
        </p:txBody>
      </p:sp>
      <p:sp>
        <p:nvSpPr>
          <p:cNvPr id="377" name="Google Shape;377;p10"/>
          <p:cNvSpPr txBox="1"/>
          <p:nvPr/>
        </p:nvSpPr>
        <p:spPr>
          <a:xfrm>
            <a:off x="7758815"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78" name="Google Shape;378;p10"/>
          <p:cNvSpPr/>
          <p:nvPr/>
        </p:nvSpPr>
        <p:spPr>
          <a:xfrm>
            <a:off x="8314378"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txBox="1"/>
          <p:nvPr/>
        </p:nvSpPr>
        <p:spPr>
          <a:xfrm>
            <a:off x="8360098"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23</a:t>
            </a:r>
            <a:endParaRPr b="0" i="0" sz="800" u="none" cap="none" strike="noStrike">
              <a:solidFill>
                <a:schemeClr val="dk1"/>
              </a:solidFill>
              <a:latin typeface="Calibri"/>
              <a:ea typeface="Calibri"/>
              <a:cs typeface="Calibri"/>
              <a:sym typeface="Calibri"/>
            </a:endParaRPr>
          </a:p>
        </p:txBody>
      </p:sp>
      <p:sp>
        <p:nvSpPr>
          <p:cNvPr id="380" name="Google Shape;380;p10"/>
          <p:cNvSpPr txBox="1"/>
          <p:nvPr/>
        </p:nvSpPr>
        <p:spPr>
          <a:xfrm>
            <a:off x="8533834"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81" name="Google Shape;381;p10"/>
          <p:cNvSpPr/>
          <p:nvPr/>
        </p:nvSpPr>
        <p:spPr>
          <a:xfrm>
            <a:off x="9089397"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0"/>
          <p:cNvSpPr txBox="1"/>
          <p:nvPr/>
        </p:nvSpPr>
        <p:spPr>
          <a:xfrm>
            <a:off x="9135117"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24</a:t>
            </a:r>
            <a:endParaRPr b="0" i="0" sz="800" u="none" cap="none" strike="noStrike">
              <a:solidFill>
                <a:schemeClr val="dk1"/>
              </a:solidFill>
              <a:latin typeface="Calibri"/>
              <a:ea typeface="Calibri"/>
              <a:cs typeface="Calibri"/>
              <a:sym typeface="Calibri"/>
            </a:endParaRPr>
          </a:p>
        </p:txBody>
      </p:sp>
      <p:sp>
        <p:nvSpPr>
          <p:cNvPr id="383" name="Google Shape;383;p10"/>
          <p:cNvSpPr txBox="1"/>
          <p:nvPr/>
        </p:nvSpPr>
        <p:spPr>
          <a:xfrm>
            <a:off x="9308853"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84" name="Google Shape;384;p10"/>
          <p:cNvSpPr/>
          <p:nvPr/>
        </p:nvSpPr>
        <p:spPr>
          <a:xfrm>
            <a:off x="9864417" y="5251399"/>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txBox="1"/>
          <p:nvPr/>
        </p:nvSpPr>
        <p:spPr>
          <a:xfrm>
            <a:off x="9910137"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25</a:t>
            </a:r>
            <a:endParaRPr b="0" i="0" sz="800" u="none" cap="none" strike="noStrike">
              <a:solidFill>
                <a:schemeClr val="dk1"/>
              </a:solidFill>
              <a:latin typeface="Calibri"/>
              <a:ea typeface="Calibri"/>
              <a:cs typeface="Calibri"/>
              <a:sym typeface="Calibri"/>
            </a:endParaRPr>
          </a:p>
        </p:txBody>
      </p:sp>
      <p:sp>
        <p:nvSpPr>
          <p:cNvPr id="386" name="Google Shape;386;p10"/>
          <p:cNvSpPr txBox="1"/>
          <p:nvPr/>
        </p:nvSpPr>
        <p:spPr>
          <a:xfrm>
            <a:off x="10083873"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87" name="Google Shape;387;p10"/>
          <p:cNvSpPr/>
          <p:nvPr/>
        </p:nvSpPr>
        <p:spPr>
          <a:xfrm>
            <a:off x="10639436" y="5251399"/>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txBox="1"/>
          <p:nvPr/>
        </p:nvSpPr>
        <p:spPr>
          <a:xfrm>
            <a:off x="10685156"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26</a:t>
            </a:r>
            <a:endParaRPr b="0" i="0" sz="800" u="none" cap="none" strike="noStrike">
              <a:solidFill>
                <a:schemeClr val="dk1"/>
              </a:solidFill>
              <a:latin typeface="Calibri"/>
              <a:ea typeface="Calibri"/>
              <a:cs typeface="Calibri"/>
              <a:sym typeface="Calibri"/>
            </a:endParaRPr>
          </a:p>
        </p:txBody>
      </p:sp>
      <p:sp>
        <p:nvSpPr>
          <p:cNvPr id="389" name="Google Shape;389;p10"/>
          <p:cNvSpPr txBox="1"/>
          <p:nvPr/>
        </p:nvSpPr>
        <p:spPr>
          <a:xfrm>
            <a:off x="10858892"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$370</a:t>
            </a:r>
            <a:endParaRPr b="0" i="0" sz="750" u="none" cap="none" strike="noStrike">
              <a:solidFill>
                <a:schemeClr val="dk1"/>
              </a:solidFill>
              <a:latin typeface="Calibri"/>
              <a:ea typeface="Calibri"/>
              <a:cs typeface="Calibri"/>
              <a:sym typeface="Calibri"/>
            </a:endParaRPr>
          </a:p>
        </p:txBody>
      </p:sp>
      <p:sp>
        <p:nvSpPr>
          <p:cNvPr id="390" name="Google Shape;390;p10"/>
          <p:cNvSpPr/>
          <p:nvPr/>
        </p:nvSpPr>
        <p:spPr>
          <a:xfrm>
            <a:off x="5989320"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0"/>
          <p:cNvSpPr txBox="1"/>
          <p:nvPr/>
        </p:nvSpPr>
        <p:spPr>
          <a:xfrm>
            <a:off x="6035040"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27</a:t>
            </a:r>
            <a:endParaRPr b="0" i="0" sz="800" u="none" cap="none" strike="noStrike">
              <a:solidFill>
                <a:schemeClr val="dk1"/>
              </a:solidFill>
              <a:latin typeface="Calibri"/>
              <a:ea typeface="Calibri"/>
              <a:cs typeface="Calibri"/>
              <a:sym typeface="Calibri"/>
            </a:endParaRPr>
          </a:p>
        </p:txBody>
      </p:sp>
      <p:sp>
        <p:nvSpPr>
          <p:cNvPr id="392" name="Google Shape;392;p10"/>
          <p:cNvSpPr txBox="1"/>
          <p:nvPr/>
        </p:nvSpPr>
        <p:spPr>
          <a:xfrm>
            <a:off x="6208776"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93" name="Google Shape;393;p10"/>
          <p:cNvSpPr/>
          <p:nvPr/>
        </p:nvSpPr>
        <p:spPr>
          <a:xfrm>
            <a:off x="6764339"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txBox="1"/>
          <p:nvPr/>
        </p:nvSpPr>
        <p:spPr>
          <a:xfrm>
            <a:off x="6810059"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28</a:t>
            </a:r>
            <a:endParaRPr b="0" i="0" sz="800" u="none" cap="none" strike="noStrike">
              <a:solidFill>
                <a:schemeClr val="dk1"/>
              </a:solidFill>
              <a:latin typeface="Calibri"/>
              <a:ea typeface="Calibri"/>
              <a:cs typeface="Calibri"/>
              <a:sym typeface="Calibri"/>
            </a:endParaRPr>
          </a:p>
        </p:txBody>
      </p:sp>
      <p:sp>
        <p:nvSpPr>
          <p:cNvPr id="395" name="Google Shape;395;p10"/>
          <p:cNvSpPr txBox="1"/>
          <p:nvPr/>
        </p:nvSpPr>
        <p:spPr>
          <a:xfrm>
            <a:off x="6983795"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96" name="Google Shape;396;p10"/>
          <p:cNvSpPr/>
          <p:nvPr/>
        </p:nvSpPr>
        <p:spPr>
          <a:xfrm>
            <a:off x="7539359"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txBox="1"/>
          <p:nvPr/>
        </p:nvSpPr>
        <p:spPr>
          <a:xfrm>
            <a:off x="7585079"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29</a:t>
            </a:r>
            <a:endParaRPr b="0" i="0" sz="800" u="none" cap="none" strike="noStrike">
              <a:solidFill>
                <a:schemeClr val="dk1"/>
              </a:solidFill>
              <a:latin typeface="Calibri"/>
              <a:ea typeface="Calibri"/>
              <a:cs typeface="Calibri"/>
              <a:sym typeface="Calibri"/>
            </a:endParaRPr>
          </a:p>
        </p:txBody>
      </p:sp>
      <p:sp>
        <p:nvSpPr>
          <p:cNvPr id="398" name="Google Shape;398;p10"/>
          <p:cNvSpPr txBox="1"/>
          <p:nvPr/>
        </p:nvSpPr>
        <p:spPr>
          <a:xfrm>
            <a:off x="7758815"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399" name="Google Shape;399;p10"/>
          <p:cNvSpPr/>
          <p:nvPr/>
        </p:nvSpPr>
        <p:spPr>
          <a:xfrm>
            <a:off x="8314378"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0"/>
          <p:cNvSpPr txBox="1"/>
          <p:nvPr/>
        </p:nvSpPr>
        <p:spPr>
          <a:xfrm>
            <a:off x="8360098"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30</a:t>
            </a:r>
            <a:endParaRPr b="0" i="0" sz="800" u="none" cap="none" strike="noStrike">
              <a:solidFill>
                <a:schemeClr val="dk1"/>
              </a:solidFill>
              <a:latin typeface="Calibri"/>
              <a:ea typeface="Calibri"/>
              <a:cs typeface="Calibri"/>
              <a:sym typeface="Calibri"/>
            </a:endParaRPr>
          </a:p>
        </p:txBody>
      </p:sp>
      <p:sp>
        <p:nvSpPr>
          <p:cNvPr id="401" name="Google Shape;401;p10"/>
          <p:cNvSpPr txBox="1"/>
          <p:nvPr/>
        </p:nvSpPr>
        <p:spPr>
          <a:xfrm>
            <a:off x="8533834"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$250</a:t>
            </a:r>
            <a:endParaRPr b="0" i="0" sz="750" u="none" cap="none" strike="noStrike">
              <a:solidFill>
                <a:schemeClr val="dk1"/>
              </a:solidFill>
              <a:latin typeface="Calibri"/>
              <a:ea typeface="Calibri"/>
              <a:cs typeface="Calibri"/>
              <a:sym typeface="Calibri"/>
            </a:endParaRPr>
          </a:p>
        </p:txBody>
      </p:sp>
      <p:sp>
        <p:nvSpPr>
          <p:cNvPr id="402" name="Google Shape;402;p10"/>
          <p:cNvSpPr/>
          <p:nvPr/>
        </p:nvSpPr>
        <p:spPr>
          <a:xfrm>
            <a:off x="5989320" y="5870448"/>
            <a:ext cx="182880" cy="182880"/>
          </a:xfrm>
          <a:prstGeom prst="roundRect">
            <a:avLst>
              <a:gd fmla="val 20000"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txBox="1"/>
          <p:nvPr/>
        </p:nvSpPr>
        <p:spPr>
          <a:xfrm>
            <a:off x="6236208" y="5833872"/>
            <a:ext cx="2134210"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Peak night: all 50 rooms at $370</a:t>
            </a:r>
            <a:endParaRPr b="0" i="0" sz="950" u="none" cap="none" strike="noStrike">
              <a:solidFill>
                <a:schemeClr val="dk1"/>
              </a:solidFill>
              <a:latin typeface="Calibri"/>
              <a:ea typeface="Calibri"/>
              <a:cs typeface="Calibri"/>
              <a:sym typeface="Calibri"/>
            </a:endParaRPr>
          </a:p>
        </p:txBody>
      </p:sp>
      <p:sp>
        <p:nvSpPr>
          <p:cNvPr id="404" name="Google Shape;404;p10"/>
          <p:cNvSpPr/>
          <p:nvPr/>
        </p:nvSpPr>
        <p:spPr>
          <a:xfrm>
            <a:off x="8507578" y="5870448"/>
            <a:ext cx="182880" cy="182880"/>
          </a:xfrm>
          <a:prstGeom prst="roundRect">
            <a:avLst>
              <a:gd fmla="val 20000"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txBox="1"/>
          <p:nvPr/>
        </p:nvSpPr>
        <p:spPr>
          <a:xfrm>
            <a:off x="8754466" y="5833872"/>
            <a:ext cx="2701138"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Other nights: 35 rooms on average, at $250</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10" name="Shape 410"/>
        <p:cNvGrpSpPr/>
        <p:nvPr/>
      </p:nvGrpSpPr>
      <p:grpSpPr>
        <a:xfrm>
          <a:off x="0" y="0"/>
          <a:ext cx="0" cy="0"/>
          <a:chOff x="0" y="0"/>
          <a:chExt cx="0" cy="0"/>
        </a:xfrm>
      </p:grpSpPr>
      <p:sp>
        <p:nvSpPr>
          <p:cNvPr id="411" name="Google Shape;411;p1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pic>
        <p:nvPicPr>
          <p:cNvPr descr="/home/claude/work/renderer/brand/wordmark.png" id="412" name="Google Shape;412;p1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413" name="Google Shape;413;p1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09 / 65</a:t>
            </a:r>
            <a:endParaRPr b="0" i="0" sz="900" u="none" cap="none" strike="noStrike">
              <a:solidFill>
                <a:schemeClr val="dk1"/>
              </a:solidFill>
              <a:latin typeface="Calibri"/>
              <a:ea typeface="Calibri"/>
              <a:cs typeface="Calibri"/>
              <a:sym typeface="Calibri"/>
            </a:endParaRPr>
          </a:p>
        </p:txBody>
      </p:sp>
      <p:sp>
        <p:nvSpPr>
          <p:cNvPr id="414" name="Google Shape;414;p1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RevPAR</a:t>
            </a:r>
            <a:r>
              <a:rPr b="0" i="0" lang="en-US" sz="1700" u="none" cap="none" strike="noStrike">
                <a:solidFill>
                  <a:srgbClr val="004FAA"/>
                </a:solidFill>
                <a:latin typeface="Inter"/>
                <a:ea typeface="Inter"/>
                <a:cs typeface="Inter"/>
                <a:sym typeface="Inter"/>
              </a:rPr>
              <a:t>  revenue per available room</a:t>
            </a:r>
            <a:endParaRPr b="0" i="0" sz="3000" u="none" cap="none" strike="noStrike">
              <a:solidFill>
                <a:schemeClr val="dk1"/>
              </a:solidFill>
              <a:latin typeface="Calibri"/>
              <a:ea typeface="Calibri"/>
              <a:cs typeface="Calibri"/>
              <a:sym typeface="Calibri"/>
            </a:endParaRPr>
          </a:p>
        </p:txBody>
      </p:sp>
      <p:sp>
        <p:nvSpPr>
          <p:cNvPr id="415" name="Google Shape;415;p11"/>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417" name="Google Shape;417;p11"/>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418" name="Google Shape;418;p11"/>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419" name="Google Shape;419;p11"/>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Rate and fill in one number; what owners reach for when asked how the year is going.</a:t>
            </a:r>
            <a:endParaRPr b="0" i="0" sz="1150" u="none" cap="none" strike="noStrike">
              <a:solidFill>
                <a:schemeClr val="dk1"/>
              </a:solidFill>
              <a:latin typeface="Calibri"/>
              <a:ea typeface="Calibri"/>
              <a:cs typeface="Calibri"/>
              <a:sym typeface="Calibri"/>
            </a:endParaRPr>
          </a:p>
        </p:txBody>
      </p:sp>
      <p:sp>
        <p:nvSpPr>
          <p:cNvPr id="420" name="Google Shape;420;p11"/>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421" name="Google Shape;421;p11"/>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422" name="Google Shape;422;p11"/>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423" name="Google Shape;423;p11"/>
          <p:cNvSpPr txBox="1"/>
          <p:nvPr/>
        </p:nvSpPr>
        <p:spPr>
          <a:xfrm>
            <a:off x="1170432" y="369531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moves if either price or fill moves, so it is the honest one-number read on the rooms business. It ignores the spa and the restaurant entirely.</a:t>
            </a:r>
            <a:endParaRPr b="0" i="0" sz="1150" u="none" cap="none" strike="noStrike">
              <a:solidFill>
                <a:schemeClr val="dk1"/>
              </a:solidFill>
              <a:latin typeface="Calibri"/>
              <a:ea typeface="Calibri"/>
              <a:cs typeface="Calibri"/>
              <a:sym typeface="Calibri"/>
            </a:endParaRPr>
          </a:p>
        </p:txBody>
      </p:sp>
      <p:sp>
        <p:nvSpPr>
          <p:cNvPr id="424" name="Google Shape;424;p11"/>
          <p:cNvSpPr/>
          <p:nvPr/>
        </p:nvSpPr>
        <p:spPr>
          <a:xfrm>
            <a:off x="548640" y="521951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425" name="Google Shape;425;p11"/>
          <p:cNvPicPr preferRelativeResize="0"/>
          <p:nvPr/>
        </p:nvPicPr>
        <p:blipFill rotWithShape="1">
          <a:blip r:embed="rId6">
            <a:alphaModFix/>
          </a:blip>
          <a:srcRect b="0" l="0" r="0" t="0"/>
          <a:stretch/>
        </p:blipFill>
        <p:spPr>
          <a:xfrm>
            <a:off x="641177" y="5312047"/>
            <a:ext cx="235549" cy="235549"/>
          </a:xfrm>
          <a:prstGeom prst="rect">
            <a:avLst/>
          </a:prstGeom>
          <a:noFill/>
          <a:ln>
            <a:noFill/>
          </a:ln>
        </p:spPr>
      </p:pic>
      <p:sp>
        <p:nvSpPr>
          <p:cNvPr id="426" name="Google Shape;426;p11"/>
          <p:cNvSpPr txBox="1"/>
          <p:nvPr/>
        </p:nvSpPr>
        <p:spPr>
          <a:xfrm>
            <a:off x="1170432" y="520122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427" name="Google Shape;427;p11"/>
          <p:cNvSpPr txBox="1"/>
          <p:nvPr/>
        </p:nvSpPr>
        <p:spPr>
          <a:xfrm>
            <a:off x="1170432" y="551211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RevPAR tells us rate and fill together, so we're not fooled by a full house sold too cheap.</a:t>
            </a:r>
            <a:endParaRPr b="0" i="0" sz="1150" u="none" cap="none" strike="noStrike">
              <a:solidFill>
                <a:schemeClr val="dk1"/>
              </a:solidFill>
              <a:latin typeface="Calibri"/>
              <a:ea typeface="Calibri"/>
              <a:cs typeface="Calibri"/>
              <a:sym typeface="Calibri"/>
            </a:endParaRPr>
          </a:p>
        </p:txBody>
      </p:sp>
      <p:sp>
        <p:nvSpPr>
          <p:cNvPr id="428" name="Google Shape;428;p11"/>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1"/>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430" name="Google Shape;430;p11"/>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431" name="Google Shape;431;p11"/>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Room revenue ÷ Rooms available  (= ADR × Occupancy)</a:t>
            </a:r>
            <a:endParaRPr b="0" i="0" sz="1200" u="none" cap="none" strike="noStrike">
              <a:solidFill>
                <a:schemeClr val="dk1"/>
              </a:solidFill>
              <a:latin typeface="Calibri"/>
              <a:ea typeface="Calibri"/>
              <a:cs typeface="Calibri"/>
              <a:sym typeface="Calibri"/>
            </a:endParaRPr>
          </a:p>
        </p:txBody>
      </p:sp>
      <p:sp>
        <p:nvSpPr>
          <p:cNvPr id="432" name="Google Shape;432;p11"/>
          <p:cNvSpPr txBox="1"/>
          <p:nvPr/>
        </p:nvSpPr>
        <p:spPr>
          <a:xfrm>
            <a:off x="5989320" y="2532888"/>
            <a:ext cx="5379415" cy="54178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Lakeside Lodge has </a:t>
            </a:r>
            <a:r>
              <a:rPr b="1" i="0" lang="en-US" sz="1100" u="none" cap="none" strike="noStrike">
                <a:solidFill>
                  <a:srgbClr val="404040"/>
                </a:solidFill>
                <a:latin typeface="Inter"/>
                <a:ea typeface="Inter"/>
                <a:cs typeface="Inter"/>
                <a:sym typeface="Inter"/>
              </a:rPr>
              <a:t>50</a:t>
            </a:r>
            <a:r>
              <a:rPr b="0" i="0" lang="en-US" sz="1100" u="none" cap="none" strike="noStrike">
                <a:solidFill>
                  <a:srgbClr val="404040"/>
                </a:solidFill>
                <a:latin typeface="Inter"/>
                <a:ea typeface="Inter"/>
                <a:cs typeface="Inter"/>
                <a:sym typeface="Inter"/>
              </a:rPr>
              <a:t> rooms and September has </a:t>
            </a:r>
            <a:r>
              <a:rPr b="1" i="0" lang="en-US" sz="1100" u="none" cap="none" strike="noStrike">
                <a:solidFill>
                  <a:srgbClr val="404040"/>
                </a:solidFill>
                <a:latin typeface="Inter"/>
                <a:ea typeface="Inter"/>
                <a:cs typeface="Inter"/>
                <a:sym typeface="Inter"/>
              </a:rPr>
              <a:t>30</a:t>
            </a:r>
            <a:r>
              <a:rPr b="0" i="0" lang="en-US" sz="1100" u="none" cap="none" strike="noStrike">
                <a:solidFill>
                  <a:srgbClr val="404040"/>
                </a:solidFill>
                <a:latin typeface="Inter"/>
                <a:ea typeface="Inter"/>
                <a:cs typeface="Inter"/>
                <a:sym typeface="Inter"/>
              </a:rPr>
              <a:t> nights, so </a:t>
            </a:r>
            <a:r>
              <a:rPr b="1" i="0" lang="en-US" sz="1100" u="none" cap="none" strike="noStrike">
                <a:solidFill>
                  <a:srgbClr val="404040"/>
                </a:solidFill>
                <a:latin typeface="Inter"/>
                <a:ea typeface="Inter"/>
                <a:cs typeface="Inter"/>
                <a:sym typeface="Inter"/>
              </a:rPr>
              <a:t>1,500</a:t>
            </a:r>
            <a:r>
              <a:rPr b="0" i="0" lang="en-US" sz="1100" u="none" cap="none" strike="noStrike">
                <a:solidFill>
                  <a:srgbClr val="404040"/>
                </a:solidFill>
                <a:latin typeface="Inter"/>
                <a:ea typeface="Inter"/>
                <a:cs typeface="Inter"/>
                <a:sym typeface="Inter"/>
              </a:rPr>
              <a:t> room nights were available. Room revenue was </a:t>
            </a:r>
            <a:r>
              <a:rPr b="1" i="0" lang="en-US" sz="1100" u="none" cap="none" strike="noStrike">
                <a:solidFill>
                  <a:srgbClr val="404040"/>
                </a:solidFill>
                <a:latin typeface="Inter"/>
                <a:ea typeface="Inter"/>
                <a:cs typeface="Inter"/>
                <a:sym typeface="Inter"/>
              </a:rPr>
              <a:t>$360,000</a:t>
            </a:r>
            <a:r>
              <a:rPr b="0" i="0" lang="en-US" sz="1100" u="none" cap="none" strike="noStrike">
                <a:solidFill>
                  <a:srgbClr val="404040"/>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p:txBody>
      </p:sp>
      <p:sp>
        <p:nvSpPr>
          <p:cNvPr id="433" name="Google Shape;433;p11"/>
          <p:cNvSpPr txBox="1"/>
          <p:nvPr/>
        </p:nvSpPr>
        <p:spPr>
          <a:xfrm>
            <a:off x="6172200" y="3129534"/>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RevPAR = $360,000 ÷ 1,500</a:t>
            </a:r>
            <a:endParaRPr b="0" i="0" sz="1100" u="none" cap="none" strike="noStrike">
              <a:solidFill>
                <a:schemeClr val="dk1"/>
              </a:solidFill>
              <a:latin typeface="Calibri"/>
              <a:ea typeface="Calibri"/>
              <a:cs typeface="Calibri"/>
              <a:sym typeface="Calibri"/>
            </a:endParaRPr>
          </a:p>
        </p:txBody>
      </p:sp>
      <p:sp>
        <p:nvSpPr>
          <p:cNvPr id="434" name="Google Shape;434;p11"/>
          <p:cNvSpPr/>
          <p:nvPr/>
        </p:nvSpPr>
        <p:spPr>
          <a:xfrm>
            <a:off x="5989320" y="3422142"/>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435" name="Google Shape;435;p11"/>
          <p:cNvPicPr preferRelativeResize="0"/>
          <p:nvPr/>
        </p:nvPicPr>
        <p:blipFill rotWithShape="1">
          <a:blip r:embed="rId8">
            <a:alphaModFix/>
          </a:blip>
          <a:srcRect b="0" l="0" r="0" t="0"/>
          <a:stretch/>
        </p:blipFill>
        <p:spPr>
          <a:xfrm>
            <a:off x="6117336" y="3486150"/>
            <a:ext cx="237744" cy="237744"/>
          </a:xfrm>
          <a:prstGeom prst="rect">
            <a:avLst/>
          </a:prstGeom>
          <a:noFill/>
          <a:ln>
            <a:noFill/>
          </a:ln>
        </p:spPr>
      </p:pic>
      <p:sp>
        <p:nvSpPr>
          <p:cNvPr id="436" name="Google Shape;436;p11"/>
          <p:cNvSpPr txBox="1"/>
          <p:nvPr/>
        </p:nvSpPr>
        <p:spPr>
          <a:xfrm>
            <a:off x="6464808" y="3422142"/>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RevPAR = $240 (= $300 ADR × 80% occupancy)</a:t>
            </a:r>
            <a:endParaRPr b="0" i="0" sz="1200" u="none" cap="none" strike="noStrike">
              <a:solidFill>
                <a:schemeClr val="dk1"/>
              </a:solidFill>
              <a:latin typeface="Calibri"/>
              <a:ea typeface="Calibri"/>
              <a:cs typeface="Calibri"/>
              <a:sym typeface="Calibri"/>
            </a:endParaRPr>
          </a:p>
        </p:txBody>
      </p:sp>
      <p:sp>
        <p:nvSpPr>
          <p:cNvPr id="437" name="Google Shape;437;p11"/>
          <p:cNvSpPr txBox="1"/>
          <p:nvPr/>
        </p:nvSpPr>
        <p:spPr>
          <a:xfrm>
            <a:off x="5989320" y="3897630"/>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SAME SEPTEMBER: ROOMS SOLD, OF 50 AVAILABLE EACH NIGHT</a:t>
            </a:r>
            <a:endParaRPr b="0" i="0" sz="900" u="none" cap="none" strike="noStrike">
              <a:solidFill>
                <a:schemeClr val="dk1"/>
              </a:solidFill>
              <a:latin typeface="Calibri"/>
              <a:ea typeface="Calibri"/>
              <a:cs typeface="Calibri"/>
              <a:sym typeface="Calibri"/>
            </a:endParaRPr>
          </a:p>
        </p:txBody>
      </p:sp>
      <p:sp>
        <p:nvSpPr>
          <p:cNvPr id="438" name="Google Shape;438;p11"/>
          <p:cNvSpPr txBox="1"/>
          <p:nvPr/>
        </p:nvSpPr>
        <p:spPr>
          <a:xfrm>
            <a:off x="5989320"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S</a:t>
            </a:r>
            <a:endParaRPr b="0" i="0" sz="850" u="none" cap="none" strike="noStrike">
              <a:solidFill>
                <a:schemeClr val="dk1"/>
              </a:solidFill>
              <a:latin typeface="Calibri"/>
              <a:ea typeface="Calibri"/>
              <a:cs typeface="Calibri"/>
              <a:sym typeface="Calibri"/>
            </a:endParaRPr>
          </a:p>
        </p:txBody>
      </p:sp>
      <p:sp>
        <p:nvSpPr>
          <p:cNvPr id="439" name="Google Shape;439;p11"/>
          <p:cNvSpPr txBox="1"/>
          <p:nvPr/>
        </p:nvSpPr>
        <p:spPr>
          <a:xfrm>
            <a:off x="6764339"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M</a:t>
            </a:r>
            <a:endParaRPr b="0" i="0" sz="850" u="none" cap="none" strike="noStrike">
              <a:solidFill>
                <a:schemeClr val="dk1"/>
              </a:solidFill>
              <a:latin typeface="Calibri"/>
              <a:ea typeface="Calibri"/>
              <a:cs typeface="Calibri"/>
              <a:sym typeface="Calibri"/>
            </a:endParaRPr>
          </a:p>
        </p:txBody>
      </p:sp>
      <p:sp>
        <p:nvSpPr>
          <p:cNvPr id="440" name="Google Shape;440;p11"/>
          <p:cNvSpPr txBox="1"/>
          <p:nvPr/>
        </p:nvSpPr>
        <p:spPr>
          <a:xfrm>
            <a:off x="7539359"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T</a:t>
            </a:r>
            <a:endParaRPr b="0" i="0" sz="850" u="none" cap="none" strike="noStrike">
              <a:solidFill>
                <a:schemeClr val="dk1"/>
              </a:solidFill>
              <a:latin typeface="Calibri"/>
              <a:ea typeface="Calibri"/>
              <a:cs typeface="Calibri"/>
              <a:sym typeface="Calibri"/>
            </a:endParaRPr>
          </a:p>
        </p:txBody>
      </p:sp>
      <p:sp>
        <p:nvSpPr>
          <p:cNvPr id="441" name="Google Shape;441;p11"/>
          <p:cNvSpPr txBox="1"/>
          <p:nvPr/>
        </p:nvSpPr>
        <p:spPr>
          <a:xfrm>
            <a:off x="8314378"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W</a:t>
            </a:r>
            <a:endParaRPr b="0" i="0" sz="850" u="none" cap="none" strike="noStrike">
              <a:solidFill>
                <a:schemeClr val="dk1"/>
              </a:solidFill>
              <a:latin typeface="Calibri"/>
              <a:ea typeface="Calibri"/>
              <a:cs typeface="Calibri"/>
              <a:sym typeface="Calibri"/>
            </a:endParaRPr>
          </a:p>
        </p:txBody>
      </p:sp>
      <p:sp>
        <p:nvSpPr>
          <p:cNvPr id="442" name="Google Shape;442;p11"/>
          <p:cNvSpPr txBox="1"/>
          <p:nvPr/>
        </p:nvSpPr>
        <p:spPr>
          <a:xfrm>
            <a:off x="9089397"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T</a:t>
            </a:r>
            <a:endParaRPr b="0" i="0" sz="850" u="none" cap="none" strike="noStrike">
              <a:solidFill>
                <a:schemeClr val="dk1"/>
              </a:solidFill>
              <a:latin typeface="Calibri"/>
              <a:ea typeface="Calibri"/>
              <a:cs typeface="Calibri"/>
              <a:sym typeface="Calibri"/>
            </a:endParaRPr>
          </a:p>
        </p:txBody>
      </p:sp>
      <p:sp>
        <p:nvSpPr>
          <p:cNvPr id="443" name="Google Shape;443;p11"/>
          <p:cNvSpPr txBox="1"/>
          <p:nvPr/>
        </p:nvSpPr>
        <p:spPr>
          <a:xfrm>
            <a:off x="9864417"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F</a:t>
            </a:r>
            <a:endParaRPr b="0" i="0" sz="850" u="none" cap="none" strike="noStrike">
              <a:solidFill>
                <a:schemeClr val="dk1"/>
              </a:solidFill>
              <a:latin typeface="Calibri"/>
              <a:ea typeface="Calibri"/>
              <a:cs typeface="Calibri"/>
              <a:sym typeface="Calibri"/>
            </a:endParaRPr>
          </a:p>
        </p:txBody>
      </p:sp>
      <p:sp>
        <p:nvSpPr>
          <p:cNvPr id="444" name="Google Shape;444;p11"/>
          <p:cNvSpPr txBox="1"/>
          <p:nvPr/>
        </p:nvSpPr>
        <p:spPr>
          <a:xfrm>
            <a:off x="10639436" y="4171950"/>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S</a:t>
            </a:r>
            <a:endParaRPr b="0" i="0" sz="850" u="none" cap="none" strike="noStrike">
              <a:solidFill>
                <a:schemeClr val="dk1"/>
              </a:solidFill>
              <a:latin typeface="Calibri"/>
              <a:ea typeface="Calibri"/>
              <a:cs typeface="Calibri"/>
              <a:sym typeface="Calibri"/>
            </a:endParaRPr>
          </a:p>
        </p:txBody>
      </p:sp>
      <p:sp>
        <p:nvSpPr>
          <p:cNvPr id="445" name="Google Shape;445;p11"/>
          <p:cNvSpPr/>
          <p:nvPr/>
        </p:nvSpPr>
        <p:spPr>
          <a:xfrm>
            <a:off x="7539359" y="4391406"/>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txBox="1"/>
          <p:nvPr/>
        </p:nvSpPr>
        <p:spPr>
          <a:xfrm>
            <a:off x="7585079"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a:t>
            </a:r>
            <a:endParaRPr b="0" i="0" sz="800" u="none" cap="none" strike="noStrike">
              <a:solidFill>
                <a:schemeClr val="dk1"/>
              </a:solidFill>
              <a:latin typeface="Calibri"/>
              <a:ea typeface="Calibri"/>
              <a:cs typeface="Calibri"/>
              <a:sym typeface="Calibri"/>
            </a:endParaRPr>
          </a:p>
        </p:txBody>
      </p:sp>
      <p:sp>
        <p:nvSpPr>
          <p:cNvPr id="447" name="Google Shape;447;p11"/>
          <p:cNvSpPr txBox="1"/>
          <p:nvPr/>
        </p:nvSpPr>
        <p:spPr>
          <a:xfrm>
            <a:off x="7758815"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31 of 50</a:t>
            </a:r>
            <a:endParaRPr b="0" i="0" sz="750" u="none" cap="none" strike="noStrike">
              <a:solidFill>
                <a:schemeClr val="dk1"/>
              </a:solidFill>
              <a:latin typeface="Calibri"/>
              <a:ea typeface="Calibri"/>
              <a:cs typeface="Calibri"/>
              <a:sym typeface="Calibri"/>
            </a:endParaRPr>
          </a:p>
        </p:txBody>
      </p:sp>
      <p:sp>
        <p:nvSpPr>
          <p:cNvPr id="448" name="Google Shape;448;p11"/>
          <p:cNvSpPr/>
          <p:nvPr/>
        </p:nvSpPr>
        <p:spPr>
          <a:xfrm>
            <a:off x="8314378" y="4391406"/>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txBox="1"/>
          <p:nvPr/>
        </p:nvSpPr>
        <p:spPr>
          <a:xfrm>
            <a:off x="8360098"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a:t>
            </a:r>
            <a:endParaRPr b="0" i="0" sz="800" u="none" cap="none" strike="noStrike">
              <a:solidFill>
                <a:schemeClr val="dk1"/>
              </a:solidFill>
              <a:latin typeface="Calibri"/>
              <a:ea typeface="Calibri"/>
              <a:cs typeface="Calibri"/>
              <a:sym typeface="Calibri"/>
            </a:endParaRPr>
          </a:p>
        </p:txBody>
      </p:sp>
      <p:sp>
        <p:nvSpPr>
          <p:cNvPr id="450" name="Google Shape;450;p11"/>
          <p:cNvSpPr txBox="1"/>
          <p:nvPr/>
        </p:nvSpPr>
        <p:spPr>
          <a:xfrm>
            <a:off x="8533834"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33 of 50</a:t>
            </a:r>
            <a:endParaRPr b="0" i="0" sz="750" u="none" cap="none" strike="noStrike">
              <a:solidFill>
                <a:schemeClr val="dk1"/>
              </a:solidFill>
              <a:latin typeface="Calibri"/>
              <a:ea typeface="Calibri"/>
              <a:cs typeface="Calibri"/>
              <a:sym typeface="Calibri"/>
            </a:endParaRPr>
          </a:p>
        </p:txBody>
      </p:sp>
      <p:sp>
        <p:nvSpPr>
          <p:cNvPr id="451" name="Google Shape;451;p11"/>
          <p:cNvSpPr/>
          <p:nvPr/>
        </p:nvSpPr>
        <p:spPr>
          <a:xfrm>
            <a:off x="9089397" y="4391406"/>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txBox="1"/>
          <p:nvPr/>
        </p:nvSpPr>
        <p:spPr>
          <a:xfrm>
            <a:off x="9135117"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3</a:t>
            </a:r>
            <a:endParaRPr b="0" i="0" sz="800" u="none" cap="none" strike="noStrike">
              <a:solidFill>
                <a:schemeClr val="dk1"/>
              </a:solidFill>
              <a:latin typeface="Calibri"/>
              <a:ea typeface="Calibri"/>
              <a:cs typeface="Calibri"/>
              <a:sym typeface="Calibri"/>
            </a:endParaRPr>
          </a:p>
        </p:txBody>
      </p:sp>
      <p:sp>
        <p:nvSpPr>
          <p:cNvPr id="453" name="Google Shape;453;p11"/>
          <p:cNvSpPr txBox="1"/>
          <p:nvPr/>
        </p:nvSpPr>
        <p:spPr>
          <a:xfrm>
            <a:off x="9308853"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38 of 50</a:t>
            </a:r>
            <a:endParaRPr b="0" i="0" sz="750" u="none" cap="none" strike="noStrike">
              <a:solidFill>
                <a:schemeClr val="dk1"/>
              </a:solidFill>
              <a:latin typeface="Calibri"/>
              <a:ea typeface="Calibri"/>
              <a:cs typeface="Calibri"/>
              <a:sym typeface="Calibri"/>
            </a:endParaRPr>
          </a:p>
        </p:txBody>
      </p:sp>
      <p:sp>
        <p:nvSpPr>
          <p:cNvPr id="454" name="Google Shape;454;p11"/>
          <p:cNvSpPr/>
          <p:nvPr/>
        </p:nvSpPr>
        <p:spPr>
          <a:xfrm>
            <a:off x="9864417" y="4391406"/>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txBox="1"/>
          <p:nvPr/>
        </p:nvSpPr>
        <p:spPr>
          <a:xfrm>
            <a:off x="9910137"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4</a:t>
            </a:r>
            <a:endParaRPr b="0" i="0" sz="800" u="none" cap="none" strike="noStrike">
              <a:solidFill>
                <a:schemeClr val="dk1"/>
              </a:solidFill>
              <a:latin typeface="Calibri"/>
              <a:ea typeface="Calibri"/>
              <a:cs typeface="Calibri"/>
              <a:sym typeface="Calibri"/>
            </a:endParaRPr>
          </a:p>
        </p:txBody>
      </p:sp>
      <p:sp>
        <p:nvSpPr>
          <p:cNvPr id="456" name="Google Shape;456;p11"/>
          <p:cNvSpPr txBox="1"/>
          <p:nvPr/>
        </p:nvSpPr>
        <p:spPr>
          <a:xfrm>
            <a:off x="10083873"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57" name="Google Shape;457;p11"/>
          <p:cNvSpPr/>
          <p:nvPr/>
        </p:nvSpPr>
        <p:spPr>
          <a:xfrm>
            <a:off x="10639436" y="4391406"/>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txBox="1"/>
          <p:nvPr/>
        </p:nvSpPr>
        <p:spPr>
          <a:xfrm>
            <a:off x="10685156" y="4391406"/>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5</a:t>
            </a:r>
            <a:endParaRPr b="0" i="0" sz="800" u="none" cap="none" strike="noStrike">
              <a:solidFill>
                <a:schemeClr val="dk1"/>
              </a:solidFill>
              <a:latin typeface="Calibri"/>
              <a:ea typeface="Calibri"/>
              <a:cs typeface="Calibri"/>
              <a:sym typeface="Calibri"/>
            </a:endParaRPr>
          </a:p>
        </p:txBody>
      </p:sp>
      <p:sp>
        <p:nvSpPr>
          <p:cNvPr id="459" name="Google Shape;459;p11"/>
          <p:cNvSpPr txBox="1"/>
          <p:nvPr/>
        </p:nvSpPr>
        <p:spPr>
          <a:xfrm>
            <a:off x="10858892" y="4391406"/>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60" name="Google Shape;460;p11"/>
          <p:cNvSpPr/>
          <p:nvPr/>
        </p:nvSpPr>
        <p:spPr>
          <a:xfrm>
            <a:off x="5989320"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txBox="1"/>
          <p:nvPr/>
        </p:nvSpPr>
        <p:spPr>
          <a:xfrm>
            <a:off x="6035040"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6</a:t>
            </a:r>
            <a:endParaRPr b="0" i="0" sz="800" u="none" cap="none" strike="noStrike">
              <a:solidFill>
                <a:schemeClr val="dk1"/>
              </a:solidFill>
              <a:latin typeface="Calibri"/>
              <a:ea typeface="Calibri"/>
              <a:cs typeface="Calibri"/>
              <a:sym typeface="Calibri"/>
            </a:endParaRPr>
          </a:p>
        </p:txBody>
      </p:sp>
      <p:sp>
        <p:nvSpPr>
          <p:cNvPr id="462" name="Google Shape;462;p11"/>
          <p:cNvSpPr txBox="1"/>
          <p:nvPr/>
        </p:nvSpPr>
        <p:spPr>
          <a:xfrm>
            <a:off x="6208776"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63" name="Google Shape;463;p11"/>
          <p:cNvSpPr/>
          <p:nvPr/>
        </p:nvSpPr>
        <p:spPr>
          <a:xfrm>
            <a:off x="6764339"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txBox="1"/>
          <p:nvPr/>
        </p:nvSpPr>
        <p:spPr>
          <a:xfrm>
            <a:off x="6810059"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7</a:t>
            </a:r>
            <a:endParaRPr b="0" i="0" sz="800" u="none" cap="none" strike="noStrike">
              <a:solidFill>
                <a:schemeClr val="dk1"/>
              </a:solidFill>
              <a:latin typeface="Calibri"/>
              <a:ea typeface="Calibri"/>
              <a:cs typeface="Calibri"/>
              <a:sym typeface="Calibri"/>
            </a:endParaRPr>
          </a:p>
        </p:txBody>
      </p:sp>
      <p:sp>
        <p:nvSpPr>
          <p:cNvPr id="465" name="Google Shape;465;p11"/>
          <p:cNvSpPr txBox="1"/>
          <p:nvPr/>
        </p:nvSpPr>
        <p:spPr>
          <a:xfrm>
            <a:off x="6983795"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66" name="Google Shape;466;p11"/>
          <p:cNvSpPr/>
          <p:nvPr/>
        </p:nvSpPr>
        <p:spPr>
          <a:xfrm>
            <a:off x="7539359" y="4678070"/>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txBox="1"/>
          <p:nvPr/>
        </p:nvSpPr>
        <p:spPr>
          <a:xfrm>
            <a:off x="7585079"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8</a:t>
            </a:r>
            <a:endParaRPr b="0" i="0" sz="800" u="none" cap="none" strike="noStrike">
              <a:solidFill>
                <a:schemeClr val="dk1"/>
              </a:solidFill>
              <a:latin typeface="Calibri"/>
              <a:ea typeface="Calibri"/>
              <a:cs typeface="Calibri"/>
              <a:sym typeface="Calibri"/>
            </a:endParaRPr>
          </a:p>
        </p:txBody>
      </p:sp>
      <p:sp>
        <p:nvSpPr>
          <p:cNvPr id="468" name="Google Shape;468;p11"/>
          <p:cNvSpPr txBox="1"/>
          <p:nvPr/>
        </p:nvSpPr>
        <p:spPr>
          <a:xfrm>
            <a:off x="7758815"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29 of 50</a:t>
            </a:r>
            <a:endParaRPr b="0" i="0" sz="750" u="none" cap="none" strike="noStrike">
              <a:solidFill>
                <a:schemeClr val="dk1"/>
              </a:solidFill>
              <a:latin typeface="Calibri"/>
              <a:ea typeface="Calibri"/>
              <a:cs typeface="Calibri"/>
              <a:sym typeface="Calibri"/>
            </a:endParaRPr>
          </a:p>
        </p:txBody>
      </p:sp>
      <p:sp>
        <p:nvSpPr>
          <p:cNvPr id="469" name="Google Shape;469;p11"/>
          <p:cNvSpPr/>
          <p:nvPr/>
        </p:nvSpPr>
        <p:spPr>
          <a:xfrm>
            <a:off x="8314378" y="4678070"/>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txBox="1"/>
          <p:nvPr/>
        </p:nvSpPr>
        <p:spPr>
          <a:xfrm>
            <a:off x="8360098"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9</a:t>
            </a:r>
            <a:endParaRPr b="0" i="0" sz="800" u="none" cap="none" strike="noStrike">
              <a:solidFill>
                <a:schemeClr val="dk1"/>
              </a:solidFill>
              <a:latin typeface="Calibri"/>
              <a:ea typeface="Calibri"/>
              <a:cs typeface="Calibri"/>
              <a:sym typeface="Calibri"/>
            </a:endParaRPr>
          </a:p>
        </p:txBody>
      </p:sp>
      <p:sp>
        <p:nvSpPr>
          <p:cNvPr id="471" name="Google Shape;471;p11"/>
          <p:cNvSpPr txBox="1"/>
          <p:nvPr/>
        </p:nvSpPr>
        <p:spPr>
          <a:xfrm>
            <a:off x="8533834"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36 of 50</a:t>
            </a:r>
            <a:endParaRPr b="0" i="0" sz="750" u="none" cap="none" strike="noStrike">
              <a:solidFill>
                <a:schemeClr val="dk1"/>
              </a:solidFill>
              <a:latin typeface="Calibri"/>
              <a:ea typeface="Calibri"/>
              <a:cs typeface="Calibri"/>
              <a:sym typeface="Calibri"/>
            </a:endParaRPr>
          </a:p>
        </p:txBody>
      </p:sp>
      <p:sp>
        <p:nvSpPr>
          <p:cNvPr id="472" name="Google Shape;472;p11"/>
          <p:cNvSpPr/>
          <p:nvPr/>
        </p:nvSpPr>
        <p:spPr>
          <a:xfrm>
            <a:off x="9089397" y="4678070"/>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
          <p:cNvSpPr txBox="1"/>
          <p:nvPr/>
        </p:nvSpPr>
        <p:spPr>
          <a:xfrm>
            <a:off x="9135117"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10</a:t>
            </a:r>
            <a:endParaRPr b="0" i="0" sz="800" u="none" cap="none" strike="noStrike">
              <a:solidFill>
                <a:schemeClr val="dk1"/>
              </a:solidFill>
              <a:latin typeface="Calibri"/>
              <a:ea typeface="Calibri"/>
              <a:cs typeface="Calibri"/>
              <a:sym typeface="Calibri"/>
            </a:endParaRPr>
          </a:p>
        </p:txBody>
      </p:sp>
      <p:sp>
        <p:nvSpPr>
          <p:cNvPr id="474" name="Google Shape;474;p11"/>
          <p:cNvSpPr txBox="1"/>
          <p:nvPr/>
        </p:nvSpPr>
        <p:spPr>
          <a:xfrm>
            <a:off x="9308853"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40 of 50</a:t>
            </a:r>
            <a:endParaRPr b="0" i="0" sz="750" u="none" cap="none" strike="noStrike">
              <a:solidFill>
                <a:schemeClr val="dk1"/>
              </a:solidFill>
              <a:latin typeface="Calibri"/>
              <a:ea typeface="Calibri"/>
              <a:cs typeface="Calibri"/>
              <a:sym typeface="Calibri"/>
            </a:endParaRPr>
          </a:p>
        </p:txBody>
      </p:sp>
      <p:sp>
        <p:nvSpPr>
          <p:cNvPr id="475" name="Google Shape;475;p11"/>
          <p:cNvSpPr/>
          <p:nvPr/>
        </p:nvSpPr>
        <p:spPr>
          <a:xfrm>
            <a:off x="9864417"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txBox="1"/>
          <p:nvPr/>
        </p:nvSpPr>
        <p:spPr>
          <a:xfrm>
            <a:off x="9910137"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11</a:t>
            </a:r>
            <a:endParaRPr b="0" i="0" sz="800" u="none" cap="none" strike="noStrike">
              <a:solidFill>
                <a:schemeClr val="dk1"/>
              </a:solidFill>
              <a:latin typeface="Calibri"/>
              <a:ea typeface="Calibri"/>
              <a:cs typeface="Calibri"/>
              <a:sym typeface="Calibri"/>
            </a:endParaRPr>
          </a:p>
        </p:txBody>
      </p:sp>
      <p:sp>
        <p:nvSpPr>
          <p:cNvPr id="477" name="Google Shape;477;p11"/>
          <p:cNvSpPr txBox="1"/>
          <p:nvPr/>
        </p:nvSpPr>
        <p:spPr>
          <a:xfrm>
            <a:off x="10083873"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78" name="Google Shape;478;p11"/>
          <p:cNvSpPr/>
          <p:nvPr/>
        </p:nvSpPr>
        <p:spPr>
          <a:xfrm>
            <a:off x="10639436" y="4678070"/>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1"/>
          <p:cNvSpPr txBox="1"/>
          <p:nvPr/>
        </p:nvSpPr>
        <p:spPr>
          <a:xfrm>
            <a:off x="10685156" y="4678070"/>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12</a:t>
            </a:r>
            <a:endParaRPr b="0" i="0" sz="800" u="none" cap="none" strike="noStrike">
              <a:solidFill>
                <a:schemeClr val="dk1"/>
              </a:solidFill>
              <a:latin typeface="Calibri"/>
              <a:ea typeface="Calibri"/>
              <a:cs typeface="Calibri"/>
              <a:sym typeface="Calibri"/>
            </a:endParaRPr>
          </a:p>
        </p:txBody>
      </p:sp>
      <p:sp>
        <p:nvSpPr>
          <p:cNvPr id="480" name="Google Shape;480;p11"/>
          <p:cNvSpPr txBox="1"/>
          <p:nvPr/>
        </p:nvSpPr>
        <p:spPr>
          <a:xfrm>
            <a:off x="10858892" y="4678070"/>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81" name="Google Shape;481;p11"/>
          <p:cNvSpPr/>
          <p:nvPr/>
        </p:nvSpPr>
        <p:spPr>
          <a:xfrm>
            <a:off x="5989320"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txBox="1"/>
          <p:nvPr/>
        </p:nvSpPr>
        <p:spPr>
          <a:xfrm>
            <a:off x="6035040"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13</a:t>
            </a:r>
            <a:endParaRPr b="0" i="0" sz="800" u="none" cap="none" strike="noStrike">
              <a:solidFill>
                <a:schemeClr val="dk1"/>
              </a:solidFill>
              <a:latin typeface="Calibri"/>
              <a:ea typeface="Calibri"/>
              <a:cs typeface="Calibri"/>
              <a:sym typeface="Calibri"/>
            </a:endParaRPr>
          </a:p>
        </p:txBody>
      </p:sp>
      <p:sp>
        <p:nvSpPr>
          <p:cNvPr id="483" name="Google Shape;483;p11"/>
          <p:cNvSpPr txBox="1"/>
          <p:nvPr/>
        </p:nvSpPr>
        <p:spPr>
          <a:xfrm>
            <a:off x="6208776"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34 of 50</a:t>
            </a:r>
            <a:endParaRPr b="0" i="0" sz="750" u="none" cap="none" strike="noStrike">
              <a:solidFill>
                <a:schemeClr val="dk1"/>
              </a:solidFill>
              <a:latin typeface="Calibri"/>
              <a:ea typeface="Calibri"/>
              <a:cs typeface="Calibri"/>
              <a:sym typeface="Calibri"/>
            </a:endParaRPr>
          </a:p>
        </p:txBody>
      </p:sp>
      <p:sp>
        <p:nvSpPr>
          <p:cNvPr id="484" name="Google Shape;484;p11"/>
          <p:cNvSpPr/>
          <p:nvPr/>
        </p:nvSpPr>
        <p:spPr>
          <a:xfrm>
            <a:off x="6764339"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txBox="1"/>
          <p:nvPr/>
        </p:nvSpPr>
        <p:spPr>
          <a:xfrm>
            <a:off x="6810059"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14</a:t>
            </a:r>
            <a:endParaRPr b="0" i="0" sz="800" u="none" cap="none" strike="noStrike">
              <a:solidFill>
                <a:schemeClr val="dk1"/>
              </a:solidFill>
              <a:latin typeface="Calibri"/>
              <a:ea typeface="Calibri"/>
              <a:cs typeface="Calibri"/>
              <a:sym typeface="Calibri"/>
            </a:endParaRPr>
          </a:p>
        </p:txBody>
      </p:sp>
      <p:sp>
        <p:nvSpPr>
          <p:cNvPr id="486" name="Google Shape;486;p11"/>
          <p:cNvSpPr txBox="1"/>
          <p:nvPr/>
        </p:nvSpPr>
        <p:spPr>
          <a:xfrm>
            <a:off x="6983795"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28 of 50</a:t>
            </a:r>
            <a:endParaRPr b="0" i="0" sz="750" u="none" cap="none" strike="noStrike">
              <a:solidFill>
                <a:schemeClr val="dk1"/>
              </a:solidFill>
              <a:latin typeface="Calibri"/>
              <a:ea typeface="Calibri"/>
              <a:cs typeface="Calibri"/>
              <a:sym typeface="Calibri"/>
            </a:endParaRPr>
          </a:p>
        </p:txBody>
      </p:sp>
      <p:sp>
        <p:nvSpPr>
          <p:cNvPr id="487" name="Google Shape;487;p11"/>
          <p:cNvSpPr/>
          <p:nvPr/>
        </p:nvSpPr>
        <p:spPr>
          <a:xfrm>
            <a:off x="7539359"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1"/>
          <p:cNvSpPr txBox="1"/>
          <p:nvPr/>
        </p:nvSpPr>
        <p:spPr>
          <a:xfrm>
            <a:off x="7585079"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15</a:t>
            </a:r>
            <a:endParaRPr b="0" i="0" sz="800" u="none" cap="none" strike="noStrike">
              <a:solidFill>
                <a:schemeClr val="dk1"/>
              </a:solidFill>
              <a:latin typeface="Calibri"/>
              <a:ea typeface="Calibri"/>
              <a:cs typeface="Calibri"/>
              <a:sym typeface="Calibri"/>
            </a:endParaRPr>
          </a:p>
        </p:txBody>
      </p:sp>
      <p:sp>
        <p:nvSpPr>
          <p:cNvPr id="489" name="Google Shape;489;p11"/>
          <p:cNvSpPr txBox="1"/>
          <p:nvPr/>
        </p:nvSpPr>
        <p:spPr>
          <a:xfrm>
            <a:off x="7758815"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37 of 50</a:t>
            </a:r>
            <a:endParaRPr b="0" i="0" sz="750" u="none" cap="none" strike="noStrike">
              <a:solidFill>
                <a:schemeClr val="dk1"/>
              </a:solidFill>
              <a:latin typeface="Calibri"/>
              <a:ea typeface="Calibri"/>
              <a:cs typeface="Calibri"/>
              <a:sym typeface="Calibri"/>
            </a:endParaRPr>
          </a:p>
        </p:txBody>
      </p:sp>
      <p:sp>
        <p:nvSpPr>
          <p:cNvPr id="490" name="Google Shape;490;p11"/>
          <p:cNvSpPr/>
          <p:nvPr/>
        </p:nvSpPr>
        <p:spPr>
          <a:xfrm>
            <a:off x="8314378"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1"/>
          <p:cNvSpPr txBox="1"/>
          <p:nvPr/>
        </p:nvSpPr>
        <p:spPr>
          <a:xfrm>
            <a:off x="8360098"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16</a:t>
            </a:r>
            <a:endParaRPr b="0" i="0" sz="800" u="none" cap="none" strike="noStrike">
              <a:solidFill>
                <a:schemeClr val="dk1"/>
              </a:solidFill>
              <a:latin typeface="Calibri"/>
              <a:ea typeface="Calibri"/>
              <a:cs typeface="Calibri"/>
              <a:sym typeface="Calibri"/>
            </a:endParaRPr>
          </a:p>
        </p:txBody>
      </p:sp>
      <p:sp>
        <p:nvSpPr>
          <p:cNvPr id="492" name="Google Shape;492;p11"/>
          <p:cNvSpPr txBox="1"/>
          <p:nvPr/>
        </p:nvSpPr>
        <p:spPr>
          <a:xfrm>
            <a:off x="8533834"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41 of 50</a:t>
            </a:r>
            <a:endParaRPr b="0" i="0" sz="750" u="none" cap="none" strike="noStrike">
              <a:solidFill>
                <a:schemeClr val="dk1"/>
              </a:solidFill>
              <a:latin typeface="Calibri"/>
              <a:ea typeface="Calibri"/>
              <a:cs typeface="Calibri"/>
              <a:sym typeface="Calibri"/>
            </a:endParaRPr>
          </a:p>
        </p:txBody>
      </p:sp>
      <p:sp>
        <p:nvSpPr>
          <p:cNvPr id="493" name="Google Shape;493;p11"/>
          <p:cNvSpPr/>
          <p:nvPr/>
        </p:nvSpPr>
        <p:spPr>
          <a:xfrm>
            <a:off x="9089397" y="4964735"/>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1"/>
          <p:cNvSpPr txBox="1"/>
          <p:nvPr/>
        </p:nvSpPr>
        <p:spPr>
          <a:xfrm>
            <a:off x="9135117"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17</a:t>
            </a:r>
            <a:endParaRPr b="0" i="0" sz="800" u="none" cap="none" strike="noStrike">
              <a:solidFill>
                <a:schemeClr val="dk1"/>
              </a:solidFill>
              <a:latin typeface="Calibri"/>
              <a:ea typeface="Calibri"/>
              <a:cs typeface="Calibri"/>
              <a:sym typeface="Calibri"/>
            </a:endParaRPr>
          </a:p>
        </p:txBody>
      </p:sp>
      <p:sp>
        <p:nvSpPr>
          <p:cNvPr id="495" name="Google Shape;495;p11"/>
          <p:cNvSpPr txBox="1"/>
          <p:nvPr/>
        </p:nvSpPr>
        <p:spPr>
          <a:xfrm>
            <a:off x="9308853"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33 of 50</a:t>
            </a:r>
            <a:endParaRPr b="0" i="0" sz="750" u="none" cap="none" strike="noStrike">
              <a:solidFill>
                <a:schemeClr val="dk1"/>
              </a:solidFill>
              <a:latin typeface="Calibri"/>
              <a:ea typeface="Calibri"/>
              <a:cs typeface="Calibri"/>
              <a:sym typeface="Calibri"/>
            </a:endParaRPr>
          </a:p>
        </p:txBody>
      </p:sp>
      <p:sp>
        <p:nvSpPr>
          <p:cNvPr id="496" name="Google Shape;496;p11"/>
          <p:cNvSpPr/>
          <p:nvPr/>
        </p:nvSpPr>
        <p:spPr>
          <a:xfrm>
            <a:off x="9864417" y="4964735"/>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1"/>
          <p:cNvSpPr txBox="1"/>
          <p:nvPr/>
        </p:nvSpPr>
        <p:spPr>
          <a:xfrm>
            <a:off x="9910137"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18</a:t>
            </a:r>
            <a:endParaRPr b="0" i="0" sz="800" u="none" cap="none" strike="noStrike">
              <a:solidFill>
                <a:schemeClr val="dk1"/>
              </a:solidFill>
              <a:latin typeface="Calibri"/>
              <a:ea typeface="Calibri"/>
              <a:cs typeface="Calibri"/>
              <a:sym typeface="Calibri"/>
            </a:endParaRPr>
          </a:p>
        </p:txBody>
      </p:sp>
      <p:sp>
        <p:nvSpPr>
          <p:cNvPr id="498" name="Google Shape;498;p11"/>
          <p:cNvSpPr txBox="1"/>
          <p:nvPr/>
        </p:nvSpPr>
        <p:spPr>
          <a:xfrm>
            <a:off x="10083873"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499" name="Google Shape;499;p11"/>
          <p:cNvSpPr/>
          <p:nvPr/>
        </p:nvSpPr>
        <p:spPr>
          <a:xfrm>
            <a:off x="10639436" y="4964735"/>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1"/>
          <p:cNvSpPr txBox="1"/>
          <p:nvPr/>
        </p:nvSpPr>
        <p:spPr>
          <a:xfrm>
            <a:off x="10685156" y="4964735"/>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19</a:t>
            </a:r>
            <a:endParaRPr b="0" i="0" sz="800" u="none" cap="none" strike="noStrike">
              <a:solidFill>
                <a:schemeClr val="dk1"/>
              </a:solidFill>
              <a:latin typeface="Calibri"/>
              <a:ea typeface="Calibri"/>
              <a:cs typeface="Calibri"/>
              <a:sym typeface="Calibri"/>
            </a:endParaRPr>
          </a:p>
        </p:txBody>
      </p:sp>
      <p:sp>
        <p:nvSpPr>
          <p:cNvPr id="501" name="Google Shape;501;p11"/>
          <p:cNvSpPr txBox="1"/>
          <p:nvPr/>
        </p:nvSpPr>
        <p:spPr>
          <a:xfrm>
            <a:off x="10858892" y="4964735"/>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502" name="Google Shape;502;p11"/>
          <p:cNvSpPr/>
          <p:nvPr/>
        </p:nvSpPr>
        <p:spPr>
          <a:xfrm>
            <a:off x="5989320"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1"/>
          <p:cNvSpPr txBox="1"/>
          <p:nvPr/>
        </p:nvSpPr>
        <p:spPr>
          <a:xfrm>
            <a:off x="6035040"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20</a:t>
            </a:r>
            <a:endParaRPr b="0" i="0" sz="800" u="none" cap="none" strike="noStrike">
              <a:solidFill>
                <a:schemeClr val="dk1"/>
              </a:solidFill>
              <a:latin typeface="Calibri"/>
              <a:ea typeface="Calibri"/>
              <a:cs typeface="Calibri"/>
              <a:sym typeface="Calibri"/>
            </a:endParaRPr>
          </a:p>
        </p:txBody>
      </p:sp>
      <p:sp>
        <p:nvSpPr>
          <p:cNvPr id="504" name="Google Shape;504;p11"/>
          <p:cNvSpPr txBox="1"/>
          <p:nvPr/>
        </p:nvSpPr>
        <p:spPr>
          <a:xfrm>
            <a:off x="6208776"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30 of 50</a:t>
            </a:r>
            <a:endParaRPr b="0" i="0" sz="750" u="none" cap="none" strike="noStrike">
              <a:solidFill>
                <a:schemeClr val="dk1"/>
              </a:solidFill>
              <a:latin typeface="Calibri"/>
              <a:ea typeface="Calibri"/>
              <a:cs typeface="Calibri"/>
              <a:sym typeface="Calibri"/>
            </a:endParaRPr>
          </a:p>
        </p:txBody>
      </p:sp>
      <p:sp>
        <p:nvSpPr>
          <p:cNvPr id="505" name="Google Shape;505;p11"/>
          <p:cNvSpPr/>
          <p:nvPr/>
        </p:nvSpPr>
        <p:spPr>
          <a:xfrm>
            <a:off x="6764339"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txBox="1"/>
          <p:nvPr/>
        </p:nvSpPr>
        <p:spPr>
          <a:xfrm>
            <a:off x="6810059"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21</a:t>
            </a:r>
            <a:endParaRPr b="0" i="0" sz="800" u="none" cap="none" strike="noStrike">
              <a:solidFill>
                <a:schemeClr val="dk1"/>
              </a:solidFill>
              <a:latin typeface="Calibri"/>
              <a:ea typeface="Calibri"/>
              <a:cs typeface="Calibri"/>
              <a:sym typeface="Calibri"/>
            </a:endParaRPr>
          </a:p>
        </p:txBody>
      </p:sp>
      <p:sp>
        <p:nvSpPr>
          <p:cNvPr id="507" name="Google Shape;507;p11"/>
          <p:cNvSpPr txBox="1"/>
          <p:nvPr/>
        </p:nvSpPr>
        <p:spPr>
          <a:xfrm>
            <a:off x="6983795"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39 of 50</a:t>
            </a:r>
            <a:endParaRPr b="0" i="0" sz="750" u="none" cap="none" strike="noStrike">
              <a:solidFill>
                <a:schemeClr val="dk1"/>
              </a:solidFill>
              <a:latin typeface="Calibri"/>
              <a:ea typeface="Calibri"/>
              <a:cs typeface="Calibri"/>
              <a:sym typeface="Calibri"/>
            </a:endParaRPr>
          </a:p>
        </p:txBody>
      </p:sp>
      <p:sp>
        <p:nvSpPr>
          <p:cNvPr id="508" name="Google Shape;508;p11"/>
          <p:cNvSpPr/>
          <p:nvPr/>
        </p:nvSpPr>
        <p:spPr>
          <a:xfrm>
            <a:off x="7539359"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
          <p:cNvSpPr txBox="1"/>
          <p:nvPr/>
        </p:nvSpPr>
        <p:spPr>
          <a:xfrm>
            <a:off x="7585079"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22</a:t>
            </a:r>
            <a:endParaRPr b="0" i="0" sz="800" u="none" cap="none" strike="noStrike">
              <a:solidFill>
                <a:schemeClr val="dk1"/>
              </a:solidFill>
              <a:latin typeface="Calibri"/>
              <a:ea typeface="Calibri"/>
              <a:cs typeface="Calibri"/>
              <a:sym typeface="Calibri"/>
            </a:endParaRPr>
          </a:p>
        </p:txBody>
      </p:sp>
      <p:sp>
        <p:nvSpPr>
          <p:cNvPr id="510" name="Google Shape;510;p11"/>
          <p:cNvSpPr txBox="1"/>
          <p:nvPr/>
        </p:nvSpPr>
        <p:spPr>
          <a:xfrm>
            <a:off x="7758815"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35 of 50</a:t>
            </a:r>
            <a:endParaRPr b="0" i="0" sz="750" u="none" cap="none" strike="noStrike">
              <a:solidFill>
                <a:schemeClr val="dk1"/>
              </a:solidFill>
              <a:latin typeface="Calibri"/>
              <a:ea typeface="Calibri"/>
              <a:cs typeface="Calibri"/>
              <a:sym typeface="Calibri"/>
            </a:endParaRPr>
          </a:p>
        </p:txBody>
      </p:sp>
      <p:sp>
        <p:nvSpPr>
          <p:cNvPr id="511" name="Google Shape;511;p11"/>
          <p:cNvSpPr/>
          <p:nvPr/>
        </p:nvSpPr>
        <p:spPr>
          <a:xfrm>
            <a:off x="8314378"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1"/>
          <p:cNvSpPr txBox="1"/>
          <p:nvPr/>
        </p:nvSpPr>
        <p:spPr>
          <a:xfrm>
            <a:off x="8360098"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23</a:t>
            </a:r>
            <a:endParaRPr b="0" i="0" sz="800" u="none" cap="none" strike="noStrike">
              <a:solidFill>
                <a:schemeClr val="dk1"/>
              </a:solidFill>
              <a:latin typeface="Calibri"/>
              <a:ea typeface="Calibri"/>
              <a:cs typeface="Calibri"/>
              <a:sym typeface="Calibri"/>
            </a:endParaRPr>
          </a:p>
        </p:txBody>
      </p:sp>
      <p:sp>
        <p:nvSpPr>
          <p:cNvPr id="513" name="Google Shape;513;p11"/>
          <p:cNvSpPr txBox="1"/>
          <p:nvPr/>
        </p:nvSpPr>
        <p:spPr>
          <a:xfrm>
            <a:off x="8533834"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36 of 50</a:t>
            </a:r>
            <a:endParaRPr b="0" i="0" sz="750" u="none" cap="none" strike="noStrike">
              <a:solidFill>
                <a:schemeClr val="dk1"/>
              </a:solidFill>
              <a:latin typeface="Calibri"/>
              <a:ea typeface="Calibri"/>
              <a:cs typeface="Calibri"/>
              <a:sym typeface="Calibri"/>
            </a:endParaRPr>
          </a:p>
        </p:txBody>
      </p:sp>
      <p:sp>
        <p:nvSpPr>
          <p:cNvPr id="514" name="Google Shape;514;p11"/>
          <p:cNvSpPr/>
          <p:nvPr/>
        </p:nvSpPr>
        <p:spPr>
          <a:xfrm>
            <a:off x="9089397" y="5251399"/>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1"/>
          <p:cNvSpPr txBox="1"/>
          <p:nvPr/>
        </p:nvSpPr>
        <p:spPr>
          <a:xfrm>
            <a:off x="9135117"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24</a:t>
            </a:r>
            <a:endParaRPr b="0" i="0" sz="800" u="none" cap="none" strike="noStrike">
              <a:solidFill>
                <a:schemeClr val="dk1"/>
              </a:solidFill>
              <a:latin typeface="Calibri"/>
              <a:ea typeface="Calibri"/>
              <a:cs typeface="Calibri"/>
              <a:sym typeface="Calibri"/>
            </a:endParaRPr>
          </a:p>
        </p:txBody>
      </p:sp>
      <p:sp>
        <p:nvSpPr>
          <p:cNvPr id="516" name="Google Shape;516;p11"/>
          <p:cNvSpPr txBox="1"/>
          <p:nvPr/>
        </p:nvSpPr>
        <p:spPr>
          <a:xfrm>
            <a:off x="9308853"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32 of 50</a:t>
            </a:r>
            <a:endParaRPr b="0" i="0" sz="750" u="none" cap="none" strike="noStrike">
              <a:solidFill>
                <a:schemeClr val="dk1"/>
              </a:solidFill>
              <a:latin typeface="Calibri"/>
              <a:ea typeface="Calibri"/>
              <a:cs typeface="Calibri"/>
              <a:sym typeface="Calibri"/>
            </a:endParaRPr>
          </a:p>
        </p:txBody>
      </p:sp>
      <p:sp>
        <p:nvSpPr>
          <p:cNvPr id="517" name="Google Shape;517;p11"/>
          <p:cNvSpPr/>
          <p:nvPr/>
        </p:nvSpPr>
        <p:spPr>
          <a:xfrm>
            <a:off x="9864417" y="5251399"/>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txBox="1"/>
          <p:nvPr/>
        </p:nvSpPr>
        <p:spPr>
          <a:xfrm>
            <a:off x="9910137"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25</a:t>
            </a:r>
            <a:endParaRPr b="0" i="0" sz="800" u="none" cap="none" strike="noStrike">
              <a:solidFill>
                <a:schemeClr val="dk1"/>
              </a:solidFill>
              <a:latin typeface="Calibri"/>
              <a:ea typeface="Calibri"/>
              <a:cs typeface="Calibri"/>
              <a:sym typeface="Calibri"/>
            </a:endParaRPr>
          </a:p>
        </p:txBody>
      </p:sp>
      <p:sp>
        <p:nvSpPr>
          <p:cNvPr id="519" name="Google Shape;519;p11"/>
          <p:cNvSpPr txBox="1"/>
          <p:nvPr/>
        </p:nvSpPr>
        <p:spPr>
          <a:xfrm>
            <a:off x="10083873"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520" name="Google Shape;520;p11"/>
          <p:cNvSpPr/>
          <p:nvPr/>
        </p:nvSpPr>
        <p:spPr>
          <a:xfrm>
            <a:off x="10639436" y="5251399"/>
            <a:ext cx="729299" cy="240944"/>
          </a:xfrm>
          <a:prstGeom prst="roundRect">
            <a:avLst>
              <a:gd fmla="val 1897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1"/>
          <p:cNvSpPr txBox="1"/>
          <p:nvPr/>
        </p:nvSpPr>
        <p:spPr>
          <a:xfrm>
            <a:off x="10685156" y="5251399"/>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26</a:t>
            </a:r>
            <a:endParaRPr b="0" i="0" sz="800" u="none" cap="none" strike="noStrike">
              <a:solidFill>
                <a:schemeClr val="dk1"/>
              </a:solidFill>
              <a:latin typeface="Calibri"/>
              <a:ea typeface="Calibri"/>
              <a:cs typeface="Calibri"/>
              <a:sym typeface="Calibri"/>
            </a:endParaRPr>
          </a:p>
        </p:txBody>
      </p:sp>
      <p:sp>
        <p:nvSpPr>
          <p:cNvPr id="522" name="Google Shape;522;p11"/>
          <p:cNvSpPr txBox="1"/>
          <p:nvPr/>
        </p:nvSpPr>
        <p:spPr>
          <a:xfrm>
            <a:off x="10858892" y="5251399"/>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50 of 50</a:t>
            </a:r>
            <a:endParaRPr b="0" i="0" sz="750" u="none" cap="none" strike="noStrike">
              <a:solidFill>
                <a:schemeClr val="dk1"/>
              </a:solidFill>
              <a:latin typeface="Calibri"/>
              <a:ea typeface="Calibri"/>
              <a:cs typeface="Calibri"/>
              <a:sym typeface="Calibri"/>
            </a:endParaRPr>
          </a:p>
        </p:txBody>
      </p:sp>
      <p:sp>
        <p:nvSpPr>
          <p:cNvPr id="523" name="Google Shape;523;p11"/>
          <p:cNvSpPr/>
          <p:nvPr/>
        </p:nvSpPr>
        <p:spPr>
          <a:xfrm>
            <a:off x="5989320"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1"/>
          <p:cNvSpPr txBox="1"/>
          <p:nvPr/>
        </p:nvSpPr>
        <p:spPr>
          <a:xfrm>
            <a:off x="6035040"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27</a:t>
            </a:r>
            <a:endParaRPr b="0" i="0" sz="800" u="none" cap="none" strike="noStrike">
              <a:solidFill>
                <a:schemeClr val="dk1"/>
              </a:solidFill>
              <a:latin typeface="Calibri"/>
              <a:ea typeface="Calibri"/>
              <a:cs typeface="Calibri"/>
              <a:sym typeface="Calibri"/>
            </a:endParaRPr>
          </a:p>
        </p:txBody>
      </p:sp>
      <p:sp>
        <p:nvSpPr>
          <p:cNvPr id="525" name="Google Shape;525;p11"/>
          <p:cNvSpPr txBox="1"/>
          <p:nvPr/>
        </p:nvSpPr>
        <p:spPr>
          <a:xfrm>
            <a:off x="6208776"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38 of 50</a:t>
            </a:r>
            <a:endParaRPr b="0" i="0" sz="750" u="none" cap="none" strike="noStrike">
              <a:solidFill>
                <a:schemeClr val="dk1"/>
              </a:solidFill>
              <a:latin typeface="Calibri"/>
              <a:ea typeface="Calibri"/>
              <a:cs typeface="Calibri"/>
              <a:sym typeface="Calibri"/>
            </a:endParaRPr>
          </a:p>
        </p:txBody>
      </p:sp>
      <p:sp>
        <p:nvSpPr>
          <p:cNvPr id="526" name="Google Shape;526;p11"/>
          <p:cNvSpPr/>
          <p:nvPr/>
        </p:nvSpPr>
        <p:spPr>
          <a:xfrm>
            <a:off x="6764339"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1"/>
          <p:cNvSpPr txBox="1"/>
          <p:nvPr/>
        </p:nvSpPr>
        <p:spPr>
          <a:xfrm>
            <a:off x="6810059"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28</a:t>
            </a:r>
            <a:endParaRPr b="0" i="0" sz="800" u="none" cap="none" strike="noStrike">
              <a:solidFill>
                <a:schemeClr val="dk1"/>
              </a:solidFill>
              <a:latin typeface="Calibri"/>
              <a:ea typeface="Calibri"/>
              <a:cs typeface="Calibri"/>
              <a:sym typeface="Calibri"/>
            </a:endParaRPr>
          </a:p>
        </p:txBody>
      </p:sp>
      <p:sp>
        <p:nvSpPr>
          <p:cNvPr id="528" name="Google Shape;528;p11"/>
          <p:cNvSpPr txBox="1"/>
          <p:nvPr/>
        </p:nvSpPr>
        <p:spPr>
          <a:xfrm>
            <a:off x="6983795"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34 of 50</a:t>
            </a:r>
            <a:endParaRPr b="0" i="0" sz="750" u="none" cap="none" strike="noStrike">
              <a:solidFill>
                <a:schemeClr val="dk1"/>
              </a:solidFill>
              <a:latin typeface="Calibri"/>
              <a:ea typeface="Calibri"/>
              <a:cs typeface="Calibri"/>
              <a:sym typeface="Calibri"/>
            </a:endParaRPr>
          </a:p>
        </p:txBody>
      </p:sp>
      <p:sp>
        <p:nvSpPr>
          <p:cNvPr id="529" name="Google Shape;529;p11"/>
          <p:cNvSpPr/>
          <p:nvPr/>
        </p:nvSpPr>
        <p:spPr>
          <a:xfrm>
            <a:off x="7539359"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1"/>
          <p:cNvSpPr txBox="1"/>
          <p:nvPr/>
        </p:nvSpPr>
        <p:spPr>
          <a:xfrm>
            <a:off x="7585079"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29</a:t>
            </a:r>
            <a:endParaRPr b="0" i="0" sz="800" u="none" cap="none" strike="noStrike">
              <a:solidFill>
                <a:schemeClr val="dk1"/>
              </a:solidFill>
              <a:latin typeface="Calibri"/>
              <a:ea typeface="Calibri"/>
              <a:cs typeface="Calibri"/>
              <a:sym typeface="Calibri"/>
            </a:endParaRPr>
          </a:p>
        </p:txBody>
      </p:sp>
      <p:sp>
        <p:nvSpPr>
          <p:cNvPr id="531" name="Google Shape;531;p11"/>
          <p:cNvSpPr txBox="1"/>
          <p:nvPr/>
        </p:nvSpPr>
        <p:spPr>
          <a:xfrm>
            <a:off x="7758815"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42 of 50</a:t>
            </a:r>
            <a:endParaRPr b="0" i="0" sz="750" u="none" cap="none" strike="noStrike">
              <a:solidFill>
                <a:schemeClr val="dk1"/>
              </a:solidFill>
              <a:latin typeface="Calibri"/>
              <a:ea typeface="Calibri"/>
              <a:cs typeface="Calibri"/>
              <a:sym typeface="Calibri"/>
            </a:endParaRPr>
          </a:p>
        </p:txBody>
      </p:sp>
      <p:sp>
        <p:nvSpPr>
          <p:cNvPr id="532" name="Google Shape;532;p11"/>
          <p:cNvSpPr/>
          <p:nvPr/>
        </p:nvSpPr>
        <p:spPr>
          <a:xfrm>
            <a:off x="8314378" y="5538064"/>
            <a:ext cx="729299" cy="240944"/>
          </a:xfrm>
          <a:prstGeom prst="roundRect">
            <a:avLst>
              <a:gd fmla="val 1897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1"/>
          <p:cNvSpPr txBox="1"/>
          <p:nvPr/>
        </p:nvSpPr>
        <p:spPr>
          <a:xfrm>
            <a:off x="8360098" y="5538064"/>
            <a:ext cx="219456" cy="2409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800"/>
              <a:buFont typeface="Roboto Mono"/>
              <a:buNone/>
            </a:pPr>
            <a:r>
              <a:rPr b="1" i="0" lang="en-US" sz="800" u="none" cap="none" strike="noStrike">
                <a:solidFill>
                  <a:srgbClr val="004FAA"/>
                </a:solidFill>
                <a:latin typeface="Roboto Mono"/>
                <a:ea typeface="Roboto Mono"/>
                <a:cs typeface="Roboto Mono"/>
                <a:sym typeface="Roboto Mono"/>
              </a:rPr>
              <a:t>30</a:t>
            </a:r>
            <a:endParaRPr b="0" i="0" sz="800" u="none" cap="none" strike="noStrike">
              <a:solidFill>
                <a:schemeClr val="dk1"/>
              </a:solidFill>
              <a:latin typeface="Calibri"/>
              <a:ea typeface="Calibri"/>
              <a:cs typeface="Calibri"/>
              <a:sym typeface="Calibri"/>
            </a:endParaRPr>
          </a:p>
        </p:txBody>
      </p:sp>
      <p:sp>
        <p:nvSpPr>
          <p:cNvPr id="534" name="Google Shape;534;p11"/>
          <p:cNvSpPr txBox="1"/>
          <p:nvPr/>
        </p:nvSpPr>
        <p:spPr>
          <a:xfrm>
            <a:off x="8533834" y="5538064"/>
            <a:ext cx="464123" cy="240944"/>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004FAA"/>
              </a:buClr>
              <a:buSzPts val="750"/>
              <a:buFont typeface="Roboto Mono"/>
              <a:buNone/>
            </a:pPr>
            <a:r>
              <a:rPr b="0" i="0" lang="en-US" sz="750" u="none" cap="none" strike="noStrike">
                <a:solidFill>
                  <a:srgbClr val="004FAA"/>
                </a:solidFill>
                <a:latin typeface="Roboto Mono"/>
                <a:ea typeface="Roboto Mono"/>
                <a:cs typeface="Roboto Mono"/>
                <a:sym typeface="Roboto Mono"/>
              </a:rPr>
              <a:t>34 of 50</a:t>
            </a:r>
            <a:endParaRPr b="0" i="0" sz="750" u="none" cap="none" strike="noStrike">
              <a:solidFill>
                <a:schemeClr val="dk1"/>
              </a:solidFill>
              <a:latin typeface="Calibri"/>
              <a:ea typeface="Calibri"/>
              <a:cs typeface="Calibri"/>
              <a:sym typeface="Calibri"/>
            </a:endParaRPr>
          </a:p>
        </p:txBody>
      </p:sp>
      <p:sp>
        <p:nvSpPr>
          <p:cNvPr id="535" name="Google Shape;535;p11"/>
          <p:cNvSpPr/>
          <p:nvPr/>
        </p:nvSpPr>
        <p:spPr>
          <a:xfrm>
            <a:off x="5989320" y="5870448"/>
            <a:ext cx="182880" cy="182880"/>
          </a:xfrm>
          <a:prstGeom prst="roundRect">
            <a:avLst>
              <a:gd fmla="val 20000"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1"/>
          <p:cNvSpPr txBox="1"/>
          <p:nvPr/>
        </p:nvSpPr>
        <p:spPr>
          <a:xfrm>
            <a:off x="6236208" y="5833872"/>
            <a:ext cx="1227125"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Peak night: full</a:t>
            </a:r>
            <a:endParaRPr b="0" i="0" sz="950" u="none" cap="none" strike="noStrike">
              <a:solidFill>
                <a:schemeClr val="dk1"/>
              </a:solidFill>
              <a:latin typeface="Calibri"/>
              <a:ea typeface="Calibri"/>
              <a:cs typeface="Calibri"/>
              <a:sym typeface="Calibri"/>
            </a:endParaRPr>
          </a:p>
        </p:txBody>
      </p:sp>
      <p:sp>
        <p:nvSpPr>
          <p:cNvPr id="537" name="Google Shape;537;p11"/>
          <p:cNvSpPr/>
          <p:nvPr/>
        </p:nvSpPr>
        <p:spPr>
          <a:xfrm>
            <a:off x="7600493" y="5870448"/>
            <a:ext cx="182880" cy="182880"/>
          </a:xfrm>
          <a:prstGeom prst="roundRect">
            <a:avLst>
              <a:gd fmla="val 20000"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1"/>
          <p:cNvSpPr txBox="1"/>
          <p:nvPr/>
        </p:nvSpPr>
        <p:spPr>
          <a:xfrm>
            <a:off x="7847381" y="5833872"/>
            <a:ext cx="2134210"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Other nights: 35 sold on average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43" name="Shape 543"/>
        <p:cNvGrpSpPr/>
        <p:nvPr/>
      </p:nvGrpSpPr>
      <p:grpSpPr>
        <a:xfrm>
          <a:off x="0" y="0"/>
          <a:ext cx="0" cy="0"/>
          <a:chOff x="0" y="0"/>
          <a:chExt cx="0" cy="0"/>
        </a:xfrm>
      </p:grpSpPr>
      <p:sp>
        <p:nvSpPr>
          <p:cNvPr id="544" name="Google Shape;544;p1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pic>
        <p:nvPicPr>
          <p:cNvPr descr="/home/claude/work/renderer/brand/wordmark.png" id="545" name="Google Shape;545;p1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546" name="Google Shape;546;p1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10 / 65</a:t>
            </a:r>
            <a:endParaRPr b="0" i="0" sz="900" u="none" cap="none" strike="noStrike">
              <a:solidFill>
                <a:schemeClr val="dk1"/>
              </a:solidFill>
              <a:latin typeface="Calibri"/>
              <a:ea typeface="Calibri"/>
              <a:cs typeface="Calibri"/>
              <a:sym typeface="Calibri"/>
            </a:endParaRPr>
          </a:p>
        </p:txBody>
      </p:sp>
      <p:sp>
        <p:nvSpPr>
          <p:cNvPr id="547" name="Google Shape;547;p1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Ancillary revenue</a:t>
            </a:r>
            <a:r>
              <a:rPr b="0" i="0" lang="en-US" sz="1700" u="none" cap="none" strike="noStrike">
                <a:solidFill>
                  <a:srgbClr val="004FAA"/>
                </a:solidFill>
                <a:latin typeface="Inter"/>
                <a:ea typeface="Inter"/>
                <a:cs typeface="Inter"/>
                <a:sym typeface="Inter"/>
              </a:rPr>
              <a:t>  everything beyond the room</a:t>
            </a:r>
            <a:endParaRPr b="0" i="0" sz="3000" u="none" cap="none" strike="noStrike">
              <a:solidFill>
                <a:schemeClr val="dk1"/>
              </a:solidFill>
              <a:latin typeface="Calibri"/>
              <a:ea typeface="Calibri"/>
              <a:cs typeface="Calibri"/>
              <a:sym typeface="Calibri"/>
            </a:endParaRPr>
          </a:p>
        </p:txBody>
      </p:sp>
      <p:sp>
        <p:nvSpPr>
          <p:cNvPr id="548" name="Google Shape;548;p12"/>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2"/>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550" name="Google Shape;550;p12"/>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551" name="Google Shape;551;p12"/>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552" name="Google Shape;552;p12"/>
          <p:cNvSpPr txBox="1"/>
          <p:nvPr/>
        </p:nvSpPr>
        <p:spPr>
          <a:xfrm>
            <a:off x="1170432" y="2075688"/>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Everything a guest spends beyond the room — food and beverage, spa, activities, add-ons — and the lever marketing can move without touching rate.</a:t>
            </a:r>
            <a:endParaRPr b="0" i="0" sz="1150" u="none" cap="none" strike="noStrike">
              <a:solidFill>
                <a:schemeClr val="dk1"/>
              </a:solidFill>
              <a:latin typeface="Calibri"/>
              <a:ea typeface="Calibri"/>
              <a:cs typeface="Calibri"/>
              <a:sym typeface="Calibri"/>
            </a:endParaRPr>
          </a:p>
        </p:txBody>
      </p:sp>
      <p:sp>
        <p:nvSpPr>
          <p:cNvPr id="553" name="Google Shape;553;p12"/>
          <p:cNvSpPr/>
          <p:nvPr/>
        </p:nvSpPr>
        <p:spPr>
          <a:xfrm>
            <a:off x="548640" y="3599879"/>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554" name="Google Shape;554;p12"/>
          <p:cNvPicPr preferRelativeResize="0"/>
          <p:nvPr/>
        </p:nvPicPr>
        <p:blipFill rotWithShape="1">
          <a:blip r:embed="rId5">
            <a:alphaModFix/>
          </a:blip>
          <a:srcRect b="0" l="0" r="0" t="0"/>
          <a:stretch/>
        </p:blipFill>
        <p:spPr>
          <a:xfrm>
            <a:off x="641177" y="3692416"/>
            <a:ext cx="235549" cy="235549"/>
          </a:xfrm>
          <a:prstGeom prst="rect">
            <a:avLst/>
          </a:prstGeom>
          <a:noFill/>
          <a:ln>
            <a:noFill/>
          </a:ln>
        </p:spPr>
      </p:pic>
      <p:sp>
        <p:nvSpPr>
          <p:cNvPr id="555" name="Google Shape;555;p12"/>
          <p:cNvSpPr txBox="1"/>
          <p:nvPr/>
        </p:nvSpPr>
        <p:spPr>
          <a:xfrm>
            <a:off x="1170432" y="3581591"/>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556" name="Google Shape;556;p12"/>
          <p:cNvSpPr txBox="1"/>
          <p:nvPr/>
        </p:nvSpPr>
        <p:spPr>
          <a:xfrm>
            <a:off x="1170432" y="3892487"/>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RevPAR does not count a dollar of it, and it is the revenue we can grow without asking the owner to raise a rate. Owners say “ancillary spend” too.</a:t>
            </a:r>
            <a:endParaRPr b="0" i="0" sz="1150" u="none" cap="none" strike="noStrike">
              <a:solidFill>
                <a:schemeClr val="dk1"/>
              </a:solidFill>
              <a:latin typeface="Calibri"/>
              <a:ea typeface="Calibri"/>
              <a:cs typeface="Calibri"/>
              <a:sym typeface="Calibri"/>
            </a:endParaRPr>
          </a:p>
        </p:txBody>
      </p:sp>
      <p:sp>
        <p:nvSpPr>
          <p:cNvPr id="557" name="Google Shape;557;p12"/>
          <p:cNvSpPr/>
          <p:nvPr/>
        </p:nvSpPr>
        <p:spPr>
          <a:xfrm>
            <a:off x="548640" y="541667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558" name="Google Shape;558;p12"/>
          <p:cNvPicPr preferRelativeResize="0"/>
          <p:nvPr/>
        </p:nvPicPr>
        <p:blipFill rotWithShape="1">
          <a:blip r:embed="rId6">
            <a:alphaModFix/>
          </a:blip>
          <a:srcRect b="0" l="0" r="0" t="0"/>
          <a:stretch/>
        </p:blipFill>
        <p:spPr>
          <a:xfrm>
            <a:off x="641177" y="5509214"/>
            <a:ext cx="235549" cy="235549"/>
          </a:xfrm>
          <a:prstGeom prst="rect">
            <a:avLst/>
          </a:prstGeom>
          <a:noFill/>
          <a:ln>
            <a:noFill/>
          </a:ln>
        </p:spPr>
      </p:pic>
      <p:sp>
        <p:nvSpPr>
          <p:cNvPr id="559" name="Google Shape;559;p12"/>
          <p:cNvSpPr txBox="1"/>
          <p:nvPr/>
        </p:nvSpPr>
        <p:spPr>
          <a:xfrm>
            <a:off x="1170432" y="539838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560" name="Google Shape;560;p12"/>
          <p:cNvSpPr txBox="1"/>
          <p:nvPr/>
        </p:nvSpPr>
        <p:spPr>
          <a:xfrm>
            <a:off x="1170432" y="5709285"/>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Rooms are only part of the story here — how much of your ancillary revenue comes from the spa and dinner?</a:t>
            </a:r>
            <a:endParaRPr b="0" i="0" sz="1150" u="none" cap="none" strike="noStrike">
              <a:solidFill>
                <a:schemeClr val="dk1"/>
              </a:solidFill>
              <a:latin typeface="Calibri"/>
              <a:ea typeface="Calibri"/>
              <a:cs typeface="Calibri"/>
              <a:sym typeface="Calibri"/>
            </a:endParaRPr>
          </a:p>
        </p:txBody>
      </p:sp>
      <p:sp>
        <p:nvSpPr>
          <p:cNvPr id="561" name="Google Shape;561;p12"/>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2"/>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563" name="Google Shape;563;p12"/>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564" name="Google Shape;564;p12"/>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Spa + Restaurant and bar + activities + add-ons</a:t>
            </a:r>
            <a:endParaRPr b="0" i="0" sz="1200" u="none" cap="none" strike="noStrike">
              <a:solidFill>
                <a:schemeClr val="dk1"/>
              </a:solidFill>
              <a:latin typeface="Calibri"/>
              <a:ea typeface="Calibri"/>
              <a:cs typeface="Calibri"/>
              <a:sym typeface="Calibri"/>
            </a:endParaRPr>
          </a:p>
        </p:txBody>
      </p:sp>
      <p:sp>
        <p:nvSpPr>
          <p:cNvPr id="565" name="Google Shape;565;p12"/>
          <p:cNvSpPr txBox="1"/>
          <p:nvPr/>
        </p:nvSpPr>
        <p:spPr>
          <a:xfrm>
            <a:off x="5989320" y="2532888"/>
            <a:ext cx="5379415" cy="54178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Lakeside Lodge's September: rooms </a:t>
            </a:r>
            <a:r>
              <a:rPr b="1" i="0" lang="en-US" sz="1100" u="none" cap="none" strike="noStrike">
                <a:solidFill>
                  <a:srgbClr val="404040"/>
                </a:solidFill>
                <a:latin typeface="Inter"/>
                <a:ea typeface="Inter"/>
                <a:cs typeface="Inter"/>
                <a:sym typeface="Inter"/>
              </a:rPr>
              <a:t>$360,000</a:t>
            </a:r>
            <a:r>
              <a:rPr b="0" i="0" lang="en-US" sz="1100" u="none" cap="none" strike="noStrike">
                <a:solidFill>
                  <a:srgbClr val="404040"/>
                </a:solidFill>
                <a:latin typeface="Inter"/>
                <a:ea typeface="Inter"/>
                <a:cs typeface="Inter"/>
                <a:sym typeface="Inter"/>
              </a:rPr>
              <a:t>, spa </a:t>
            </a:r>
            <a:r>
              <a:rPr b="1" i="0" lang="en-US" sz="1100" u="none" cap="none" strike="noStrike">
                <a:solidFill>
                  <a:srgbClr val="404040"/>
                </a:solidFill>
                <a:latin typeface="Inter"/>
                <a:ea typeface="Inter"/>
                <a:cs typeface="Inter"/>
                <a:sym typeface="Inter"/>
              </a:rPr>
              <a:t>$90,000</a:t>
            </a:r>
            <a:r>
              <a:rPr b="0" i="0" lang="en-US" sz="1100" u="none" cap="none" strike="noStrike">
                <a:solidFill>
                  <a:srgbClr val="404040"/>
                </a:solidFill>
                <a:latin typeface="Inter"/>
                <a:ea typeface="Inter"/>
                <a:cs typeface="Inter"/>
                <a:sym typeface="Inter"/>
              </a:rPr>
              <a:t>, restaurant and bar </a:t>
            </a:r>
            <a:r>
              <a:rPr b="1" i="0" lang="en-US" sz="1100" u="none" cap="none" strike="noStrike">
                <a:solidFill>
                  <a:srgbClr val="404040"/>
                </a:solidFill>
                <a:latin typeface="Inter"/>
                <a:ea typeface="Inter"/>
                <a:cs typeface="Inter"/>
                <a:sym typeface="Inter"/>
              </a:rPr>
              <a:t>$150,000</a:t>
            </a:r>
            <a:r>
              <a:rPr b="0" i="0" lang="en-US" sz="1100" u="none" cap="none" strike="noStrike">
                <a:solidFill>
                  <a:srgbClr val="404040"/>
                </a:solidFill>
                <a:latin typeface="Inter"/>
                <a:ea typeface="Inter"/>
                <a:cs typeface="Inter"/>
                <a:sym typeface="Inter"/>
              </a:rPr>
              <a:t>. Total </a:t>
            </a:r>
            <a:r>
              <a:rPr b="1" i="0" lang="en-US" sz="1100" u="none" cap="none" strike="noStrike">
                <a:solidFill>
                  <a:srgbClr val="404040"/>
                </a:solidFill>
                <a:latin typeface="Inter"/>
                <a:ea typeface="Inter"/>
                <a:cs typeface="Inter"/>
                <a:sym typeface="Inter"/>
              </a:rPr>
              <a:t>$600,000</a:t>
            </a:r>
            <a:r>
              <a:rPr b="0" i="0" lang="en-US" sz="1100" u="none" cap="none" strike="noStrike">
                <a:solidFill>
                  <a:srgbClr val="404040"/>
                </a:solidFill>
                <a:latin typeface="Inter"/>
                <a:ea typeface="Inter"/>
                <a:cs typeface="Inter"/>
                <a:sym typeface="Inter"/>
              </a:rPr>
              <a:t>. How much came from beyond the room?</a:t>
            </a:r>
            <a:endParaRPr b="0" i="0" sz="1100" u="none" cap="none" strike="noStrike">
              <a:solidFill>
                <a:schemeClr val="dk1"/>
              </a:solidFill>
              <a:latin typeface="Calibri"/>
              <a:ea typeface="Calibri"/>
              <a:cs typeface="Calibri"/>
              <a:sym typeface="Calibri"/>
            </a:endParaRPr>
          </a:p>
        </p:txBody>
      </p:sp>
      <p:sp>
        <p:nvSpPr>
          <p:cNvPr id="566" name="Google Shape;566;p12"/>
          <p:cNvSpPr txBox="1"/>
          <p:nvPr/>
        </p:nvSpPr>
        <p:spPr>
          <a:xfrm>
            <a:off x="6172200" y="3129534"/>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Ancillary = $90,000 + $150,000</a:t>
            </a:r>
            <a:endParaRPr b="0" i="0" sz="1100" u="none" cap="none" strike="noStrike">
              <a:solidFill>
                <a:schemeClr val="dk1"/>
              </a:solidFill>
              <a:latin typeface="Calibri"/>
              <a:ea typeface="Calibri"/>
              <a:cs typeface="Calibri"/>
              <a:sym typeface="Calibri"/>
            </a:endParaRPr>
          </a:p>
        </p:txBody>
      </p:sp>
      <p:sp>
        <p:nvSpPr>
          <p:cNvPr id="567" name="Google Shape;567;p12"/>
          <p:cNvSpPr txBox="1"/>
          <p:nvPr/>
        </p:nvSpPr>
        <p:spPr>
          <a:xfrm>
            <a:off x="6172200" y="3376422"/>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Share = $240,000 ÷ $600,000 = 40%</a:t>
            </a:r>
            <a:endParaRPr b="0" i="0" sz="1100" u="none" cap="none" strike="noStrike">
              <a:solidFill>
                <a:schemeClr val="dk1"/>
              </a:solidFill>
              <a:latin typeface="Calibri"/>
              <a:ea typeface="Calibri"/>
              <a:cs typeface="Calibri"/>
              <a:sym typeface="Calibri"/>
            </a:endParaRPr>
          </a:p>
        </p:txBody>
      </p:sp>
      <p:sp>
        <p:nvSpPr>
          <p:cNvPr id="568" name="Google Shape;568;p12"/>
          <p:cNvSpPr/>
          <p:nvPr/>
        </p:nvSpPr>
        <p:spPr>
          <a:xfrm>
            <a:off x="5989320" y="3669030"/>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569" name="Google Shape;569;p12"/>
          <p:cNvPicPr preferRelativeResize="0"/>
          <p:nvPr/>
        </p:nvPicPr>
        <p:blipFill rotWithShape="1">
          <a:blip r:embed="rId8">
            <a:alphaModFix/>
          </a:blip>
          <a:srcRect b="0" l="0" r="0" t="0"/>
          <a:stretch/>
        </p:blipFill>
        <p:spPr>
          <a:xfrm>
            <a:off x="6117336" y="3733038"/>
            <a:ext cx="237744" cy="237744"/>
          </a:xfrm>
          <a:prstGeom prst="rect">
            <a:avLst/>
          </a:prstGeom>
          <a:noFill/>
          <a:ln>
            <a:noFill/>
          </a:ln>
        </p:spPr>
      </p:pic>
      <p:sp>
        <p:nvSpPr>
          <p:cNvPr id="570" name="Google Shape;570;p12"/>
          <p:cNvSpPr txBox="1"/>
          <p:nvPr/>
        </p:nvSpPr>
        <p:spPr>
          <a:xfrm>
            <a:off x="6464808" y="3669030"/>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ancillary revenue = $240,000 (40%)</a:t>
            </a:r>
            <a:endParaRPr b="0" i="0" sz="1200" u="none" cap="none" strike="noStrike">
              <a:solidFill>
                <a:schemeClr val="dk1"/>
              </a:solidFill>
              <a:latin typeface="Calibri"/>
              <a:ea typeface="Calibri"/>
              <a:cs typeface="Calibri"/>
              <a:sym typeface="Calibri"/>
            </a:endParaRPr>
          </a:p>
        </p:txBody>
      </p:sp>
      <p:sp>
        <p:nvSpPr>
          <p:cNvPr id="571" name="Google Shape;571;p12"/>
          <p:cNvSpPr txBox="1"/>
          <p:nvPr/>
        </p:nvSpPr>
        <p:spPr>
          <a:xfrm>
            <a:off x="5989320" y="414451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WHERE SEPTEMBER'S $600,000 CAME FROM</a:t>
            </a:r>
            <a:endParaRPr b="0" i="0" sz="900" u="none" cap="none" strike="noStrike">
              <a:solidFill>
                <a:schemeClr val="dk1"/>
              </a:solidFill>
              <a:latin typeface="Calibri"/>
              <a:ea typeface="Calibri"/>
              <a:cs typeface="Calibri"/>
              <a:sym typeface="Calibri"/>
            </a:endParaRPr>
          </a:p>
        </p:txBody>
      </p:sp>
      <p:sp>
        <p:nvSpPr>
          <p:cNvPr id="572" name="Google Shape;572;p12"/>
          <p:cNvSpPr txBox="1"/>
          <p:nvPr/>
        </p:nvSpPr>
        <p:spPr>
          <a:xfrm>
            <a:off x="5989320" y="4418838"/>
            <a:ext cx="1737360" cy="380238"/>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Rooms</a:t>
            </a:r>
            <a:endParaRPr b="0" i="0" sz="1050" u="none" cap="none" strike="noStrike">
              <a:solidFill>
                <a:schemeClr val="dk1"/>
              </a:solidFill>
              <a:latin typeface="Calibri"/>
              <a:ea typeface="Calibri"/>
              <a:cs typeface="Calibri"/>
              <a:sym typeface="Calibri"/>
            </a:endParaRPr>
          </a:p>
        </p:txBody>
      </p:sp>
      <p:sp>
        <p:nvSpPr>
          <p:cNvPr id="573" name="Google Shape;573;p12"/>
          <p:cNvSpPr/>
          <p:nvPr/>
        </p:nvSpPr>
        <p:spPr>
          <a:xfrm>
            <a:off x="7818120" y="4487281"/>
            <a:ext cx="2544775" cy="243352"/>
          </a:xfrm>
          <a:prstGeom prst="roundRect">
            <a:avLst>
              <a:gd fmla="val 1878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2"/>
          <p:cNvSpPr txBox="1"/>
          <p:nvPr/>
        </p:nvSpPr>
        <p:spPr>
          <a:xfrm>
            <a:off x="10454335" y="4418838"/>
            <a:ext cx="1005840" cy="38023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$360,000</a:t>
            </a:r>
            <a:endParaRPr b="0" i="0" sz="1000" u="none" cap="none" strike="noStrike">
              <a:solidFill>
                <a:schemeClr val="dk1"/>
              </a:solidFill>
              <a:latin typeface="Calibri"/>
              <a:ea typeface="Calibri"/>
              <a:cs typeface="Calibri"/>
              <a:sym typeface="Calibri"/>
            </a:endParaRPr>
          </a:p>
        </p:txBody>
      </p:sp>
      <p:sp>
        <p:nvSpPr>
          <p:cNvPr id="575" name="Google Shape;575;p12"/>
          <p:cNvSpPr txBox="1"/>
          <p:nvPr/>
        </p:nvSpPr>
        <p:spPr>
          <a:xfrm>
            <a:off x="5989320" y="4853940"/>
            <a:ext cx="1737360" cy="380238"/>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Spa</a:t>
            </a:r>
            <a:endParaRPr b="0" i="0" sz="1050" u="none" cap="none" strike="noStrike">
              <a:solidFill>
                <a:schemeClr val="dk1"/>
              </a:solidFill>
              <a:latin typeface="Calibri"/>
              <a:ea typeface="Calibri"/>
              <a:cs typeface="Calibri"/>
              <a:sym typeface="Calibri"/>
            </a:endParaRPr>
          </a:p>
        </p:txBody>
      </p:sp>
      <p:sp>
        <p:nvSpPr>
          <p:cNvPr id="576" name="Google Shape;576;p12"/>
          <p:cNvSpPr/>
          <p:nvPr/>
        </p:nvSpPr>
        <p:spPr>
          <a:xfrm>
            <a:off x="7818120" y="4922383"/>
            <a:ext cx="636194" cy="243352"/>
          </a:xfrm>
          <a:prstGeom prst="roundRect">
            <a:avLst>
              <a:gd fmla="val 18788"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2"/>
          <p:cNvSpPr txBox="1"/>
          <p:nvPr/>
        </p:nvSpPr>
        <p:spPr>
          <a:xfrm>
            <a:off x="8545754" y="4853940"/>
            <a:ext cx="1005840" cy="38023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$90,000</a:t>
            </a:r>
            <a:endParaRPr b="0" i="0" sz="1000" u="none" cap="none" strike="noStrike">
              <a:solidFill>
                <a:schemeClr val="dk1"/>
              </a:solidFill>
              <a:latin typeface="Calibri"/>
              <a:ea typeface="Calibri"/>
              <a:cs typeface="Calibri"/>
              <a:sym typeface="Calibri"/>
            </a:endParaRPr>
          </a:p>
        </p:txBody>
      </p:sp>
      <p:sp>
        <p:nvSpPr>
          <p:cNvPr id="578" name="Google Shape;578;p12"/>
          <p:cNvSpPr txBox="1"/>
          <p:nvPr/>
        </p:nvSpPr>
        <p:spPr>
          <a:xfrm>
            <a:off x="5989320" y="5289042"/>
            <a:ext cx="1737360" cy="380238"/>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Restaurant and bar</a:t>
            </a:r>
            <a:endParaRPr b="0" i="0" sz="1050" u="none" cap="none" strike="noStrike">
              <a:solidFill>
                <a:schemeClr val="dk1"/>
              </a:solidFill>
              <a:latin typeface="Calibri"/>
              <a:ea typeface="Calibri"/>
              <a:cs typeface="Calibri"/>
              <a:sym typeface="Calibri"/>
            </a:endParaRPr>
          </a:p>
        </p:txBody>
      </p:sp>
      <p:sp>
        <p:nvSpPr>
          <p:cNvPr id="579" name="Google Shape;579;p12"/>
          <p:cNvSpPr/>
          <p:nvPr/>
        </p:nvSpPr>
        <p:spPr>
          <a:xfrm>
            <a:off x="7818120" y="5357485"/>
            <a:ext cx="1060323" cy="243352"/>
          </a:xfrm>
          <a:prstGeom prst="roundRect">
            <a:avLst>
              <a:gd fmla="val 18788"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2"/>
          <p:cNvSpPr txBox="1"/>
          <p:nvPr/>
        </p:nvSpPr>
        <p:spPr>
          <a:xfrm>
            <a:off x="8969883" y="5289042"/>
            <a:ext cx="1005840" cy="38023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$150,000</a:t>
            </a:r>
            <a:endParaRPr b="0" i="0" sz="1000" u="none" cap="none" strike="noStrike">
              <a:solidFill>
                <a:schemeClr val="dk1"/>
              </a:solidFill>
              <a:latin typeface="Calibri"/>
              <a:ea typeface="Calibri"/>
              <a:cs typeface="Calibri"/>
              <a:sym typeface="Calibri"/>
            </a:endParaRPr>
          </a:p>
        </p:txBody>
      </p:sp>
      <p:sp>
        <p:nvSpPr>
          <p:cNvPr id="581" name="Google Shape;581;p12"/>
          <p:cNvSpPr/>
          <p:nvPr/>
        </p:nvSpPr>
        <p:spPr>
          <a:xfrm>
            <a:off x="5989320" y="5852160"/>
            <a:ext cx="182880" cy="182880"/>
          </a:xfrm>
          <a:prstGeom prst="roundRect">
            <a:avLst>
              <a:gd fmla="val 20000"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2"/>
          <p:cNvSpPr txBox="1"/>
          <p:nvPr/>
        </p:nvSpPr>
        <p:spPr>
          <a:xfrm>
            <a:off x="6236208" y="5815584"/>
            <a:ext cx="1283818"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Ancillary revenue</a:t>
            </a:r>
            <a:endParaRPr b="0" i="0" sz="950" u="none" cap="none" strike="noStrike">
              <a:solidFill>
                <a:schemeClr val="dk1"/>
              </a:solidFill>
              <a:latin typeface="Calibri"/>
              <a:ea typeface="Calibri"/>
              <a:cs typeface="Calibri"/>
              <a:sym typeface="Calibri"/>
            </a:endParaRPr>
          </a:p>
        </p:txBody>
      </p:sp>
      <p:sp>
        <p:nvSpPr>
          <p:cNvPr id="583" name="Google Shape;583;p12"/>
          <p:cNvSpPr/>
          <p:nvPr/>
        </p:nvSpPr>
        <p:spPr>
          <a:xfrm>
            <a:off x="7657186" y="5852160"/>
            <a:ext cx="182880" cy="182880"/>
          </a:xfrm>
          <a:prstGeom prst="roundRect">
            <a:avLst>
              <a:gd fmla="val 20000"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2"/>
          <p:cNvSpPr txBox="1"/>
          <p:nvPr/>
        </p:nvSpPr>
        <p:spPr>
          <a:xfrm>
            <a:off x="7904074" y="5815584"/>
            <a:ext cx="1000354"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Room revenue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89" name="Shape 589"/>
        <p:cNvGrpSpPr/>
        <p:nvPr/>
      </p:nvGrpSpPr>
      <p:grpSpPr>
        <a:xfrm>
          <a:off x="0" y="0"/>
          <a:ext cx="0" cy="0"/>
          <a:chOff x="0" y="0"/>
          <a:chExt cx="0" cy="0"/>
        </a:xfrm>
      </p:grpSpPr>
      <p:sp>
        <p:nvSpPr>
          <p:cNvPr id="590" name="Google Shape;590;p1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pic>
        <p:nvPicPr>
          <p:cNvPr descr="/home/claude/work/renderer/brand/wordmark.png" id="591" name="Google Shape;591;p1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592" name="Google Shape;592;p1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11 / 65</a:t>
            </a:r>
            <a:endParaRPr b="0" i="0" sz="900" u="none" cap="none" strike="noStrike">
              <a:solidFill>
                <a:schemeClr val="dk1"/>
              </a:solidFill>
              <a:latin typeface="Calibri"/>
              <a:ea typeface="Calibri"/>
              <a:cs typeface="Calibri"/>
              <a:sym typeface="Calibri"/>
            </a:endParaRPr>
          </a:p>
        </p:txBody>
      </p:sp>
      <p:sp>
        <p:nvSpPr>
          <p:cNvPr id="593" name="Google Shape;593;p1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GOP</a:t>
            </a:r>
            <a:r>
              <a:rPr b="0" i="0" lang="en-US" sz="1700" u="none" cap="none" strike="noStrike">
                <a:solidFill>
                  <a:srgbClr val="004FAA"/>
                </a:solidFill>
                <a:latin typeface="Inter"/>
                <a:ea typeface="Inter"/>
                <a:cs typeface="Inter"/>
                <a:sym typeface="Inter"/>
              </a:rPr>
              <a:t>  gross operating profit</a:t>
            </a:r>
            <a:endParaRPr b="0" i="0" sz="3000" u="none" cap="none" strike="noStrike">
              <a:solidFill>
                <a:schemeClr val="dk1"/>
              </a:solidFill>
              <a:latin typeface="Calibri"/>
              <a:ea typeface="Calibri"/>
              <a:cs typeface="Calibri"/>
              <a:sym typeface="Calibri"/>
            </a:endParaRPr>
          </a:p>
        </p:txBody>
      </p:sp>
      <p:sp>
        <p:nvSpPr>
          <p:cNvPr id="594" name="Google Shape;594;p13"/>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596" name="Google Shape;596;p13"/>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597" name="Google Shape;597;p13"/>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598" name="Google Shape;598;p13"/>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What is left after departmental and undistributed costs — the operator’s profit line.</a:t>
            </a:r>
            <a:endParaRPr b="0" i="0" sz="1150" u="none" cap="none" strike="noStrike">
              <a:solidFill>
                <a:schemeClr val="dk1"/>
              </a:solidFill>
              <a:latin typeface="Calibri"/>
              <a:ea typeface="Calibri"/>
              <a:cs typeface="Calibri"/>
              <a:sym typeface="Calibri"/>
            </a:endParaRPr>
          </a:p>
        </p:txBody>
      </p:sp>
      <p:sp>
        <p:nvSpPr>
          <p:cNvPr id="599" name="Google Shape;599;p13"/>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600" name="Google Shape;600;p13"/>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601" name="Google Shape;601;p13"/>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it is here</a:t>
            </a:r>
            <a:endParaRPr b="0" i="0" sz="1450" u="none" cap="none" strike="noStrike">
              <a:solidFill>
                <a:schemeClr val="dk1"/>
              </a:solidFill>
              <a:latin typeface="Calibri"/>
              <a:ea typeface="Calibri"/>
              <a:cs typeface="Calibri"/>
              <a:sym typeface="Calibri"/>
            </a:endParaRPr>
          </a:p>
        </p:txBody>
      </p:sp>
      <p:sp>
        <p:nvSpPr>
          <p:cNvPr id="602" name="Google Shape;602;p13"/>
          <p:cNvSpPr txBox="1"/>
          <p:nvPr/>
        </p:nvSpPr>
        <p:spPr>
          <a:xfrm>
            <a:off x="1170432" y="3695319"/>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GOP is the middle rung of the ladder: the operator's profit, before the owner's fixed costs. It is a reference term, here because NOI and flow-through don't make sense without it.</a:t>
            </a:r>
            <a:endParaRPr b="0" i="0" sz="1150" u="none" cap="none" strike="noStrike">
              <a:solidFill>
                <a:schemeClr val="dk1"/>
              </a:solidFill>
              <a:latin typeface="Calibri"/>
              <a:ea typeface="Calibri"/>
              <a:cs typeface="Calibri"/>
              <a:sym typeface="Calibri"/>
            </a:endParaRPr>
          </a:p>
        </p:txBody>
      </p:sp>
      <p:sp>
        <p:nvSpPr>
          <p:cNvPr id="603" name="Google Shape;603;p13"/>
          <p:cNvSpPr/>
          <p:nvPr/>
        </p:nvSpPr>
        <p:spPr>
          <a:xfrm>
            <a:off x="548640" y="541667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604" name="Google Shape;604;p13"/>
          <p:cNvPicPr preferRelativeResize="0"/>
          <p:nvPr/>
        </p:nvPicPr>
        <p:blipFill rotWithShape="1">
          <a:blip r:embed="rId6">
            <a:alphaModFix/>
          </a:blip>
          <a:srcRect b="0" l="0" r="0" t="0"/>
          <a:stretch/>
        </p:blipFill>
        <p:spPr>
          <a:xfrm>
            <a:off x="641177" y="5509214"/>
            <a:ext cx="235549" cy="235549"/>
          </a:xfrm>
          <a:prstGeom prst="rect">
            <a:avLst/>
          </a:prstGeom>
          <a:noFill/>
          <a:ln>
            <a:noFill/>
          </a:ln>
        </p:spPr>
      </p:pic>
      <p:sp>
        <p:nvSpPr>
          <p:cNvPr id="605" name="Google Shape;605;p13"/>
          <p:cNvSpPr txBox="1"/>
          <p:nvPr/>
        </p:nvSpPr>
        <p:spPr>
          <a:xfrm>
            <a:off x="1170432" y="539838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606" name="Google Shape;606;p13"/>
          <p:cNvSpPr txBox="1"/>
          <p:nvPr/>
        </p:nvSpPr>
        <p:spPr>
          <a:xfrm>
            <a:off x="1170432" y="5709285"/>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GOP is your operating profit before the owner's fixed costs — it's where good management shows up.</a:t>
            </a:r>
            <a:endParaRPr b="0" i="0" sz="1150" u="none" cap="none" strike="noStrike">
              <a:solidFill>
                <a:schemeClr val="dk1"/>
              </a:solidFill>
              <a:latin typeface="Calibri"/>
              <a:ea typeface="Calibri"/>
              <a:cs typeface="Calibri"/>
              <a:sym typeface="Calibri"/>
            </a:endParaRPr>
          </a:p>
        </p:txBody>
      </p:sp>
      <p:sp>
        <p:nvSpPr>
          <p:cNvPr id="607" name="Google Shape;607;p13"/>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3"/>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609" name="Google Shape;609;p13"/>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610" name="Google Shape;610;p13"/>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GOP = Revenue − departmental − undistributed costs</a:t>
            </a:r>
            <a:endParaRPr b="0" i="0" sz="1200" u="none" cap="none" strike="noStrike">
              <a:solidFill>
                <a:schemeClr val="dk1"/>
              </a:solidFill>
              <a:latin typeface="Calibri"/>
              <a:ea typeface="Calibri"/>
              <a:cs typeface="Calibri"/>
              <a:sym typeface="Calibri"/>
            </a:endParaRPr>
          </a:p>
        </p:txBody>
      </p:sp>
      <p:sp>
        <p:nvSpPr>
          <p:cNvPr id="611" name="Google Shape;611;p13"/>
          <p:cNvSpPr txBox="1"/>
          <p:nvPr/>
        </p:nvSpPr>
        <p:spPr>
          <a:xfrm>
            <a:off x="5989320" y="2532888"/>
            <a:ext cx="5379415" cy="73037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Lakeside Lodge took </a:t>
            </a:r>
            <a:r>
              <a:rPr b="1" i="0" lang="en-US" sz="1100" u="none" cap="none" strike="noStrike">
                <a:solidFill>
                  <a:srgbClr val="404040"/>
                </a:solidFill>
                <a:latin typeface="Inter"/>
                <a:ea typeface="Inter"/>
                <a:cs typeface="Inter"/>
                <a:sym typeface="Inter"/>
              </a:rPr>
              <a:t>$600,000</a:t>
            </a:r>
            <a:r>
              <a:rPr b="0" i="0" lang="en-US" sz="1100" u="none" cap="none" strike="noStrike">
                <a:solidFill>
                  <a:srgbClr val="404040"/>
                </a:solidFill>
                <a:latin typeface="Inter"/>
                <a:ea typeface="Inter"/>
                <a:cs typeface="Inter"/>
                <a:sym typeface="Inter"/>
              </a:rPr>
              <a:t> in September. Running the departments that earn money (rooms, spa, restaurant) cost </a:t>
            </a:r>
            <a:r>
              <a:rPr b="1" i="0" lang="en-US" sz="1100" u="none" cap="none" strike="noStrike">
                <a:solidFill>
                  <a:srgbClr val="404040"/>
                </a:solidFill>
                <a:latin typeface="Inter"/>
                <a:ea typeface="Inter"/>
                <a:cs typeface="Inter"/>
                <a:sym typeface="Inter"/>
              </a:rPr>
              <a:t>$255,000</a:t>
            </a:r>
            <a:r>
              <a:rPr b="0" i="0" lang="en-US" sz="1100" u="none" cap="none" strike="noStrike">
                <a:solidFill>
                  <a:srgbClr val="404040"/>
                </a:solidFill>
                <a:latin typeface="Inter"/>
                <a:ea typeface="Inter"/>
                <a:cs typeface="Inter"/>
                <a:sym typeface="Inter"/>
              </a:rPr>
              <a:t>. Running the whole property (admin, marketing, maintenance, utilities) cost </a:t>
            </a:r>
            <a:r>
              <a:rPr b="1" i="0" lang="en-US" sz="1100" u="none" cap="none" strike="noStrike">
                <a:solidFill>
                  <a:srgbClr val="404040"/>
                </a:solidFill>
                <a:latin typeface="Inter"/>
                <a:ea typeface="Inter"/>
                <a:cs typeface="Inter"/>
                <a:sym typeface="Inter"/>
              </a:rPr>
              <a:t>$170,000</a:t>
            </a:r>
            <a:r>
              <a:rPr b="0" i="0" lang="en-US" sz="1100" u="none" cap="none" strike="noStrike">
                <a:solidFill>
                  <a:srgbClr val="404040"/>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p:txBody>
      </p:sp>
      <p:sp>
        <p:nvSpPr>
          <p:cNvPr id="612" name="Google Shape;612;p13"/>
          <p:cNvSpPr txBox="1"/>
          <p:nvPr/>
        </p:nvSpPr>
        <p:spPr>
          <a:xfrm>
            <a:off x="6172200" y="3318129"/>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GOP = $600,000 − $255,000 − $170,000</a:t>
            </a:r>
            <a:endParaRPr b="0" i="0" sz="1100" u="none" cap="none" strike="noStrike">
              <a:solidFill>
                <a:schemeClr val="dk1"/>
              </a:solidFill>
              <a:latin typeface="Calibri"/>
              <a:ea typeface="Calibri"/>
              <a:cs typeface="Calibri"/>
              <a:sym typeface="Calibri"/>
            </a:endParaRPr>
          </a:p>
        </p:txBody>
      </p:sp>
      <p:sp>
        <p:nvSpPr>
          <p:cNvPr id="613" name="Google Shape;613;p13"/>
          <p:cNvSpPr/>
          <p:nvPr/>
        </p:nvSpPr>
        <p:spPr>
          <a:xfrm>
            <a:off x="5989320" y="3610737"/>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614" name="Google Shape;614;p13"/>
          <p:cNvPicPr preferRelativeResize="0"/>
          <p:nvPr/>
        </p:nvPicPr>
        <p:blipFill rotWithShape="1">
          <a:blip r:embed="rId8">
            <a:alphaModFix/>
          </a:blip>
          <a:srcRect b="0" l="0" r="0" t="0"/>
          <a:stretch/>
        </p:blipFill>
        <p:spPr>
          <a:xfrm>
            <a:off x="6117336" y="3674745"/>
            <a:ext cx="237744" cy="237744"/>
          </a:xfrm>
          <a:prstGeom prst="rect">
            <a:avLst/>
          </a:prstGeom>
          <a:noFill/>
          <a:ln>
            <a:noFill/>
          </a:ln>
        </p:spPr>
      </p:pic>
      <p:sp>
        <p:nvSpPr>
          <p:cNvPr id="615" name="Google Shape;615;p13"/>
          <p:cNvSpPr txBox="1"/>
          <p:nvPr/>
        </p:nvSpPr>
        <p:spPr>
          <a:xfrm>
            <a:off x="6464808" y="3610737"/>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GOP = $175,000</a:t>
            </a:r>
            <a:endParaRPr b="0" i="0" sz="1200" u="none" cap="none" strike="noStrike">
              <a:solidFill>
                <a:schemeClr val="dk1"/>
              </a:solidFill>
              <a:latin typeface="Calibri"/>
              <a:ea typeface="Calibri"/>
              <a:cs typeface="Calibri"/>
              <a:sym typeface="Calibri"/>
            </a:endParaRPr>
          </a:p>
        </p:txBody>
      </p:sp>
      <p:sp>
        <p:nvSpPr>
          <p:cNvPr id="616" name="Google Shape;616;p13"/>
          <p:cNvSpPr txBox="1"/>
          <p:nvPr/>
        </p:nvSpPr>
        <p:spPr>
          <a:xfrm>
            <a:off x="5989320" y="4086225"/>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THE MIDDLE RUNG</a:t>
            </a:r>
            <a:endParaRPr b="0" i="0" sz="900" u="none" cap="none" strike="noStrike">
              <a:solidFill>
                <a:schemeClr val="dk1"/>
              </a:solidFill>
              <a:latin typeface="Calibri"/>
              <a:ea typeface="Calibri"/>
              <a:cs typeface="Calibri"/>
              <a:sym typeface="Calibri"/>
            </a:endParaRPr>
          </a:p>
        </p:txBody>
      </p:sp>
      <p:sp>
        <p:nvSpPr>
          <p:cNvPr id="617" name="Google Shape;617;p13"/>
          <p:cNvSpPr txBox="1"/>
          <p:nvPr/>
        </p:nvSpPr>
        <p:spPr>
          <a:xfrm>
            <a:off x="5989320" y="4360545"/>
            <a:ext cx="1920240" cy="36376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Total revenue</a:t>
            </a:r>
            <a:endParaRPr b="0" i="0" sz="1050" u="none" cap="none" strike="noStrike">
              <a:solidFill>
                <a:schemeClr val="dk1"/>
              </a:solidFill>
              <a:latin typeface="Calibri"/>
              <a:ea typeface="Calibri"/>
              <a:cs typeface="Calibri"/>
              <a:sym typeface="Calibri"/>
            </a:endParaRPr>
          </a:p>
        </p:txBody>
      </p:sp>
      <p:sp>
        <p:nvSpPr>
          <p:cNvPr id="618" name="Google Shape;618;p13"/>
          <p:cNvSpPr/>
          <p:nvPr/>
        </p:nvSpPr>
        <p:spPr>
          <a:xfrm>
            <a:off x="8001000" y="4426022"/>
            <a:ext cx="2361895" cy="232806"/>
          </a:xfrm>
          <a:prstGeom prst="roundRect">
            <a:avLst>
              <a:gd fmla="val 19639"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3"/>
          <p:cNvSpPr txBox="1"/>
          <p:nvPr/>
        </p:nvSpPr>
        <p:spPr>
          <a:xfrm>
            <a:off x="10454335" y="4360545"/>
            <a:ext cx="1005840" cy="363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$600,000</a:t>
            </a:r>
            <a:endParaRPr b="0" i="0" sz="1000" u="none" cap="none" strike="noStrike">
              <a:solidFill>
                <a:schemeClr val="dk1"/>
              </a:solidFill>
              <a:latin typeface="Calibri"/>
              <a:ea typeface="Calibri"/>
              <a:cs typeface="Calibri"/>
              <a:sym typeface="Calibri"/>
            </a:endParaRPr>
          </a:p>
        </p:txBody>
      </p:sp>
      <p:sp>
        <p:nvSpPr>
          <p:cNvPr id="620" name="Google Shape;620;p13"/>
          <p:cNvSpPr txBox="1"/>
          <p:nvPr/>
        </p:nvSpPr>
        <p:spPr>
          <a:xfrm>
            <a:off x="5989320" y="4779169"/>
            <a:ext cx="1920240" cy="36376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Departmental costs</a:t>
            </a:r>
            <a:endParaRPr b="0" i="0" sz="1050" u="none" cap="none" strike="noStrike">
              <a:solidFill>
                <a:schemeClr val="dk1"/>
              </a:solidFill>
              <a:latin typeface="Calibri"/>
              <a:ea typeface="Calibri"/>
              <a:cs typeface="Calibri"/>
              <a:sym typeface="Calibri"/>
            </a:endParaRPr>
          </a:p>
        </p:txBody>
      </p:sp>
      <p:sp>
        <p:nvSpPr>
          <p:cNvPr id="621" name="Google Shape;621;p13"/>
          <p:cNvSpPr/>
          <p:nvPr/>
        </p:nvSpPr>
        <p:spPr>
          <a:xfrm>
            <a:off x="8001000" y="4844646"/>
            <a:ext cx="1003805" cy="232806"/>
          </a:xfrm>
          <a:prstGeom prst="roundRect">
            <a:avLst>
              <a:gd fmla="val 19639"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3"/>
          <p:cNvSpPr txBox="1"/>
          <p:nvPr/>
        </p:nvSpPr>
        <p:spPr>
          <a:xfrm>
            <a:off x="9096245" y="4779169"/>
            <a:ext cx="1005840" cy="363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 $255,000</a:t>
            </a:r>
            <a:endParaRPr b="0" i="0" sz="1000" u="none" cap="none" strike="noStrike">
              <a:solidFill>
                <a:schemeClr val="dk1"/>
              </a:solidFill>
              <a:latin typeface="Calibri"/>
              <a:ea typeface="Calibri"/>
              <a:cs typeface="Calibri"/>
              <a:sym typeface="Calibri"/>
            </a:endParaRPr>
          </a:p>
        </p:txBody>
      </p:sp>
      <p:sp>
        <p:nvSpPr>
          <p:cNvPr id="623" name="Google Shape;623;p13"/>
          <p:cNvSpPr txBox="1"/>
          <p:nvPr/>
        </p:nvSpPr>
        <p:spPr>
          <a:xfrm>
            <a:off x="5989320" y="5197793"/>
            <a:ext cx="1920240" cy="36376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Undistributed costs</a:t>
            </a:r>
            <a:endParaRPr b="0" i="0" sz="1050" u="none" cap="none" strike="noStrike">
              <a:solidFill>
                <a:schemeClr val="dk1"/>
              </a:solidFill>
              <a:latin typeface="Calibri"/>
              <a:ea typeface="Calibri"/>
              <a:cs typeface="Calibri"/>
              <a:sym typeface="Calibri"/>
            </a:endParaRPr>
          </a:p>
        </p:txBody>
      </p:sp>
      <p:sp>
        <p:nvSpPr>
          <p:cNvPr id="624" name="Google Shape;624;p13"/>
          <p:cNvSpPr/>
          <p:nvPr/>
        </p:nvSpPr>
        <p:spPr>
          <a:xfrm>
            <a:off x="8001000" y="5263269"/>
            <a:ext cx="669204" cy="232806"/>
          </a:xfrm>
          <a:prstGeom prst="roundRect">
            <a:avLst>
              <a:gd fmla="val 19639"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3"/>
          <p:cNvSpPr txBox="1"/>
          <p:nvPr/>
        </p:nvSpPr>
        <p:spPr>
          <a:xfrm>
            <a:off x="8761644" y="5197793"/>
            <a:ext cx="1005840" cy="363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 $170,000</a:t>
            </a:r>
            <a:endParaRPr b="0" i="0" sz="1000" u="none" cap="none" strike="noStrike">
              <a:solidFill>
                <a:schemeClr val="dk1"/>
              </a:solidFill>
              <a:latin typeface="Calibri"/>
              <a:ea typeface="Calibri"/>
              <a:cs typeface="Calibri"/>
              <a:sym typeface="Calibri"/>
            </a:endParaRPr>
          </a:p>
        </p:txBody>
      </p:sp>
      <p:sp>
        <p:nvSpPr>
          <p:cNvPr id="626" name="Google Shape;626;p13"/>
          <p:cNvSpPr txBox="1"/>
          <p:nvPr/>
        </p:nvSpPr>
        <p:spPr>
          <a:xfrm>
            <a:off x="5989320" y="5616416"/>
            <a:ext cx="1920240" cy="36376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GOP</a:t>
            </a:r>
            <a:endParaRPr b="0" i="0" sz="1050" u="none" cap="none" strike="noStrike">
              <a:solidFill>
                <a:schemeClr val="dk1"/>
              </a:solidFill>
              <a:latin typeface="Calibri"/>
              <a:ea typeface="Calibri"/>
              <a:cs typeface="Calibri"/>
              <a:sym typeface="Calibri"/>
            </a:endParaRPr>
          </a:p>
        </p:txBody>
      </p:sp>
      <p:sp>
        <p:nvSpPr>
          <p:cNvPr id="627" name="Google Shape;627;p13"/>
          <p:cNvSpPr/>
          <p:nvPr/>
        </p:nvSpPr>
        <p:spPr>
          <a:xfrm>
            <a:off x="8001000" y="5681893"/>
            <a:ext cx="688886" cy="232806"/>
          </a:xfrm>
          <a:prstGeom prst="roundRect">
            <a:avLst>
              <a:gd fmla="val 19639"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3"/>
          <p:cNvSpPr txBox="1"/>
          <p:nvPr/>
        </p:nvSpPr>
        <p:spPr>
          <a:xfrm>
            <a:off x="8781326" y="5616416"/>
            <a:ext cx="1005840" cy="363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$175,000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33" name="Shape 633"/>
        <p:cNvGrpSpPr/>
        <p:nvPr/>
      </p:nvGrpSpPr>
      <p:grpSpPr>
        <a:xfrm>
          <a:off x="0" y="0"/>
          <a:ext cx="0" cy="0"/>
          <a:chOff x="0" y="0"/>
          <a:chExt cx="0" cy="0"/>
        </a:xfrm>
      </p:grpSpPr>
      <p:sp>
        <p:nvSpPr>
          <p:cNvPr id="634" name="Google Shape;634;p1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pic>
        <p:nvPicPr>
          <p:cNvPr descr="/home/claude/work/renderer/brand/wordmark.png" id="635" name="Google Shape;635;p1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636" name="Google Shape;636;p1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12 / 65</a:t>
            </a:r>
            <a:endParaRPr b="0" i="0" sz="900" u="none" cap="none" strike="noStrike">
              <a:solidFill>
                <a:schemeClr val="dk1"/>
              </a:solidFill>
              <a:latin typeface="Calibri"/>
              <a:ea typeface="Calibri"/>
              <a:cs typeface="Calibri"/>
              <a:sym typeface="Calibri"/>
            </a:endParaRPr>
          </a:p>
        </p:txBody>
      </p:sp>
      <p:sp>
        <p:nvSpPr>
          <p:cNvPr id="637" name="Google Shape;637;p1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NOI</a:t>
            </a:r>
            <a:r>
              <a:rPr b="0" i="0" lang="en-US" sz="1700" u="none" cap="none" strike="noStrike">
                <a:solidFill>
                  <a:srgbClr val="004FAA"/>
                </a:solidFill>
                <a:latin typeface="Inter"/>
                <a:ea typeface="Inter"/>
                <a:cs typeface="Inter"/>
                <a:sym typeface="Inter"/>
              </a:rPr>
              <a:t>  net operating income</a:t>
            </a:r>
            <a:endParaRPr b="0" i="0" sz="3000" u="none" cap="none" strike="noStrike">
              <a:solidFill>
                <a:schemeClr val="dk1"/>
              </a:solidFill>
              <a:latin typeface="Calibri"/>
              <a:ea typeface="Calibri"/>
              <a:cs typeface="Calibri"/>
              <a:sym typeface="Calibri"/>
            </a:endParaRPr>
          </a:p>
        </p:txBody>
      </p:sp>
      <p:sp>
        <p:nvSpPr>
          <p:cNvPr id="638" name="Google Shape;638;p14"/>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4"/>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640" name="Google Shape;640;p14"/>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641" name="Google Shape;641;p14"/>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642" name="Google Shape;642;p14"/>
          <p:cNvSpPr txBox="1"/>
          <p:nvPr/>
        </p:nvSpPr>
        <p:spPr>
          <a:xfrm>
            <a:off x="1170432" y="2075688"/>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GOP less management fees and fixed charges; what owners and buyers price the property on. USALI now labels this line EBITDA.</a:t>
            </a:r>
            <a:endParaRPr b="0" i="0" sz="1150" u="none" cap="none" strike="noStrike">
              <a:solidFill>
                <a:schemeClr val="dk1"/>
              </a:solidFill>
              <a:latin typeface="Calibri"/>
              <a:ea typeface="Calibri"/>
              <a:cs typeface="Calibri"/>
              <a:sym typeface="Calibri"/>
            </a:endParaRPr>
          </a:p>
        </p:txBody>
      </p:sp>
      <p:sp>
        <p:nvSpPr>
          <p:cNvPr id="643" name="Google Shape;643;p14"/>
          <p:cNvSpPr/>
          <p:nvPr/>
        </p:nvSpPr>
        <p:spPr>
          <a:xfrm>
            <a:off x="548640" y="354930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644" name="Google Shape;644;p14"/>
          <p:cNvPicPr preferRelativeResize="0"/>
          <p:nvPr/>
        </p:nvPicPr>
        <p:blipFill rotWithShape="1">
          <a:blip r:embed="rId5">
            <a:alphaModFix/>
          </a:blip>
          <a:srcRect b="0" l="0" r="0" t="0"/>
          <a:stretch/>
        </p:blipFill>
        <p:spPr>
          <a:xfrm>
            <a:off x="641177" y="3641838"/>
            <a:ext cx="235549" cy="235549"/>
          </a:xfrm>
          <a:prstGeom prst="rect">
            <a:avLst/>
          </a:prstGeom>
          <a:noFill/>
          <a:ln>
            <a:noFill/>
          </a:ln>
        </p:spPr>
      </p:pic>
      <p:sp>
        <p:nvSpPr>
          <p:cNvPr id="645" name="Google Shape;645;p14"/>
          <p:cNvSpPr txBox="1"/>
          <p:nvPr/>
        </p:nvSpPr>
        <p:spPr>
          <a:xfrm>
            <a:off x="1170432" y="353101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646" name="Google Shape;646;p14"/>
          <p:cNvSpPr txBox="1"/>
          <p:nvPr/>
        </p:nvSpPr>
        <p:spPr>
          <a:xfrm>
            <a:off x="1170432" y="3841909"/>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This is the number a sale is priced on. At this ICP the dream is a business worth a big multiple on the back of high NOI. An owner who runs the place themselves may have no management fee on that line at all.</a:t>
            </a:r>
            <a:endParaRPr b="0" i="0" sz="1150" u="none" cap="none" strike="noStrike">
              <a:solidFill>
                <a:schemeClr val="dk1"/>
              </a:solidFill>
              <a:latin typeface="Calibri"/>
              <a:ea typeface="Calibri"/>
              <a:cs typeface="Calibri"/>
              <a:sym typeface="Calibri"/>
            </a:endParaRPr>
          </a:p>
        </p:txBody>
      </p:sp>
      <p:sp>
        <p:nvSpPr>
          <p:cNvPr id="647" name="Google Shape;647;p14"/>
          <p:cNvSpPr/>
          <p:nvPr/>
        </p:nvSpPr>
        <p:spPr>
          <a:xfrm>
            <a:off x="548640" y="5512689"/>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648" name="Google Shape;648;p14"/>
          <p:cNvPicPr preferRelativeResize="0"/>
          <p:nvPr/>
        </p:nvPicPr>
        <p:blipFill rotWithShape="1">
          <a:blip r:embed="rId6">
            <a:alphaModFix/>
          </a:blip>
          <a:srcRect b="0" l="0" r="0" t="0"/>
          <a:stretch/>
        </p:blipFill>
        <p:spPr>
          <a:xfrm>
            <a:off x="641177" y="5605226"/>
            <a:ext cx="235549" cy="235549"/>
          </a:xfrm>
          <a:prstGeom prst="rect">
            <a:avLst/>
          </a:prstGeom>
          <a:noFill/>
          <a:ln>
            <a:noFill/>
          </a:ln>
        </p:spPr>
      </p:pic>
      <p:sp>
        <p:nvSpPr>
          <p:cNvPr id="649" name="Google Shape;649;p14"/>
          <p:cNvSpPr txBox="1"/>
          <p:nvPr/>
        </p:nvSpPr>
        <p:spPr>
          <a:xfrm>
            <a:off x="1170432" y="5494401"/>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650" name="Google Shape;650;p14"/>
          <p:cNvSpPr txBox="1"/>
          <p:nvPr/>
        </p:nvSpPr>
        <p:spPr>
          <a:xfrm>
            <a:off x="1170432" y="5805297"/>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When you think about selling or expanding one day, NOI is the number the buyer will look at first.</a:t>
            </a:r>
            <a:endParaRPr b="0" i="0" sz="1150" u="none" cap="none" strike="noStrike">
              <a:solidFill>
                <a:schemeClr val="dk1"/>
              </a:solidFill>
              <a:latin typeface="Calibri"/>
              <a:ea typeface="Calibri"/>
              <a:cs typeface="Calibri"/>
              <a:sym typeface="Calibri"/>
            </a:endParaRPr>
          </a:p>
        </p:txBody>
      </p:sp>
      <p:sp>
        <p:nvSpPr>
          <p:cNvPr id="651" name="Google Shape;651;p14"/>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4"/>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653" name="Google Shape;653;p14"/>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654" name="Google Shape;654;p14"/>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NOI = GOP − management fees − fixed charges</a:t>
            </a:r>
            <a:endParaRPr b="0" i="0" sz="1200" u="none" cap="none" strike="noStrike">
              <a:solidFill>
                <a:schemeClr val="dk1"/>
              </a:solidFill>
              <a:latin typeface="Calibri"/>
              <a:ea typeface="Calibri"/>
              <a:cs typeface="Calibri"/>
              <a:sym typeface="Calibri"/>
            </a:endParaRPr>
          </a:p>
        </p:txBody>
      </p:sp>
      <p:sp>
        <p:nvSpPr>
          <p:cNvPr id="655" name="Google Shape;655;p14"/>
          <p:cNvSpPr txBox="1"/>
          <p:nvPr/>
        </p:nvSpPr>
        <p:spPr>
          <a:xfrm>
            <a:off x="5989320" y="2532888"/>
            <a:ext cx="5379415" cy="54178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 was </a:t>
            </a:r>
            <a:r>
              <a:rPr b="1" i="0" lang="en-US" sz="1100" u="none" cap="none" strike="noStrike">
                <a:solidFill>
                  <a:srgbClr val="404040"/>
                </a:solidFill>
                <a:latin typeface="Inter"/>
                <a:ea typeface="Inter"/>
                <a:cs typeface="Inter"/>
                <a:sym typeface="Inter"/>
              </a:rPr>
              <a:t>$175,000</a:t>
            </a:r>
            <a:r>
              <a:rPr b="0" i="0" lang="en-US" sz="1100" u="none" cap="none" strike="noStrike">
                <a:solidFill>
                  <a:srgbClr val="404040"/>
                </a:solidFill>
                <a:latin typeface="Inter"/>
                <a:ea typeface="Inter"/>
                <a:cs typeface="Inter"/>
                <a:sym typeface="Inter"/>
              </a:rPr>
              <a:t>. The management company's fee was </a:t>
            </a:r>
            <a:r>
              <a:rPr b="1" i="0" lang="en-US" sz="1100" u="none" cap="none" strike="noStrike">
                <a:solidFill>
                  <a:srgbClr val="404040"/>
                </a:solidFill>
                <a:latin typeface="Inter"/>
                <a:ea typeface="Inter"/>
                <a:cs typeface="Inter"/>
                <a:sym typeface="Inter"/>
              </a:rPr>
              <a:t>$25,000</a:t>
            </a:r>
            <a:r>
              <a:rPr b="0" i="0" lang="en-US" sz="1100" u="none" cap="none" strike="noStrike">
                <a:solidFill>
                  <a:srgbClr val="404040"/>
                </a:solidFill>
                <a:latin typeface="Inter"/>
                <a:ea typeface="Inter"/>
                <a:cs typeface="Inter"/>
                <a:sym typeface="Inter"/>
              </a:rPr>
              <a:t>, and property tax and insurance came to </a:t>
            </a:r>
            <a:r>
              <a:rPr b="1" i="0" lang="en-US" sz="1100" u="none" cap="none" strike="noStrike">
                <a:solidFill>
                  <a:srgbClr val="404040"/>
                </a:solidFill>
                <a:latin typeface="Inter"/>
                <a:ea typeface="Inter"/>
                <a:cs typeface="Inter"/>
                <a:sym typeface="Inter"/>
              </a:rPr>
              <a:t>$30,000</a:t>
            </a:r>
            <a:r>
              <a:rPr b="0" i="0" lang="en-US" sz="1100" u="none" cap="none" strike="noStrike">
                <a:solidFill>
                  <a:srgbClr val="404040"/>
                </a:solidFill>
                <a:latin typeface="Inter"/>
                <a:ea typeface="Inter"/>
                <a:cs typeface="Inter"/>
                <a:sym typeface="Inter"/>
              </a:rPr>
              <a:t>. A buyer has asked for the NOI.</a:t>
            </a:r>
            <a:endParaRPr b="0" i="0" sz="1100" u="none" cap="none" strike="noStrike">
              <a:solidFill>
                <a:schemeClr val="dk1"/>
              </a:solidFill>
              <a:latin typeface="Calibri"/>
              <a:ea typeface="Calibri"/>
              <a:cs typeface="Calibri"/>
              <a:sym typeface="Calibri"/>
            </a:endParaRPr>
          </a:p>
        </p:txBody>
      </p:sp>
      <p:sp>
        <p:nvSpPr>
          <p:cNvPr id="656" name="Google Shape;656;p14"/>
          <p:cNvSpPr txBox="1"/>
          <p:nvPr/>
        </p:nvSpPr>
        <p:spPr>
          <a:xfrm>
            <a:off x="6172200" y="3129534"/>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NOI = $175,000 − $25,000 − $30,000</a:t>
            </a:r>
            <a:endParaRPr b="0" i="0" sz="1100" u="none" cap="none" strike="noStrike">
              <a:solidFill>
                <a:schemeClr val="dk1"/>
              </a:solidFill>
              <a:latin typeface="Calibri"/>
              <a:ea typeface="Calibri"/>
              <a:cs typeface="Calibri"/>
              <a:sym typeface="Calibri"/>
            </a:endParaRPr>
          </a:p>
        </p:txBody>
      </p:sp>
      <p:sp>
        <p:nvSpPr>
          <p:cNvPr id="657" name="Google Shape;657;p14"/>
          <p:cNvSpPr/>
          <p:nvPr/>
        </p:nvSpPr>
        <p:spPr>
          <a:xfrm>
            <a:off x="5989320" y="3422142"/>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658" name="Google Shape;658;p14"/>
          <p:cNvPicPr preferRelativeResize="0"/>
          <p:nvPr/>
        </p:nvPicPr>
        <p:blipFill rotWithShape="1">
          <a:blip r:embed="rId8">
            <a:alphaModFix/>
          </a:blip>
          <a:srcRect b="0" l="0" r="0" t="0"/>
          <a:stretch/>
        </p:blipFill>
        <p:spPr>
          <a:xfrm>
            <a:off x="6117336" y="3486150"/>
            <a:ext cx="237744" cy="237744"/>
          </a:xfrm>
          <a:prstGeom prst="rect">
            <a:avLst/>
          </a:prstGeom>
          <a:noFill/>
          <a:ln>
            <a:noFill/>
          </a:ln>
        </p:spPr>
      </p:pic>
      <p:sp>
        <p:nvSpPr>
          <p:cNvPr id="659" name="Google Shape;659;p14"/>
          <p:cNvSpPr txBox="1"/>
          <p:nvPr/>
        </p:nvSpPr>
        <p:spPr>
          <a:xfrm>
            <a:off x="6464808" y="3422142"/>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NOI = $120,000</a:t>
            </a:r>
            <a:endParaRPr b="0" i="0" sz="1200" u="none" cap="none" strike="noStrike">
              <a:solidFill>
                <a:schemeClr val="dk1"/>
              </a:solidFill>
              <a:latin typeface="Calibri"/>
              <a:ea typeface="Calibri"/>
              <a:cs typeface="Calibri"/>
              <a:sym typeface="Calibri"/>
            </a:endParaRPr>
          </a:p>
        </p:txBody>
      </p:sp>
      <p:sp>
        <p:nvSpPr>
          <p:cNvPr id="660" name="Google Shape;660;p14"/>
          <p:cNvSpPr txBox="1"/>
          <p:nvPr/>
        </p:nvSpPr>
        <p:spPr>
          <a:xfrm>
            <a:off x="5989320" y="3897630"/>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THE BOTTOM RUNG: WHAT A BUYER PRICES</a:t>
            </a:r>
            <a:endParaRPr b="0" i="0" sz="900" u="none" cap="none" strike="noStrike">
              <a:solidFill>
                <a:schemeClr val="dk1"/>
              </a:solidFill>
              <a:latin typeface="Calibri"/>
              <a:ea typeface="Calibri"/>
              <a:cs typeface="Calibri"/>
              <a:sym typeface="Calibri"/>
            </a:endParaRPr>
          </a:p>
        </p:txBody>
      </p:sp>
      <p:sp>
        <p:nvSpPr>
          <p:cNvPr id="661" name="Google Shape;661;p14"/>
          <p:cNvSpPr txBox="1"/>
          <p:nvPr/>
        </p:nvSpPr>
        <p:spPr>
          <a:xfrm>
            <a:off x="5989320" y="4171950"/>
            <a:ext cx="2194560"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GOP</a:t>
            </a:r>
            <a:endParaRPr b="0" i="0" sz="1050" u="none" cap="none" strike="noStrike">
              <a:solidFill>
                <a:schemeClr val="dk1"/>
              </a:solidFill>
              <a:latin typeface="Calibri"/>
              <a:ea typeface="Calibri"/>
              <a:cs typeface="Calibri"/>
              <a:sym typeface="Calibri"/>
            </a:endParaRPr>
          </a:p>
        </p:txBody>
      </p:sp>
      <p:sp>
        <p:nvSpPr>
          <p:cNvPr id="662" name="Google Shape;662;p14"/>
          <p:cNvSpPr/>
          <p:nvPr/>
        </p:nvSpPr>
        <p:spPr>
          <a:xfrm>
            <a:off x="8275320" y="4245914"/>
            <a:ext cx="2087575" cy="262981"/>
          </a:xfrm>
          <a:prstGeom prst="roundRect">
            <a:avLst>
              <a:gd fmla="val 1738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4"/>
          <p:cNvSpPr txBox="1"/>
          <p:nvPr/>
        </p:nvSpPr>
        <p:spPr>
          <a:xfrm>
            <a:off x="10454335" y="4171950"/>
            <a:ext cx="1005840" cy="4109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$175,000</a:t>
            </a:r>
            <a:endParaRPr b="0" i="0" sz="1000" u="none" cap="none" strike="noStrike">
              <a:solidFill>
                <a:schemeClr val="dk1"/>
              </a:solidFill>
              <a:latin typeface="Calibri"/>
              <a:ea typeface="Calibri"/>
              <a:cs typeface="Calibri"/>
              <a:sym typeface="Calibri"/>
            </a:endParaRPr>
          </a:p>
        </p:txBody>
      </p:sp>
      <p:sp>
        <p:nvSpPr>
          <p:cNvPr id="664" name="Google Shape;664;p14"/>
          <p:cNvSpPr txBox="1"/>
          <p:nvPr/>
        </p:nvSpPr>
        <p:spPr>
          <a:xfrm>
            <a:off x="5989320" y="4637723"/>
            <a:ext cx="2194560"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Management fee</a:t>
            </a:r>
            <a:endParaRPr b="0" i="0" sz="1050" u="none" cap="none" strike="noStrike">
              <a:solidFill>
                <a:schemeClr val="dk1"/>
              </a:solidFill>
              <a:latin typeface="Calibri"/>
              <a:ea typeface="Calibri"/>
              <a:cs typeface="Calibri"/>
              <a:sym typeface="Calibri"/>
            </a:endParaRPr>
          </a:p>
        </p:txBody>
      </p:sp>
      <p:sp>
        <p:nvSpPr>
          <p:cNvPr id="665" name="Google Shape;665;p14"/>
          <p:cNvSpPr/>
          <p:nvPr/>
        </p:nvSpPr>
        <p:spPr>
          <a:xfrm>
            <a:off x="8275320" y="4711686"/>
            <a:ext cx="298225" cy="262981"/>
          </a:xfrm>
          <a:prstGeom prst="roundRect">
            <a:avLst>
              <a:gd fmla="val 17385"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4"/>
          <p:cNvSpPr txBox="1"/>
          <p:nvPr/>
        </p:nvSpPr>
        <p:spPr>
          <a:xfrm>
            <a:off x="8664985" y="4637723"/>
            <a:ext cx="1005840" cy="4109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 $25,000</a:t>
            </a:r>
            <a:endParaRPr b="0" i="0" sz="1000" u="none" cap="none" strike="noStrike">
              <a:solidFill>
                <a:schemeClr val="dk1"/>
              </a:solidFill>
              <a:latin typeface="Calibri"/>
              <a:ea typeface="Calibri"/>
              <a:cs typeface="Calibri"/>
              <a:sym typeface="Calibri"/>
            </a:endParaRPr>
          </a:p>
        </p:txBody>
      </p:sp>
      <p:sp>
        <p:nvSpPr>
          <p:cNvPr id="667" name="Google Shape;667;p14"/>
          <p:cNvSpPr txBox="1"/>
          <p:nvPr/>
        </p:nvSpPr>
        <p:spPr>
          <a:xfrm>
            <a:off x="5989320" y="5103495"/>
            <a:ext cx="2194560"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Property tax and insurance</a:t>
            </a:r>
            <a:endParaRPr b="0" i="0" sz="1050" u="none" cap="none" strike="noStrike">
              <a:solidFill>
                <a:schemeClr val="dk1"/>
              </a:solidFill>
              <a:latin typeface="Calibri"/>
              <a:ea typeface="Calibri"/>
              <a:cs typeface="Calibri"/>
              <a:sym typeface="Calibri"/>
            </a:endParaRPr>
          </a:p>
        </p:txBody>
      </p:sp>
      <p:sp>
        <p:nvSpPr>
          <p:cNvPr id="668" name="Google Shape;668;p14"/>
          <p:cNvSpPr/>
          <p:nvPr/>
        </p:nvSpPr>
        <p:spPr>
          <a:xfrm>
            <a:off x="8275320" y="5177459"/>
            <a:ext cx="357870" cy="262981"/>
          </a:xfrm>
          <a:prstGeom prst="roundRect">
            <a:avLst>
              <a:gd fmla="val 17385"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txBox="1"/>
          <p:nvPr/>
        </p:nvSpPr>
        <p:spPr>
          <a:xfrm>
            <a:off x="8724630" y="5103495"/>
            <a:ext cx="1005840" cy="4109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 $30,000</a:t>
            </a:r>
            <a:endParaRPr b="0" i="0" sz="1000" u="none" cap="none" strike="noStrike">
              <a:solidFill>
                <a:schemeClr val="dk1"/>
              </a:solidFill>
              <a:latin typeface="Calibri"/>
              <a:ea typeface="Calibri"/>
              <a:cs typeface="Calibri"/>
              <a:sym typeface="Calibri"/>
            </a:endParaRPr>
          </a:p>
        </p:txBody>
      </p:sp>
      <p:sp>
        <p:nvSpPr>
          <p:cNvPr id="670" name="Google Shape;670;p14"/>
          <p:cNvSpPr txBox="1"/>
          <p:nvPr/>
        </p:nvSpPr>
        <p:spPr>
          <a:xfrm>
            <a:off x="5989320" y="5569268"/>
            <a:ext cx="2194560" cy="4109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NOI</a:t>
            </a:r>
            <a:endParaRPr b="0" i="0" sz="1050" u="none" cap="none" strike="noStrike">
              <a:solidFill>
                <a:schemeClr val="dk1"/>
              </a:solidFill>
              <a:latin typeface="Calibri"/>
              <a:ea typeface="Calibri"/>
              <a:cs typeface="Calibri"/>
              <a:sym typeface="Calibri"/>
            </a:endParaRPr>
          </a:p>
        </p:txBody>
      </p:sp>
      <p:sp>
        <p:nvSpPr>
          <p:cNvPr id="671" name="Google Shape;671;p14"/>
          <p:cNvSpPr/>
          <p:nvPr/>
        </p:nvSpPr>
        <p:spPr>
          <a:xfrm>
            <a:off x="8275320" y="5643231"/>
            <a:ext cx="1431480" cy="262981"/>
          </a:xfrm>
          <a:prstGeom prst="roundRect">
            <a:avLst>
              <a:gd fmla="val 1738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4"/>
          <p:cNvSpPr txBox="1"/>
          <p:nvPr/>
        </p:nvSpPr>
        <p:spPr>
          <a:xfrm>
            <a:off x="9798240" y="5569268"/>
            <a:ext cx="1005840" cy="4109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$120,000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77" name="Shape 677"/>
        <p:cNvGrpSpPr/>
        <p:nvPr/>
      </p:nvGrpSpPr>
      <p:grpSpPr>
        <a:xfrm>
          <a:off x="0" y="0"/>
          <a:ext cx="0" cy="0"/>
          <a:chOff x="0" y="0"/>
          <a:chExt cx="0" cy="0"/>
        </a:xfrm>
      </p:grpSpPr>
      <p:sp>
        <p:nvSpPr>
          <p:cNvPr id="678" name="Google Shape;678;p1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1 · FROM RATE TO PROFIT</a:t>
            </a:r>
            <a:endParaRPr b="0" i="0" sz="1050" u="none" cap="none" strike="noStrike">
              <a:solidFill>
                <a:schemeClr val="dk1"/>
              </a:solidFill>
              <a:latin typeface="Calibri"/>
              <a:ea typeface="Calibri"/>
              <a:cs typeface="Calibri"/>
              <a:sym typeface="Calibri"/>
            </a:endParaRPr>
          </a:p>
        </p:txBody>
      </p:sp>
      <p:pic>
        <p:nvPicPr>
          <p:cNvPr descr="/home/claude/work/renderer/brand/wordmark.png" id="679" name="Google Shape;679;p1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680" name="Google Shape;680;p1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13 / 65</a:t>
            </a:r>
            <a:endParaRPr b="0" i="0" sz="900" u="none" cap="none" strike="noStrike">
              <a:solidFill>
                <a:schemeClr val="dk1"/>
              </a:solidFill>
              <a:latin typeface="Calibri"/>
              <a:ea typeface="Calibri"/>
              <a:cs typeface="Calibri"/>
              <a:sym typeface="Calibri"/>
            </a:endParaRPr>
          </a:p>
        </p:txBody>
      </p:sp>
      <p:sp>
        <p:nvSpPr>
          <p:cNvPr id="681" name="Google Shape;681;p1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Flow-through</a:t>
            </a:r>
            <a:r>
              <a:rPr b="0" i="0" lang="en-US" sz="1700" u="none" cap="none" strike="noStrike">
                <a:solidFill>
                  <a:srgbClr val="004FAA"/>
                </a:solidFill>
                <a:latin typeface="Inter"/>
                <a:ea typeface="Inter"/>
                <a:cs typeface="Inter"/>
                <a:sym typeface="Inter"/>
              </a:rPr>
              <a:t>  how much of extra revenue reaches profit</a:t>
            </a:r>
            <a:endParaRPr b="0" i="0" sz="3000" u="none" cap="none" strike="noStrike">
              <a:solidFill>
                <a:schemeClr val="dk1"/>
              </a:solidFill>
              <a:latin typeface="Calibri"/>
              <a:ea typeface="Calibri"/>
              <a:cs typeface="Calibri"/>
              <a:sym typeface="Calibri"/>
            </a:endParaRPr>
          </a:p>
        </p:txBody>
      </p:sp>
      <p:sp>
        <p:nvSpPr>
          <p:cNvPr id="682" name="Google Shape;682;p15"/>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5"/>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684" name="Google Shape;684;p15"/>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685" name="Google Shape;685;p15"/>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686" name="Google Shape;686;p15"/>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How much of each extra dollar of revenue actually reaches profit rather than being eaten by cost.</a:t>
            </a:r>
            <a:endParaRPr b="0" i="0" sz="1150" u="none" cap="none" strike="noStrike">
              <a:solidFill>
                <a:schemeClr val="dk1"/>
              </a:solidFill>
              <a:latin typeface="Calibri"/>
              <a:ea typeface="Calibri"/>
              <a:cs typeface="Calibri"/>
              <a:sym typeface="Calibri"/>
            </a:endParaRPr>
          </a:p>
        </p:txBody>
      </p:sp>
      <p:sp>
        <p:nvSpPr>
          <p:cNvPr id="687" name="Google Shape;687;p15"/>
          <p:cNvSpPr/>
          <p:nvPr/>
        </p:nvSpPr>
        <p:spPr>
          <a:xfrm>
            <a:off x="548640" y="340271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688" name="Google Shape;688;p15"/>
          <p:cNvPicPr preferRelativeResize="0"/>
          <p:nvPr/>
        </p:nvPicPr>
        <p:blipFill rotWithShape="1">
          <a:blip r:embed="rId5">
            <a:alphaModFix/>
          </a:blip>
          <a:srcRect b="0" l="0" r="0" t="0"/>
          <a:stretch/>
        </p:blipFill>
        <p:spPr>
          <a:xfrm>
            <a:off x="641177" y="3495248"/>
            <a:ext cx="235549" cy="235549"/>
          </a:xfrm>
          <a:prstGeom prst="rect">
            <a:avLst/>
          </a:prstGeom>
          <a:noFill/>
          <a:ln>
            <a:noFill/>
          </a:ln>
        </p:spPr>
      </p:pic>
      <p:sp>
        <p:nvSpPr>
          <p:cNvPr id="689" name="Google Shape;689;p15"/>
          <p:cNvSpPr txBox="1"/>
          <p:nvPr/>
        </p:nvSpPr>
        <p:spPr>
          <a:xfrm>
            <a:off x="1170432" y="338442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690" name="Google Shape;690;p15"/>
          <p:cNvSpPr txBox="1"/>
          <p:nvPr/>
        </p:nvSpPr>
        <p:spPr>
          <a:xfrm>
            <a:off x="1170432" y="369531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Growth that costs as much as it brings in does not make the owner richer. This is the “level or change” question from the checklist: only the extra counts.</a:t>
            </a:r>
            <a:endParaRPr b="0" i="0" sz="1150" u="none" cap="none" strike="noStrike">
              <a:solidFill>
                <a:schemeClr val="dk1"/>
              </a:solidFill>
              <a:latin typeface="Calibri"/>
              <a:ea typeface="Calibri"/>
              <a:cs typeface="Calibri"/>
              <a:sym typeface="Calibri"/>
            </a:endParaRPr>
          </a:p>
        </p:txBody>
      </p:sp>
      <p:sp>
        <p:nvSpPr>
          <p:cNvPr id="691" name="Google Shape;691;p15"/>
          <p:cNvSpPr/>
          <p:nvPr/>
        </p:nvSpPr>
        <p:spPr>
          <a:xfrm>
            <a:off x="548640" y="521951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692" name="Google Shape;692;p15"/>
          <p:cNvPicPr preferRelativeResize="0"/>
          <p:nvPr/>
        </p:nvPicPr>
        <p:blipFill rotWithShape="1">
          <a:blip r:embed="rId6">
            <a:alphaModFix/>
          </a:blip>
          <a:srcRect b="0" l="0" r="0" t="0"/>
          <a:stretch/>
        </p:blipFill>
        <p:spPr>
          <a:xfrm>
            <a:off x="641177" y="5312047"/>
            <a:ext cx="235549" cy="235549"/>
          </a:xfrm>
          <a:prstGeom prst="rect">
            <a:avLst/>
          </a:prstGeom>
          <a:noFill/>
          <a:ln>
            <a:noFill/>
          </a:ln>
        </p:spPr>
      </p:pic>
      <p:sp>
        <p:nvSpPr>
          <p:cNvPr id="693" name="Google Shape;693;p15"/>
          <p:cNvSpPr txBox="1"/>
          <p:nvPr/>
        </p:nvSpPr>
        <p:spPr>
          <a:xfrm>
            <a:off x="1170432" y="520122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694" name="Google Shape;694;p15"/>
          <p:cNvSpPr txBox="1"/>
          <p:nvPr/>
        </p:nvSpPr>
        <p:spPr>
          <a:xfrm>
            <a:off x="1170432" y="5512118"/>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More revenue is only good news if it flows through — what's the flow-through on the extra bookings from the promotion?</a:t>
            </a:r>
            <a:endParaRPr b="0" i="0" sz="1150" u="none" cap="none" strike="noStrike">
              <a:solidFill>
                <a:schemeClr val="dk1"/>
              </a:solidFill>
              <a:latin typeface="Calibri"/>
              <a:ea typeface="Calibri"/>
              <a:cs typeface="Calibri"/>
              <a:sym typeface="Calibri"/>
            </a:endParaRPr>
          </a:p>
        </p:txBody>
      </p:sp>
      <p:sp>
        <p:nvSpPr>
          <p:cNvPr id="695" name="Google Shape;695;p15"/>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5"/>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697" name="Google Shape;697;p15"/>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698" name="Google Shape;698;p15"/>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Change in GOP ÷ Change in revenue</a:t>
            </a:r>
            <a:endParaRPr b="0" i="0" sz="1200" u="none" cap="none" strike="noStrike">
              <a:solidFill>
                <a:schemeClr val="dk1"/>
              </a:solidFill>
              <a:latin typeface="Calibri"/>
              <a:ea typeface="Calibri"/>
              <a:cs typeface="Calibri"/>
              <a:sym typeface="Calibri"/>
            </a:endParaRPr>
          </a:p>
        </p:txBody>
      </p:sp>
      <p:sp>
        <p:nvSpPr>
          <p:cNvPr id="699" name="Google Shape;699;p15"/>
          <p:cNvSpPr txBox="1"/>
          <p:nvPr/>
        </p:nvSpPr>
        <p:spPr>
          <a:xfrm>
            <a:off x="5989320" y="2532888"/>
            <a:ext cx="5379415" cy="73037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Revenue grew from </a:t>
            </a:r>
            <a:r>
              <a:rPr b="1" i="0" lang="en-US" sz="1100" u="none" cap="none" strike="noStrike">
                <a:solidFill>
                  <a:srgbClr val="404040"/>
                </a:solidFill>
                <a:latin typeface="Inter"/>
                <a:ea typeface="Inter"/>
                <a:cs typeface="Inter"/>
                <a:sym typeface="Inter"/>
              </a:rPr>
              <a:t>$500,000</a:t>
            </a:r>
            <a:r>
              <a:rPr b="0" i="0" lang="en-US" sz="1100" u="none" cap="none" strike="noStrike">
                <a:solidFill>
                  <a:srgbClr val="404040"/>
                </a:solidFill>
                <a:latin typeface="Inter"/>
                <a:ea typeface="Inter"/>
                <a:cs typeface="Inter"/>
                <a:sym typeface="Inter"/>
              </a:rPr>
              <a:t> last September to </a:t>
            </a:r>
            <a:r>
              <a:rPr b="1" i="0" lang="en-US" sz="1100" u="none" cap="none" strike="noStrike">
                <a:solidFill>
                  <a:srgbClr val="404040"/>
                </a:solidFill>
                <a:latin typeface="Inter"/>
                <a:ea typeface="Inter"/>
                <a:cs typeface="Inter"/>
                <a:sym typeface="Inter"/>
              </a:rPr>
              <a:t>$600,000</a:t>
            </a:r>
            <a:r>
              <a:rPr b="0" i="0" lang="en-US" sz="1100" u="none" cap="none" strike="noStrike">
                <a:solidFill>
                  <a:srgbClr val="404040"/>
                </a:solidFill>
                <a:latin typeface="Inter"/>
                <a:ea typeface="Inter"/>
                <a:cs typeface="Inter"/>
                <a:sym typeface="Inter"/>
              </a:rPr>
              <a:t> this September. GOP grew from </a:t>
            </a:r>
            <a:r>
              <a:rPr b="1" i="0" lang="en-US" sz="1100" u="none" cap="none" strike="noStrike">
                <a:solidFill>
                  <a:srgbClr val="404040"/>
                </a:solidFill>
                <a:latin typeface="Inter"/>
                <a:ea typeface="Inter"/>
                <a:cs typeface="Inter"/>
                <a:sym typeface="Inter"/>
              </a:rPr>
              <a:t>$150,000</a:t>
            </a:r>
            <a:r>
              <a:rPr b="0" i="0" lang="en-US" sz="1100" u="none" cap="none" strike="noStrike">
                <a:solidFill>
                  <a:srgbClr val="404040"/>
                </a:solidFill>
                <a:latin typeface="Inter"/>
                <a:ea typeface="Inter"/>
                <a:cs typeface="Inter"/>
                <a:sym typeface="Inter"/>
              </a:rPr>
              <a:t> to </a:t>
            </a:r>
            <a:r>
              <a:rPr b="1" i="0" lang="en-US" sz="1100" u="none" cap="none" strike="noStrike">
                <a:solidFill>
                  <a:srgbClr val="404040"/>
                </a:solidFill>
                <a:latin typeface="Inter"/>
                <a:ea typeface="Inter"/>
                <a:cs typeface="Inter"/>
                <a:sym typeface="Inter"/>
              </a:rPr>
              <a:t>$175,000</a:t>
            </a:r>
            <a:r>
              <a:rPr b="0" i="0" lang="en-US" sz="1100" u="none" cap="none" strike="noStrike">
                <a:solidFill>
                  <a:srgbClr val="404040"/>
                </a:solidFill>
                <a:latin typeface="Inter"/>
                <a:ea typeface="Inter"/>
                <a:cs typeface="Inter"/>
                <a:sym typeface="Inter"/>
              </a:rPr>
              <a:t>. How much of the extra revenue reached profit?</a:t>
            </a:r>
            <a:endParaRPr b="0" i="0" sz="1100" u="none" cap="none" strike="noStrike">
              <a:solidFill>
                <a:schemeClr val="dk1"/>
              </a:solidFill>
              <a:latin typeface="Calibri"/>
              <a:ea typeface="Calibri"/>
              <a:cs typeface="Calibri"/>
              <a:sym typeface="Calibri"/>
            </a:endParaRPr>
          </a:p>
        </p:txBody>
      </p:sp>
      <p:sp>
        <p:nvSpPr>
          <p:cNvPr id="700" name="Google Shape;700;p15"/>
          <p:cNvSpPr txBox="1"/>
          <p:nvPr/>
        </p:nvSpPr>
        <p:spPr>
          <a:xfrm>
            <a:off x="6172200" y="3318129"/>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Change in revenue = $600,000 − $500,000 = $100,000</a:t>
            </a:r>
            <a:endParaRPr b="0" i="0" sz="1100" u="none" cap="none" strike="noStrike">
              <a:solidFill>
                <a:schemeClr val="dk1"/>
              </a:solidFill>
              <a:latin typeface="Calibri"/>
              <a:ea typeface="Calibri"/>
              <a:cs typeface="Calibri"/>
              <a:sym typeface="Calibri"/>
            </a:endParaRPr>
          </a:p>
        </p:txBody>
      </p:sp>
      <p:sp>
        <p:nvSpPr>
          <p:cNvPr id="701" name="Google Shape;701;p15"/>
          <p:cNvSpPr txBox="1"/>
          <p:nvPr/>
        </p:nvSpPr>
        <p:spPr>
          <a:xfrm>
            <a:off x="6172200" y="3565017"/>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Change in GOP = $175,000 − $150,000 = $25,000</a:t>
            </a:r>
            <a:endParaRPr b="0" i="0" sz="1100" u="none" cap="none" strike="noStrike">
              <a:solidFill>
                <a:schemeClr val="dk1"/>
              </a:solidFill>
              <a:latin typeface="Calibri"/>
              <a:ea typeface="Calibri"/>
              <a:cs typeface="Calibri"/>
              <a:sym typeface="Calibri"/>
            </a:endParaRPr>
          </a:p>
        </p:txBody>
      </p:sp>
      <p:sp>
        <p:nvSpPr>
          <p:cNvPr id="702" name="Google Shape;702;p15"/>
          <p:cNvSpPr txBox="1"/>
          <p:nvPr/>
        </p:nvSpPr>
        <p:spPr>
          <a:xfrm>
            <a:off x="6172200" y="3811905"/>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Flow-through = $25,000 ÷ $100,000</a:t>
            </a:r>
            <a:endParaRPr b="0" i="0" sz="1100" u="none" cap="none" strike="noStrike">
              <a:solidFill>
                <a:schemeClr val="dk1"/>
              </a:solidFill>
              <a:latin typeface="Calibri"/>
              <a:ea typeface="Calibri"/>
              <a:cs typeface="Calibri"/>
              <a:sym typeface="Calibri"/>
            </a:endParaRPr>
          </a:p>
        </p:txBody>
      </p:sp>
      <p:sp>
        <p:nvSpPr>
          <p:cNvPr id="703" name="Google Shape;703;p15"/>
          <p:cNvSpPr/>
          <p:nvPr/>
        </p:nvSpPr>
        <p:spPr>
          <a:xfrm>
            <a:off x="5989320" y="4104513"/>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704" name="Google Shape;704;p15"/>
          <p:cNvPicPr preferRelativeResize="0"/>
          <p:nvPr/>
        </p:nvPicPr>
        <p:blipFill rotWithShape="1">
          <a:blip r:embed="rId8">
            <a:alphaModFix/>
          </a:blip>
          <a:srcRect b="0" l="0" r="0" t="0"/>
          <a:stretch/>
        </p:blipFill>
        <p:spPr>
          <a:xfrm>
            <a:off x="6117336" y="4168521"/>
            <a:ext cx="237744" cy="237744"/>
          </a:xfrm>
          <a:prstGeom prst="rect">
            <a:avLst/>
          </a:prstGeom>
          <a:noFill/>
          <a:ln>
            <a:noFill/>
          </a:ln>
        </p:spPr>
      </p:pic>
      <p:sp>
        <p:nvSpPr>
          <p:cNvPr id="705" name="Google Shape;705;p15"/>
          <p:cNvSpPr txBox="1"/>
          <p:nvPr/>
        </p:nvSpPr>
        <p:spPr>
          <a:xfrm>
            <a:off x="6464808" y="4104513"/>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flow-through = 25%</a:t>
            </a:r>
            <a:endParaRPr b="0" i="0" sz="1200" u="none" cap="none" strike="noStrike">
              <a:solidFill>
                <a:schemeClr val="dk1"/>
              </a:solidFill>
              <a:latin typeface="Calibri"/>
              <a:ea typeface="Calibri"/>
              <a:cs typeface="Calibri"/>
              <a:sym typeface="Calibri"/>
            </a:endParaRPr>
          </a:p>
        </p:txBody>
      </p:sp>
      <p:sp>
        <p:nvSpPr>
          <p:cNvPr id="706" name="Google Shape;706;p15"/>
          <p:cNvSpPr txBox="1"/>
          <p:nvPr/>
        </p:nvSpPr>
        <p:spPr>
          <a:xfrm>
            <a:off x="5989320" y="4580001"/>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WHAT HAPPENED TO THE EXTRA $100,000</a:t>
            </a:r>
            <a:endParaRPr b="0" i="0" sz="900" u="none" cap="none" strike="noStrike">
              <a:solidFill>
                <a:schemeClr val="dk1"/>
              </a:solidFill>
              <a:latin typeface="Calibri"/>
              <a:ea typeface="Calibri"/>
              <a:cs typeface="Calibri"/>
              <a:sym typeface="Calibri"/>
            </a:endParaRPr>
          </a:p>
        </p:txBody>
      </p:sp>
      <p:sp>
        <p:nvSpPr>
          <p:cNvPr id="707" name="Google Shape;707;p15"/>
          <p:cNvSpPr txBox="1"/>
          <p:nvPr/>
        </p:nvSpPr>
        <p:spPr>
          <a:xfrm>
            <a:off x="5989320" y="4854321"/>
            <a:ext cx="1828800" cy="3387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Extra revenue</a:t>
            </a:r>
            <a:endParaRPr b="0" i="0" sz="1050" u="none" cap="none" strike="noStrike">
              <a:solidFill>
                <a:schemeClr val="dk1"/>
              </a:solidFill>
              <a:latin typeface="Calibri"/>
              <a:ea typeface="Calibri"/>
              <a:cs typeface="Calibri"/>
              <a:sym typeface="Calibri"/>
            </a:endParaRPr>
          </a:p>
        </p:txBody>
      </p:sp>
      <p:sp>
        <p:nvSpPr>
          <p:cNvPr id="708" name="Google Shape;708;p15"/>
          <p:cNvSpPr/>
          <p:nvPr/>
        </p:nvSpPr>
        <p:spPr>
          <a:xfrm>
            <a:off x="7909560" y="4915289"/>
            <a:ext cx="2453335" cy="216774"/>
          </a:xfrm>
          <a:prstGeom prst="roundRect">
            <a:avLst>
              <a:gd fmla="val 21091"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5"/>
          <p:cNvSpPr txBox="1"/>
          <p:nvPr/>
        </p:nvSpPr>
        <p:spPr>
          <a:xfrm>
            <a:off x="10454335" y="4854321"/>
            <a:ext cx="1005840" cy="3387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$100,000</a:t>
            </a:r>
            <a:endParaRPr b="0" i="0" sz="1000" u="none" cap="none" strike="noStrike">
              <a:solidFill>
                <a:schemeClr val="dk1"/>
              </a:solidFill>
              <a:latin typeface="Calibri"/>
              <a:ea typeface="Calibri"/>
              <a:cs typeface="Calibri"/>
              <a:sym typeface="Calibri"/>
            </a:endParaRPr>
          </a:p>
        </p:txBody>
      </p:sp>
      <p:sp>
        <p:nvSpPr>
          <p:cNvPr id="710" name="Google Shape;710;p15"/>
          <p:cNvSpPr txBox="1"/>
          <p:nvPr/>
        </p:nvSpPr>
        <p:spPr>
          <a:xfrm>
            <a:off x="5989320" y="5247894"/>
            <a:ext cx="1828800" cy="3387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Reached GOP</a:t>
            </a:r>
            <a:endParaRPr b="0" i="0" sz="1050" u="none" cap="none" strike="noStrike">
              <a:solidFill>
                <a:schemeClr val="dk1"/>
              </a:solidFill>
              <a:latin typeface="Calibri"/>
              <a:ea typeface="Calibri"/>
              <a:cs typeface="Calibri"/>
              <a:sym typeface="Calibri"/>
            </a:endParaRPr>
          </a:p>
        </p:txBody>
      </p:sp>
      <p:sp>
        <p:nvSpPr>
          <p:cNvPr id="711" name="Google Shape;711;p15"/>
          <p:cNvSpPr/>
          <p:nvPr/>
        </p:nvSpPr>
        <p:spPr>
          <a:xfrm>
            <a:off x="7909560" y="5308862"/>
            <a:ext cx="613334" cy="216774"/>
          </a:xfrm>
          <a:prstGeom prst="roundRect">
            <a:avLst>
              <a:gd fmla="val 21091"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5"/>
          <p:cNvSpPr txBox="1"/>
          <p:nvPr/>
        </p:nvSpPr>
        <p:spPr>
          <a:xfrm>
            <a:off x="8614334" y="5247894"/>
            <a:ext cx="1005840" cy="3387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$25,000</a:t>
            </a:r>
            <a:endParaRPr b="0" i="0" sz="1000" u="none" cap="none" strike="noStrike">
              <a:solidFill>
                <a:schemeClr val="dk1"/>
              </a:solidFill>
              <a:latin typeface="Calibri"/>
              <a:ea typeface="Calibri"/>
              <a:cs typeface="Calibri"/>
              <a:sym typeface="Calibri"/>
            </a:endParaRPr>
          </a:p>
        </p:txBody>
      </p:sp>
      <p:sp>
        <p:nvSpPr>
          <p:cNvPr id="713" name="Google Shape;713;p15"/>
          <p:cNvSpPr txBox="1"/>
          <p:nvPr/>
        </p:nvSpPr>
        <p:spPr>
          <a:xfrm>
            <a:off x="5989320" y="5641467"/>
            <a:ext cx="1828800" cy="338709"/>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Eaten by cost</a:t>
            </a:r>
            <a:endParaRPr b="0" i="0" sz="1050" u="none" cap="none" strike="noStrike">
              <a:solidFill>
                <a:schemeClr val="dk1"/>
              </a:solidFill>
              <a:latin typeface="Calibri"/>
              <a:ea typeface="Calibri"/>
              <a:cs typeface="Calibri"/>
              <a:sym typeface="Calibri"/>
            </a:endParaRPr>
          </a:p>
        </p:txBody>
      </p:sp>
      <p:sp>
        <p:nvSpPr>
          <p:cNvPr id="714" name="Google Shape;714;p15"/>
          <p:cNvSpPr/>
          <p:nvPr/>
        </p:nvSpPr>
        <p:spPr>
          <a:xfrm>
            <a:off x="7909560" y="5702435"/>
            <a:ext cx="1840001" cy="216774"/>
          </a:xfrm>
          <a:prstGeom prst="roundRect">
            <a:avLst>
              <a:gd fmla="val 2109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5"/>
          <p:cNvSpPr txBox="1"/>
          <p:nvPr/>
        </p:nvSpPr>
        <p:spPr>
          <a:xfrm>
            <a:off x="9841001" y="5641467"/>
            <a:ext cx="1005840" cy="338709"/>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$75,000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4"/>
        </a:solidFill>
      </p:bgPr>
    </p:bg>
    <p:spTree>
      <p:nvGrpSpPr>
        <p:cNvPr id="720" name="Shape 720"/>
        <p:cNvGrpSpPr/>
        <p:nvPr/>
      </p:nvGrpSpPr>
      <p:grpSpPr>
        <a:xfrm>
          <a:off x="0" y="0"/>
          <a:ext cx="0" cy="0"/>
          <a:chOff x="0" y="0"/>
          <a:chExt cx="0" cy="0"/>
        </a:xfrm>
      </p:grpSpPr>
      <p:sp>
        <p:nvSpPr>
          <p:cNvPr id="721" name="Google Shape;721;p16"/>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PRACTICE · AFTER BLOCK 1</a:t>
            </a:r>
            <a:endParaRPr b="0" i="0" sz="1050" u="none" cap="none" strike="noStrike">
              <a:solidFill>
                <a:schemeClr val="dk1"/>
              </a:solidFill>
              <a:latin typeface="Calibri"/>
              <a:ea typeface="Calibri"/>
              <a:cs typeface="Calibri"/>
              <a:sym typeface="Calibri"/>
            </a:endParaRPr>
          </a:p>
        </p:txBody>
      </p:sp>
      <p:sp>
        <p:nvSpPr>
          <p:cNvPr id="722" name="Google Shape;722;p16"/>
          <p:cNvSpPr txBox="1"/>
          <p:nvPr/>
        </p:nvSpPr>
        <p:spPr>
          <a:xfrm>
            <a:off x="548640" y="914400"/>
            <a:ext cx="8229600" cy="86868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4000"/>
              <a:buFont typeface="Inter"/>
              <a:buNone/>
            </a:pPr>
            <a:r>
              <a:rPr b="1" i="0" lang="en-US" sz="4000" u="none" cap="none" strike="noStrike">
                <a:solidFill>
                  <a:srgbClr val="FFFFFF"/>
                </a:solidFill>
                <a:latin typeface="Inter"/>
                <a:ea typeface="Inter"/>
                <a:cs typeface="Inter"/>
                <a:sym typeface="Inter"/>
              </a:rPr>
              <a:t>Run the numbers</a:t>
            </a:r>
            <a:endParaRPr b="0" i="0" sz="4000" u="none" cap="none" strike="noStrike">
              <a:solidFill>
                <a:schemeClr val="dk1"/>
              </a:solidFill>
              <a:latin typeface="Calibri"/>
              <a:ea typeface="Calibri"/>
              <a:cs typeface="Calibri"/>
              <a:sym typeface="Calibri"/>
            </a:endParaRPr>
          </a:p>
        </p:txBody>
      </p:sp>
      <p:sp>
        <p:nvSpPr>
          <p:cNvPr id="723" name="Google Shape;723;p16"/>
          <p:cNvSpPr/>
          <p:nvPr/>
        </p:nvSpPr>
        <p:spPr>
          <a:xfrm>
            <a:off x="548640" y="24688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envelope-soft.png" id="724" name="Google Shape;724;p16"/>
          <p:cNvPicPr preferRelativeResize="0"/>
          <p:nvPr/>
        </p:nvPicPr>
        <p:blipFill rotWithShape="1">
          <a:blip r:embed="rId3">
            <a:alphaModFix/>
          </a:blip>
          <a:srcRect b="0" l="0" r="0" t="0"/>
          <a:stretch/>
        </p:blipFill>
        <p:spPr>
          <a:xfrm>
            <a:off x="841248" y="2697480"/>
            <a:ext cx="292608" cy="292608"/>
          </a:xfrm>
          <a:prstGeom prst="rect">
            <a:avLst/>
          </a:prstGeom>
          <a:noFill/>
          <a:ln>
            <a:noFill/>
          </a:ln>
        </p:spPr>
      </p:pic>
      <p:sp>
        <p:nvSpPr>
          <p:cNvPr id="725" name="Google Shape;725;p16"/>
          <p:cNvSpPr txBox="1"/>
          <p:nvPr/>
        </p:nvSpPr>
        <p:spPr>
          <a:xfrm>
            <a:off x="1371600" y="25603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One client, one month: Lakeside Lodge, 50 rooms, September.</a:t>
            </a:r>
            <a:endParaRPr b="0" i="0" sz="1350" u="none" cap="none" strike="noStrike">
              <a:solidFill>
                <a:schemeClr val="dk1"/>
              </a:solidFill>
              <a:latin typeface="Calibri"/>
              <a:ea typeface="Calibri"/>
              <a:cs typeface="Calibri"/>
              <a:sym typeface="Calibri"/>
            </a:endParaRPr>
          </a:p>
        </p:txBody>
      </p:sp>
      <p:sp>
        <p:nvSpPr>
          <p:cNvPr id="726" name="Google Shape;726;p16"/>
          <p:cNvSpPr/>
          <p:nvPr/>
        </p:nvSpPr>
        <p:spPr>
          <a:xfrm>
            <a:off x="548640" y="33832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lt-soft.png" id="727" name="Google Shape;727;p16"/>
          <p:cNvPicPr preferRelativeResize="0"/>
          <p:nvPr/>
        </p:nvPicPr>
        <p:blipFill rotWithShape="1">
          <a:blip r:embed="rId4">
            <a:alphaModFix/>
          </a:blip>
          <a:srcRect b="0" l="0" r="0" t="0"/>
          <a:stretch/>
        </p:blipFill>
        <p:spPr>
          <a:xfrm>
            <a:off x="841248" y="3611880"/>
            <a:ext cx="292608" cy="292608"/>
          </a:xfrm>
          <a:prstGeom prst="rect">
            <a:avLst/>
          </a:prstGeom>
          <a:noFill/>
          <a:ln>
            <a:noFill/>
          </a:ln>
        </p:spPr>
      </p:pic>
      <p:sp>
        <p:nvSpPr>
          <p:cNvPr id="728" name="Google Shape;728;p16"/>
          <p:cNvSpPr txBox="1"/>
          <p:nvPr/>
        </p:nvSpPr>
        <p:spPr>
          <a:xfrm>
            <a:off x="1371600" y="34747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Calculators out. Hold up one to four fingers.</a:t>
            </a:r>
            <a:endParaRPr b="0" i="0" sz="1350" u="none" cap="none" strike="noStrike">
              <a:solidFill>
                <a:schemeClr val="dk1"/>
              </a:solidFill>
              <a:latin typeface="Calibri"/>
              <a:ea typeface="Calibri"/>
              <a:cs typeface="Calibri"/>
              <a:sym typeface="Calibri"/>
            </a:endParaRPr>
          </a:p>
        </p:txBody>
      </p:sp>
      <p:sp>
        <p:nvSpPr>
          <p:cNvPr id="729" name="Google Shape;729;p16"/>
          <p:cNvSpPr/>
          <p:nvPr/>
        </p:nvSpPr>
        <p:spPr>
          <a:xfrm>
            <a:off x="548640" y="42976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soft.png" id="730" name="Google Shape;730;p16"/>
          <p:cNvPicPr preferRelativeResize="0"/>
          <p:nvPr/>
        </p:nvPicPr>
        <p:blipFill rotWithShape="1">
          <a:blip r:embed="rId5">
            <a:alphaModFix/>
          </a:blip>
          <a:srcRect b="0" l="0" r="0" t="0"/>
          <a:stretch/>
        </p:blipFill>
        <p:spPr>
          <a:xfrm>
            <a:off x="841248" y="4526280"/>
            <a:ext cx="292608" cy="292608"/>
          </a:xfrm>
          <a:prstGeom prst="rect">
            <a:avLst/>
          </a:prstGeom>
          <a:noFill/>
          <a:ln>
            <a:noFill/>
          </a:ln>
        </p:spPr>
      </p:pic>
      <p:sp>
        <p:nvSpPr>
          <p:cNvPr id="731" name="Google Shape;731;p16"/>
          <p:cNvSpPr txBox="1"/>
          <p:nvPr/>
        </p:nvSpPr>
        <p:spPr>
          <a:xfrm>
            <a:off x="1371600" y="43891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Three, two, one, vote. Everyone commits at once.</a:t>
            </a:r>
            <a:endParaRPr b="0" i="0" sz="1350" u="none" cap="none" strike="noStrike">
              <a:solidFill>
                <a:schemeClr val="dk1"/>
              </a:solidFill>
              <a:latin typeface="Calibri"/>
              <a:ea typeface="Calibri"/>
              <a:cs typeface="Calibri"/>
              <a:sym typeface="Calibri"/>
            </a:endParaRPr>
          </a:p>
        </p:txBody>
      </p:sp>
      <p:sp>
        <p:nvSpPr>
          <p:cNvPr id="732" name="Google Shape;732;p16"/>
          <p:cNvSpPr txBox="1"/>
          <p:nvPr/>
        </p:nvSpPr>
        <p:spPr>
          <a:xfrm>
            <a:off x="548640" y="62636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The owners, their properties and every number here are made up.</a:t>
            </a:r>
            <a:endParaRPr b="0" i="0" sz="1050" u="none" cap="none" strike="noStrike">
              <a:solidFill>
                <a:schemeClr val="dk1"/>
              </a:solidFill>
              <a:latin typeface="Calibri"/>
              <a:ea typeface="Calibri"/>
              <a:cs typeface="Calibri"/>
              <a:sym typeface="Calibri"/>
            </a:endParaRPr>
          </a:p>
        </p:txBody>
      </p:sp>
      <p:pic>
        <p:nvPicPr>
          <p:cNvPr descr="/home/claude/work/assets/hero-calculator.png" id="733" name="Google Shape;733;p16"/>
          <p:cNvPicPr preferRelativeResize="0"/>
          <p:nvPr/>
        </p:nvPicPr>
        <p:blipFill rotWithShape="1">
          <a:blip r:embed="rId6">
            <a:alphaModFix/>
          </a:blip>
          <a:srcRect b="0" l="0" r="0" t="0"/>
          <a:stretch/>
        </p:blipFill>
        <p:spPr>
          <a:xfrm>
            <a:off x="9418320" y="640080"/>
            <a:ext cx="2011680" cy="20116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38" name="Shape 738"/>
        <p:cNvGrpSpPr/>
        <p:nvPr/>
      </p:nvGrpSpPr>
      <p:grpSpPr>
        <a:xfrm>
          <a:off x="0" y="0"/>
          <a:ext cx="0" cy="0"/>
          <a:chOff x="0" y="0"/>
          <a:chExt cx="0" cy="0"/>
        </a:xfrm>
      </p:grpSpPr>
      <p:sp>
        <p:nvSpPr>
          <p:cNvPr id="739" name="Google Shape;739;p1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1 OF 5</a:t>
            </a:r>
            <a:endParaRPr b="0" i="0" sz="1050" u="none" cap="none" strike="noStrike">
              <a:solidFill>
                <a:schemeClr val="dk1"/>
              </a:solidFill>
              <a:latin typeface="Calibri"/>
              <a:ea typeface="Calibri"/>
              <a:cs typeface="Calibri"/>
              <a:sym typeface="Calibri"/>
            </a:endParaRPr>
          </a:p>
        </p:txBody>
      </p:sp>
      <p:sp>
        <p:nvSpPr>
          <p:cNvPr id="740" name="Google Shape;740;p1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was our ADR (average daily rate)?</a:t>
            </a:r>
            <a:endParaRPr b="0" i="0" sz="3000" u="none" cap="none" strike="noStrike">
              <a:solidFill>
                <a:schemeClr val="dk1"/>
              </a:solidFill>
              <a:latin typeface="Calibri"/>
              <a:ea typeface="Calibri"/>
              <a:cs typeface="Calibri"/>
              <a:sym typeface="Calibri"/>
            </a:endParaRPr>
          </a:p>
        </p:txBody>
      </p:sp>
      <p:pic>
        <p:nvPicPr>
          <p:cNvPr descr="/home/claude/work/renderer/brand/wordmark.png" id="741" name="Google Shape;741;p1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742" name="Google Shape;742;p1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15 / 65</a:t>
            </a:r>
            <a:endParaRPr b="0" i="0" sz="900" u="none" cap="none" strike="noStrike">
              <a:solidFill>
                <a:schemeClr val="dk1"/>
              </a:solidFill>
              <a:latin typeface="Calibri"/>
              <a:ea typeface="Calibri"/>
              <a:cs typeface="Calibri"/>
              <a:sym typeface="Calibri"/>
            </a:endParaRPr>
          </a:p>
        </p:txBody>
      </p:sp>
      <p:sp>
        <p:nvSpPr>
          <p:cNvPr id="743" name="Google Shape;743;p17"/>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September: what did a room actually go for?</a:t>
            </a:r>
            <a:endParaRPr b="0" i="0" sz="1450" u="none" cap="none" strike="noStrike">
              <a:solidFill>
                <a:schemeClr val="dk1"/>
              </a:solidFill>
              <a:latin typeface="Calibri"/>
              <a:ea typeface="Calibri"/>
              <a:cs typeface="Calibri"/>
              <a:sym typeface="Calibri"/>
            </a:endParaRPr>
          </a:p>
        </p:txBody>
      </p:sp>
      <p:sp>
        <p:nvSpPr>
          <p:cNvPr id="745" name="Google Shape;745;p17"/>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7"/>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747" name="Google Shape;747;p17"/>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748" name="Google Shape;748;p17"/>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749" name="Google Shape;749;p17"/>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750" name="Google Shape;750;p17"/>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Quick one before our call. September at Lakeside Lodge:</a:t>
            </a:r>
            <a:endParaRPr b="0" i="0" sz="1100" u="none" cap="none" strike="noStrike">
              <a:solidFill>
                <a:schemeClr val="dk1"/>
              </a:solidFill>
              <a:latin typeface="Calibri"/>
              <a:ea typeface="Calibri"/>
              <a:cs typeface="Calibri"/>
              <a:sym typeface="Calibri"/>
            </a:endParaRPr>
          </a:p>
        </p:txBody>
      </p:sp>
      <p:sp>
        <p:nvSpPr>
          <p:cNvPr id="751" name="Google Shape;751;p17"/>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Rooms</a:t>
            </a:r>
            <a:endParaRPr b="0" i="0" sz="1100" u="none" cap="none" strike="noStrike">
              <a:solidFill>
                <a:schemeClr val="dk1"/>
              </a:solidFill>
              <a:latin typeface="Calibri"/>
              <a:ea typeface="Calibri"/>
              <a:cs typeface="Calibri"/>
              <a:sym typeface="Calibri"/>
            </a:endParaRPr>
          </a:p>
        </p:txBody>
      </p:sp>
      <p:sp>
        <p:nvSpPr>
          <p:cNvPr id="752" name="Google Shape;752;p17"/>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50</a:t>
            </a:r>
            <a:endParaRPr b="0" i="0" sz="1100" u="none" cap="none" strike="noStrike">
              <a:solidFill>
                <a:schemeClr val="dk1"/>
              </a:solidFill>
              <a:latin typeface="Calibri"/>
              <a:ea typeface="Calibri"/>
              <a:cs typeface="Calibri"/>
              <a:sym typeface="Calibri"/>
            </a:endParaRPr>
          </a:p>
        </p:txBody>
      </p:sp>
      <p:sp>
        <p:nvSpPr>
          <p:cNvPr id="753" name="Google Shape;753;p17"/>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Nights in September</a:t>
            </a:r>
            <a:endParaRPr b="0" i="0" sz="1100" u="none" cap="none" strike="noStrike">
              <a:solidFill>
                <a:schemeClr val="dk1"/>
              </a:solidFill>
              <a:latin typeface="Calibri"/>
              <a:ea typeface="Calibri"/>
              <a:cs typeface="Calibri"/>
              <a:sym typeface="Calibri"/>
            </a:endParaRPr>
          </a:p>
        </p:txBody>
      </p:sp>
      <p:sp>
        <p:nvSpPr>
          <p:cNvPr id="754" name="Google Shape;754;p17"/>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30</a:t>
            </a:r>
            <a:endParaRPr b="0" i="0" sz="1100" u="none" cap="none" strike="noStrike">
              <a:solidFill>
                <a:schemeClr val="dk1"/>
              </a:solidFill>
              <a:latin typeface="Calibri"/>
              <a:ea typeface="Calibri"/>
              <a:cs typeface="Calibri"/>
              <a:sym typeface="Calibri"/>
            </a:endParaRPr>
          </a:p>
        </p:txBody>
      </p:sp>
      <p:sp>
        <p:nvSpPr>
          <p:cNvPr id="755" name="Google Shape;755;p17"/>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nights sold</a:t>
            </a:r>
            <a:endParaRPr b="0" i="0" sz="1100" u="none" cap="none" strike="noStrike">
              <a:solidFill>
                <a:schemeClr val="dk1"/>
              </a:solidFill>
              <a:latin typeface="Calibri"/>
              <a:ea typeface="Calibri"/>
              <a:cs typeface="Calibri"/>
              <a:sym typeface="Calibri"/>
            </a:endParaRPr>
          </a:p>
        </p:txBody>
      </p:sp>
      <p:sp>
        <p:nvSpPr>
          <p:cNvPr id="756" name="Google Shape;756;p17"/>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1,200</a:t>
            </a:r>
            <a:endParaRPr b="0" i="0" sz="1100" u="none" cap="none" strike="noStrike">
              <a:solidFill>
                <a:schemeClr val="dk1"/>
              </a:solidFill>
              <a:latin typeface="Calibri"/>
              <a:ea typeface="Calibri"/>
              <a:cs typeface="Calibri"/>
              <a:sym typeface="Calibri"/>
            </a:endParaRPr>
          </a:p>
        </p:txBody>
      </p:sp>
      <p:sp>
        <p:nvSpPr>
          <p:cNvPr id="757" name="Google Shape;757;p17"/>
          <p:cNvSpPr txBox="1"/>
          <p:nvPr/>
        </p:nvSpPr>
        <p:spPr>
          <a:xfrm>
            <a:off x="859536" y="406349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a:t>
            </a:r>
            <a:endParaRPr b="0" i="0" sz="1100" u="none" cap="none" strike="noStrike">
              <a:solidFill>
                <a:schemeClr val="dk1"/>
              </a:solidFill>
              <a:latin typeface="Calibri"/>
              <a:ea typeface="Calibri"/>
              <a:cs typeface="Calibri"/>
              <a:sym typeface="Calibri"/>
            </a:endParaRPr>
          </a:p>
        </p:txBody>
      </p:sp>
      <p:sp>
        <p:nvSpPr>
          <p:cNvPr id="758" name="Google Shape;758;p17"/>
          <p:cNvSpPr txBox="1"/>
          <p:nvPr/>
        </p:nvSpPr>
        <p:spPr>
          <a:xfrm>
            <a:off x="4334256" y="406349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$360,000</a:t>
            </a:r>
            <a:endParaRPr b="0" i="0" sz="1100" u="none" cap="none" strike="noStrike">
              <a:solidFill>
                <a:schemeClr val="dk1"/>
              </a:solidFill>
              <a:latin typeface="Calibri"/>
              <a:ea typeface="Calibri"/>
              <a:cs typeface="Calibri"/>
              <a:sym typeface="Calibri"/>
            </a:endParaRPr>
          </a:p>
        </p:txBody>
      </p:sp>
      <p:sp>
        <p:nvSpPr>
          <p:cNvPr id="759" name="Google Shape;759;p17"/>
          <p:cNvSpPr txBox="1"/>
          <p:nvPr/>
        </p:nvSpPr>
        <p:spPr>
          <a:xfrm>
            <a:off x="859536" y="4356100"/>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 with the spa and restaurant</a:t>
            </a:r>
            <a:endParaRPr b="0" i="0" sz="1100" u="none" cap="none" strike="noStrike">
              <a:solidFill>
                <a:schemeClr val="dk1"/>
              </a:solidFill>
              <a:latin typeface="Calibri"/>
              <a:ea typeface="Calibri"/>
              <a:cs typeface="Calibri"/>
              <a:sym typeface="Calibri"/>
            </a:endParaRPr>
          </a:p>
        </p:txBody>
      </p:sp>
      <p:sp>
        <p:nvSpPr>
          <p:cNvPr id="760" name="Google Shape;760;p17"/>
          <p:cNvSpPr txBox="1"/>
          <p:nvPr/>
        </p:nvSpPr>
        <p:spPr>
          <a:xfrm>
            <a:off x="4334256" y="4356100"/>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761" name="Google Shape;761;p17"/>
          <p:cNvSpPr txBox="1"/>
          <p:nvPr/>
        </p:nvSpPr>
        <p:spPr>
          <a:xfrm>
            <a:off x="859536" y="464870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What was our ADR?</a:t>
            </a:r>
            <a:endParaRPr b="0" i="0" sz="1100" u="none" cap="none" strike="noStrike">
              <a:solidFill>
                <a:schemeClr val="dk1"/>
              </a:solidFill>
              <a:latin typeface="Calibri"/>
              <a:ea typeface="Calibri"/>
              <a:cs typeface="Calibri"/>
              <a:sym typeface="Calibri"/>
            </a:endParaRPr>
          </a:p>
        </p:txBody>
      </p:sp>
      <p:sp>
        <p:nvSpPr>
          <p:cNvPr id="762" name="Google Shape;762;p17"/>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7"/>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764" name="Google Shape;764;p17"/>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765" name="Google Shape;765;p17"/>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1 OF 5</a:t>
            </a:r>
            <a:endParaRPr b="0" i="0" sz="950" u="none" cap="none" strike="noStrike">
              <a:solidFill>
                <a:schemeClr val="dk1"/>
              </a:solidFill>
              <a:latin typeface="Calibri"/>
              <a:ea typeface="Calibri"/>
              <a:cs typeface="Calibri"/>
              <a:sym typeface="Calibri"/>
            </a:endParaRPr>
          </a:p>
        </p:txBody>
      </p:sp>
      <p:sp>
        <p:nvSpPr>
          <p:cNvPr id="766" name="Google Shape;766;p17"/>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767" name="Google Shape;767;p17"/>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7"/>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7"/>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770" name="Google Shape;770;p17"/>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$240</a:t>
            </a:r>
            <a:endParaRPr b="0" i="0" sz="1250" u="none" cap="none" strike="noStrike">
              <a:solidFill>
                <a:schemeClr val="dk1"/>
              </a:solidFill>
              <a:latin typeface="Calibri"/>
              <a:ea typeface="Calibri"/>
              <a:cs typeface="Calibri"/>
              <a:sym typeface="Calibri"/>
            </a:endParaRPr>
          </a:p>
        </p:txBody>
      </p:sp>
      <p:sp>
        <p:nvSpPr>
          <p:cNvPr id="771" name="Google Shape;771;p17"/>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7"/>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7"/>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774" name="Google Shape;774;p17"/>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$300</a:t>
            </a:r>
            <a:endParaRPr b="0" i="0" sz="1250" u="none" cap="none" strike="noStrike">
              <a:solidFill>
                <a:schemeClr val="dk1"/>
              </a:solidFill>
              <a:latin typeface="Calibri"/>
              <a:ea typeface="Calibri"/>
              <a:cs typeface="Calibri"/>
              <a:sym typeface="Calibri"/>
            </a:endParaRPr>
          </a:p>
        </p:txBody>
      </p:sp>
      <p:sp>
        <p:nvSpPr>
          <p:cNvPr id="775" name="Google Shape;775;p17"/>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7"/>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7"/>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778" name="Google Shape;778;p17"/>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$500</a:t>
            </a:r>
            <a:endParaRPr b="0" i="0" sz="1250" u="none" cap="none" strike="noStrike">
              <a:solidFill>
                <a:schemeClr val="dk1"/>
              </a:solidFill>
              <a:latin typeface="Calibri"/>
              <a:ea typeface="Calibri"/>
              <a:cs typeface="Calibri"/>
              <a:sym typeface="Calibri"/>
            </a:endParaRPr>
          </a:p>
        </p:txBody>
      </p:sp>
      <p:sp>
        <p:nvSpPr>
          <p:cNvPr id="779" name="Google Shape;779;p17"/>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7"/>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7"/>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782" name="Google Shape;782;p17"/>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$7,200</a:t>
            </a:r>
            <a:endParaRPr b="0" i="0" sz="1250" u="none" cap="none" strike="noStrike">
              <a:solidFill>
                <a:schemeClr val="dk1"/>
              </a:solidFill>
              <a:latin typeface="Calibri"/>
              <a:ea typeface="Calibri"/>
              <a:cs typeface="Calibri"/>
              <a:sym typeface="Calibri"/>
            </a:endParaRPr>
          </a:p>
        </p:txBody>
      </p:sp>
      <p:sp>
        <p:nvSpPr>
          <p:cNvPr id="783" name="Google Shape;783;p17"/>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788" name="Shape 788"/>
        <p:cNvGrpSpPr/>
        <p:nvPr/>
      </p:nvGrpSpPr>
      <p:grpSpPr>
        <a:xfrm>
          <a:off x="0" y="0"/>
          <a:ext cx="0" cy="0"/>
          <a:chOff x="0" y="0"/>
          <a:chExt cx="0" cy="0"/>
        </a:xfrm>
      </p:grpSpPr>
      <p:sp>
        <p:nvSpPr>
          <p:cNvPr id="789" name="Google Shape;789;p1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1 OF 5</a:t>
            </a:r>
            <a:endParaRPr b="0" i="0" sz="1050" u="none" cap="none" strike="noStrike">
              <a:solidFill>
                <a:schemeClr val="dk1"/>
              </a:solidFill>
              <a:latin typeface="Calibri"/>
              <a:ea typeface="Calibri"/>
              <a:cs typeface="Calibri"/>
              <a:sym typeface="Calibri"/>
            </a:endParaRPr>
          </a:p>
        </p:txBody>
      </p:sp>
      <p:sp>
        <p:nvSpPr>
          <p:cNvPr id="790" name="Google Shape;790;p1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was our ADR (average daily rate)?</a:t>
            </a:r>
            <a:endParaRPr b="0" i="0" sz="3000" u="none" cap="none" strike="noStrike">
              <a:solidFill>
                <a:schemeClr val="dk1"/>
              </a:solidFill>
              <a:latin typeface="Calibri"/>
              <a:ea typeface="Calibri"/>
              <a:cs typeface="Calibri"/>
              <a:sym typeface="Calibri"/>
            </a:endParaRPr>
          </a:p>
        </p:txBody>
      </p:sp>
      <p:pic>
        <p:nvPicPr>
          <p:cNvPr descr="/home/claude/work/renderer/brand/wordmark.png" id="791" name="Google Shape;791;p1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792" name="Google Shape;792;p1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16 / 65</a:t>
            </a:r>
            <a:endParaRPr b="0" i="0" sz="900" u="none" cap="none" strike="noStrike">
              <a:solidFill>
                <a:schemeClr val="dk1"/>
              </a:solidFill>
              <a:latin typeface="Calibri"/>
              <a:ea typeface="Calibri"/>
              <a:cs typeface="Calibri"/>
              <a:sym typeface="Calibri"/>
            </a:endParaRPr>
          </a:p>
        </p:txBody>
      </p:sp>
      <p:sp>
        <p:nvSpPr>
          <p:cNvPr id="793" name="Google Shape;793;p18"/>
          <p:cNvSpPr/>
          <p:nvPr/>
        </p:nvSpPr>
        <p:spPr>
          <a:xfrm>
            <a:off x="548640" y="1481328"/>
            <a:ext cx="7406640" cy="3646424"/>
          </a:xfrm>
          <a:prstGeom prst="roundRect">
            <a:avLst>
              <a:gd fmla="val 300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8"/>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September: what did a room actually go for?</a:t>
            </a:r>
            <a:endParaRPr b="0" i="0" sz="1450" u="none" cap="none" strike="noStrike">
              <a:solidFill>
                <a:schemeClr val="dk1"/>
              </a:solidFill>
              <a:latin typeface="Calibri"/>
              <a:ea typeface="Calibri"/>
              <a:cs typeface="Calibri"/>
              <a:sym typeface="Calibri"/>
            </a:endParaRPr>
          </a:p>
        </p:txBody>
      </p:sp>
      <p:sp>
        <p:nvSpPr>
          <p:cNvPr id="795" name="Google Shape;795;p18"/>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8"/>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797" name="Google Shape;797;p18"/>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798" name="Google Shape;798;p18"/>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799" name="Google Shape;799;p18"/>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800" name="Google Shape;800;p18"/>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Quick one before our call. September at Lakeside Lodge:</a:t>
            </a:r>
            <a:endParaRPr b="0" i="0" sz="1100" u="none" cap="none" strike="noStrike">
              <a:solidFill>
                <a:schemeClr val="dk1"/>
              </a:solidFill>
              <a:latin typeface="Calibri"/>
              <a:ea typeface="Calibri"/>
              <a:cs typeface="Calibri"/>
              <a:sym typeface="Calibri"/>
            </a:endParaRPr>
          </a:p>
        </p:txBody>
      </p:sp>
      <p:sp>
        <p:nvSpPr>
          <p:cNvPr id="801" name="Google Shape;801;p18"/>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Rooms</a:t>
            </a:r>
            <a:endParaRPr b="0" i="0" sz="1100" u="none" cap="none" strike="noStrike">
              <a:solidFill>
                <a:schemeClr val="dk1"/>
              </a:solidFill>
              <a:latin typeface="Calibri"/>
              <a:ea typeface="Calibri"/>
              <a:cs typeface="Calibri"/>
              <a:sym typeface="Calibri"/>
            </a:endParaRPr>
          </a:p>
        </p:txBody>
      </p:sp>
      <p:sp>
        <p:nvSpPr>
          <p:cNvPr id="802" name="Google Shape;802;p18"/>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50</a:t>
            </a:r>
            <a:endParaRPr b="0" i="0" sz="1100" u="none" cap="none" strike="noStrike">
              <a:solidFill>
                <a:schemeClr val="dk1"/>
              </a:solidFill>
              <a:latin typeface="Calibri"/>
              <a:ea typeface="Calibri"/>
              <a:cs typeface="Calibri"/>
              <a:sym typeface="Calibri"/>
            </a:endParaRPr>
          </a:p>
        </p:txBody>
      </p:sp>
      <p:sp>
        <p:nvSpPr>
          <p:cNvPr id="803" name="Google Shape;803;p18"/>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Nights in September</a:t>
            </a:r>
            <a:endParaRPr b="0" i="0" sz="1100" u="none" cap="none" strike="noStrike">
              <a:solidFill>
                <a:schemeClr val="dk1"/>
              </a:solidFill>
              <a:latin typeface="Calibri"/>
              <a:ea typeface="Calibri"/>
              <a:cs typeface="Calibri"/>
              <a:sym typeface="Calibri"/>
            </a:endParaRPr>
          </a:p>
        </p:txBody>
      </p:sp>
      <p:sp>
        <p:nvSpPr>
          <p:cNvPr id="804" name="Google Shape;804;p18"/>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30</a:t>
            </a:r>
            <a:endParaRPr b="0" i="0" sz="1100" u="none" cap="none" strike="noStrike">
              <a:solidFill>
                <a:schemeClr val="dk1"/>
              </a:solidFill>
              <a:latin typeface="Calibri"/>
              <a:ea typeface="Calibri"/>
              <a:cs typeface="Calibri"/>
              <a:sym typeface="Calibri"/>
            </a:endParaRPr>
          </a:p>
        </p:txBody>
      </p:sp>
      <p:sp>
        <p:nvSpPr>
          <p:cNvPr id="805" name="Google Shape;805;p18"/>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nights sold</a:t>
            </a:r>
            <a:endParaRPr b="0" i="0" sz="1100" u="none" cap="none" strike="noStrike">
              <a:solidFill>
                <a:schemeClr val="dk1"/>
              </a:solidFill>
              <a:latin typeface="Calibri"/>
              <a:ea typeface="Calibri"/>
              <a:cs typeface="Calibri"/>
              <a:sym typeface="Calibri"/>
            </a:endParaRPr>
          </a:p>
        </p:txBody>
      </p:sp>
      <p:sp>
        <p:nvSpPr>
          <p:cNvPr id="806" name="Google Shape;806;p18"/>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1,200</a:t>
            </a:r>
            <a:endParaRPr b="0" i="0" sz="1100" u="none" cap="none" strike="noStrike">
              <a:solidFill>
                <a:schemeClr val="dk1"/>
              </a:solidFill>
              <a:latin typeface="Calibri"/>
              <a:ea typeface="Calibri"/>
              <a:cs typeface="Calibri"/>
              <a:sym typeface="Calibri"/>
            </a:endParaRPr>
          </a:p>
        </p:txBody>
      </p:sp>
      <p:sp>
        <p:nvSpPr>
          <p:cNvPr id="807" name="Google Shape;807;p18"/>
          <p:cNvSpPr txBox="1"/>
          <p:nvPr/>
        </p:nvSpPr>
        <p:spPr>
          <a:xfrm>
            <a:off x="859536" y="406349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a:t>
            </a:r>
            <a:endParaRPr b="0" i="0" sz="1100" u="none" cap="none" strike="noStrike">
              <a:solidFill>
                <a:schemeClr val="dk1"/>
              </a:solidFill>
              <a:latin typeface="Calibri"/>
              <a:ea typeface="Calibri"/>
              <a:cs typeface="Calibri"/>
              <a:sym typeface="Calibri"/>
            </a:endParaRPr>
          </a:p>
        </p:txBody>
      </p:sp>
      <p:sp>
        <p:nvSpPr>
          <p:cNvPr id="808" name="Google Shape;808;p18"/>
          <p:cNvSpPr txBox="1"/>
          <p:nvPr/>
        </p:nvSpPr>
        <p:spPr>
          <a:xfrm>
            <a:off x="4334256" y="406349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$360,000</a:t>
            </a:r>
            <a:endParaRPr b="0" i="0" sz="1100" u="none" cap="none" strike="noStrike">
              <a:solidFill>
                <a:schemeClr val="dk1"/>
              </a:solidFill>
              <a:latin typeface="Calibri"/>
              <a:ea typeface="Calibri"/>
              <a:cs typeface="Calibri"/>
              <a:sym typeface="Calibri"/>
            </a:endParaRPr>
          </a:p>
        </p:txBody>
      </p:sp>
      <p:sp>
        <p:nvSpPr>
          <p:cNvPr id="809" name="Google Shape;809;p18"/>
          <p:cNvSpPr txBox="1"/>
          <p:nvPr/>
        </p:nvSpPr>
        <p:spPr>
          <a:xfrm>
            <a:off x="859536" y="4356100"/>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 with the spa and restaurant</a:t>
            </a:r>
            <a:endParaRPr b="0" i="0" sz="1100" u="none" cap="none" strike="noStrike">
              <a:solidFill>
                <a:schemeClr val="dk1"/>
              </a:solidFill>
              <a:latin typeface="Calibri"/>
              <a:ea typeface="Calibri"/>
              <a:cs typeface="Calibri"/>
              <a:sym typeface="Calibri"/>
            </a:endParaRPr>
          </a:p>
        </p:txBody>
      </p:sp>
      <p:sp>
        <p:nvSpPr>
          <p:cNvPr id="810" name="Google Shape;810;p18"/>
          <p:cNvSpPr txBox="1"/>
          <p:nvPr/>
        </p:nvSpPr>
        <p:spPr>
          <a:xfrm>
            <a:off x="4334256" y="4356100"/>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811" name="Google Shape;811;p18"/>
          <p:cNvSpPr txBox="1"/>
          <p:nvPr/>
        </p:nvSpPr>
        <p:spPr>
          <a:xfrm>
            <a:off x="859536" y="464870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What was our ADR?</a:t>
            </a:r>
            <a:endParaRPr b="0" i="0" sz="1100" u="none" cap="none" strike="noStrike">
              <a:solidFill>
                <a:schemeClr val="dk1"/>
              </a:solidFill>
              <a:latin typeface="Calibri"/>
              <a:ea typeface="Calibri"/>
              <a:cs typeface="Calibri"/>
              <a:sym typeface="Calibri"/>
            </a:endParaRPr>
          </a:p>
        </p:txBody>
      </p:sp>
      <p:sp>
        <p:nvSpPr>
          <p:cNvPr id="812" name="Google Shape;812;p18"/>
          <p:cNvSpPr/>
          <p:nvPr/>
        </p:nvSpPr>
        <p:spPr>
          <a:xfrm>
            <a:off x="548640" y="5310632"/>
            <a:ext cx="7406640" cy="998728"/>
          </a:xfrm>
          <a:prstGeom prst="roundRect">
            <a:avLst>
              <a:gd fmla="val 1098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8"/>
          <p:cNvSpPr txBox="1"/>
          <p:nvPr/>
        </p:nvSpPr>
        <p:spPr>
          <a:xfrm>
            <a:off x="859536" y="549351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814" name="Google Shape;814;p18"/>
          <p:cNvSpPr txBox="1"/>
          <p:nvPr/>
        </p:nvSpPr>
        <p:spPr>
          <a:xfrm>
            <a:off x="859536" y="5749544"/>
            <a:ext cx="6784848" cy="429223"/>
          </a:xfrm>
          <a:prstGeom prst="rect">
            <a:avLst/>
          </a:prstGeom>
          <a:noFill/>
          <a:ln>
            <a:noFill/>
          </a:ln>
        </p:spPr>
        <p:txBody>
          <a:bodyPr anchorCtr="0" anchor="t" bIns="0" lIns="0" spcFirstLastPara="1" rIns="0" wrap="square" tIns="0">
            <a:noAutofit/>
          </a:bodyPr>
          <a:lstStyle/>
          <a:p>
            <a:pPr indent="0" lvl="0" marL="0" marR="0" rtl="0" algn="l">
              <a:lnSpc>
                <a:spcPct val="134920"/>
              </a:lnSpc>
              <a:spcBef>
                <a:spcPts val="0"/>
              </a:spcBef>
              <a:spcAft>
                <a:spcPts val="0"/>
              </a:spcAft>
              <a:buClr>
                <a:srgbClr val="404040"/>
              </a:buClr>
              <a:buSzPts val="1008"/>
              <a:buFont typeface="Inter"/>
              <a:buNone/>
            </a:pPr>
            <a:r>
              <a:rPr b="0" i="0" lang="en-US" sz="1008" u="none" cap="none" strike="noStrike">
                <a:solidFill>
                  <a:srgbClr val="404040"/>
                </a:solidFill>
                <a:latin typeface="Inter"/>
                <a:ea typeface="Inter"/>
                <a:cs typeface="Inter"/>
                <a:sym typeface="Inter"/>
              </a:rPr>
              <a:t>Room revenue ÷ rooms </a:t>
            </a:r>
            <a:r>
              <a:rPr b="1" i="0" lang="en-US" sz="1008" u="none" cap="none" strike="noStrike">
                <a:solidFill>
                  <a:srgbClr val="404040"/>
                </a:solidFill>
                <a:latin typeface="Inter"/>
                <a:ea typeface="Inter"/>
                <a:cs typeface="Inter"/>
                <a:sym typeface="Inter"/>
              </a:rPr>
              <a:t>sold</a:t>
            </a:r>
            <a:r>
              <a:rPr b="0" i="0" lang="en-US" sz="1008" u="none" cap="none" strike="noStrike">
                <a:solidFill>
                  <a:srgbClr val="404040"/>
                </a:solidFill>
                <a:latin typeface="Inter"/>
                <a:ea typeface="Inter"/>
                <a:cs typeface="Inter"/>
                <a:sym typeface="Inter"/>
              </a:rPr>
              <a:t>: $360,000 ÷ 1,200 = </a:t>
            </a:r>
            <a:r>
              <a:rPr b="1" i="0" lang="en-US" sz="1008" u="none" cap="none" strike="noStrike">
                <a:solidFill>
                  <a:srgbClr val="404040"/>
                </a:solidFill>
                <a:latin typeface="Inter"/>
                <a:ea typeface="Inter"/>
                <a:cs typeface="Inter"/>
                <a:sym typeface="Inter"/>
              </a:rPr>
              <a:t>$300</a:t>
            </a:r>
            <a:r>
              <a:rPr b="0" i="0" lang="en-US" sz="1008" u="none" cap="none" strike="noStrike">
                <a:solidFill>
                  <a:srgbClr val="404040"/>
                </a:solidFill>
                <a:latin typeface="Inter"/>
                <a:ea typeface="Inter"/>
                <a:cs typeface="Inter"/>
                <a:sym typeface="Inter"/>
              </a:rPr>
              <a:t>. $240 used rooms available (RevPAR); $500 used total revenue; $7,200 is per room.</a:t>
            </a:r>
            <a:endParaRPr b="0" i="0" sz="1008" u="none" cap="none" strike="noStrike">
              <a:solidFill>
                <a:schemeClr val="dk1"/>
              </a:solidFill>
              <a:latin typeface="Calibri"/>
              <a:ea typeface="Calibri"/>
              <a:cs typeface="Calibri"/>
              <a:sym typeface="Calibri"/>
            </a:endParaRPr>
          </a:p>
        </p:txBody>
      </p:sp>
      <p:sp>
        <p:nvSpPr>
          <p:cNvPr id="815" name="Google Shape;815;p18"/>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8"/>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817" name="Google Shape;817;p18"/>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818" name="Google Shape;818;p18"/>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819" name="Google Shape;819;p18"/>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820" name="Google Shape;820;p18"/>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8"/>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823" name="Google Shape;823;p18"/>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$240</a:t>
            </a:r>
            <a:endParaRPr b="0" i="0" sz="1250" u="none" cap="none" strike="noStrike">
              <a:solidFill>
                <a:schemeClr val="dk1"/>
              </a:solidFill>
              <a:latin typeface="Calibri"/>
              <a:ea typeface="Calibri"/>
              <a:cs typeface="Calibri"/>
              <a:sym typeface="Calibri"/>
            </a:endParaRPr>
          </a:p>
        </p:txBody>
      </p:sp>
      <p:sp>
        <p:nvSpPr>
          <p:cNvPr id="824" name="Google Shape;824;p18"/>
          <p:cNvSpPr/>
          <p:nvPr/>
        </p:nvSpPr>
        <p:spPr>
          <a:xfrm>
            <a:off x="8549640" y="3785616"/>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825" name="Google Shape;825;p18"/>
          <p:cNvPicPr preferRelativeResize="0"/>
          <p:nvPr/>
        </p:nvPicPr>
        <p:blipFill rotWithShape="1">
          <a:blip r:embed="rId5">
            <a:alphaModFix/>
          </a:blip>
          <a:srcRect b="0" l="0" r="0" t="0"/>
          <a:stretch/>
        </p:blipFill>
        <p:spPr>
          <a:xfrm>
            <a:off x="8750808" y="3867912"/>
            <a:ext cx="310896" cy="310896"/>
          </a:xfrm>
          <a:prstGeom prst="rect">
            <a:avLst/>
          </a:prstGeom>
          <a:noFill/>
          <a:ln>
            <a:noFill/>
          </a:ln>
        </p:spPr>
      </p:pic>
      <p:sp>
        <p:nvSpPr>
          <p:cNvPr id="826" name="Google Shape;826;p18"/>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$300</a:t>
            </a:r>
            <a:endParaRPr b="0" i="0" sz="1250" u="none" cap="none" strike="noStrike">
              <a:solidFill>
                <a:schemeClr val="dk1"/>
              </a:solidFill>
              <a:latin typeface="Calibri"/>
              <a:ea typeface="Calibri"/>
              <a:cs typeface="Calibri"/>
              <a:sym typeface="Calibri"/>
            </a:endParaRPr>
          </a:p>
        </p:txBody>
      </p:sp>
      <p:sp>
        <p:nvSpPr>
          <p:cNvPr id="827" name="Google Shape;827;p18"/>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8"/>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8"/>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830" name="Google Shape;830;p18"/>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$500</a:t>
            </a:r>
            <a:endParaRPr b="0" i="0" sz="1250" u="none" cap="none" strike="noStrike">
              <a:solidFill>
                <a:schemeClr val="dk1"/>
              </a:solidFill>
              <a:latin typeface="Calibri"/>
              <a:ea typeface="Calibri"/>
              <a:cs typeface="Calibri"/>
              <a:sym typeface="Calibri"/>
            </a:endParaRPr>
          </a:p>
        </p:txBody>
      </p:sp>
      <p:sp>
        <p:nvSpPr>
          <p:cNvPr id="831" name="Google Shape;831;p18"/>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8"/>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8"/>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834" name="Google Shape;834;p18"/>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$7,200</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39" name="Shape 839"/>
        <p:cNvGrpSpPr/>
        <p:nvPr/>
      </p:nvGrpSpPr>
      <p:grpSpPr>
        <a:xfrm>
          <a:off x="0" y="0"/>
          <a:ext cx="0" cy="0"/>
          <a:chOff x="0" y="0"/>
          <a:chExt cx="0" cy="0"/>
        </a:xfrm>
      </p:grpSpPr>
      <p:sp>
        <p:nvSpPr>
          <p:cNvPr id="840" name="Google Shape;840;p1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2 OF 5</a:t>
            </a:r>
            <a:endParaRPr b="0" i="0" sz="1050" u="none" cap="none" strike="noStrike">
              <a:solidFill>
                <a:schemeClr val="dk1"/>
              </a:solidFill>
              <a:latin typeface="Calibri"/>
              <a:ea typeface="Calibri"/>
              <a:cs typeface="Calibri"/>
              <a:sym typeface="Calibri"/>
            </a:endParaRPr>
          </a:p>
        </p:txBody>
      </p:sp>
      <p:sp>
        <p:nvSpPr>
          <p:cNvPr id="841" name="Google Shape;841;p1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What's our RevPAR?</a:t>
            </a:r>
            <a:endParaRPr b="0" i="0" sz="3000" u="none" cap="none" strike="noStrike">
              <a:solidFill>
                <a:schemeClr val="dk1"/>
              </a:solidFill>
              <a:latin typeface="Calibri"/>
              <a:ea typeface="Calibri"/>
              <a:cs typeface="Calibri"/>
              <a:sym typeface="Calibri"/>
            </a:endParaRPr>
          </a:p>
        </p:txBody>
      </p:sp>
      <p:pic>
        <p:nvPicPr>
          <p:cNvPr descr="/home/claude/work/renderer/brand/wordmark.png" id="842" name="Google Shape;842;p1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843" name="Google Shape;843;p1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17 / 65</a:t>
            </a:r>
            <a:endParaRPr b="0" i="0" sz="900" u="none" cap="none" strike="noStrike">
              <a:solidFill>
                <a:schemeClr val="dk1"/>
              </a:solidFill>
              <a:latin typeface="Calibri"/>
              <a:ea typeface="Calibri"/>
              <a:cs typeface="Calibri"/>
              <a:sym typeface="Calibri"/>
            </a:endParaRPr>
          </a:p>
        </p:txBody>
      </p:sp>
      <p:sp>
        <p:nvSpPr>
          <p:cNvPr id="844" name="Google Shape;844;p19"/>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9"/>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And the one I quote</a:t>
            </a:r>
            <a:endParaRPr b="0" i="0" sz="1450" u="none" cap="none" strike="noStrike">
              <a:solidFill>
                <a:schemeClr val="dk1"/>
              </a:solidFill>
              <a:latin typeface="Calibri"/>
              <a:ea typeface="Calibri"/>
              <a:cs typeface="Calibri"/>
              <a:sym typeface="Calibri"/>
            </a:endParaRPr>
          </a:p>
        </p:txBody>
      </p:sp>
      <p:sp>
        <p:nvSpPr>
          <p:cNvPr id="846" name="Google Shape;846;p19"/>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9"/>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848" name="Google Shape;848;p19"/>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849" name="Google Shape;849;p19"/>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850" name="Google Shape;850;p19"/>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851" name="Google Shape;851;p19"/>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Same month:</a:t>
            </a:r>
            <a:endParaRPr b="0" i="0" sz="1100" u="none" cap="none" strike="noStrike">
              <a:solidFill>
                <a:schemeClr val="dk1"/>
              </a:solidFill>
              <a:latin typeface="Calibri"/>
              <a:ea typeface="Calibri"/>
              <a:cs typeface="Calibri"/>
              <a:sym typeface="Calibri"/>
            </a:endParaRPr>
          </a:p>
        </p:txBody>
      </p:sp>
      <p:sp>
        <p:nvSpPr>
          <p:cNvPr id="852" name="Google Shape;852;p19"/>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nights available</a:t>
            </a:r>
            <a:endParaRPr b="0" i="0" sz="1100" u="none" cap="none" strike="noStrike">
              <a:solidFill>
                <a:schemeClr val="dk1"/>
              </a:solidFill>
              <a:latin typeface="Calibri"/>
              <a:ea typeface="Calibri"/>
              <a:cs typeface="Calibri"/>
              <a:sym typeface="Calibri"/>
            </a:endParaRPr>
          </a:p>
        </p:txBody>
      </p:sp>
      <p:sp>
        <p:nvSpPr>
          <p:cNvPr id="853" name="Google Shape;853;p19"/>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1,500</a:t>
            </a:r>
            <a:endParaRPr b="0" i="0" sz="1100" u="none" cap="none" strike="noStrike">
              <a:solidFill>
                <a:schemeClr val="dk1"/>
              </a:solidFill>
              <a:latin typeface="Calibri"/>
              <a:ea typeface="Calibri"/>
              <a:cs typeface="Calibri"/>
              <a:sym typeface="Calibri"/>
            </a:endParaRPr>
          </a:p>
        </p:txBody>
      </p:sp>
      <p:sp>
        <p:nvSpPr>
          <p:cNvPr id="854" name="Google Shape;854;p19"/>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nights sold</a:t>
            </a:r>
            <a:endParaRPr b="0" i="0" sz="1100" u="none" cap="none" strike="noStrike">
              <a:solidFill>
                <a:schemeClr val="dk1"/>
              </a:solidFill>
              <a:latin typeface="Calibri"/>
              <a:ea typeface="Calibri"/>
              <a:cs typeface="Calibri"/>
              <a:sym typeface="Calibri"/>
            </a:endParaRPr>
          </a:p>
        </p:txBody>
      </p:sp>
      <p:sp>
        <p:nvSpPr>
          <p:cNvPr id="855" name="Google Shape;855;p19"/>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1,200</a:t>
            </a:r>
            <a:endParaRPr b="0" i="0" sz="1100" u="none" cap="none" strike="noStrike">
              <a:solidFill>
                <a:schemeClr val="dk1"/>
              </a:solidFill>
              <a:latin typeface="Calibri"/>
              <a:ea typeface="Calibri"/>
              <a:cs typeface="Calibri"/>
              <a:sym typeface="Calibri"/>
            </a:endParaRPr>
          </a:p>
        </p:txBody>
      </p:sp>
      <p:sp>
        <p:nvSpPr>
          <p:cNvPr id="856" name="Google Shape;856;p19"/>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a:t>
            </a:r>
            <a:endParaRPr b="0" i="0" sz="1100" u="none" cap="none" strike="noStrike">
              <a:solidFill>
                <a:schemeClr val="dk1"/>
              </a:solidFill>
              <a:latin typeface="Calibri"/>
              <a:ea typeface="Calibri"/>
              <a:cs typeface="Calibri"/>
              <a:sym typeface="Calibri"/>
            </a:endParaRPr>
          </a:p>
        </p:txBody>
      </p:sp>
      <p:sp>
        <p:nvSpPr>
          <p:cNvPr id="857" name="Google Shape;857;p19"/>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$360,000</a:t>
            </a:r>
            <a:endParaRPr b="0" i="0" sz="1100" u="none" cap="none" strike="noStrike">
              <a:solidFill>
                <a:schemeClr val="dk1"/>
              </a:solidFill>
              <a:latin typeface="Calibri"/>
              <a:ea typeface="Calibri"/>
              <a:cs typeface="Calibri"/>
              <a:sym typeface="Calibri"/>
            </a:endParaRPr>
          </a:p>
        </p:txBody>
      </p:sp>
      <p:sp>
        <p:nvSpPr>
          <p:cNvPr id="858" name="Google Shape;858;p19"/>
          <p:cNvSpPr txBox="1"/>
          <p:nvPr/>
        </p:nvSpPr>
        <p:spPr>
          <a:xfrm>
            <a:off x="859536" y="406349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a:t>
            </a:r>
            <a:endParaRPr b="0" i="0" sz="1100" u="none" cap="none" strike="noStrike">
              <a:solidFill>
                <a:schemeClr val="dk1"/>
              </a:solidFill>
              <a:latin typeface="Calibri"/>
              <a:ea typeface="Calibri"/>
              <a:cs typeface="Calibri"/>
              <a:sym typeface="Calibri"/>
            </a:endParaRPr>
          </a:p>
        </p:txBody>
      </p:sp>
      <p:sp>
        <p:nvSpPr>
          <p:cNvPr id="859" name="Google Shape;859;p19"/>
          <p:cNvSpPr txBox="1"/>
          <p:nvPr/>
        </p:nvSpPr>
        <p:spPr>
          <a:xfrm>
            <a:off x="4334256" y="406349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860" name="Google Shape;860;p19"/>
          <p:cNvSpPr txBox="1"/>
          <p:nvPr/>
        </p:nvSpPr>
        <p:spPr>
          <a:xfrm>
            <a:off x="859536" y="4356100"/>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What's our RevPAR? It's the one I give people when they ask how the year's going.</a:t>
            </a:r>
            <a:endParaRPr b="0" i="0" sz="1100" u="none" cap="none" strike="noStrike">
              <a:solidFill>
                <a:schemeClr val="dk1"/>
              </a:solidFill>
              <a:latin typeface="Calibri"/>
              <a:ea typeface="Calibri"/>
              <a:cs typeface="Calibri"/>
              <a:sym typeface="Calibri"/>
            </a:endParaRPr>
          </a:p>
        </p:txBody>
      </p:sp>
      <p:sp>
        <p:nvSpPr>
          <p:cNvPr id="861" name="Google Shape;861;p19"/>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9"/>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863" name="Google Shape;863;p19"/>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864" name="Google Shape;864;p19"/>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2 OF 5</a:t>
            </a:r>
            <a:endParaRPr b="0" i="0" sz="950" u="none" cap="none" strike="noStrike">
              <a:solidFill>
                <a:schemeClr val="dk1"/>
              </a:solidFill>
              <a:latin typeface="Calibri"/>
              <a:ea typeface="Calibri"/>
              <a:cs typeface="Calibri"/>
              <a:sym typeface="Calibri"/>
            </a:endParaRPr>
          </a:p>
        </p:txBody>
      </p:sp>
      <p:sp>
        <p:nvSpPr>
          <p:cNvPr id="865" name="Google Shape;865;p19"/>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866" name="Google Shape;866;p19"/>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9"/>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9"/>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869" name="Google Shape;869;p19"/>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$240</a:t>
            </a:r>
            <a:endParaRPr b="0" i="0" sz="1250" u="none" cap="none" strike="noStrike">
              <a:solidFill>
                <a:schemeClr val="dk1"/>
              </a:solidFill>
              <a:latin typeface="Calibri"/>
              <a:ea typeface="Calibri"/>
              <a:cs typeface="Calibri"/>
              <a:sym typeface="Calibri"/>
            </a:endParaRPr>
          </a:p>
        </p:txBody>
      </p:sp>
      <p:sp>
        <p:nvSpPr>
          <p:cNvPr id="870" name="Google Shape;870;p19"/>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9"/>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9"/>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873" name="Google Shape;873;p19"/>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$300</a:t>
            </a:r>
            <a:endParaRPr b="0" i="0" sz="1250" u="none" cap="none" strike="noStrike">
              <a:solidFill>
                <a:schemeClr val="dk1"/>
              </a:solidFill>
              <a:latin typeface="Calibri"/>
              <a:ea typeface="Calibri"/>
              <a:cs typeface="Calibri"/>
              <a:sym typeface="Calibri"/>
            </a:endParaRPr>
          </a:p>
        </p:txBody>
      </p:sp>
      <p:sp>
        <p:nvSpPr>
          <p:cNvPr id="874" name="Google Shape;874;p19"/>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9"/>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9"/>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877" name="Google Shape;877;p19"/>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$400</a:t>
            </a:r>
            <a:endParaRPr b="0" i="0" sz="1250" u="none" cap="none" strike="noStrike">
              <a:solidFill>
                <a:schemeClr val="dk1"/>
              </a:solidFill>
              <a:latin typeface="Calibri"/>
              <a:ea typeface="Calibri"/>
              <a:cs typeface="Calibri"/>
              <a:sym typeface="Calibri"/>
            </a:endParaRPr>
          </a:p>
        </p:txBody>
      </p:sp>
      <p:sp>
        <p:nvSpPr>
          <p:cNvPr id="878" name="Google Shape;878;p19"/>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9"/>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9"/>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881" name="Google Shape;881;p19"/>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80%</a:t>
            </a:r>
            <a:endParaRPr b="0" i="0" sz="1250" u="none" cap="none" strike="noStrike">
              <a:solidFill>
                <a:schemeClr val="dk1"/>
              </a:solidFill>
              <a:latin typeface="Calibri"/>
              <a:ea typeface="Calibri"/>
              <a:cs typeface="Calibri"/>
              <a:sym typeface="Calibri"/>
            </a:endParaRPr>
          </a:p>
        </p:txBody>
      </p:sp>
      <p:sp>
        <p:nvSpPr>
          <p:cNvPr id="882" name="Google Shape;882;p19"/>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7" name="Shape 887"/>
        <p:cNvGrpSpPr/>
        <p:nvPr/>
      </p:nvGrpSpPr>
      <p:grpSpPr>
        <a:xfrm>
          <a:off x="0" y="0"/>
          <a:ext cx="0" cy="0"/>
          <a:chOff x="0" y="0"/>
          <a:chExt cx="0" cy="0"/>
        </a:xfrm>
      </p:grpSpPr>
      <p:sp>
        <p:nvSpPr>
          <p:cNvPr id="888" name="Google Shape;888;p2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2 OF 5</a:t>
            </a:r>
            <a:endParaRPr b="0" i="0" sz="1050" u="none" cap="none" strike="noStrike">
              <a:solidFill>
                <a:schemeClr val="dk1"/>
              </a:solidFill>
              <a:latin typeface="Calibri"/>
              <a:ea typeface="Calibri"/>
              <a:cs typeface="Calibri"/>
              <a:sym typeface="Calibri"/>
            </a:endParaRPr>
          </a:p>
        </p:txBody>
      </p:sp>
      <p:sp>
        <p:nvSpPr>
          <p:cNvPr id="889" name="Google Shape;889;p2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What's our RevPAR?</a:t>
            </a:r>
            <a:endParaRPr b="0" i="0" sz="3000" u="none" cap="none" strike="noStrike">
              <a:solidFill>
                <a:schemeClr val="dk1"/>
              </a:solidFill>
              <a:latin typeface="Calibri"/>
              <a:ea typeface="Calibri"/>
              <a:cs typeface="Calibri"/>
              <a:sym typeface="Calibri"/>
            </a:endParaRPr>
          </a:p>
        </p:txBody>
      </p:sp>
      <p:pic>
        <p:nvPicPr>
          <p:cNvPr descr="/home/claude/work/renderer/brand/wordmark.png" id="890" name="Google Shape;890;p2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891" name="Google Shape;891;p2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18 / 65</a:t>
            </a:r>
            <a:endParaRPr b="0" i="0" sz="900" u="none" cap="none" strike="noStrike">
              <a:solidFill>
                <a:schemeClr val="dk1"/>
              </a:solidFill>
              <a:latin typeface="Calibri"/>
              <a:ea typeface="Calibri"/>
              <a:cs typeface="Calibri"/>
              <a:sym typeface="Calibri"/>
            </a:endParaRPr>
          </a:p>
        </p:txBody>
      </p:sp>
      <p:sp>
        <p:nvSpPr>
          <p:cNvPr id="892" name="Google Shape;892;p20"/>
          <p:cNvSpPr/>
          <p:nvPr/>
        </p:nvSpPr>
        <p:spPr>
          <a:xfrm>
            <a:off x="548640" y="1481328"/>
            <a:ext cx="7406640" cy="3554730"/>
          </a:xfrm>
          <a:prstGeom prst="roundRect">
            <a:avLst>
              <a:gd fmla="val 308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0"/>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And the one I quote</a:t>
            </a:r>
            <a:endParaRPr b="0" i="0" sz="1450" u="none" cap="none" strike="noStrike">
              <a:solidFill>
                <a:schemeClr val="dk1"/>
              </a:solidFill>
              <a:latin typeface="Calibri"/>
              <a:ea typeface="Calibri"/>
              <a:cs typeface="Calibri"/>
              <a:sym typeface="Calibri"/>
            </a:endParaRPr>
          </a:p>
        </p:txBody>
      </p:sp>
      <p:sp>
        <p:nvSpPr>
          <p:cNvPr id="894" name="Google Shape;894;p20"/>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0"/>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896" name="Google Shape;896;p20"/>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897" name="Google Shape;897;p20"/>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898" name="Google Shape;898;p20"/>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899" name="Google Shape;899;p20"/>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Same month:</a:t>
            </a:r>
            <a:endParaRPr b="0" i="0" sz="1100" u="none" cap="none" strike="noStrike">
              <a:solidFill>
                <a:schemeClr val="dk1"/>
              </a:solidFill>
              <a:latin typeface="Calibri"/>
              <a:ea typeface="Calibri"/>
              <a:cs typeface="Calibri"/>
              <a:sym typeface="Calibri"/>
            </a:endParaRPr>
          </a:p>
        </p:txBody>
      </p:sp>
      <p:sp>
        <p:nvSpPr>
          <p:cNvPr id="900" name="Google Shape;900;p20"/>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nights available</a:t>
            </a:r>
            <a:endParaRPr b="0" i="0" sz="1100" u="none" cap="none" strike="noStrike">
              <a:solidFill>
                <a:schemeClr val="dk1"/>
              </a:solidFill>
              <a:latin typeface="Calibri"/>
              <a:ea typeface="Calibri"/>
              <a:cs typeface="Calibri"/>
              <a:sym typeface="Calibri"/>
            </a:endParaRPr>
          </a:p>
        </p:txBody>
      </p:sp>
      <p:sp>
        <p:nvSpPr>
          <p:cNvPr id="901" name="Google Shape;901;p20"/>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1,500</a:t>
            </a:r>
            <a:endParaRPr b="0" i="0" sz="1100" u="none" cap="none" strike="noStrike">
              <a:solidFill>
                <a:schemeClr val="dk1"/>
              </a:solidFill>
              <a:latin typeface="Calibri"/>
              <a:ea typeface="Calibri"/>
              <a:cs typeface="Calibri"/>
              <a:sym typeface="Calibri"/>
            </a:endParaRPr>
          </a:p>
        </p:txBody>
      </p:sp>
      <p:sp>
        <p:nvSpPr>
          <p:cNvPr id="902" name="Google Shape;902;p20"/>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nights sold</a:t>
            </a:r>
            <a:endParaRPr b="0" i="0" sz="1100" u="none" cap="none" strike="noStrike">
              <a:solidFill>
                <a:schemeClr val="dk1"/>
              </a:solidFill>
              <a:latin typeface="Calibri"/>
              <a:ea typeface="Calibri"/>
              <a:cs typeface="Calibri"/>
              <a:sym typeface="Calibri"/>
            </a:endParaRPr>
          </a:p>
        </p:txBody>
      </p:sp>
      <p:sp>
        <p:nvSpPr>
          <p:cNvPr id="903" name="Google Shape;903;p20"/>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1,200</a:t>
            </a:r>
            <a:endParaRPr b="0" i="0" sz="1100" u="none" cap="none" strike="noStrike">
              <a:solidFill>
                <a:schemeClr val="dk1"/>
              </a:solidFill>
              <a:latin typeface="Calibri"/>
              <a:ea typeface="Calibri"/>
              <a:cs typeface="Calibri"/>
              <a:sym typeface="Calibri"/>
            </a:endParaRPr>
          </a:p>
        </p:txBody>
      </p:sp>
      <p:sp>
        <p:nvSpPr>
          <p:cNvPr id="904" name="Google Shape;904;p20"/>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a:t>
            </a:r>
            <a:endParaRPr b="0" i="0" sz="1100" u="none" cap="none" strike="noStrike">
              <a:solidFill>
                <a:schemeClr val="dk1"/>
              </a:solidFill>
              <a:latin typeface="Calibri"/>
              <a:ea typeface="Calibri"/>
              <a:cs typeface="Calibri"/>
              <a:sym typeface="Calibri"/>
            </a:endParaRPr>
          </a:p>
        </p:txBody>
      </p:sp>
      <p:sp>
        <p:nvSpPr>
          <p:cNvPr id="905" name="Google Shape;905;p20"/>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$360,000</a:t>
            </a:r>
            <a:endParaRPr b="0" i="0" sz="1100" u="none" cap="none" strike="noStrike">
              <a:solidFill>
                <a:schemeClr val="dk1"/>
              </a:solidFill>
              <a:latin typeface="Calibri"/>
              <a:ea typeface="Calibri"/>
              <a:cs typeface="Calibri"/>
              <a:sym typeface="Calibri"/>
            </a:endParaRPr>
          </a:p>
        </p:txBody>
      </p:sp>
      <p:sp>
        <p:nvSpPr>
          <p:cNvPr id="906" name="Google Shape;906;p20"/>
          <p:cNvSpPr txBox="1"/>
          <p:nvPr/>
        </p:nvSpPr>
        <p:spPr>
          <a:xfrm>
            <a:off x="859536" y="406349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a:t>
            </a:r>
            <a:endParaRPr b="0" i="0" sz="1100" u="none" cap="none" strike="noStrike">
              <a:solidFill>
                <a:schemeClr val="dk1"/>
              </a:solidFill>
              <a:latin typeface="Calibri"/>
              <a:ea typeface="Calibri"/>
              <a:cs typeface="Calibri"/>
              <a:sym typeface="Calibri"/>
            </a:endParaRPr>
          </a:p>
        </p:txBody>
      </p:sp>
      <p:sp>
        <p:nvSpPr>
          <p:cNvPr id="907" name="Google Shape;907;p20"/>
          <p:cNvSpPr txBox="1"/>
          <p:nvPr/>
        </p:nvSpPr>
        <p:spPr>
          <a:xfrm>
            <a:off x="4334256" y="406349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908" name="Google Shape;908;p20"/>
          <p:cNvSpPr txBox="1"/>
          <p:nvPr/>
        </p:nvSpPr>
        <p:spPr>
          <a:xfrm>
            <a:off x="859536" y="4356100"/>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What's our RevPAR? It's the one I give people when they ask how the year's going.</a:t>
            </a:r>
            <a:endParaRPr b="0" i="0" sz="1100" u="none" cap="none" strike="noStrike">
              <a:solidFill>
                <a:schemeClr val="dk1"/>
              </a:solidFill>
              <a:latin typeface="Calibri"/>
              <a:ea typeface="Calibri"/>
              <a:cs typeface="Calibri"/>
              <a:sym typeface="Calibri"/>
            </a:endParaRPr>
          </a:p>
        </p:txBody>
      </p:sp>
      <p:sp>
        <p:nvSpPr>
          <p:cNvPr id="909" name="Google Shape;909;p20"/>
          <p:cNvSpPr/>
          <p:nvPr/>
        </p:nvSpPr>
        <p:spPr>
          <a:xfrm>
            <a:off x="548640" y="5218938"/>
            <a:ext cx="7406640" cy="1090422"/>
          </a:xfrm>
          <a:prstGeom prst="roundRect">
            <a:avLst>
              <a:gd fmla="val 10063"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0"/>
          <p:cNvSpPr txBox="1"/>
          <p:nvPr/>
        </p:nvSpPr>
        <p:spPr>
          <a:xfrm>
            <a:off x="859536" y="5401818"/>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911" name="Google Shape;911;p20"/>
          <p:cNvSpPr txBox="1"/>
          <p:nvPr/>
        </p:nvSpPr>
        <p:spPr>
          <a:xfrm>
            <a:off x="859536" y="5657850"/>
            <a:ext cx="6784848" cy="4686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 ÷ rooms </a:t>
            </a:r>
            <a:r>
              <a:rPr b="1" i="0" lang="en-US" sz="1100" u="none" cap="none" strike="noStrike">
                <a:solidFill>
                  <a:srgbClr val="404040"/>
                </a:solidFill>
                <a:latin typeface="Inter"/>
                <a:ea typeface="Inter"/>
                <a:cs typeface="Inter"/>
                <a:sym typeface="Inter"/>
              </a:rPr>
              <a:t>available</a:t>
            </a:r>
            <a:r>
              <a:rPr b="0" i="0" lang="en-US" sz="1100" u="none" cap="none" strike="noStrike">
                <a:solidFill>
                  <a:srgbClr val="404040"/>
                </a:solidFill>
                <a:latin typeface="Inter"/>
                <a:ea typeface="Inter"/>
                <a:cs typeface="Inter"/>
                <a:sym typeface="Inter"/>
              </a:rPr>
              <a:t>, sold or not: $360,000 ÷ 1,500 = </a:t>
            </a:r>
            <a:r>
              <a:rPr b="1" i="0" lang="en-US" sz="1100" u="none" cap="none" strike="noStrike">
                <a:solidFill>
                  <a:srgbClr val="404040"/>
                </a:solidFill>
                <a:latin typeface="Inter"/>
                <a:ea typeface="Inter"/>
                <a:cs typeface="Inter"/>
                <a:sym typeface="Inter"/>
              </a:rPr>
              <a:t>$240</a:t>
            </a:r>
            <a:r>
              <a:rPr b="0" i="0" lang="en-US" sz="1100" u="none" cap="none" strike="noStrike">
                <a:solidFill>
                  <a:srgbClr val="404040"/>
                </a:solidFill>
                <a:latin typeface="Inter"/>
                <a:ea typeface="Inter"/>
                <a:cs typeface="Inter"/>
                <a:sym typeface="Inter"/>
              </a:rPr>
              <a:t> (check: $300 × 80%). $300 is ADR; $400 used total revenue; 80% is occupancy.</a:t>
            </a:r>
            <a:endParaRPr b="0" i="0" sz="1100" u="none" cap="none" strike="noStrike">
              <a:solidFill>
                <a:schemeClr val="dk1"/>
              </a:solidFill>
              <a:latin typeface="Calibri"/>
              <a:ea typeface="Calibri"/>
              <a:cs typeface="Calibri"/>
              <a:sym typeface="Calibri"/>
            </a:endParaRPr>
          </a:p>
        </p:txBody>
      </p:sp>
      <p:sp>
        <p:nvSpPr>
          <p:cNvPr id="912" name="Google Shape;912;p20"/>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0"/>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914" name="Google Shape;914;p20"/>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915" name="Google Shape;915;p20"/>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916" name="Google Shape;916;p20"/>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917" name="Google Shape;917;p20"/>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918" name="Google Shape;918;p20"/>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919" name="Google Shape;919;p20"/>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$240</a:t>
            </a:r>
            <a:endParaRPr b="0" i="0" sz="1250" u="none" cap="none" strike="noStrike">
              <a:solidFill>
                <a:schemeClr val="dk1"/>
              </a:solidFill>
              <a:latin typeface="Calibri"/>
              <a:ea typeface="Calibri"/>
              <a:cs typeface="Calibri"/>
              <a:sym typeface="Calibri"/>
            </a:endParaRPr>
          </a:p>
        </p:txBody>
      </p:sp>
      <p:sp>
        <p:nvSpPr>
          <p:cNvPr id="920" name="Google Shape;920;p20"/>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0"/>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0"/>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923" name="Google Shape;923;p20"/>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$300</a:t>
            </a:r>
            <a:endParaRPr b="0" i="0" sz="1250" u="none" cap="none" strike="noStrike">
              <a:solidFill>
                <a:schemeClr val="dk1"/>
              </a:solidFill>
              <a:latin typeface="Calibri"/>
              <a:ea typeface="Calibri"/>
              <a:cs typeface="Calibri"/>
              <a:sym typeface="Calibri"/>
            </a:endParaRPr>
          </a:p>
        </p:txBody>
      </p:sp>
      <p:sp>
        <p:nvSpPr>
          <p:cNvPr id="924" name="Google Shape;924;p20"/>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0"/>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0"/>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927" name="Google Shape;927;p20"/>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$400</a:t>
            </a:r>
            <a:endParaRPr b="0" i="0" sz="1250" u="none" cap="none" strike="noStrike">
              <a:solidFill>
                <a:schemeClr val="dk1"/>
              </a:solidFill>
              <a:latin typeface="Calibri"/>
              <a:ea typeface="Calibri"/>
              <a:cs typeface="Calibri"/>
              <a:sym typeface="Calibri"/>
            </a:endParaRPr>
          </a:p>
        </p:txBody>
      </p:sp>
      <p:sp>
        <p:nvSpPr>
          <p:cNvPr id="928" name="Google Shape;928;p20"/>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0"/>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0"/>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931" name="Google Shape;931;p20"/>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80%</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36" name="Shape 936"/>
        <p:cNvGrpSpPr/>
        <p:nvPr/>
      </p:nvGrpSpPr>
      <p:grpSpPr>
        <a:xfrm>
          <a:off x="0" y="0"/>
          <a:ext cx="0" cy="0"/>
          <a:chOff x="0" y="0"/>
          <a:chExt cx="0" cy="0"/>
        </a:xfrm>
      </p:grpSpPr>
      <p:sp>
        <p:nvSpPr>
          <p:cNvPr id="937" name="Google Shape;937;p2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3 OF 5</a:t>
            </a:r>
            <a:endParaRPr b="0" i="0" sz="1050" u="none" cap="none" strike="noStrike">
              <a:solidFill>
                <a:schemeClr val="dk1"/>
              </a:solidFill>
              <a:latin typeface="Calibri"/>
              <a:ea typeface="Calibri"/>
              <a:cs typeface="Calibri"/>
              <a:sym typeface="Calibri"/>
            </a:endParaRPr>
          </a:p>
        </p:txBody>
      </p:sp>
      <p:sp>
        <p:nvSpPr>
          <p:cNvPr id="938" name="Google Shape;938;p2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How much was ancillary revenue?</a:t>
            </a:r>
            <a:endParaRPr b="0" i="0" sz="3000" u="none" cap="none" strike="noStrike">
              <a:solidFill>
                <a:schemeClr val="dk1"/>
              </a:solidFill>
              <a:latin typeface="Calibri"/>
              <a:ea typeface="Calibri"/>
              <a:cs typeface="Calibri"/>
              <a:sym typeface="Calibri"/>
            </a:endParaRPr>
          </a:p>
        </p:txBody>
      </p:sp>
      <p:pic>
        <p:nvPicPr>
          <p:cNvPr descr="/home/claude/work/renderer/brand/wordmark.png" id="939" name="Google Shape;939;p2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940" name="Google Shape;940;p2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19 / 65</a:t>
            </a:r>
            <a:endParaRPr b="0" i="0" sz="900" u="none" cap="none" strike="noStrike">
              <a:solidFill>
                <a:schemeClr val="dk1"/>
              </a:solidFill>
              <a:latin typeface="Calibri"/>
              <a:ea typeface="Calibri"/>
              <a:cs typeface="Calibri"/>
              <a:sym typeface="Calibri"/>
            </a:endParaRPr>
          </a:p>
        </p:txBody>
      </p:sp>
      <p:sp>
        <p:nvSpPr>
          <p:cNvPr id="941" name="Google Shape;941;p21"/>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1"/>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Honestly, it wasn't the rooms</a:t>
            </a:r>
            <a:endParaRPr b="0" i="0" sz="1450" u="none" cap="none" strike="noStrike">
              <a:solidFill>
                <a:schemeClr val="dk1"/>
              </a:solidFill>
              <a:latin typeface="Calibri"/>
              <a:ea typeface="Calibri"/>
              <a:cs typeface="Calibri"/>
              <a:sym typeface="Calibri"/>
            </a:endParaRPr>
          </a:p>
        </p:txBody>
      </p:sp>
      <p:sp>
        <p:nvSpPr>
          <p:cNvPr id="943" name="Google Shape;943;p21"/>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1"/>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945" name="Google Shape;945;p21"/>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946" name="Google Shape;946;p21"/>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947" name="Google Shape;947;p21"/>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948" name="Google Shape;948;p21"/>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Rooms were fine. The spa and restaurant made our month.</a:t>
            </a:r>
            <a:endParaRPr b="0" i="0" sz="1100" u="none" cap="none" strike="noStrike">
              <a:solidFill>
                <a:schemeClr val="dk1"/>
              </a:solidFill>
              <a:latin typeface="Calibri"/>
              <a:ea typeface="Calibri"/>
              <a:cs typeface="Calibri"/>
              <a:sym typeface="Calibri"/>
            </a:endParaRPr>
          </a:p>
        </p:txBody>
      </p:sp>
      <p:sp>
        <p:nvSpPr>
          <p:cNvPr id="949" name="Google Shape;949;p21"/>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a:t>
            </a:r>
            <a:endParaRPr b="0" i="0" sz="1100" u="none" cap="none" strike="noStrike">
              <a:solidFill>
                <a:schemeClr val="dk1"/>
              </a:solidFill>
              <a:latin typeface="Calibri"/>
              <a:ea typeface="Calibri"/>
              <a:cs typeface="Calibri"/>
              <a:sym typeface="Calibri"/>
            </a:endParaRPr>
          </a:p>
        </p:txBody>
      </p:sp>
      <p:sp>
        <p:nvSpPr>
          <p:cNvPr id="950" name="Google Shape;950;p21"/>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$360,000</a:t>
            </a:r>
            <a:endParaRPr b="0" i="0" sz="1100" u="none" cap="none" strike="noStrike">
              <a:solidFill>
                <a:schemeClr val="dk1"/>
              </a:solidFill>
              <a:latin typeface="Calibri"/>
              <a:ea typeface="Calibri"/>
              <a:cs typeface="Calibri"/>
              <a:sym typeface="Calibri"/>
            </a:endParaRPr>
          </a:p>
        </p:txBody>
      </p:sp>
      <p:sp>
        <p:nvSpPr>
          <p:cNvPr id="951" name="Google Shape;951;p21"/>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Spa</a:t>
            </a:r>
            <a:endParaRPr b="0" i="0" sz="1100" u="none" cap="none" strike="noStrike">
              <a:solidFill>
                <a:schemeClr val="dk1"/>
              </a:solidFill>
              <a:latin typeface="Calibri"/>
              <a:ea typeface="Calibri"/>
              <a:cs typeface="Calibri"/>
              <a:sym typeface="Calibri"/>
            </a:endParaRPr>
          </a:p>
        </p:txBody>
      </p:sp>
      <p:sp>
        <p:nvSpPr>
          <p:cNvPr id="952" name="Google Shape;952;p21"/>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$90,000</a:t>
            </a:r>
            <a:endParaRPr b="0" i="0" sz="1100" u="none" cap="none" strike="noStrike">
              <a:solidFill>
                <a:schemeClr val="dk1"/>
              </a:solidFill>
              <a:latin typeface="Calibri"/>
              <a:ea typeface="Calibri"/>
              <a:cs typeface="Calibri"/>
              <a:sym typeface="Calibri"/>
            </a:endParaRPr>
          </a:p>
        </p:txBody>
      </p:sp>
      <p:sp>
        <p:nvSpPr>
          <p:cNvPr id="953" name="Google Shape;953;p21"/>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Restaurant and bar</a:t>
            </a:r>
            <a:endParaRPr b="0" i="0" sz="1100" u="none" cap="none" strike="noStrike">
              <a:solidFill>
                <a:schemeClr val="dk1"/>
              </a:solidFill>
              <a:latin typeface="Calibri"/>
              <a:ea typeface="Calibri"/>
              <a:cs typeface="Calibri"/>
              <a:sym typeface="Calibri"/>
            </a:endParaRPr>
          </a:p>
        </p:txBody>
      </p:sp>
      <p:sp>
        <p:nvSpPr>
          <p:cNvPr id="954" name="Google Shape;954;p21"/>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$150,000</a:t>
            </a:r>
            <a:endParaRPr b="0" i="0" sz="1100" u="none" cap="none" strike="noStrike">
              <a:solidFill>
                <a:schemeClr val="dk1"/>
              </a:solidFill>
              <a:latin typeface="Calibri"/>
              <a:ea typeface="Calibri"/>
              <a:cs typeface="Calibri"/>
              <a:sym typeface="Calibri"/>
            </a:endParaRPr>
          </a:p>
        </p:txBody>
      </p:sp>
      <p:sp>
        <p:nvSpPr>
          <p:cNvPr id="955" name="Google Shape;955;p21"/>
          <p:cNvSpPr txBox="1"/>
          <p:nvPr/>
        </p:nvSpPr>
        <p:spPr>
          <a:xfrm>
            <a:off x="859536" y="406349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a:t>
            </a:r>
            <a:endParaRPr b="0" i="0" sz="1100" u="none" cap="none" strike="noStrike">
              <a:solidFill>
                <a:schemeClr val="dk1"/>
              </a:solidFill>
              <a:latin typeface="Calibri"/>
              <a:ea typeface="Calibri"/>
              <a:cs typeface="Calibri"/>
              <a:sym typeface="Calibri"/>
            </a:endParaRPr>
          </a:p>
        </p:txBody>
      </p:sp>
      <p:sp>
        <p:nvSpPr>
          <p:cNvPr id="956" name="Google Shape;956;p21"/>
          <p:cNvSpPr txBox="1"/>
          <p:nvPr/>
        </p:nvSpPr>
        <p:spPr>
          <a:xfrm>
            <a:off x="4334256" y="406349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957" name="Google Shape;957;p21"/>
          <p:cNvSpPr txBox="1"/>
          <p:nvPr/>
        </p:nvSpPr>
        <p:spPr>
          <a:xfrm>
            <a:off x="859536" y="4356100"/>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How much of September was ancillary?</a:t>
            </a:r>
            <a:endParaRPr b="0" i="0" sz="1100" u="none" cap="none" strike="noStrike">
              <a:solidFill>
                <a:schemeClr val="dk1"/>
              </a:solidFill>
              <a:latin typeface="Calibri"/>
              <a:ea typeface="Calibri"/>
              <a:cs typeface="Calibri"/>
              <a:sym typeface="Calibri"/>
            </a:endParaRPr>
          </a:p>
        </p:txBody>
      </p:sp>
      <p:sp>
        <p:nvSpPr>
          <p:cNvPr id="958" name="Google Shape;958;p21"/>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1"/>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960" name="Google Shape;960;p21"/>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961" name="Google Shape;961;p21"/>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3 OF 5</a:t>
            </a:r>
            <a:endParaRPr b="0" i="0" sz="950" u="none" cap="none" strike="noStrike">
              <a:solidFill>
                <a:schemeClr val="dk1"/>
              </a:solidFill>
              <a:latin typeface="Calibri"/>
              <a:ea typeface="Calibri"/>
              <a:cs typeface="Calibri"/>
              <a:sym typeface="Calibri"/>
            </a:endParaRPr>
          </a:p>
        </p:txBody>
      </p:sp>
      <p:sp>
        <p:nvSpPr>
          <p:cNvPr id="962" name="Google Shape;962;p21"/>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963" name="Google Shape;963;p21"/>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1"/>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1"/>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966" name="Google Shape;966;p21"/>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$90,000</a:t>
            </a:r>
            <a:endParaRPr b="0" i="0" sz="1250" u="none" cap="none" strike="noStrike">
              <a:solidFill>
                <a:schemeClr val="dk1"/>
              </a:solidFill>
              <a:latin typeface="Calibri"/>
              <a:ea typeface="Calibri"/>
              <a:cs typeface="Calibri"/>
              <a:sym typeface="Calibri"/>
            </a:endParaRPr>
          </a:p>
        </p:txBody>
      </p:sp>
      <p:sp>
        <p:nvSpPr>
          <p:cNvPr id="967" name="Google Shape;967;p21"/>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1"/>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1"/>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970" name="Google Shape;970;p21"/>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$240,000</a:t>
            </a:r>
            <a:endParaRPr b="0" i="0" sz="1250" u="none" cap="none" strike="noStrike">
              <a:solidFill>
                <a:schemeClr val="dk1"/>
              </a:solidFill>
              <a:latin typeface="Calibri"/>
              <a:ea typeface="Calibri"/>
              <a:cs typeface="Calibri"/>
              <a:sym typeface="Calibri"/>
            </a:endParaRPr>
          </a:p>
        </p:txBody>
      </p:sp>
      <p:sp>
        <p:nvSpPr>
          <p:cNvPr id="971" name="Google Shape;971;p21"/>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1"/>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1"/>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974" name="Google Shape;974;p21"/>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$360,000</a:t>
            </a:r>
            <a:endParaRPr b="0" i="0" sz="1250" u="none" cap="none" strike="noStrike">
              <a:solidFill>
                <a:schemeClr val="dk1"/>
              </a:solidFill>
              <a:latin typeface="Calibri"/>
              <a:ea typeface="Calibri"/>
              <a:cs typeface="Calibri"/>
              <a:sym typeface="Calibri"/>
            </a:endParaRPr>
          </a:p>
        </p:txBody>
      </p:sp>
      <p:sp>
        <p:nvSpPr>
          <p:cNvPr id="975" name="Google Shape;975;p21"/>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1"/>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1"/>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978" name="Google Shape;978;p21"/>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$600,000</a:t>
            </a:r>
            <a:endParaRPr b="0" i="0" sz="1250" u="none" cap="none" strike="noStrike">
              <a:solidFill>
                <a:schemeClr val="dk1"/>
              </a:solidFill>
              <a:latin typeface="Calibri"/>
              <a:ea typeface="Calibri"/>
              <a:cs typeface="Calibri"/>
              <a:sym typeface="Calibri"/>
            </a:endParaRPr>
          </a:p>
        </p:txBody>
      </p:sp>
      <p:sp>
        <p:nvSpPr>
          <p:cNvPr id="979" name="Google Shape;979;p21"/>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84" name="Shape 984"/>
        <p:cNvGrpSpPr/>
        <p:nvPr/>
      </p:nvGrpSpPr>
      <p:grpSpPr>
        <a:xfrm>
          <a:off x="0" y="0"/>
          <a:ext cx="0" cy="0"/>
          <a:chOff x="0" y="0"/>
          <a:chExt cx="0" cy="0"/>
        </a:xfrm>
      </p:grpSpPr>
      <p:sp>
        <p:nvSpPr>
          <p:cNvPr id="985" name="Google Shape;985;p2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3 OF 5</a:t>
            </a:r>
            <a:endParaRPr b="0" i="0" sz="1050" u="none" cap="none" strike="noStrike">
              <a:solidFill>
                <a:schemeClr val="dk1"/>
              </a:solidFill>
              <a:latin typeface="Calibri"/>
              <a:ea typeface="Calibri"/>
              <a:cs typeface="Calibri"/>
              <a:sym typeface="Calibri"/>
            </a:endParaRPr>
          </a:p>
        </p:txBody>
      </p:sp>
      <p:sp>
        <p:nvSpPr>
          <p:cNvPr id="986" name="Google Shape;986;p2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How much was ancillary revenue?</a:t>
            </a:r>
            <a:endParaRPr b="0" i="0" sz="3000" u="none" cap="none" strike="noStrike">
              <a:solidFill>
                <a:schemeClr val="dk1"/>
              </a:solidFill>
              <a:latin typeface="Calibri"/>
              <a:ea typeface="Calibri"/>
              <a:cs typeface="Calibri"/>
              <a:sym typeface="Calibri"/>
            </a:endParaRPr>
          </a:p>
        </p:txBody>
      </p:sp>
      <p:pic>
        <p:nvPicPr>
          <p:cNvPr descr="/home/claude/work/renderer/brand/wordmark.png" id="987" name="Google Shape;987;p2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988" name="Google Shape;988;p2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20 / 65</a:t>
            </a:r>
            <a:endParaRPr b="0" i="0" sz="900" u="none" cap="none" strike="noStrike">
              <a:solidFill>
                <a:schemeClr val="dk1"/>
              </a:solidFill>
              <a:latin typeface="Calibri"/>
              <a:ea typeface="Calibri"/>
              <a:cs typeface="Calibri"/>
              <a:sym typeface="Calibri"/>
            </a:endParaRPr>
          </a:p>
        </p:txBody>
      </p:sp>
      <p:sp>
        <p:nvSpPr>
          <p:cNvPr id="989" name="Google Shape;989;p22"/>
          <p:cNvSpPr/>
          <p:nvPr/>
        </p:nvSpPr>
        <p:spPr>
          <a:xfrm>
            <a:off x="548640" y="1481328"/>
            <a:ext cx="7406640" cy="3554730"/>
          </a:xfrm>
          <a:prstGeom prst="roundRect">
            <a:avLst>
              <a:gd fmla="val 308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2"/>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Honestly, it wasn't the rooms</a:t>
            </a:r>
            <a:endParaRPr b="0" i="0" sz="1450" u="none" cap="none" strike="noStrike">
              <a:solidFill>
                <a:schemeClr val="dk1"/>
              </a:solidFill>
              <a:latin typeface="Calibri"/>
              <a:ea typeface="Calibri"/>
              <a:cs typeface="Calibri"/>
              <a:sym typeface="Calibri"/>
            </a:endParaRPr>
          </a:p>
        </p:txBody>
      </p:sp>
      <p:sp>
        <p:nvSpPr>
          <p:cNvPr id="991" name="Google Shape;991;p22"/>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2"/>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993" name="Google Shape;993;p22"/>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994" name="Google Shape;994;p22"/>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995" name="Google Shape;995;p22"/>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996" name="Google Shape;996;p22"/>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Rooms were fine. The spa and restaurant made our month.</a:t>
            </a:r>
            <a:endParaRPr b="0" i="0" sz="1100" u="none" cap="none" strike="noStrike">
              <a:solidFill>
                <a:schemeClr val="dk1"/>
              </a:solidFill>
              <a:latin typeface="Calibri"/>
              <a:ea typeface="Calibri"/>
              <a:cs typeface="Calibri"/>
              <a:sym typeface="Calibri"/>
            </a:endParaRPr>
          </a:p>
        </p:txBody>
      </p:sp>
      <p:sp>
        <p:nvSpPr>
          <p:cNvPr id="997" name="Google Shape;997;p22"/>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Room revenue</a:t>
            </a:r>
            <a:endParaRPr b="0" i="0" sz="1100" u="none" cap="none" strike="noStrike">
              <a:solidFill>
                <a:schemeClr val="dk1"/>
              </a:solidFill>
              <a:latin typeface="Calibri"/>
              <a:ea typeface="Calibri"/>
              <a:cs typeface="Calibri"/>
              <a:sym typeface="Calibri"/>
            </a:endParaRPr>
          </a:p>
        </p:txBody>
      </p:sp>
      <p:sp>
        <p:nvSpPr>
          <p:cNvPr id="998" name="Google Shape;998;p22"/>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$360,000</a:t>
            </a:r>
            <a:endParaRPr b="0" i="0" sz="1100" u="none" cap="none" strike="noStrike">
              <a:solidFill>
                <a:schemeClr val="dk1"/>
              </a:solidFill>
              <a:latin typeface="Calibri"/>
              <a:ea typeface="Calibri"/>
              <a:cs typeface="Calibri"/>
              <a:sym typeface="Calibri"/>
            </a:endParaRPr>
          </a:p>
        </p:txBody>
      </p:sp>
      <p:sp>
        <p:nvSpPr>
          <p:cNvPr id="999" name="Google Shape;999;p22"/>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Spa</a:t>
            </a:r>
            <a:endParaRPr b="0" i="0" sz="1100" u="none" cap="none" strike="noStrike">
              <a:solidFill>
                <a:schemeClr val="dk1"/>
              </a:solidFill>
              <a:latin typeface="Calibri"/>
              <a:ea typeface="Calibri"/>
              <a:cs typeface="Calibri"/>
              <a:sym typeface="Calibri"/>
            </a:endParaRPr>
          </a:p>
        </p:txBody>
      </p:sp>
      <p:sp>
        <p:nvSpPr>
          <p:cNvPr id="1000" name="Google Shape;1000;p22"/>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$90,000</a:t>
            </a:r>
            <a:endParaRPr b="0" i="0" sz="1100" u="none" cap="none" strike="noStrike">
              <a:solidFill>
                <a:schemeClr val="dk1"/>
              </a:solidFill>
              <a:latin typeface="Calibri"/>
              <a:ea typeface="Calibri"/>
              <a:cs typeface="Calibri"/>
              <a:sym typeface="Calibri"/>
            </a:endParaRPr>
          </a:p>
        </p:txBody>
      </p:sp>
      <p:sp>
        <p:nvSpPr>
          <p:cNvPr id="1001" name="Google Shape;1001;p22"/>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Restaurant and bar</a:t>
            </a:r>
            <a:endParaRPr b="0" i="0" sz="1100" u="none" cap="none" strike="noStrike">
              <a:solidFill>
                <a:schemeClr val="dk1"/>
              </a:solidFill>
              <a:latin typeface="Calibri"/>
              <a:ea typeface="Calibri"/>
              <a:cs typeface="Calibri"/>
              <a:sym typeface="Calibri"/>
            </a:endParaRPr>
          </a:p>
        </p:txBody>
      </p:sp>
      <p:sp>
        <p:nvSpPr>
          <p:cNvPr id="1002" name="Google Shape;1002;p22"/>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$150,000</a:t>
            </a:r>
            <a:endParaRPr b="0" i="0" sz="1100" u="none" cap="none" strike="noStrike">
              <a:solidFill>
                <a:schemeClr val="dk1"/>
              </a:solidFill>
              <a:latin typeface="Calibri"/>
              <a:ea typeface="Calibri"/>
              <a:cs typeface="Calibri"/>
              <a:sym typeface="Calibri"/>
            </a:endParaRPr>
          </a:p>
        </p:txBody>
      </p:sp>
      <p:sp>
        <p:nvSpPr>
          <p:cNvPr id="1003" name="Google Shape;1003;p22"/>
          <p:cNvSpPr txBox="1"/>
          <p:nvPr/>
        </p:nvSpPr>
        <p:spPr>
          <a:xfrm>
            <a:off x="859536" y="406349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a:t>
            </a:r>
            <a:endParaRPr b="0" i="0" sz="1100" u="none" cap="none" strike="noStrike">
              <a:solidFill>
                <a:schemeClr val="dk1"/>
              </a:solidFill>
              <a:latin typeface="Calibri"/>
              <a:ea typeface="Calibri"/>
              <a:cs typeface="Calibri"/>
              <a:sym typeface="Calibri"/>
            </a:endParaRPr>
          </a:p>
        </p:txBody>
      </p:sp>
      <p:sp>
        <p:nvSpPr>
          <p:cNvPr id="1004" name="Google Shape;1004;p22"/>
          <p:cNvSpPr txBox="1"/>
          <p:nvPr/>
        </p:nvSpPr>
        <p:spPr>
          <a:xfrm>
            <a:off x="4334256" y="406349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1005" name="Google Shape;1005;p22"/>
          <p:cNvSpPr txBox="1"/>
          <p:nvPr/>
        </p:nvSpPr>
        <p:spPr>
          <a:xfrm>
            <a:off x="859536" y="4356100"/>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How much of September was ancillary?</a:t>
            </a:r>
            <a:endParaRPr b="0" i="0" sz="1100" u="none" cap="none" strike="noStrike">
              <a:solidFill>
                <a:schemeClr val="dk1"/>
              </a:solidFill>
              <a:latin typeface="Calibri"/>
              <a:ea typeface="Calibri"/>
              <a:cs typeface="Calibri"/>
              <a:sym typeface="Calibri"/>
            </a:endParaRPr>
          </a:p>
        </p:txBody>
      </p:sp>
      <p:sp>
        <p:nvSpPr>
          <p:cNvPr id="1006" name="Google Shape;1006;p22"/>
          <p:cNvSpPr/>
          <p:nvPr/>
        </p:nvSpPr>
        <p:spPr>
          <a:xfrm>
            <a:off x="548640" y="5218938"/>
            <a:ext cx="7406640" cy="1090422"/>
          </a:xfrm>
          <a:prstGeom prst="roundRect">
            <a:avLst>
              <a:gd fmla="val 10063"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2"/>
          <p:cNvSpPr txBox="1"/>
          <p:nvPr/>
        </p:nvSpPr>
        <p:spPr>
          <a:xfrm>
            <a:off x="859536" y="5401818"/>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008" name="Google Shape;1008;p22"/>
          <p:cNvSpPr txBox="1"/>
          <p:nvPr/>
        </p:nvSpPr>
        <p:spPr>
          <a:xfrm>
            <a:off x="859536" y="5657850"/>
            <a:ext cx="6784848" cy="4686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Everything </a:t>
            </a:r>
            <a:r>
              <a:rPr b="1" i="0" lang="en-US" sz="1100" u="none" cap="none" strike="noStrike">
                <a:solidFill>
                  <a:srgbClr val="404040"/>
                </a:solidFill>
                <a:latin typeface="Inter"/>
                <a:ea typeface="Inter"/>
                <a:cs typeface="Inter"/>
                <a:sym typeface="Inter"/>
              </a:rPr>
              <a:t>beyond the room</a:t>
            </a:r>
            <a:r>
              <a:rPr b="0" i="0" lang="en-US" sz="1100" u="none" cap="none" strike="noStrike">
                <a:solidFill>
                  <a:srgbClr val="404040"/>
                </a:solidFill>
                <a:latin typeface="Inter"/>
                <a:ea typeface="Inter"/>
                <a:cs typeface="Inter"/>
                <a:sym typeface="Inter"/>
              </a:rPr>
              <a:t>: $90,000 + $150,000 = </a:t>
            </a:r>
            <a:r>
              <a:rPr b="1" i="0" lang="en-US" sz="1100" u="none" cap="none" strike="noStrike">
                <a:solidFill>
                  <a:srgbClr val="404040"/>
                </a:solidFill>
                <a:latin typeface="Inter"/>
                <a:ea typeface="Inter"/>
                <a:cs typeface="Inter"/>
                <a:sym typeface="Inter"/>
              </a:rPr>
              <a:t>$240,000</a:t>
            </a:r>
            <a:r>
              <a:rPr b="0" i="0" lang="en-US" sz="1100" u="none" cap="none" strike="noStrike">
                <a:solidFill>
                  <a:srgbClr val="404040"/>
                </a:solidFill>
                <a:latin typeface="Inter"/>
                <a:ea typeface="Inter"/>
                <a:cs typeface="Inter"/>
                <a:sym typeface="Inter"/>
              </a:rPr>
              <a:t>, 40% of the month. $90,000 is the spa alone; $360,000 the rooms; $600,000 everything.</a:t>
            </a:r>
            <a:endParaRPr b="0" i="0" sz="1100" u="none" cap="none" strike="noStrike">
              <a:solidFill>
                <a:schemeClr val="dk1"/>
              </a:solidFill>
              <a:latin typeface="Calibri"/>
              <a:ea typeface="Calibri"/>
              <a:cs typeface="Calibri"/>
              <a:sym typeface="Calibri"/>
            </a:endParaRPr>
          </a:p>
        </p:txBody>
      </p:sp>
      <p:sp>
        <p:nvSpPr>
          <p:cNvPr id="1009" name="Google Shape;1009;p22"/>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2"/>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1011" name="Google Shape;1011;p22"/>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012" name="Google Shape;1012;p22"/>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013" name="Google Shape;1013;p22"/>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014" name="Google Shape;1014;p22"/>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2"/>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2"/>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017" name="Google Shape;1017;p22"/>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$90,000</a:t>
            </a:r>
            <a:endParaRPr b="0" i="0" sz="1250" u="none" cap="none" strike="noStrike">
              <a:solidFill>
                <a:schemeClr val="dk1"/>
              </a:solidFill>
              <a:latin typeface="Calibri"/>
              <a:ea typeface="Calibri"/>
              <a:cs typeface="Calibri"/>
              <a:sym typeface="Calibri"/>
            </a:endParaRPr>
          </a:p>
        </p:txBody>
      </p:sp>
      <p:sp>
        <p:nvSpPr>
          <p:cNvPr id="1018" name="Google Shape;1018;p22"/>
          <p:cNvSpPr/>
          <p:nvPr/>
        </p:nvSpPr>
        <p:spPr>
          <a:xfrm>
            <a:off x="8549640" y="3785616"/>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019" name="Google Shape;1019;p22"/>
          <p:cNvPicPr preferRelativeResize="0"/>
          <p:nvPr/>
        </p:nvPicPr>
        <p:blipFill rotWithShape="1">
          <a:blip r:embed="rId5">
            <a:alphaModFix/>
          </a:blip>
          <a:srcRect b="0" l="0" r="0" t="0"/>
          <a:stretch/>
        </p:blipFill>
        <p:spPr>
          <a:xfrm>
            <a:off x="8750808" y="3867912"/>
            <a:ext cx="310896" cy="310896"/>
          </a:xfrm>
          <a:prstGeom prst="rect">
            <a:avLst/>
          </a:prstGeom>
          <a:noFill/>
          <a:ln>
            <a:noFill/>
          </a:ln>
        </p:spPr>
      </p:pic>
      <p:sp>
        <p:nvSpPr>
          <p:cNvPr id="1020" name="Google Shape;1020;p22"/>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$240,000</a:t>
            </a:r>
            <a:endParaRPr b="0" i="0" sz="1250" u="none" cap="none" strike="noStrike">
              <a:solidFill>
                <a:schemeClr val="dk1"/>
              </a:solidFill>
              <a:latin typeface="Calibri"/>
              <a:ea typeface="Calibri"/>
              <a:cs typeface="Calibri"/>
              <a:sym typeface="Calibri"/>
            </a:endParaRPr>
          </a:p>
        </p:txBody>
      </p:sp>
      <p:sp>
        <p:nvSpPr>
          <p:cNvPr id="1021" name="Google Shape;1021;p22"/>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2"/>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2"/>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024" name="Google Shape;1024;p22"/>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$360,000</a:t>
            </a:r>
            <a:endParaRPr b="0" i="0" sz="1250" u="none" cap="none" strike="noStrike">
              <a:solidFill>
                <a:schemeClr val="dk1"/>
              </a:solidFill>
              <a:latin typeface="Calibri"/>
              <a:ea typeface="Calibri"/>
              <a:cs typeface="Calibri"/>
              <a:sym typeface="Calibri"/>
            </a:endParaRPr>
          </a:p>
        </p:txBody>
      </p:sp>
      <p:sp>
        <p:nvSpPr>
          <p:cNvPr id="1025" name="Google Shape;1025;p22"/>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2"/>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2"/>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028" name="Google Shape;1028;p22"/>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$600,000</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33" name="Shape 1033"/>
        <p:cNvGrpSpPr/>
        <p:nvPr/>
      </p:nvGrpSpPr>
      <p:grpSpPr>
        <a:xfrm>
          <a:off x="0" y="0"/>
          <a:ext cx="0" cy="0"/>
          <a:chOff x="0" y="0"/>
          <a:chExt cx="0" cy="0"/>
        </a:xfrm>
      </p:grpSpPr>
      <p:sp>
        <p:nvSpPr>
          <p:cNvPr id="1034" name="Google Shape;1034;p2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4 OF 5</a:t>
            </a:r>
            <a:endParaRPr b="0" i="0" sz="1050" u="none" cap="none" strike="noStrike">
              <a:solidFill>
                <a:schemeClr val="dk1"/>
              </a:solidFill>
              <a:latin typeface="Calibri"/>
              <a:ea typeface="Calibri"/>
              <a:cs typeface="Calibri"/>
              <a:sym typeface="Calibri"/>
            </a:endParaRPr>
          </a:p>
        </p:txBody>
      </p:sp>
      <p:sp>
        <p:nvSpPr>
          <p:cNvPr id="1035" name="Google Shape;1035;p2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What's our flow-through?</a:t>
            </a:r>
            <a:endParaRPr b="0" i="0" sz="3000" u="none" cap="none" strike="noStrike">
              <a:solidFill>
                <a:schemeClr val="dk1"/>
              </a:solidFill>
              <a:latin typeface="Calibri"/>
              <a:ea typeface="Calibri"/>
              <a:cs typeface="Calibri"/>
              <a:sym typeface="Calibri"/>
            </a:endParaRPr>
          </a:p>
        </p:txBody>
      </p:sp>
      <p:pic>
        <p:nvPicPr>
          <p:cNvPr descr="/home/claude/work/renderer/brand/wordmark.png" id="1036" name="Google Shape;1036;p2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037" name="Google Shape;1037;p2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21 / 65</a:t>
            </a:r>
            <a:endParaRPr b="0" i="0" sz="900" u="none" cap="none" strike="noStrike">
              <a:solidFill>
                <a:schemeClr val="dk1"/>
              </a:solidFill>
              <a:latin typeface="Calibri"/>
              <a:ea typeface="Calibri"/>
              <a:cs typeface="Calibri"/>
              <a:sym typeface="Calibri"/>
            </a:endParaRPr>
          </a:p>
        </p:txBody>
      </p:sp>
      <p:sp>
        <p:nvSpPr>
          <p:cNvPr id="1038" name="Google Shape;1038;p23"/>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3"/>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We grew. Did it stick?</a:t>
            </a:r>
            <a:endParaRPr b="0" i="0" sz="1450" u="none" cap="none" strike="noStrike">
              <a:solidFill>
                <a:schemeClr val="dk1"/>
              </a:solidFill>
              <a:latin typeface="Calibri"/>
              <a:ea typeface="Calibri"/>
              <a:cs typeface="Calibri"/>
              <a:sym typeface="Calibri"/>
            </a:endParaRPr>
          </a:p>
        </p:txBody>
      </p:sp>
      <p:sp>
        <p:nvSpPr>
          <p:cNvPr id="1040" name="Google Shape;1040;p23"/>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3"/>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1042" name="Google Shape;1042;p23"/>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1043" name="Google Shape;1043;p23"/>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044" name="Google Shape;1044;p23"/>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045" name="Google Shape;1045;p23"/>
          <p:cNvSpPr txBox="1"/>
          <p:nvPr/>
        </p:nvSpPr>
        <p:spPr>
          <a:xfrm>
            <a:off x="859536" y="285292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a:t>
            </a:r>
            <a:endParaRPr b="0" i="0" sz="1100" u="none" cap="none" strike="noStrike">
              <a:solidFill>
                <a:schemeClr val="dk1"/>
              </a:solidFill>
              <a:latin typeface="Calibri"/>
              <a:ea typeface="Calibri"/>
              <a:cs typeface="Calibri"/>
              <a:sym typeface="Calibri"/>
            </a:endParaRPr>
          </a:p>
        </p:txBody>
      </p:sp>
      <p:sp>
        <p:nvSpPr>
          <p:cNvPr id="1046" name="Google Shape;1046;p23"/>
          <p:cNvSpPr txBox="1"/>
          <p:nvPr/>
        </p:nvSpPr>
        <p:spPr>
          <a:xfrm>
            <a:off x="4334256" y="285292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1047" name="Google Shape;1047;p23"/>
          <p:cNvSpPr txBox="1"/>
          <p:nvPr/>
        </p:nvSpPr>
        <p:spPr>
          <a:xfrm>
            <a:off x="859536" y="314553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 last September</a:t>
            </a:r>
            <a:endParaRPr b="0" i="0" sz="1100" u="none" cap="none" strike="noStrike">
              <a:solidFill>
                <a:schemeClr val="dk1"/>
              </a:solidFill>
              <a:latin typeface="Calibri"/>
              <a:ea typeface="Calibri"/>
              <a:cs typeface="Calibri"/>
              <a:sym typeface="Calibri"/>
            </a:endParaRPr>
          </a:p>
        </p:txBody>
      </p:sp>
      <p:sp>
        <p:nvSpPr>
          <p:cNvPr id="1048" name="Google Shape;1048;p23"/>
          <p:cNvSpPr txBox="1"/>
          <p:nvPr/>
        </p:nvSpPr>
        <p:spPr>
          <a:xfrm>
            <a:off x="4334256" y="314553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$500,000</a:t>
            </a:r>
            <a:endParaRPr b="0" i="0" sz="1100" u="none" cap="none" strike="noStrike">
              <a:solidFill>
                <a:schemeClr val="dk1"/>
              </a:solidFill>
              <a:latin typeface="Calibri"/>
              <a:ea typeface="Calibri"/>
              <a:cs typeface="Calibri"/>
              <a:sym typeface="Calibri"/>
            </a:endParaRPr>
          </a:p>
        </p:txBody>
      </p:sp>
      <p:sp>
        <p:nvSpPr>
          <p:cNvPr id="1049" name="Google Shape;1049;p23"/>
          <p:cNvSpPr txBox="1"/>
          <p:nvPr/>
        </p:nvSpPr>
        <p:spPr>
          <a:xfrm>
            <a:off x="859536" y="343814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a:t>
            </a:r>
            <a:endParaRPr b="0" i="0" sz="1100" u="none" cap="none" strike="noStrike">
              <a:solidFill>
                <a:schemeClr val="dk1"/>
              </a:solidFill>
              <a:latin typeface="Calibri"/>
              <a:ea typeface="Calibri"/>
              <a:cs typeface="Calibri"/>
              <a:sym typeface="Calibri"/>
            </a:endParaRPr>
          </a:p>
        </p:txBody>
      </p:sp>
      <p:sp>
        <p:nvSpPr>
          <p:cNvPr id="1050" name="Google Shape;1050;p23"/>
          <p:cNvSpPr txBox="1"/>
          <p:nvPr/>
        </p:nvSpPr>
        <p:spPr>
          <a:xfrm>
            <a:off x="4334256" y="343814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$175,000</a:t>
            </a:r>
            <a:endParaRPr b="0" i="0" sz="1100" u="none" cap="none" strike="noStrike">
              <a:solidFill>
                <a:schemeClr val="dk1"/>
              </a:solidFill>
              <a:latin typeface="Calibri"/>
              <a:ea typeface="Calibri"/>
              <a:cs typeface="Calibri"/>
              <a:sym typeface="Calibri"/>
            </a:endParaRPr>
          </a:p>
        </p:txBody>
      </p:sp>
      <p:sp>
        <p:nvSpPr>
          <p:cNvPr id="1051" name="Google Shape;1051;p23"/>
          <p:cNvSpPr txBox="1"/>
          <p:nvPr/>
        </p:nvSpPr>
        <p:spPr>
          <a:xfrm>
            <a:off x="859536" y="373075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 last September</a:t>
            </a:r>
            <a:endParaRPr b="0" i="0" sz="1100" u="none" cap="none" strike="noStrike">
              <a:solidFill>
                <a:schemeClr val="dk1"/>
              </a:solidFill>
              <a:latin typeface="Calibri"/>
              <a:ea typeface="Calibri"/>
              <a:cs typeface="Calibri"/>
              <a:sym typeface="Calibri"/>
            </a:endParaRPr>
          </a:p>
        </p:txBody>
      </p:sp>
      <p:sp>
        <p:nvSpPr>
          <p:cNvPr id="1052" name="Google Shape;1052;p23"/>
          <p:cNvSpPr txBox="1"/>
          <p:nvPr/>
        </p:nvSpPr>
        <p:spPr>
          <a:xfrm>
            <a:off x="4334256" y="373075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$150,000</a:t>
            </a:r>
            <a:endParaRPr b="0" i="0" sz="1100" u="none" cap="none" strike="noStrike">
              <a:solidFill>
                <a:schemeClr val="dk1"/>
              </a:solidFill>
              <a:latin typeface="Calibri"/>
              <a:ea typeface="Calibri"/>
              <a:cs typeface="Calibri"/>
              <a:sym typeface="Calibri"/>
            </a:endParaRPr>
          </a:p>
        </p:txBody>
      </p:sp>
      <p:sp>
        <p:nvSpPr>
          <p:cNvPr id="1053" name="Google Shape;1053;p23"/>
          <p:cNvSpPr txBox="1"/>
          <p:nvPr/>
        </p:nvSpPr>
        <p:spPr>
          <a:xfrm>
            <a:off x="859536" y="4023360"/>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We grew revenue by $100,000. How much of that actually reached profit? What's our flow-through?</a:t>
            </a:r>
            <a:endParaRPr b="0" i="0" sz="1100" u="none" cap="none" strike="noStrike">
              <a:solidFill>
                <a:schemeClr val="dk1"/>
              </a:solidFill>
              <a:latin typeface="Calibri"/>
              <a:ea typeface="Calibri"/>
              <a:cs typeface="Calibri"/>
              <a:sym typeface="Calibri"/>
            </a:endParaRPr>
          </a:p>
        </p:txBody>
      </p:sp>
      <p:sp>
        <p:nvSpPr>
          <p:cNvPr id="1054" name="Google Shape;1054;p23"/>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3"/>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1056" name="Google Shape;1056;p23"/>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057" name="Google Shape;1057;p23"/>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4 OF 5</a:t>
            </a:r>
            <a:endParaRPr b="0" i="0" sz="950" u="none" cap="none" strike="noStrike">
              <a:solidFill>
                <a:schemeClr val="dk1"/>
              </a:solidFill>
              <a:latin typeface="Calibri"/>
              <a:ea typeface="Calibri"/>
              <a:cs typeface="Calibri"/>
              <a:sym typeface="Calibri"/>
            </a:endParaRPr>
          </a:p>
        </p:txBody>
      </p:sp>
      <p:sp>
        <p:nvSpPr>
          <p:cNvPr id="1058" name="Google Shape;1058;p23"/>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059" name="Google Shape;1059;p23"/>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3"/>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3"/>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062" name="Google Shape;1062;p23"/>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25%</a:t>
            </a:r>
            <a:endParaRPr b="0" i="0" sz="1250" u="none" cap="none" strike="noStrike">
              <a:solidFill>
                <a:schemeClr val="dk1"/>
              </a:solidFill>
              <a:latin typeface="Calibri"/>
              <a:ea typeface="Calibri"/>
              <a:cs typeface="Calibri"/>
              <a:sym typeface="Calibri"/>
            </a:endParaRPr>
          </a:p>
        </p:txBody>
      </p:sp>
      <p:sp>
        <p:nvSpPr>
          <p:cNvPr id="1063" name="Google Shape;1063;p23"/>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3"/>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066" name="Google Shape;1066;p23"/>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29%</a:t>
            </a:r>
            <a:endParaRPr b="0" i="0" sz="1250" u="none" cap="none" strike="noStrike">
              <a:solidFill>
                <a:schemeClr val="dk1"/>
              </a:solidFill>
              <a:latin typeface="Calibri"/>
              <a:ea typeface="Calibri"/>
              <a:cs typeface="Calibri"/>
              <a:sym typeface="Calibri"/>
            </a:endParaRPr>
          </a:p>
        </p:txBody>
      </p:sp>
      <p:sp>
        <p:nvSpPr>
          <p:cNvPr id="1067" name="Google Shape;1067;p23"/>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3"/>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3"/>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070" name="Google Shape;1070;p23"/>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75%</a:t>
            </a:r>
            <a:endParaRPr b="0" i="0" sz="1250" u="none" cap="none" strike="noStrike">
              <a:solidFill>
                <a:schemeClr val="dk1"/>
              </a:solidFill>
              <a:latin typeface="Calibri"/>
              <a:ea typeface="Calibri"/>
              <a:cs typeface="Calibri"/>
              <a:sym typeface="Calibri"/>
            </a:endParaRPr>
          </a:p>
        </p:txBody>
      </p:sp>
      <p:sp>
        <p:nvSpPr>
          <p:cNvPr id="1071" name="Google Shape;1071;p23"/>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3"/>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3"/>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074" name="Google Shape;1074;p23"/>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400%</a:t>
            </a:r>
            <a:endParaRPr b="0" i="0" sz="1250" u="none" cap="none" strike="noStrike">
              <a:solidFill>
                <a:schemeClr val="dk1"/>
              </a:solidFill>
              <a:latin typeface="Calibri"/>
              <a:ea typeface="Calibri"/>
              <a:cs typeface="Calibri"/>
              <a:sym typeface="Calibri"/>
            </a:endParaRPr>
          </a:p>
        </p:txBody>
      </p:sp>
      <p:sp>
        <p:nvSpPr>
          <p:cNvPr id="1075" name="Google Shape;1075;p23"/>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80" name="Shape 1080"/>
        <p:cNvGrpSpPr/>
        <p:nvPr/>
      </p:nvGrpSpPr>
      <p:grpSpPr>
        <a:xfrm>
          <a:off x="0" y="0"/>
          <a:ext cx="0" cy="0"/>
          <a:chOff x="0" y="0"/>
          <a:chExt cx="0" cy="0"/>
        </a:xfrm>
      </p:grpSpPr>
      <p:sp>
        <p:nvSpPr>
          <p:cNvPr id="1081" name="Google Shape;1081;p2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4 OF 5</a:t>
            </a:r>
            <a:endParaRPr b="0" i="0" sz="1050" u="none" cap="none" strike="noStrike">
              <a:solidFill>
                <a:schemeClr val="dk1"/>
              </a:solidFill>
              <a:latin typeface="Calibri"/>
              <a:ea typeface="Calibri"/>
              <a:cs typeface="Calibri"/>
              <a:sym typeface="Calibri"/>
            </a:endParaRPr>
          </a:p>
        </p:txBody>
      </p:sp>
      <p:sp>
        <p:nvSpPr>
          <p:cNvPr id="1082" name="Google Shape;1082;p2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What's our flow-through?</a:t>
            </a:r>
            <a:endParaRPr b="0" i="0" sz="3000" u="none" cap="none" strike="noStrike">
              <a:solidFill>
                <a:schemeClr val="dk1"/>
              </a:solidFill>
              <a:latin typeface="Calibri"/>
              <a:ea typeface="Calibri"/>
              <a:cs typeface="Calibri"/>
              <a:sym typeface="Calibri"/>
            </a:endParaRPr>
          </a:p>
        </p:txBody>
      </p:sp>
      <p:pic>
        <p:nvPicPr>
          <p:cNvPr descr="/home/claude/work/renderer/brand/wordmark.png" id="1083" name="Google Shape;1083;p2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084" name="Google Shape;1084;p2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22 / 65</a:t>
            </a:r>
            <a:endParaRPr b="0" i="0" sz="900" u="none" cap="none" strike="noStrike">
              <a:solidFill>
                <a:schemeClr val="dk1"/>
              </a:solidFill>
              <a:latin typeface="Calibri"/>
              <a:ea typeface="Calibri"/>
              <a:cs typeface="Calibri"/>
              <a:sym typeface="Calibri"/>
            </a:endParaRPr>
          </a:p>
        </p:txBody>
      </p:sp>
      <p:sp>
        <p:nvSpPr>
          <p:cNvPr id="1085" name="Google Shape;1085;p24"/>
          <p:cNvSpPr/>
          <p:nvPr/>
        </p:nvSpPr>
        <p:spPr>
          <a:xfrm>
            <a:off x="548640" y="1481328"/>
            <a:ext cx="7406640" cy="3554730"/>
          </a:xfrm>
          <a:prstGeom prst="roundRect">
            <a:avLst>
              <a:gd fmla="val 308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4"/>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We grew. Did it stick?</a:t>
            </a:r>
            <a:endParaRPr b="0" i="0" sz="1450" u="none" cap="none" strike="noStrike">
              <a:solidFill>
                <a:schemeClr val="dk1"/>
              </a:solidFill>
              <a:latin typeface="Calibri"/>
              <a:ea typeface="Calibri"/>
              <a:cs typeface="Calibri"/>
              <a:sym typeface="Calibri"/>
            </a:endParaRPr>
          </a:p>
        </p:txBody>
      </p:sp>
      <p:sp>
        <p:nvSpPr>
          <p:cNvPr id="1087" name="Google Shape;1087;p24"/>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1089" name="Google Shape;1089;p24"/>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1090" name="Google Shape;1090;p24"/>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091" name="Google Shape;1091;p24"/>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092" name="Google Shape;1092;p24"/>
          <p:cNvSpPr txBox="1"/>
          <p:nvPr/>
        </p:nvSpPr>
        <p:spPr>
          <a:xfrm>
            <a:off x="859536" y="285292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a:t>
            </a:r>
            <a:endParaRPr b="0" i="0" sz="1100" u="none" cap="none" strike="noStrike">
              <a:solidFill>
                <a:schemeClr val="dk1"/>
              </a:solidFill>
              <a:latin typeface="Calibri"/>
              <a:ea typeface="Calibri"/>
              <a:cs typeface="Calibri"/>
              <a:sym typeface="Calibri"/>
            </a:endParaRPr>
          </a:p>
        </p:txBody>
      </p:sp>
      <p:sp>
        <p:nvSpPr>
          <p:cNvPr id="1093" name="Google Shape;1093;p24"/>
          <p:cNvSpPr txBox="1"/>
          <p:nvPr/>
        </p:nvSpPr>
        <p:spPr>
          <a:xfrm>
            <a:off x="4334256" y="285292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$600,000</a:t>
            </a:r>
            <a:endParaRPr b="0" i="0" sz="1100" u="none" cap="none" strike="noStrike">
              <a:solidFill>
                <a:schemeClr val="dk1"/>
              </a:solidFill>
              <a:latin typeface="Calibri"/>
              <a:ea typeface="Calibri"/>
              <a:cs typeface="Calibri"/>
              <a:sym typeface="Calibri"/>
            </a:endParaRPr>
          </a:p>
        </p:txBody>
      </p:sp>
      <p:sp>
        <p:nvSpPr>
          <p:cNvPr id="1094" name="Google Shape;1094;p24"/>
          <p:cNvSpPr txBox="1"/>
          <p:nvPr/>
        </p:nvSpPr>
        <p:spPr>
          <a:xfrm>
            <a:off x="859536" y="314553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Total revenue, last September</a:t>
            </a:r>
            <a:endParaRPr b="0" i="0" sz="1100" u="none" cap="none" strike="noStrike">
              <a:solidFill>
                <a:schemeClr val="dk1"/>
              </a:solidFill>
              <a:latin typeface="Calibri"/>
              <a:ea typeface="Calibri"/>
              <a:cs typeface="Calibri"/>
              <a:sym typeface="Calibri"/>
            </a:endParaRPr>
          </a:p>
        </p:txBody>
      </p:sp>
      <p:sp>
        <p:nvSpPr>
          <p:cNvPr id="1095" name="Google Shape;1095;p24"/>
          <p:cNvSpPr txBox="1"/>
          <p:nvPr/>
        </p:nvSpPr>
        <p:spPr>
          <a:xfrm>
            <a:off x="4334256" y="314553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$500,000</a:t>
            </a:r>
            <a:endParaRPr b="0" i="0" sz="1100" u="none" cap="none" strike="noStrike">
              <a:solidFill>
                <a:schemeClr val="dk1"/>
              </a:solidFill>
              <a:latin typeface="Calibri"/>
              <a:ea typeface="Calibri"/>
              <a:cs typeface="Calibri"/>
              <a:sym typeface="Calibri"/>
            </a:endParaRPr>
          </a:p>
        </p:txBody>
      </p:sp>
      <p:sp>
        <p:nvSpPr>
          <p:cNvPr id="1096" name="Google Shape;1096;p24"/>
          <p:cNvSpPr txBox="1"/>
          <p:nvPr/>
        </p:nvSpPr>
        <p:spPr>
          <a:xfrm>
            <a:off x="859536" y="343814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a:t>
            </a:r>
            <a:endParaRPr b="0" i="0" sz="1100" u="none" cap="none" strike="noStrike">
              <a:solidFill>
                <a:schemeClr val="dk1"/>
              </a:solidFill>
              <a:latin typeface="Calibri"/>
              <a:ea typeface="Calibri"/>
              <a:cs typeface="Calibri"/>
              <a:sym typeface="Calibri"/>
            </a:endParaRPr>
          </a:p>
        </p:txBody>
      </p:sp>
      <p:sp>
        <p:nvSpPr>
          <p:cNvPr id="1097" name="Google Shape;1097;p24"/>
          <p:cNvSpPr txBox="1"/>
          <p:nvPr/>
        </p:nvSpPr>
        <p:spPr>
          <a:xfrm>
            <a:off x="4334256" y="343814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$175,000</a:t>
            </a:r>
            <a:endParaRPr b="0" i="0" sz="1100" u="none" cap="none" strike="noStrike">
              <a:solidFill>
                <a:schemeClr val="dk1"/>
              </a:solidFill>
              <a:latin typeface="Calibri"/>
              <a:ea typeface="Calibri"/>
              <a:cs typeface="Calibri"/>
              <a:sym typeface="Calibri"/>
            </a:endParaRPr>
          </a:p>
        </p:txBody>
      </p:sp>
      <p:sp>
        <p:nvSpPr>
          <p:cNvPr id="1098" name="Google Shape;1098;p24"/>
          <p:cNvSpPr txBox="1"/>
          <p:nvPr/>
        </p:nvSpPr>
        <p:spPr>
          <a:xfrm>
            <a:off x="859536" y="3730752"/>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 last September</a:t>
            </a:r>
            <a:endParaRPr b="0" i="0" sz="1100" u="none" cap="none" strike="noStrike">
              <a:solidFill>
                <a:schemeClr val="dk1"/>
              </a:solidFill>
              <a:latin typeface="Calibri"/>
              <a:ea typeface="Calibri"/>
              <a:cs typeface="Calibri"/>
              <a:sym typeface="Calibri"/>
            </a:endParaRPr>
          </a:p>
        </p:txBody>
      </p:sp>
      <p:sp>
        <p:nvSpPr>
          <p:cNvPr id="1099" name="Google Shape;1099;p24"/>
          <p:cNvSpPr txBox="1"/>
          <p:nvPr/>
        </p:nvSpPr>
        <p:spPr>
          <a:xfrm>
            <a:off x="4334256" y="3730752"/>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$150,000</a:t>
            </a:r>
            <a:endParaRPr b="0" i="0" sz="1100" u="none" cap="none" strike="noStrike">
              <a:solidFill>
                <a:schemeClr val="dk1"/>
              </a:solidFill>
              <a:latin typeface="Calibri"/>
              <a:ea typeface="Calibri"/>
              <a:cs typeface="Calibri"/>
              <a:sym typeface="Calibri"/>
            </a:endParaRPr>
          </a:p>
        </p:txBody>
      </p:sp>
      <p:sp>
        <p:nvSpPr>
          <p:cNvPr id="1100" name="Google Shape;1100;p24"/>
          <p:cNvSpPr txBox="1"/>
          <p:nvPr/>
        </p:nvSpPr>
        <p:spPr>
          <a:xfrm>
            <a:off x="859536" y="4023360"/>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We grew revenue by $100,000. How much of that actually reached profit? What's our flow-through?</a:t>
            </a:r>
            <a:endParaRPr b="0" i="0" sz="1100" u="none" cap="none" strike="noStrike">
              <a:solidFill>
                <a:schemeClr val="dk1"/>
              </a:solidFill>
              <a:latin typeface="Calibri"/>
              <a:ea typeface="Calibri"/>
              <a:cs typeface="Calibri"/>
              <a:sym typeface="Calibri"/>
            </a:endParaRPr>
          </a:p>
        </p:txBody>
      </p:sp>
      <p:sp>
        <p:nvSpPr>
          <p:cNvPr id="1101" name="Google Shape;1101;p24"/>
          <p:cNvSpPr/>
          <p:nvPr/>
        </p:nvSpPr>
        <p:spPr>
          <a:xfrm>
            <a:off x="548640" y="5218938"/>
            <a:ext cx="7406640" cy="1090422"/>
          </a:xfrm>
          <a:prstGeom prst="roundRect">
            <a:avLst>
              <a:gd fmla="val 10063"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txBox="1"/>
          <p:nvPr/>
        </p:nvSpPr>
        <p:spPr>
          <a:xfrm>
            <a:off x="859536" y="5401818"/>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103" name="Google Shape;1103;p24"/>
          <p:cNvSpPr txBox="1"/>
          <p:nvPr/>
        </p:nvSpPr>
        <p:spPr>
          <a:xfrm>
            <a:off x="859536" y="5657850"/>
            <a:ext cx="6784848" cy="4686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Only the </a:t>
            </a:r>
            <a:r>
              <a:rPr b="1" i="0" lang="en-US" sz="1100" u="none" cap="none" strike="noStrike">
                <a:solidFill>
                  <a:srgbClr val="404040"/>
                </a:solidFill>
                <a:latin typeface="Inter"/>
                <a:ea typeface="Inter"/>
                <a:cs typeface="Inter"/>
                <a:sym typeface="Inter"/>
              </a:rPr>
              <a:t>change</a:t>
            </a:r>
            <a:r>
              <a:rPr b="0" i="0" lang="en-US" sz="1100" u="none" cap="none" strike="noStrike">
                <a:solidFill>
                  <a:srgbClr val="404040"/>
                </a:solidFill>
                <a:latin typeface="Inter"/>
                <a:ea typeface="Inter"/>
                <a:cs typeface="Inter"/>
                <a:sym typeface="Inter"/>
              </a:rPr>
              <a:t> counts: $25,000 more GOP on $100,000 more revenue = </a:t>
            </a:r>
            <a:r>
              <a:rPr b="1" i="0" lang="en-US" sz="1100" u="none" cap="none" strike="noStrike">
                <a:solidFill>
                  <a:srgbClr val="404040"/>
                </a:solidFill>
                <a:latin typeface="Inter"/>
                <a:ea typeface="Inter"/>
                <a:cs typeface="Inter"/>
                <a:sym typeface="Inter"/>
              </a:rPr>
              <a:t>25%</a:t>
            </a:r>
            <a:r>
              <a:rPr b="0" i="0" lang="en-US" sz="1100" u="none" cap="none" strike="noStrike">
                <a:solidFill>
                  <a:srgbClr val="404040"/>
                </a:solidFill>
                <a:latin typeface="Inter"/>
                <a:ea typeface="Inter"/>
                <a:cs typeface="Inter"/>
                <a:sym typeface="Inter"/>
              </a:rPr>
              <a:t>. 29% is the month's margin; 75% is what did not reach profit; 400% is upside down.</a:t>
            </a:r>
            <a:endParaRPr b="0" i="0" sz="1100" u="none" cap="none" strike="noStrike">
              <a:solidFill>
                <a:schemeClr val="dk1"/>
              </a:solidFill>
              <a:latin typeface="Calibri"/>
              <a:ea typeface="Calibri"/>
              <a:cs typeface="Calibri"/>
              <a:sym typeface="Calibri"/>
            </a:endParaRPr>
          </a:p>
        </p:txBody>
      </p:sp>
      <p:sp>
        <p:nvSpPr>
          <p:cNvPr id="1104" name="Google Shape;1104;p24"/>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1106" name="Google Shape;1106;p24"/>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107" name="Google Shape;1107;p24"/>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108" name="Google Shape;1108;p24"/>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109" name="Google Shape;1109;p24"/>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110" name="Google Shape;1110;p24"/>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1111" name="Google Shape;1111;p24"/>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25%</a:t>
            </a:r>
            <a:endParaRPr b="0" i="0" sz="1250" u="none" cap="none" strike="noStrike">
              <a:solidFill>
                <a:schemeClr val="dk1"/>
              </a:solidFill>
              <a:latin typeface="Calibri"/>
              <a:ea typeface="Calibri"/>
              <a:cs typeface="Calibri"/>
              <a:sym typeface="Calibri"/>
            </a:endParaRPr>
          </a:p>
        </p:txBody>
      </p:sp>
      <p:sp>
        <p:nvSpPr>
          <p:cNvPr id="1112" name="Google Shape;1112;p24"/>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4"/>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4"/>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115" name="Google Shape;1115;p24"/>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29%</a:t>
            </a:r>
            <a:endParaRPr b="0" i="0" sz="1250" u="none" cap="none" strike="noStrike">
              <a:solidFill>
                <a:schemeClr val="dk1"/>
              </a:solidFill>
              <a:latin typeface="Calibri"/>
              <a:ea typeface="Calibri"/>
              <a:cs typeface="Calibri"/>
              <a:sym typeface="Calibri"/>
            </a:endParaRPr>
          </a:p>
        </p:txBody>
      </p:sp>
      <p:sp>
        <p:nvSpPr>
          <p:cNvPr id="1116" name="Google Shape;1116;p24"/>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4"/>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4"/>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119" name="Google Shape;1119;p24"/>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75%</a:t>
            </a:r>
            <a:endParaRPr b="0" i="0" sz="1250" u="none" cap="none" strike="noStrike">
              <a:solidFill>
                <a:schemeClr val="dk1"/>
              </a:solidFill>
              <a:latin typeface="Calibri"/>
              <a:ea typeface="Calibri"/>
              <a:cs typeface="Calibri"/>
              <a:sym typeface="Calibri"/>
            </a:endParaRPr>
          </a:p>
        </p:txBody>
      </p:sp>
      <p:sp>
        <p:nvSpPr>
          <p:cNvPr id="1120" name="Google Shape;1120;p24"/>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4"/>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4"/>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123" name="Google Shape;1123;p24"/>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400%</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28" name="Shape 1128"/>
        <p:cNvGrpSpPr/>
        <p:nvPr/>
      </p:nvGrpSpPr>
      <p:grpSpPr>
        <a:xfrm>
          <a:off x="0" y="0"/>
          <a:ext cx="0" cy="0"/>
          <a:chOff x="0" y="0"/>
          <a:chExt cx="0" cy="0"/>
        </a:xfrm>
      </p:grpSpPr>
      <p:sp>
        <p:nvSpPr>
          <p:cNvPr id="1129" name="Google Shape;1129;p2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5 OF 5</a:t>
            </a:r>
            <a:endParaRPr b="0" i="0" sz="1050" u="none" cap="none" strike="noStrike">
              <a:solidFill>
                <a:schemeClr val="dk1"/>
              </a:solidFill>
              <a:latin typeface="Calibri"/>
              <a:ea typeface="Calibri"/>
              <a:cs typeface="Calibri"/>
              <a:sym typeface="Calibri"/>
            </a:endParaRPr>
          </a:p>
        </p:txBody>
      </p:sp>
      <p:sp>
        <p:nvSpPr>
          <p:cNvPr id="1130" name="Google Shape;1130;p2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NOI do I tell the buyer?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131" name="Google Shape;1131;p2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132" name="Google Shape;1132;p2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23 / 65</a:t>
            </a:r>
            <a:endParaRPr b="0" i="0" sz="900" u="none" cap="none" strike="noStrike">
              <a:solidFill>
                <a:schemeClr val="dk1"/>
              </a:solidFill>
              <a:latin typeface="Calibri"/>
              <a:ea typeface="Calibri"/>
              <a:cs typeface="Calibri"/>
              <a:sym typeface="Calibri"/>
            </a:endParaRPr>
          </a:p>
        </p:txBody>
      </p:sp>
      <p:sp>
        <p:nvSpPr>
          <p:cNvPr id="1133" name="Google Shape;1133;p25"/>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5"/>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A buyer asked</a:t>
            </a:r>
            <a:endParaRPr b="0" i="0" sz="1450" u="none" cap="none" strike="noStrike">
              <a:solidFill>
                <a:schemeClr val="dk1"/>
              </a:solidFill>
              <a:latin typeface="Calibri"/>
              <a:ea typeface="Calibri"/>
              <a:cs typeface="Calibri"/>
              <a:sym typeface="Calibri"/>
            </a:endParaRPr>
          </a:p>
        </p:txBody>
      </p:sp>
      <p:sp>
        <p:nvSpPr>
          <p:cNvPr id="1135" name="Google Shape;1135;p25"/>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5"/>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1137" name="Google Shape;1137;p25"/>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1138" name="Google Shape;1138;p25"/>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139" name="Google Shape;1139;p25"/>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140" name="Google Shape;1140;p25"/>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Someone interested in buying the lodge asked for our NOI. For September:</a:t>
            </a:r>
            <a:endParaRPr b="0" i="0" sz="1100" u="none" cap="none" strike="noStrike">
              <a:solidFill>
                <a:schemeClr val="dk1"/>
              </a:solidFill>
              <a:latin typeface="Calibri"/>
              <a:ea typeface="Calibri"/>
              <a:cs typeface="Calibri"/>
              <a:sym typeface="Calibri"/>
            </a:endParaRPr>
          </a:p>
        </p:txBody>
      </p:sp>
      <p:sp>
        <p:nvSpPr>
          <p:cNvPr id="1141" name="Google Shape;1141;p25"/>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a:t>
            </a:r>
            <a:endParaRPr b="0" i="0" sz="1100" u="none" cap="none" strike="noStrike">
              <a:solidFill>
                <a:schemeClr val="dk1"/>
              </a:solidFill>
              <a:latin typeface="Calibri"/>
              <a:ea typeface="Calibri"/>
              <a:cs typeface="Calibri"/>
              <a:sym typeface="Calibri"/>
            </a:endParaRPr>
          </a:p>
        </p:txBody>
      </p:sp>
      <p:sp>
        <p:nvSpPr>
          <p:cNvPr id="1142" name="Google Shape;1142;p25"/>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$175,000</a:t>
            </a:r>
            <a:endParaRPr b="0" i="0" sz="1100" u="none" cap="none" strike="noStrike">
              <a:solidFill>
                <a:schemeClr val="dk1"/>
              </a:solidFill>
              <a:latin typeface="Calibri"/>
              <a:ea typeface="Calibri"/>
              <a:cs typeface="Calibri"/>
              <a:sym typeface="Calibri"/>
            </a:endParaRPr>
          </a:p>
        </p:txBody>
      </p:sp>
      <p:sp>
        <p:nvSpPr>
          <p:cNvPr id="1143" name="Google Shape;1143;p25"/>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Management company fee</a:t>
            </a:r>
            <a:endParaRPr b="0" i="0" sz="1100" u="none" cap="none" strike="noStrike">
              <a:solidFill>
                <a:schemeClr val="dk1"/>
              </a:solidFill>
              <a:latin typeface="Calibri"/>
              <a:ea typeface="Calibri"/>
              <a:cs typeface="Calibri"/>
              <a:sym typeface="Calibri"/>
            </a:endParaRPr>
          </a:p>
        </p:txBody>
      </p:sp>
      <p:sp>
        <p:nvSpPr>
          <p:cNvPr id="1144" name="Google Shape;1144;p25"/>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$25,000</a:t>
            </a:r>
            <a:endParaRPr b="0" i="0" sz="1100" u="none" cap="none" strike="noStrike">
              <a:solidFill>
                <a:schemeClr val="dk1"/>
              </a:solidFill>
              <a:latin typeface="Calibri"/>
              <a:ea typeface="Calibri"/>
              <a:cs typeface="Calibri"/>
              <a:sym typeface="Calibri"/>
            </a:endParaRPr>
          </a:p>
        </p:txBody>
      </p:sp>
      <p:sp>
        <p:nvSpPr>
          <p:cNvPr id="1145" name="Google Shape;1145;p25"/>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Property tax and insurance</a:t>
            </a:r>
            <a:endParaRPr b="0" i="0" sz="1100" u="none" cap="none" strike="noStrike">
              <a:solidFill>
                <a:schemeClr val="dk1"/>
              </a:solidFill>
              <a:latin typeface="Calibri"/>
              <a:ea typeface="Calibri"/>
              <a:cs typeface="Calibri"/>
              <a:sym typeface="Calibri"/>
            </a:endParaRPr>
          </a:p>
        </p:txBody>
      </p:sp>
      <p:sp>
        <p:nvSpPr>
          <p:cNvPr id="1146" name="Google Shape;1146;p25"/>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$30,000</a:t>
            </a:r>
            <a:endParaRPr b="0" i="0" sz="1100" u="none" cap="none" strike="noStrike">
              <a:solidFill>
                <a:schemeClr val="dk1"/>
              </a:solidFill>
              <a:latin typeface="Calibri"/>
              <a:ea typeface="Calibri"/>
              <a:cs typeface="Calibri"/>
              <a:sym typeface="Calibri"/>
            </a:endParaRPr>
          </a:p>
        </p:txBody>
      </p:sp>
      <p:sp>
        <p:nvSpPr>
          <p:cNvPr id="1147" name="Google Shape;1147;p25"/>
          <p:cNvSpPr txBox="1"/>
          <p:nvPr/>
        </p:nvSpPr>
        <p:spPr>
          <a:xfrm>
            <a:off x="859536" y="4063492"/>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What do I tell them?</a:t>
            </a:r>
            <a:endParaRPr b="0" i="0" sz="1100" u="none" cap="none" strike="noStrike">
              <a:solidFill>
                <a:schemeClr val="dk1"/>
              </a:solidFill>
              <a:latin typeface="Calibri"/>
              <a:ea typeface="Calibri"/>
              <a:cs typeface="Calibri"/>
              <a:sym typeface="Calibri"/>
            </a:endParaRPr>
          </a:p>
        </p:txBody>
      </p:sp>
      <p:sp>
        <p:nvSpPr>
          <p:cNvPr id="1148" name="Google Shape;1148;p25"/>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5"/>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1150" name="Google Shape;1150;p25"/>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151" name="Google Shape;1151;p25"/>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5 OF 5</a:t>
            </a:r>
            <a:endParaRPr b="0" i="0" sz="950" u="none" cap="none" strike="noStrike">
              <a:solidFill>
                <a:schemeClr val="dk1"/>
              </a:solidFill>
              <a:latin typeface="Calibri"/>
              <a:ea typeface="Calibri"/>
              <a:cs typeface="Calibri"/>
              <a:sym typeface="Calibri"/>
            </a:endParaRPr>
          </a:p>
        </p:txBody>
      </p:sp>
      <p:sp>
        <p:nvSpPr>
          <p:cNvPr id="1152" name="Google Shape;1152;p25"/>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153" name="Google Shape;1153;p25"/>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5"/>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5"/>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1156" name="Google Shape;1156;p25"/>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$120,000</a:t>
            </a:r>
            <a:endParaRPr b="0" i="0" sz="1250" u="none" cap="none" strike="noStrike">
              <a:solidFill>
                <a:schemeClr val="dk1"/>
              </a:solidFill>
              <a:latin typeface="Calibri"/>
              <a:ea typeface="Calibri"/>
              <a:cs typeface="Calibri"/>
              <a:sym typeface="Calibri"/>
            </a:endParaRPr>
          </a:p>
        </p:txBody>
      </p:sp>
      <p:sp>
        <p:nvSpPr>
          <p:cNvPr id="1157" name="Google Shape;1157;p25"/>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5"/>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5"/>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160" name="Google Shape;1160;p25"/>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$145,000</a:t>
            </a:r>
            <a:endParaRPr b="0" i="0" sz="1250" u="none" cap="none" strike="noStrike">
              <a:solidFill>
                <a:schemeClr val="dk1"/>
              </a:solidFill>
              <a:latin typeface="Calibri"/>
              <a:ea typeface="Calibri"/>
              <a:cs typeface="Calibri"/>
              <a:sym typeface="Calibri"/>
            </a:endParaRPr>
          </a:p>
        </p:txBody>
      </p:sp>
      <p:sp>
        <p:nvSpPr>
          <p:cNvPr id="1161" name="Google Shape;1161;p25"/>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5"/>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5"/>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164" name="Google Shape;1164;p25"/>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$150,000</a:t>
            </a:r>
            <a:endParaRPr b="0" i="0" sz="1250" u="none" cap="none" strike="noStrike">
              <a:solidFill>
                <a:schemeClr val="dk1"/>
              </a:solidFill>
              <a:latin typeface="Calibri"/>
              <a:ea typeface="Calibri"/>
              <a:cs typeface="Calibri"/>
              <a:sym typeface="Calibri"/>
            </a:endParaRPr>
          </a:p>
        </p:txBody>
      </p:sp>
      <p:sp>
        <p:nvSpPr>
          <p:cNvPr id="1165" name="Google Shape;1165;p25"/>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5"/>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5"/>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168" name="Google Shape;1168;p25"/>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$230,000</a:t>
            </a:r>
            <a:endParaRPr b="0" i="0" sz="1250" u="none" cap="none" strike="noStrike">
              <a:solidFill>
                <a:schemeClr val="dk1"/>
              </a:solidFill>
              <a:latin typeface="Calibri"/>
              <a:ea typeface="Calibri"/>
              <a:cs typeface="Calibri"/>
              <a:sym typeface="Calibri"/>
            </a:endParaRPr>
          </a:p>
        </p:txBody>
      </p:sp>
      <p:sp>
        <p:nvSpPr>
          <p:cNvPr id="1169" name="Google Shape;1169;p25"/>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74" name="Shape 1174"/>
        <p:cNvGrpSpPr/>
        <p:nvPr/>
      </p:nvGrpSpPr>
      <p:grpSpPr>
        <a:xfrm>
          <a:off x="0" y="0"/>
          <a:ext cx="0" cy="0"/>
          <a:chOff x="0" y="0"/>
          <a:chExt cx="0" cy="0"/>
        </a:xfrm>
      </p:grpSpPr>
      <p:sp>
        <p:nvSpPr>
          <p:cNvPr id="1175" name="Google Shape;1175;p2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RUN THE NUMBERS · 5 OF 5</a:t>
            </a:r>
            <a:endParaRPr b="0" i="0" sz="1050" u="none" cap="none" strike="noStrike">
              <a:solidFill>
                <a:schemeClr val="dk1"/>
              </a:solidFill>
              <a:latin typeface="Calibri"/>
              <a:ea typeface="Calibri"/>
              <a:cs typeface="Calibri"/>
              <a:sym typeface="Calibri"/>
            </a:endParaRPr>
          </a:p>
        </p:txBody>
      </p:sp>
      <p:sp>
        <p:nvSpPr>
          <p:cNvPr id="1176" name="Google Shape;1176;p2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NOI do I tell the buyer?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177" name="Google Shape;1177;p2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178" name="Google Shape;1178;p2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24 / 65</a:t>
            </a:r>
            <a:endParaRPr b="0" i="0" sz="900" u="none" cap="none" strike="noStrike">
              <a:solidFill>
                <a:schemeClr val="dk1"/>
              </a:solidFill>
              <a:latin typeface="Calibri"/>
              <a:ea typeface="Calibri"/>
              <a:cs typeface="Calibri"/>
              <a:sym typeface="Calibri"/>
            </a:endParaRPr>
          </a:p>
        </p:txBody>
      </p:sp>
      <p:sp>
        <p:nvSpPr>
          <p:cNvPr id="1179" name="Google Shape;1179;p26"/>
          <p:cNvSpPr/>
          <p:nvPr/>
        </p:nvSpPr>
        <p:spPr>
          <a:xfrm>
            <a:off x="548640" y="1481328"/>
            <a:ext cx="7406640" cy="3366135"/>
          </a:xfrm>
          <a:prstGeom prst="roundRect">
            <a:avLst>
              <a:gd fmla="val 326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6"/>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A buyer asked</a:t>
            </a:r>
            <a:endParaRPr b="0" i="0" sz="1450" u="none" cap="none" strike="noStrike">
              <a:solidFill>
                <a:schemeClr val="dk1"/>
              </a:solidFill>
              <a:latin typeface="Calibri"/>
              <a:ea typeface="Calibri"/>
              <a:cs typeface="Calibri"/>
              <a:sym typeface="Calibri"/>
            </a:endParaRPr>
          </a:p>
        </p:txBody>
      </p:sp>
      <p:sp>
        <p:nvSpPr>
          <p:cNvPr id="1181" name="Google Shape;1181;p26"/>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6"/>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1183" name="Google Shape;1183;p26"/>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1184" name="Google Shape;1184;p26"/>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185" name="Google Shape;1185;p26"/>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186" name="Google Shape;1186;p26"/>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Someone interested in buying the lodge asked for our NOI. For September:</a:t>
            </a:r>
            <a:endParaRPr b="0" i="0" sz="1100" u="none" cap="none" strike="noStrike">
              <a:solidFill>
                <a:schemeClr val="dk1"/>
              </a:solidFill>
              <a:latin typeface="Calibri"/>
              <a:ea typeface="Calibri"/>
              <a:cs typeface="Calibri"/>
              <a:sym typeface="Calibri"/>
            </a:endParaRPr>
          </a:p>
        </p:txBody>
      </p:sp>
      <p:sp>
        <p:nvSpPr>
          <p:cNvPr id="1187" name="Google Shape;1187;p26"/>
          <p:cNvSpPr txBox="1"/>
          <p:nvPr/>
        </p:nvSpPr>
        <p:spPr>
          <a:xfrm>
            <a:off x="859536" y="3185668"/>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a:t>
            </a:r>
            <a:endParaRPr b="0" i="0" sz="1100" u="none" cap="none" strike="noStrike">
              <a:solidFill>
                <a:schemeClr val="dk1"/>
              </a:solidFill>
              <a:latin typeface="Calibri"/>
              <a:ea typeface="Calibri"/>
              <a:cs typeface="Calibri"/>
              <a:sym typeface="Calibri"/>
            </a:endParaRPr>
          </a:p>
        </p:txBody>
      </p:sp>
      <p:sp>
        <p:nvSpPr>
          <p:cNvPr id="1188" name="Google Shape;1188;p26"/>
          <p:cNvSpPr txBox="1"/>
          <p:nvPr/>
        </p:nvSpPr>
        <p:spPr>
          <a:xfrm>
            <a:off x="4334256" y="3185668"/>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$175,000</a:t>
            </a:r>
            <a:endParaRPr b="0" i="0" sz="1100" u="none" cap="none" strike="noStrike">
              <a:solidFill>
                <a:schemeClr val="dk1"/>
              </a:solidFill>
              <a:latin typeface="Calibri"/>
              <a:ea typeface="Calibri"/>
              <a:cs typeface="Calibri"/>
              <a:sym typeface="Calibri"/>
            </a:endParaRPr>
          </a:p>
        </p:txBody>
      </p:sp>
      <p:sp>
        <p:nvSpPr>
          <p:cNvPr id="1189" name="Google Shape;1189;p26"/>
          <p:cNvSpPr txBox="1"/>
          <p:nvPr/>
        </p:nvSpPr>
        <p:spPr>
          <a:xfrm>
            <a:off x="859536" y="3478276"/>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Management company fee</a:t>
            </a:r>
            <a:endParaRPr b="0" i="0" sz="1100" u="none" cap="none" strike="noStrike">
              <a:solidFill>
                <a:schemeClr val="dk1"/>
              </a:solidFill>
              <a:latin typeface="Calibri"/>
              <a:ea typeface="Calibri"/>
              <a:cs typeface="Calibri"/>
              <a:sym typeface="Calibri"/>
            </a:endParaRPr>
          </a:p>
        </p:txBody>
      </p:sp>
      <p:sp>
        <p:nvSpPr>
          <p:cNvPr id="1190" name="Google Shape;1190;p26"/>
          <p:cNvSpPr txBox="1"/>
          <p:nvPr/>
        </p:nvSpPr>
        <p:spPr>
          <a:xfrm>
            <a:off x="4334256" y="3478276"/>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$25,000</a:t>
            </a:r>
            <a:endParaRPr b="0" i="0" sz="1100" u="none" cap="none" strike="noStrike">
              <a:solidFill>
                <a:schemeClr val="dk1"/>
              </a:solidFill>
              <a:latin typeface="Calibri"/>
              <a:ea typeface="Calibri"/>
              <a:cs typeface="Calibri"/>
              <a:sym typeface="Calibri"/>
            </a:endParaRPr>
          </a:p>
        </p:txBody>
      </p:sp>
      <p:sp>
        <p:nvSpPr>
          <p:cNvPr id="1191" name="Google Shape;1191;p26"/>
          <p:cNvSpPr txBox="1"/>
          <p:nvPr/>
        </p:nvSpPr>
        <p:spPr>
          <a:xfrm>
            <a:off x="859536" y="3770884"/>
            <a:ext cx="3291840"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Property tax and insurance</a:t>
            </a:r>
            <a:endParaRPr b="0" i="0" sz="1100" u="none" cap="none" strike="noStrike">
              <a:solidFill>
                <a:schemeClr val="dk1"/>
              </a:solidFill>
              <a:latin typeface="Calibri"/>
              <a:ea typeface="Calibri"/>
              <a:cs typeface="Calibri"/>
              <a:sym typeface="Calibri"/>
            </a:endParaRPr>
          </a:p>
        </p:txBody>
      </p:sp>
      <p:sp>
        <p:nvSpPr>
          <p:cNvPr id="1192" name="Google Shape;1192;p26"/>
          <p:cNvSpPr txBox="1"/>
          <p:nvPr/>
        </p:nvSpPr>
        <p:spPr>
          <a:xfrm>
            <a:off x="4334256" y="3770884"/>
            <a:ext cx="3310128" cy="256032"/>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$30,000</a:t>
            </a:r>
            <a:endParaRPr b="0" i="0" sz="1100" u="none" cap="none" strike="noStrike">
              <a:solidFill>
                <a:schemeClr val="dk1"/>
              </a:solidFill>
              <a:latin typeface="Calibri"/>
              <a:ea typeface="Calibri"/>
              <a:cs typeface="Calibri"/>
              <a:sym typeface="Calibri"/>
            </a:endParaRPr>
          </a:p>
        </p:txBody>
      </p:sp>
      <p:sp>
        <p:nvSpPr>
          <p:cNvPr id="1193" name="Google Shape;1193;p26"/>
          <p:cNvSpPr txBox="1"/>
          <p:nvPr/>
        </p:nvSpPr>
        <p:spPr>
          <a:xfrm>
            <a:off x="859536" y="4063492"/>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What do I tell them?</a:t>
            </a:r>
            <a:endParaRPr b="0" i="0" sz="1100" u="none" cap="none" strike="noStrike">
              <a:solidFill>
                <a:schemeClr val="dk1"/>
              </a:solidFill>
              <a:latin typeface="Calibri"/>
              <a:ea typeface="Calibri"/>
              <a:cs typeface="Calibri"/>
              <a:sym typeface="Calibri"/>
            </a:endParaRPr>
          </a:p>
        </p:txBody>
      </p:sp>
      <p:sp>
        <p:nvSpPr>
          <p:cNvPr id="1194" name="Google Shape;1194;p26"/>
          <p:cNvSpPr/>
          <p:nvPr/>
        </p:nvSpPr>
        <p:spPr>
          <a:xfrm>
            <a:off x="548640" y="5030343"/>
            <a:ext cx="7406640" cy="1279017"/>
          </a:xfrm>
          <a:prstGeom prst="roundRect">
            <a:avLst>
              <a:gd fmla="val 8579"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txBox="1"/>
          <p:nvPr/>
        </p:nvSpPr>
        <p:spPr>
          <a:xfrm>
            <a:off x="859536" y="5213223"/>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196" name="Google Shape;1196;p26"/>
          <p:cNvSpPr txBox="1"/>
          <p:nvPr/>
        </p:nvSpPr>
        <p:spPr>
          <a:xfrm>
            <a:off x="859536" y="5469255"/>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GOP less management fees and fixed charges, so </a:t>
            </a:r>
            <a:r>
              <a:rPr b="1" i="0" lang="en-US" sz="1100" u="none" cap="none" strike="noStrike">
                <a:solidFill>
                  <a:srgbClr val="404040"/>
                </a:solidFill>
                <a:latin typeface="Inter"/>
                <a:ea typeface="Inter"/>
                <a:cs typeface="Inter"/>
                <a:sym typeface="Inter"/>
              </a:rPr>
              <a:t>both</a:t>
            </a:r>
            <a:r>
              <a:rPr b="0" i="0" lang="en-US" sz="1100" u="none" cap="none" strike="noStrike">
                <a:solidFill>
                  <a:srgbClr val="404040"/>
                </a:solidFill>
                <a:latin typeface="Inter"/>
                <a:ea typeface="Inter"/>
                <a:cs typeface="Inter"/>
                <a:sym typeface="Inter"/>
              </a:rPr>
              <a:t> come off: $175,000 − $25,000 − $30,000 = </a:t>
            </a:r>
            <a:r>
              <a:rPr b="1" i="0" lang="en-US" sz="1100" u="none" cap="none" strike="noStrike">
                <a:solidFill>
                  <a:srgbClr val="404040"/>
                </a:solidFill>
                <a:latin typeface="Inter"/>
                <a:ea typeface="Inter"/>
                <a:cs typeface="Inter"/>
                <a:sym typeface="Inter"/>
              </a:rPr>
              <a:t>$120,000</a:t>
            </a:r>
            <a:r>
              <a:rPr b="0" i="0" lang="en-US" sz="1100" u="none" cap="none" strike="noStrike">
                <a:solidFill>
                  <a:srgbClr val="404040"/>
                </a:solidFill>
                <a:latin typeface="Inter"/>
                <a:ea typeface="Inter"/>
                <a:cs typeface="Inter"/>
                <a:sym typeface="Inter"/>
              </a:rPr>
              <a:t>. $145,000 left the fee in; $150,000 left tax in; $230,000 added instead. This buyer comes back in session 2.</a:t>
            </a:r>
            <a:endParaRPr b="0" i="0" sz="1100" u="none" cap="none" strike="noStrike">
              <a:solidFill>
                <a:schemeClr val="dk1"/>
              </a:solidFill>
              <a:latin typeface="Calibri"/>
              <a:ea typeface="Calibri"/>
              <a:cs typeface="Calibri"/>
              <a:sym typeface="Calibri"/>
            </a:endParaRPr>
          </a:p>
        </p:txBody>
      </p:sp>
      <p:sp>
        <p:nvSpPr>
          <p:cNvPr id="1197" name="Google Shape;1197;p26"/>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6"/>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1199" name="Google Shape;1199;p26"/>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200" name="Google Shape;1200;p26"/>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201" name="Google Shape;1201;p26"/>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202" name="Google Shape;1202;p26"/>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203" name="Google Shape;1203;p26"/>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1204" name="Google Shape;1204;p26"/>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$120,000</a:t>
            </a:r>
            <a:endParaRPr b="0" i="0" sz="1250" u="none" cap="none" strike="noStrike">
              <a:solidFill>
                <a:schemeClr val="dk1"/>
              </a:solidFill>
              <a:latin typeface="Calibri"/>
              <a:ea typeface="Calibri"/>
              <a:cs typeface="Calibri"/>
              <a:sym typeface="Calibri"/>
            </a:endParaRPr>
          </a:p>
        </p:txBody>
      </p:sp>
      <p:sp>
        <p:nvSpPr>
          <p:cNvPr id="1205" name="Google Shape;1205;p26"/>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6"/>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1208" name="Google Shape;1208;p26"/>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$145,000</a:t>
            </a:r>
            <a:endParaRPr b="0" i="0" sz="1250" u="none" cap="none" strike="noStrike">
              <a:solidFill>
                <a:schemeClr val="dk1"/>
              </a:solidFill>
              <a:latin typeface="Calibri"/>
              <a:ea typeface="Calibri"/>
              <a:cs typeface="Calibri"/>
              <a:sym typeface="Calibri"/>
            </a:endParaRPr>
          </a:p>
        </p:txBody>
      </p:sp>
      <p:sp>
        <p:nvSpPr>
          <p:cNvPr id="1209" name="Google Shape;1209;p26"/>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6"/>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6"/>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1212" name="Google Shape;1212;p26"/>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$150,000</a:t>
            </a:r>
            <a:endParaRPr b="0" i="0" sz="1250" u="none" cap="none" strike="noStrike">
              <a:solidFill>
                <a:schemeClr val="dk1"/>
              </a:solidFill>
              <a:latin typeface="Calibri"/>
              <a:ea typeface="Calibri"/>
              <a:cs typeface="Calibri"/>
              <a:sym typeface="Calibri"/>
            </a:endParaRPr>
          </a:p>
        </p:txBody>
      </p:sp>
      <p:sp>
        <p:nvSpPr>
          <p:cNvPr id="1213" name="Google Shape;1213;p26"/>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6"/>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6"/>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1216" name="Google Shape;1216;p26"/>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$230,000</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21" name="Shape 1221"/>
        <p:cNvGrpSpPr/>
        <p:nvPr/>
      </p:nvGrpSpPr>
      <p:grpSpPr>
        <a:xfrm>
          <a:off x="0" y="0"/>
          <a:ext cx="0" cy="0"/>
          <a:chOff x="0" y="0"/>
          <a:chExt cx="0" cy="0"/>
        </a:xfrm>
      </p:grpSpPr>
      <p:sp>
        <p:nvSpPr>
          <p:cNvPr id="1222" name="Google Shape;1222;p2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sp>
        <p:nvSpPr>
          <p:cNvPr id="1223" name="Google Shape;1223;p2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Block 2: setting the price</a:t>
            </a:r>
            <a:endParaRPr b="0" i="0" sz="3000" u="none" cap="none" strike="noStrike">
              <a:solidFill>
                <a:schemeClr val="dk1"/>
              </a:solidFill>
              <a:latin typeface="Calibri"/>
              <a:ea typeface="Calibri"/>
              <a:cs typeface="Calibri"/>
              <a:sym typeface="Calibri"/>
            </a:endParaRPr>
          </a:p>
        </p:txBody>
      </p:sp>
      <p:sp>
        <p:nvSpPr>
          <p:cNvPr id="1224" name="Google Shape;1224;p27"/>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Six terms about who sets the rate, and what an owner leaves out when they tell you about it.</a:t>
            </a:r>
            <a:endParaRPr b="0" i="0" sz="1400" u="none" cap="none" strike="noStrike">
              <a:solidFill>
                <a:schemeClr val="dk1"/>
              </a:solidFill>
              <a:latin typeface="Calibri"/>
              <a:ea typeface="Calibri"/>
              <a:cs typeface="Calibri"/>
              <a:sym typeface="Calibri"/>
            </a:endParaRPr>
          </a:p>
        </p:txBody>
      </p:sp>
      <p:pic>
        <p:nvPicPr>
          <p:cNvPr descr="/home/claude/work/renderer/brand/wordmark.png" id="1225" name="Google Shape;1225;p2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226" name="Google Shape;1226;p2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25 / 65</a:t>
            </a:r>
            <a:endParaRPr b="0" i="0" sz="900" u="none" cap="none" strike="noStrike">
              <a:solidFill>
                <a:schemeClr val="dk1"/>
              </a:solidFill>
              <a:latin typeface="Calibri"/>
              <a:ea typeface="Calibri"/>
              <a:cs typeface="Calibri"/>
              <a:sym typeface="Calibri"/>
            </a:endParaRPr>
          </a:p>
        </p:txBody>
      </p:sp>
      <p:sp>
        <p:nvSpPr>
          <p:cNvPr id="1227" name="Google Shape;1227;p27"/>
          <p:cNvSpPr/>
          <p:nvPr/>
        </p:nvSpPr>
        <p:spPr>
          <a:xfrm>
            <a:off x="548640"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txBox="1"/>
          <p:nvPr/>
        </p:nvSpPr>
        <p:spPr>
          <a:xfrm>
            <a:off x="822960"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01</a:t>
            </a:r>
            <a:endParaRPr b="0" i="0" sz="1600" u="none" cap="none" strike="noStrike">
              <a:solidFill>
                <a:schemeClr val="dk1"/>
              </a:solidFill>
              <a:latin typeface="Calibri"/>
              <a:ea typeface="Calibri"/>
              <a:cs typeface="Calibri"/>
              <a:sym typeface="Calibri"/>
            </a:endParaRPr>
          </a:p>
        </p:txBody>
      </p:sp>
      <p:sp>
        <p:nvSpPr>
          <p:cNvPr id="1229" name="Google Shape;1229;p27"/>
          <p:cNvSpPr/>
          <p:nvPr/>
        </p:nvSpPr>
        <p:spPr>
          <a:xfrm>
            <a:off x="3399434"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arget.png" id="1230" name="Google Shape;1230;p27"/>
          <p:cNvPicPr preferRelativeResize="0"/>
          <p:nvPr/>
        </p:nvPicPr>
        <p:blipFill rotWithShape="1">
          <a:blip r:embed="rId4">
            <a:alphaModFix/>
          </a:blip>
          <a:srcRect b="0" l="0" r="0" t="0"/>
          <a:stretch/>
        </p:blipFill>
        <p:spPr>
          <a:xfrm>
            <a:off x="3491972" y="2213945"/>
            <a:ext cx="235549" cy="235549"/>
          </a:xfrm>
          <a:prstGeom prst="rect">
            <a:avLst/>
          </a:prstGeom>
          <a:noFill/>
          <a:ln>
            <a:noFill/>
          </a:ln>
        </p:spPr>
      </p:pic>
      <p:sp>
        <p:nvSpPr>
          <p:cNvPr id="1231" name="Google Shape;1231;p27"/>
          <p:cNvSpPr txBox="1"/>
          <p:nvPr/>
        </p:nvSpPr>
        <p:spPr>
          <a:xfrm>
            <a:off x="822960"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Comp set</a:t>
            </a:r>
            <a:endParaRPr b="0" i="0" sz="1700" u="none" cap="none" strike="noStrike">
              <a:solidFill>
                <a:schemeClr val="dk1"/>
              </a:solidFill>
              <a:latin typeface="Calibri"/>
              <a:ea typeface="Calibri"/>
              <a:cs typeface="Calibri"/>
              <a:sym typeface="Calibri"/>
            </a:endParaRPr>
          </a:p>
        </p:txBody>
      </p:sp>
      <p:sp>
        <p:nvSpPr>
          <p:cNvPr id="1232" name="Google Shape;1232;p27"/>
          <p:cNvSpPr txBox="1"/>
          <p:nvPr/>
        </p:nvSpPr>
        <p:spPr>
          <a:xfrm>
            <a:off x="822960"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properties an owner measures against.</a:t>
            </a:r>
            <a:endParaRPr b="0" i="0" sz="1150" u="none" cap="none" strike="noStrike">
              <a:solidFill>
                <a:schemeClr val="dk1"/>
              </a:solidFill>
              <a:latin typeface="Calibri"/>
              <a:ea typeface="Calibri"/>
              <a:cs typeface="Calibri"/>
              <a:sym typeface="Calibri"/>
            </a:endParaRPr>
          </a:p>
        </p:txBody>
      </p:sp>
      <p:sp>
        <p:nvSpPr>
          <p:cNvPr id="1233" name="Google Shape;1233;p27"/>
          <p:cNvSpPr/>
          <p:nvPr/>
        </p:nvSpPr>
        <p:spPr>
          <a:xfrm>
            <a:off x="4322978"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txBox="1"/>
          <p:nvPr/>
        </p:nvSpPr>
        <p:spPr>
          <a:xfrm>
            <a:off x="4597298"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02</a:t>
            </a:r>
            <a:endParaRPr b="0" i="0" sz="1600" u="none" cap="none" strike="noStrike">
              <a:solidFill>
                <a:schemeClr val="dk1"/>
              </a:solidFill>
              <a:latin typeface="Calibri"/>
              <a:ea typeface="Calibri"/>
              <a:cs typeface="Calibri"/>
              <a:sym typeface="Calibri"/>
            </a:endParaRPr>
          </a:p>
        </p:txBody>
      </p:sp>
      <p:sp>
        <p:nvSpPr>
          <p:cNvPr id="1235" name="Google Shape;1235;p27"/>
          <p:cNvSpPr/>
          <p:nvPr/>
        </p:nvSpPr>
        <p:spPr>
          <a:xfrm>
            <a:off x="7173773"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liders.png" id="1236" name="Google Shape;1236;p27"/>
          <p:cNvPicPr preferRelativeResize="0"/>
          <p:nvPr/>
        </p:nvPicPr>
        <p:blipFill rotWithShape="1">
          <a:blip r:embed="rId5">
            <a:alphaModFix/>
          </a:blip>
          <a:srcRect b="0" l="0" r="0" t="0"/>
          <a:stretch/>
        </p:blipFill>
        <p:spPr>
          <a:xfrm>
            <a:off x="7266310" y="2213945"/>
            <a:ext cx="235549" cy="235549"/>
          </a:xfrm>
          <a:prstGeom prst="rect">
            <a:avLst/>
          </a:prstGeom>
          <a:noFill/>
          <a:ln>
            <a:noFill/>
          </a:ln>
        </p:spPr>
      </p:pic>
      <p:sp>
        <p:nvSpPr>
          <p:cNvPr id="1237" name="Google Shape;1237;p27"/>
          <p:cNvSpPr txBox="1"/>
          <p:nvPr/>
        </p:nvSpPr>
        <p:spPr>
          <a:xfrm>
            <a:off x="4597298"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Revenue management</a:t>
            </a:r>
            <a:endParaRPr b="0" i="0" sz="1700" u="none" cap="none" strike="noStrike">
              <a:solidFill>
                <a:schemeClr val="dk1"/>
              </a:solidFill>
              <a:latin typeface="Calibri"/>
              <a:ea typeface="Calibri"/>
              <a:cs typeface="Calibri"/>
              <a:sym typeface="Calibri"/>
            </a:endParaRPr>
          </a:p>
        </p:txBody>
      </p:sp>
      <p:sp>
        <p:nvSpPr>
          <p:cNvPr id="1238" name="Google Shape;1238;p27"/>
          <p:cNvSpPr txBox="1"/>
          <p:nvPr/>
        </p:nvSpPr>
        <p:spPr>
          <a:xfrm>
            <a:off x="4597298"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function: who decides when a rate moves.</a:t>
            </a:r>
            <a:endParaRPr b="0" i="0" sz="1150" u="none" cap="none" strike="noStrike">
              <a:solidFill>
                <a:schemeClr val="dk1"/>
              </a:solidFill>
              <a:latin typeface="Calibri"/>
              <a:ea typeface="Calibri"/>
              <a:cs typeface="Calibri"/>
              <a:sym typeface="Calibri"/>
            </a:endParaRPr>
          </a:p>
        </p:txBody>
      </p:sp>
      <p:sp>
        <p:nvSpPr>
          <p:cNvPr id="1239" name="Google Shape;1239;p27"/>
          <p:cNvSpPr/>
          <p:nvPr/>
        </p:nvSpPr>
        <p:spPr>
          <a:xfrm>
            <a:off x="8097317"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7"/>
          <p:cNvSpPr txBox="1"/>
          <p:nvPr/>
        </p:nvSpPr>
        <p:spPr>
          <a:xfrm>
            <a:off x="8371637"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03</a:t>
            </a:r>
            <a:endParaRPr b="0" i="0" sz="1600" u="none" cap="none" strike="noStrike">
              <a:solidFill>
                <a:schemeClr val="dk1"/>
              </a:solidFill>
              <a:latin typeface="Calibri"/>
              <a:ea typeface="Calibri"/>
              <a:cs typeface="Calibri"/>
              <a:sym typeface="Calibri"/>
            </a:endParaRPr>
          </a:p>
        </p:txBody>
      </p:sp>
      <p:sp>
        <p:nvSpPr>
          <p:cNvPr id="1241" name="Google Shape;1241;p27"/>
          <p:cNvSpPr/>
          <p:nvPr/>
        </p:nvSpPr>
        <p:spPr>
          <a:xfrm>
            <a:off x="10948111"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ock.png" id="1242" name="Google Shape;1242;p27"/>
          <p:cNvPicPr preferRelativeResize="0"/>
          <p:nvPr/>
        </p:nvPicPr>
        <p:blipFill rotWithShape="1">
          <a:blip r:embed="rId6">
            <a:alphaModFix/>
          </a:blip>
          <a:srcRect b="0" l="0" r="0" t="0"/>
          <a:stretch/>
        </p:blipFill>
        <p:spPr>
          <a:xfrm>
            <a:off x="11040648" y="2213945"/>
            <a:ext cx="235549" cy="235549"/>
          </a:xfrm>
          <a:prstGeom prst="rect">
            <a:avLst/>
          </a:prstGeom>
          <a:noFill/>
          <a:ln>
            <a:noFill/>
          </a:ln>
        </p:spPr>
      </p:pic>
      <p:sp>
        <p:nvSpPr>
          <p:cNvPr id="1243" name="Google Shape;1243;p27"/>
          <p:cNvSpPr txBox="1"/>
          <p:nvPr/>
        </p:nvSpPr>
        <p:spPr>
          <a:xfrm>
            <a:off x="8371637"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Denial</a:t>
            </a:r>
            <a:endParaRPr b="0" i="0" sz="1700" u="none" cap="none" strike="noStrike">
              <a:solidFill>
                <a:schemeClr val="dk1"/>
              </a:solidFill>
              <a:latin typeface="Calibri"/>
              <a:ea typeface="Calibri"/>
              <a:cs typeface="Calibri"/>
              <a:sym typeface="Calibri"/>
            </a:endParaRPr>
          </a:p>
        </p:txBody>
      </p:sp>
      <p:sp>
        <p:nvSpPr>
          <p:cNvPr id="1244" name="Google Shape;1244;p27"/>
          <p:cNvSpPr txBox="1"/>
          <p:nvPr/>
        </p:nvSpPr>
        <p:spPr>
          <a:xfrm>
            <a:off x="8371637"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Demand that tried to book and couldn't.</a:t>
            </a:r>
            <a:endParaRPr b="0" i="0" sz="1150" u="none" cap="none" strike="noStrike">
              <a:solidFill>
                <a:schemeClr val="dk1"/>
              </a:solidFill>
              <a:latin typeface="Calibri"/>
              <a:ea typeface="Calibri"/>
              <a:cs typeface="Calibri"/>
              <a:sym typeface="Calibri"/>
            </a:endParaRPr>
          </a:p>
        </p:txBody>
      </p:sp>
      <p:sp>
        <p:nvSpPr>
          <p:cNvPr id="1245" name="Google Shape;1245;p27"/>
          <p:cNvSpPr/>
          <p:nvPr/>
        </p:nvSpPr>
        <p:spPr>
          <a:xfrm>
            <a:off x="548640"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7"/>
          <p:cNvSpPr txBox="1"/>
          <p:nvPr/>
        </p:nvSpPr>
        <p:spPr>
          <a:xfrm>
            <a:off x="822960"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04</a:t>
            </a:r>
            <a:endParaRPr b="0" i="0" sz="1600" u="none" cap="none" strike="noStrike">
              <a:solidFill>
                <a:schemeClr val="dk1"/>
              </a:solidFill>
              <a:latin typeface="Calibri"/>
              <a:ea typeface="Calibri"/>
              <a:cs typeface="Calibri"/>
              <a:sym typeface="Calibri"/>
            </a:endParaRPr>
          </a:p>
        </p:txBody>
      </p:sp>
      <p:sp>
        <p:nvSpPr>
          <p:cNvPr id="1247" name="Google Shape;1247;p27"/>
          <p:cNvSpPr/>
          <p:nvPr/>
        </p:nvSpPr>
        <p:spPr>
          <a:xfrm>
            <a:off x="3399434"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x-circle.png" id="1248" name="Google Shape;1248;p27"/>
          <p:cNvPicPr preferRelativeResize="0"/>
          <p:nvPr/>
        </p:nvPicPr>
        <p:blipFill rotWithShape="1">
          <a:blip r:embed="rId7">
            <a:alphaModFix/>
          </a:blip>
          <a:srcRect b="0" l="0" r="0" t="0"/>
          <a:stretch/>
        </p:blipFill>
        <p:spPr>
          <a:xfrm>
            <a:off x="3491972" y="4541093"/>
            <a:ext cx="235549" cy="235549"/>
          </a:xfrm>
          <a:prstGeom prst="rect">
            <a:avLst/>
          </a:prstGeom>
          <a:noFill/>
          <a:ln>
            <a:noFill/>
          </a:ln>
        </p:spPr>
      </p:pic>
      <p:sp>
        <p:nvSpPr>
          <p:cNvPr id="1249" name="Google Shape;1249;p27"/>
          <p:cNvSpPr txBox="1"/>
          <p:nvPr/>
        </p:nvSpPr>
        <p:spPr>
          <a:xfrm>
            <a:off x="822960"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Regret</a:t>
            </a:r>
            <a:endParaRPr b="0" i="0" sz="1700" u="none" cap="none" strike="noStrike">
              <a:solidFill>
                <a:schemeClr val="dk1"/>
              </a:solidFill>
              <a:latin typeface="Calibri"/>
              <a:ea typeface="Calibri"/>
              <a:cs typeface="Calibri"/>
              <a:sym typeface="Calibri"/>
            </a:endParaRPr>
          </a:p>
        </p:txBody>
      </p:sp>
      <p:sp>
        <p:nvSpPr>
          <p:cNvPr id="1250" name="Google Shape;1250;p27"/>
          <p:cNvSpPr txBox="1"/>
          <p:nvPr/>
        </p:nvSpPr>
        <p:spPr>
          <a:xfrm>
            <a:off x="822960"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Demand that looked and wouldn't.</a:t>
            </a:r>
            <a:endParaRPr b="0" i="0" sz="1150" u="none" cap="none" strike="noStrike">
              <a:solidFill>
                <a:schemeClr val="dk1"/>
              </a:solidFill>
              <a:latin typeface="Calibri"/>
              <a:ea typeface="Calibri"/>
              <a:cs typeface="Calibri"/>
              <a:sym typeface="Calibri"/>
            </a:endParaRPr>
          </a:p>
        </p:txBody>
      </p:sp>
      <p:sp>
        <p:nvSpPr>
          <p:cNvPr id="1251" name="Google Shape;1251;p27"/>
          <p:cNvSpPr/>
          <p:nvPr/>
        </p:nvSpPr>
        <p:spPr>
          <a:xfrm>
            <a:off x="4322978"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txBox="1"/>
          <p:nvPr/>
        </p:nvSpPr>
        <p:spPr>
          <a:xfrm>
            <a:off x="4597298"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05</a:t>
            </a:r>
            <a:endParaRPr b="0" i="0" sz="1600" u="none" cap="none" strike="noStrike">
              <a:solidFill>
                <a:schemeClr val="dk1"/>
              </a:solidFill>
              <a:latin typeface="Calibri"/>
              <a:ea typeface="Calibri"/>
              <a:cs typeface="Calibri"/>
              <a:sym typeface="Calibri"/>
            </a:endParaRPr>
          </a:p>
        </p:txBody>
      </p:sp>
      <p:sp>
        <p:nvSpPr>
          <p:cNvPr id="1253" name="Google Shape;1253;p27"/>
          <p:cNvSpPr/>
          <p:nvPr/>
        </p:nvSpPr>
        <p:spPr>
          <a:xfrm>
            <a:off x="7173773"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oon.png" id="1254" name="Google Shape;1254;p27"/>
          <p:cNvPicPr preferRelativeResize="0"/>
          <p:nvPr/>
        </p:nvPicPr>
        <p:blipFill rotWithShape="1">
          <a:blip r:embed="rId8">
            <a:alphaModFix/>
          </a:blip>
          <a:srcRect b="0" l="0" r="0" t="0"/>
          <a:stretch/>
        </p:blipFill>
        <p:spPr>
          <a:xfrm>
            <a:off x="7266310" y="4541093"/>
            <a:ext cx="235549" cy="235549"/>
          </a:xfrm>
          <a:prstGeom prst="rect">
            <a:avLst/>
          </a:prstGeom>
          <a:noFill/>
          <a:ln>
            <a:noFill/>
          </a:ln>
        </p:spPr>
      </p:pic>
      <p:sp>
        <p:nvSpPr>
          <p:cNvPr id="1255" name="Google Shape;1255;p27"/>
          <p:cNvSpPr txBox="1"/>
          <p:nvPr/>
        </p:nvSpPr>
        <p:spPr>
          <a:xfrm>
            <a:off x="4597298"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Orphan night</a:t>
            </a:r>
            <a:endParaRPr b="0" i="0" sz="1700" u="none" cap="none" strike="noStrike">
              <a:solidFill>
                <a:schemeClr val="dk1"/>
              </a:solidFill>
              <a:latin typeface="Calibri"/>
              <a:ea typeface="Calibri"/>
              <a:cs typeface="Calibri"/>
              <a:sym typeface="Calibri"/>
            </a:endParaRPr>
          </a:p>
        </p:txBody>
      </p:sp>
      <p:sp>
        <p:nvSpPr>
          <p:cNvPr id="1256" name="Google Shape;1256;p27"/>
          <p:cNvSpPr txBox="1"/>
          <p:nvPr/>
        </p:nvSpPr>
        <p:spPr>
          <a:xfrm>
            <a:off x="4597298"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 single night stranded between two bookings.</a:t>
            </a:r>
            <a:endParaRPr b="0" i="0" sz="1150" u="none" cap="none" strike="noStrike">
              <a:solidFill>
                <a:schemeClr val="dk1"/>
              </a:solidFill>
              <a:latin typeface="Calibri"/>
              <a:ea typeface="Calibri"/>
              <a:cs typeface="Calibri"/>
              <a:sym typeface="Calibri"/>
            </a:endParaRPr>
          </a:p>
        </p:txBody>
      </p:sp>
      <p:sp>
        <p:nvSpPr>
          <p:cNvPr id="1257" name="Google Shape;1257;p27"/>
          <p:cNvSpPr/>
          <p:nvPr/>
        </p:nvSpPr>
        <p:spPr>
          <a:xfrm>
            <a:off x="8097317"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txBox="1"/>
          <p:nvPr/>
        </p:nvSpPr>
        <p:spPr>
          <a:xfrm>
            <a:off x="8371637"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06</a:t>
            </a:r>
            <a:endParaRPr b="0" i="0" sz="1600" u="none" cap="none" strike="noStrike">
              <a:solidFill>
                <a:schemeClr val="dk1"/>
              </a:solidFill>
              <a:latin typeface="Calibri"/>
              <a:ea typeface="Calibri"/>
              <a:cs typeface="Calibri"/>
              <a:sym typeface="Calibri"/>
            </a:endParaRPr>
          </a:p>
        </p:txBody>
      </p:sp>
      <p:sp>
        <p:nvSpPr>
          <p:cNvPr id="1259" name="Google Shape;1259;p27"/>
          <p:cNvSpPr/>
          <p:nvPr/>
        </p:nvSpPr>
        <p:spPr>
          <a:xfrm>
            <a:off x="10948111"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cales.png" id="1260" name="Google Shape;1260;p27"/>
          <p:cNvPicPr preferRelativeResize="0"/>
          <p:nvPr/>
        </p:nvPicPr>
        <p:blipFill rotWithShape="1">
          <a:blip r:embed="rId9">
            <a:alphaModFix/>
          </a:blip>
          <a:srcRect b="0" l="0" r="0" t="0"/>
          <a:stretch/>
        </p:blipFill>
        <p:spPr>
          <a:xfrm>
            <a:off x="11040648" y="4541093"/>
            <a:ext cx="235549" cy="235549"/>
          </a:xfrm>
          <a:prstGeom prst="rect">
            <a:avLst/>
          </a:prstGeom>
          <a:noFill/>
          <a:ln>
            <a:noFill/>
          </a:ln>
        </p:spPr>
      </p:pic>
      <p:sp>
        <p:nvSpPr>
          <p:cNvPr id="1261" name="Google Shape;1261;p27"/>
          <p:cNvSpPr txBox="1"/>
          <p:nvPr/>
        </p:nvSpPr>
        <p:spPr>
          <a:xfrm>
            <a:off x="8371637"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Rate parity</a:t>
            </a:r>
            <a:endParaRPr b="0" i="0" sz="1700" u="none" cap="none" strike="noStrike">
              <a:solidFill>
                <a:schemeClr val="dk1"/>
              </a:solidFill>
              <a:latin typeface="Calibri"/>
              <a:ea typeface="Calibri"/>
              <a:cs typeface="Calibri"/>
              <a:sym typeface="Calibri"/>
            </a:endParaRPr>
          </a:p>
        </p:txBody>
      </p:sp>
      <p:sp>
        <p:nvSpPr>
          <p:cNvPr id="1262" name="Google Shape;1262;p27"/>
          <p:cNvSpPr txBox="1"/>
          <p:nvPr/>
        </p:nvSpPr>
        <p:spPr>
          <a:xfrm>
            <a:off x="8371637"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OTA contract's rule about your own price.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267" name="Shape 1267"/>
        <p:cNvGrpSpPr/>
        <p:nvPr/>
      </p:nvGrpSpPr>
      <p:grpSpPr>
        <a:xfrm>
          <a:off x="0" y="0"/>
          <a:ext cx="0" cy="0"/>
          <a:chOff x="0" y="0"/>
          <a:chExt cx="0" cy="0"/>
        </a:xfrm>
      </p:grpSpPr>
      <p:sp>
        <p:nvSpPr>
          <p:cNvPr id="1268" name="Google Shape;1268;p2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pic>
        <p:nvPicPr>
          <p:cNvPr descr="/home/claude/work/renderer/brand/wordmark.png" id="1269" name="Google Shape;1269;p2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270" name="Google Shape;1270;p2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26 / 65</a:t>
            </a:r>
            <a:endParaRPr b="0" i="0" sz="900" u="none" cap="none" strike="noStrike">
              <a:solidFill>
                <a:schemeClr val="dk1"/>
              </a:solidFill>
              <a:latin typeface="Calibri"/>
              <a:ea typeface="Calibri"/>
              <a:cs typeface="Calibri"/>
              <a:sym typeface="Calibri"/>
            </a:endParaRPr>
          </a:p>
        </p:txBody>
      </p:sp>
      <p:sp>
        <p:nvSpPr>
          <p:cNvPr id="1271" name="Google Shape;1271;p2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Comp set</a:t>
            </a:r>
            <a:r>
              <a:rPr b="0" i="0" lang="en-US" sz="1700" u="none" cap="none" strike="noStrike">
                <a:solidFill>
                  <a:srgbClr val="004FAA"/>
                </a:solidFill>
                <a:latin typeface="Inter"/>
                <a:ea typeface="Inter"/>
                <a:cs typeface="Inter"/>
                <a:sym typeface="Inter"/>
              </a:rPr>
              <a:t>  competitive set</a:t>
            </a:r>
            <a:endParaRPr b="0" i="0" sz="3000" u="none" cap="none" strike="noStrike">
              <a:solidFill>
                <a:schemeClr val="dk1"/>
              </a:solidFill>
              <a:latin typeface="Calibri"/>
              <a:ea typeface="Calibri"/>
              <a:cs typeface="Calibri"/>
              <a:sym typeface="Calibri"/>
            </a:endParaRPr>
          </a:p>
        </p:txBody>
      </p:sp>
      <p:sp>
        <p:nvSpPr>
          <p:cNvPr id="1272" name="Google Shape;1272;p28"/>
          <p:cNvSpPr/>
          <p:nvPr/>
        </p:nvSpPr>
        <p:spPr>
          <a:xfrm>
            <a:off x="5715000" y="1783080"/>
            <a:ext cx="5928055" cy="4480560"/>
          </a:xfrm>
          <a:prstGeom prst="roundRect">
            <a:avLst>
              <a:gd fmla="val 244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8"/>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1274" name="Google Shape;1274;p28"/>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275" name="Google Shape;1275;p28"/>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276" name="Google Shape;1276;p28"/>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set of properties an owner benchmarks against, and the basis of every index on an STR report.</a:t>
            </a:r>
            <a:endParaRPr b="0" i="0" sz="1150" u="none" cap="none" strike="noStrike">
              <a:solidFill>
                <a:schemeClr val="dk1"/>
              </a:solidFill>
              <a:latin typeface="Calibri"/>
              <a:ea typeface="Calibri"/>
              <a:cs typeface="Calibri"/>
              <a:sym typeface="Calibri"/>
            </a:endParaRPr>
          </a:p>
        </p:txBody>
      </p:sp>
      <p:sp>
        <p:nvSpPr>
          <p:cNvPr id="1277" name="Google Shape;1277;p28"/>
          <p:cNvSpPr/>
          <p:nvPr/>
        </p:nvSpPr>
        <p:spPr>
          <a:xfrm>
            <a:off x="548640" y="3329273"/>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1278" name="Google Shape;1278;p28"/>
          <p:cNvPicPr preferRelativeResize="0"/>
          <p:nvPr/>
        </p:nvPicPr>
        <p:blipFill rotWithShape="1">
          <a:blip r:embed="rId5">
            <a:alphaModFix/>
          </a:blip>
          <a:srcRect b="0" l="0" r="0" t="0"/>
          <a:stretch/>
        </p:blipFill>
        <p:spPr>
          <a:xfrm>
            <a:off x="641177" y="3421811"/>
            <a:ext cx="235549" cy="235549"/>
          </a:xfrm>
          <a:prstGeom prst="rect">
            <a:avLst/>
          </a:prstGeom>
          <a:noFill/>
          <a:ln>
            <a:noFill/>
          </a:ln>
        </p:spPr>
      </p:pic>
      <p:sp>
        <p:nvSpPr>
          <p:cNvPr id="1279" name="Google Shape;1279;p28"/>
          <p:cNvSpPr txBox="1"/>
          <p:nvPr/>
        </p:nvSpPr>
        <p:spPr>
          <a:xfrm>
            <a:off x="1170432" y="3310985"/>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280" name="Google Shape;1280;p28"/>
          <p:cNvSpPr txBox="1"/>
          <p:nvPr/>
        </p:nvSpPr>
        <p:spPr>
          <a:xfrm>
            <a:off x="1170432" y="3621881"/>
            <a:ext cx="4270248" cy="109556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is who they think they compete with, and every index on their benchmark report is measured against it. HiddenGem Brain treats market data as a guardrail, never a driver, so we ask about the comp set to understand the owner, not to price from it.</a:t>
            </a:r>
            <a:endParaRPr b="0" i="0" sz="1150" u="none" cap="none" strike="noStrike">
              <a:solidFill>
                <a:schemeClr val="dk1"/>
              </a:solidFill>
              <a:latin typeface="Calibri"/>
              <a:ea typeface="Calibri"/>
              <a:cs typeface="Calibri"/>
              <a:sym typeface="Calibri"/>
            </a:endParaRPr>
          </a:p>
        </p:txBody>
      </p:sp>
      <p:sp>
        <p:nvSpPr>
          <p:cNvPr id="1281" name="Google Shape;1281;p28"/>
          <p:cNvSpPr/>
          <p:nvPr/>
        </p:nvSpPr>
        <p:spPr>
          <a:xfrm>
            <a:off x="548640" y="5466969"/>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1282" name="Google Shape;1282;p28"/>
          <p:cNvPicPr preferRelativeResize="0"/>
          <p:nvPr/>
        </p:nvPicPr>
        <p:blipFill rotWithShape="1">
          <a:blip r:embed="rId6">
            <a:alphaModFix/>
          </a:blip>
          <a:srcRect b="0" l="0" r="0" t="0"/>
          <a:stretch/>
        </p:blipFill>
        <p:spPr>
          <a:xfrm>
            <a:off x="641177" y="5559506"/>
            <a:ext cx="235549" cy="235549"/>
          </a:xfrm>
          <a:prstGeom prst="rect">
            <a:avLst/>
          </a:prstGeom>
          <a:noFill/>
          <a:ln>
            <a:noFill/>
          </a:ln>
        </p:spPr>
      </p:pic>
      <p:sp>
        <p:nvSpPr>
          <p:cNvPr id="1283" name="Google Shape;1283;p28"/>
          <p:cNvSpPr txBox="1"/>
          <p:nvPr/>
        </p:nvSpPr>
        <p:spPr>
          <a:xfrm>
            <a:off x="1170432" y="5448681"/>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284" name="Google Shape;1284;p28"/>
          <p:cNvSpPr txBox="1"/>
          <p:nvPr/>
        </p:nvSpPr>
        <p:spPr>
          <a:xfrm>
            <a:off x="1170432" y="5759577"/>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Who's in your comp set? I'd like to see who you're measuring yourself against before we talk about rate.</a:t>
            </a:r>
            <a:endParaRPr b="0" i="0" sz="1150" u="none" cap="none" strike="noStrike">
              <a:solidFill>
                <a:schemeClr val="dk1"/>
              </a:solidFill>
              <a:latin typeface="Calibri"/>
              <a:ea typeface="Calibri"/>
              <a:cs typeface="Calibri"/>
              <a:sym typeface="Calibri"/>
            </a:endParaRPr>
          </a:p>
        </p:txBody>
      </p:sp>
      <p:sp>
        <p:nvSpPr>
          <p:cNvPr id="1285" name="Google Shape;1285;p28"/>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WHO LAKESIDE LODGE MEASURES ITSELF AGAINST</a:t>
            </a:r>
            <a:endParaRPr b="0" i="0" sz="900" u="none" cap="none" strike="noStrike">
              <a:solidFill>
                <a:schemeClr val="dk1"/>
              </a:solidFill>
              <a:latin typeface="Calibri"/>
              <a:ea typeface="Calibri"/>
              <a:cs typeface="Calibri"/>
              <a:sym typeface="Calibri"/>
            </a:endParaRPr>
          </a:p>
        </p:txBody>
      </p:sp>
      <p:sp>
        <p:nvSpPr>
          <p:cNvPr id="1286" name="Google Shape;1286;p28"/>
          <p:cNvSpPr/>
          <p:nvPr/>
        </p:nvSpPr>
        <p:spPr>
          <a:xfrm>
            <a:off x="5989320" y="2258568"/>
            <a:ext cx="5379415" cy="566928"/>
          </a:xfrm>
          <a:prstGeom prst="roundRect">
            <a:avLst>
              <a:gd fmla="val 16129"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287" name="Google Shape;1287;p28"/>
          <p:cNvPicPr preferRelativeResize="0"/>
          <p:nvPr/>
        </p:nvPicPr>
        <p:blipFill rotWithShape="1">
          <a:blip r:embed="rId7">
            <a:alphaModFix/>
          </a:blip>
          <a:srcRect b="0" l="0" r="0" t="0"/>
          <a:stretch/>
        </p:blipFill>
        <p:spPr>
          <a:xfrm>
            <a:off x="6135624" y="2414016"/>
            <a:ext cx="256032" cy="256032"/>
          </a:xfrm>
          <a:prstGeom prst="rect">
            <a:avLst/>
          </a:prstGeom>
          <a:noFill/>
          <a:ln>
            <a:noFill/>
          </a:ln>
        </p:spPr>
      </p:pic>
      <p:sp>
        <p:nvSpPr>
          <p:cNvPr id="1288" name="Google Shape;1288;p28"/>
          <p:cNvSpPr txBox="1"/>
          <p:nvPr/>
        </p:nvSpPr>
        <p:spPr>
          <a:xfrm>
            <a:off x="6519672" y="2313432"/>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The lodge across the lake</a:t>
            </a:r>
            <a:endParaRPr b="0" i="0" sz="1100" u="none" cap="none" strike="noStrike">
              <a:solidFill>
                <a:schemeClr val="dk1"/>
              </a:solidFill>
              <a:latin typeface="Calibri"/>
              <a:ea typeface="Calibri"/>
              <a:cs typeface="Calibri"/>
              <a:sym typeface="Calibri"/>
            </a:endParaRPr>
          </a:p>
        </p:txBody>
      </p:sp>
      <p:sp>
        <p:nvSpPr>
          <p:cNvPr id="1289" name="Google Shape;1289;p28"/>
          <p:cNvSpPr txBox="1"/>
          <p:nvPr/>
        </p:nvSpPr>
        <p:spPr>
          <a:xfrm>
            <a:off x="6519672" y="2532888"/>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Same guests, same weekends, same price band.</a:t>
            </a:r>
            <a:endParaRPr b="0" i="0" sz="950" u="none" cap="none" strike="noStrike">
              <a:solidFill>
                <a:schemeClr val="dk1"/>
              </a:solidFill>
              <a:latin typeface="Calibri"/>
              <a:ea typeface="Calibri"/>
              <a:cs typeface="Calibri"/>
              <a:sym typeface="Calibri"/>
            </a:endParaRPr>
          </a:p>
        </p:txBody>
      </p:sp>
      <p:sp>
        <p:nvSpPr>
          <p:cNvPr id="1290" name="Google Shape;1290;p28"/>
          <p:cNvSpPr/>
          <p:nvPr/>
        </p:nvSpPr>
        <p:spPr>
          <a:xfrm>
            <a:off x="5989320" y="2880360"/>
            <a:ext cx="5379415" cy="566928"/>
          </a:xfrm>
          <a:prstGeom prst="roundRect">
            <a:avLst>
              <a:gd fmla="val 16129"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291" name="Google Shape;1291;p28"/>
          <p:cNvPicPr preferRelativeResize="0"/>
          <p:nvPr/>
        </p:nvPicPr>
        <p:blipFill rotWithShape="1">
          <a:blip r:embed="rId7">
            <a:alphaModFix/>
          </a:blip>
          <a:srcRect b="0" l="0" r="0" t="0"/>
          <a:stretch/>
        </p:blipFill>
        <p:spPr>
          <a:xfrm>
            <a:off x="6135624" y="3035808"/>
            <a:ext cx="256032" cy="256032"/>
          </a:xfrm>
          <a:prstGeom prst="rect">
            <a:avLst/>
          </a:prstGeom>
          <a:noFill/>
          <a:ln>
            <a:noFill/>
          </a:ln>
        </p:spPr>
      </p:pic>
      <p:sp>
        <p:nvSpPr>
          <p:cNvPr id="1292" name="Google Shape;1292;p28"/>
          <p:cNvSpPr txBox="1"/>
          <p:nvPr/>
        </p:nvSpPr>
        <p:spPr>
          <a:xfrm>
            <a:off x="6519672" y="2935224"/>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The spa resort up the highway</a:t>
            </a:r>
            <a:endParaRPr b="0" i="0" sz="1100" u="none" cap="none" strike="noStrike">
              <a:solidFill>
                <a:schemeClr val="dk1"/>
              </a:solidFill>
              <a:latin typeface="Calibri"/>
              <a:ea typeface="Calibri"/>
              <a:cs typeface="Calibri"/>
              <a:sym typeface="Calibri"/>
            </a:endParaRPr>
          </a:p>
        </p:txBody>
      </p:sp>
      <p:sp>
        <p:nvSpPr>
          <p:cNvPr id="1293" name="Google Shape;1293;p28"/>
          <p:cNvSpPr txBox="1"/>
          <p:nvPr/>
        </p:nvSpPr>
        <p:spPr>
          <a:xfrm>
            <a:off x="6519672" y="3154680"/>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Where a couple goes instead of Lakeside for a spa weekend.</a:t>
            </a:r>
            <a:endParaRPr b="0" i="0" sz="950" u="none" cap="none" strike="noStrike">
              <a:solidFill>
                <a:schemeClr val="dk1"/>
              </a:solidFill>
              <a:latin typeface="Calibri"/>
              <a:ea typeface="Calibri"/>
              <a:cs typeface="Calibri"/>
              <a:sym typeface="Calibri"/>
            </a:endParaRPr>
          </a:p>
        </p:txBody>
      </p:sp>
      <p:sp>
        <p:nvSpPr>
          <p:cNvPr id="1294" name="Google Shape;1294;p28"/>
          <p:cNvSpPr/>
          <p:nvPr/>
        </p:nvSpPr>
        <p:spPr>
          <a:xfrm>
            <a:off x="5989320" y="3502152"/>
            <a:ext cx="5379415" cy="566928"/>
          </a:xfrm>
          <a:prstGeom prst="roundRect">
            <a:avLst>
              <a:gd fmla="val 16129"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295" name="Google Shape;1295;p28"/>
          <p:cNvPicPr preferRelativeResize="0"/>
          <p:nvPr/>
        </p:nvPicPr>
        <p:blipFill rotWithShape="1">
          <a:blip r:embed="rId7">
            <a:alphaModFix/>
          </a:blip>
          <a:srcRect b="0" l="0" r="0" t="0"/>
          <a:stretch/>
        </p:blipFill>
        <p:spPr>
          <a:xfrm>
            <a:off x="6135624" y="3657600"/>
            <a:ext cx="256032" cy="256032"/>
          </a:xfrm>
          <a:prstGeom prst="rect">
            <a:avLst/>
          </a:prstGeom>
          <a:noFill/>
          <a:ln>
            <a:noFill/>
          </a:ln>
        </p:spPr>
      </p:pic>
      <p:sp>
        <p:nvSpPr>
          <p:cNvPr id="1296" name="Google Shape;1296;p28"/>
          <p:cNvSpPr txBox="1"/>
          <p:nvPr/>
        </p:nvSpPr>
        <p:spPr>
          <a:xfrm>
            <a:off x="6519672" y="3557016"/>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The winery with rooms, 20 minutes away</a:t>
            </a:r>
            <a:endParaRPr b="0" i="0" sz="1100" u="none" cap="none" strike="noStrike">
              <a:solidFill>
                <a:schemeClr val="dk1"/>
              </a:solidFill>
              <a:latin typeface="Calibri"/>
              <a:ea typeface="Calibri"/>
              <a:cs typeface="Calibri"/>
              <a:sym typeface="Calibri"/>
            </a:endParaRPr>
          </a:p>
        </p:txBody>
      </p:sp>
      <p:sp>
        <p:nvSpPr>
          <p:cNvPr id="1297" name="Google Shape;1297;p28"/>
          <p:cNvSpPr txBox="1"/>
          <p:nvPr/>
        </p:nvSpPr>
        <p:spPr>
          <a:xfrm>
            <a:off x="6519672" y="3776472"/>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Competes for the same summer Saturdays.</a:t>
            </a:r>
            <a:endParaRPr b="0" i="0" sz="950" u="none" cap="none" strike="noStrike">
              <a:solidFill>
                <a:schemeClr val="dk1"/>
              </a:solidFill>
              <a:latin typeface="Calibri"/>
              <a:ea typeface="Calibri"/>
              <a:cs typeface="Calibri"/>
              <a:sym typeface="Calibri"/>
            </a:endParaRPr>
          </a:p>
        </p:txBody>
      </p:sp>
      <p:sp>
        <p:nvSpPr>
          <p:cNvPr id="1298" name="Google Shape;1298;p28"/>
          <p:cNvSpPr/>
          <p:nvPr/>
        </p:nvSpPr>
        <p:spPr>
          <a:xfrm>
            <a:off x="5989320" y="4123944"/>
            <a:ext cx="5379415" cy="566928"/>
          </a:xfrm>
          <a:prstGeom prst="roundRect">
            <a:avLst>
              <a:gd fmla="val 16129"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299" name="Google Shape;1299;p28"/>
          <p:cNvPicPr preferRelativeResize="0"/>
          <p:nvPr/>
        </p:nvPicPr>
        <p:blipFill rotWithShape="1">
          <a:blip r:embed="rId7">
            <a:alphaModFix/>
          </a:blip>
          <a:srcRect b="0" l="0" r="0" t="0"/>
          <a:stretch/>
        </p:blipFill>
        <p:spPr>
          <a:xfrm>
            <a:off x="6135624" y="4279392"/>
            <a:ext cx="256032" cy="256032"/>
          </a:xfrm>
          <a:prstGeom prst="rect">
            <a:avLst/>
          </a:prstGeom>
          <a:noFill/>
          <a:ln>
            <a:noFill/>
          </a:ln>
        </p:spPr>
      </p:pic>
      <p:sp>
        <p:nvSpPr>
          <p:cNvPr id="1300" name="Google Shape;1300;p28"/>
          <p:cNvSpPr txBox="1"/>
          <p:nvPr/>
        </p:nvSpPr>
        <p:spPr>
          <a:xfrm>
            <a:off x="6519672" y="4178808"/>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The boutique inn in town</a:t>
            </a:r>
            <a:endParaRPr b="0" i="0" sz="1100" u="none" cap="none" strike="noStrike">
              <a:solidFill>
                <a:schemeClr val="dk1"/>
              </a:solidFill>
              <a:latin typeface="Calibri"/>
              <a:ea typeface="Calibri"/>
              <a:cs typeface="Calibri"/>
              <a:sym typeface="Calibri"/>
            </a:endParaRPr>
          </a:p>
        </p:txBody>
      </p:sp>
      <p:sp>
        <p:nvSpPr>
          <p:cNvPr id="1301" name="Google Shape;1301;p28"/>
          <p:cNvSpPr txBox="1"/>
          <p:nvPr/>
        </p:nvSpPr>
        <p:spPr>
          <a:xfrm>
            <a:off x="6519672" y="4398264"/>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Cheaper, but the same kind of guest.</a:t>
            </a:r>
            <a:endParaRPr b="0" i="0" sz="950" u="none" cap="none" strike="noStrike">
              <a:solidFill>
                <a:schemeClr val="dk1"/>
              </a:solidFill>
              <a:latin typeface="Calibri"/>
              <a:ea typeface="Calibri"/>
              <a:cs typeface="Calibri"/>
              <a:sym typeface="Calibri"/>
            </a:endParaRPr>
          </a:p>
        </p:txBody>
      </p:sp>
      <p:sp>
        <p:nvSpPr>
          <p:cNvPr id="1302" name="Google Shape;1302;p28"/>
          <p:cNvSpPr/>
          <p:nvPr/>
        </p:nvSpPr>
        <p:spPr>
          <a:xfrm>
            <a:off x="5989320" y="4745736"/>
            <a:ext cx="5379415" cy="566928"/>
          </a:xfrm>
          <a:prstGeom prst="roundRect">
            <a:avLst>
              <a:gd fmla="val 161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x-circle.png" id="1303" name="Google Shape;1303;p28"/>
          <p:cNvPicPr preferRelativeResize="0"/>
          <p:nvPr/>
        </p:nvPicPr>
        <p:blipFill rotWithShape="1">
          <a:blip r:embed="rId8">
            <a:alphaModFix/>
          </a:blip>
          <a:srcRect b="0" l="0" r="0" t="0"/>
          <a:stretch/>
        </p:blipFill>
        <p:spPr>
          <a:xfrm>
            <a:off x="6135624" y="4901184"/>
            <a:ext cx="256032" cy="256032"/>
          </a:xfrm>
          <a:prstGeom prst="rect">
            <a:avLst/>
          </a:prstGeom>
          <a:noFill/>
          <a:ln>
            <a:noFill/>
          </a:ln>
        </p:spPr>
      </p:pic>
      <p:sp>
        <p:nvSpPr>
          <p:cNvPr id="1304" name="Google Shape;1304;p28"/>
          <p:cNvSpPr txBox="1"/>
          <p:nvPr/>
        </p:nvSpPr>
        <p:spPr>
          <a:xfrm>
            <a:off x="6519672" y="4800600"/>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100"/>
              <a:buFont typeface="Inter"/>
              <a:buNone/>
            </a:pPr>
            <a:r>
              <a:rPr b="1" i="0" lang="en-US" sz="1100" u="none" cap="none" strike="noStrike">
                <a:solidFill>
                  <a:srgbClr val="737373"/>
                </a:solidFill>
                <a:latin typeface="Inter"/>
                <a:ea typeface="Inter"/>
                <a:cs typeface="Inter"/>
                <a:sym typeface="Inter"/>
              </a:rPr>
              <a:t>The chain hotel by the highway</a:t>
            </a:r>
            <a:endParaRPr b="0" i="0" sz="1100" u="none" cap="none" strike="noStrike">
              <a:solidFill>
                <a:schemeClr val="dk1"/>
              </a:solidFill>
              <a:latin typeface="Calibri"/>
              <a:ea typeface="Calibri"/>
              <a:cs typeface="Calibri"/>
              <a:sym typeface="Calibri"/>
            </a:endParaRPr>
          </a:p>
        </p:txBody>
      </p:sp>
      <p:sp>
        <p:nvSpPr>
          <p:cNvPr id="1305" name="Google Shape;1305;p28"/>
          <p:cNvSpPr txBox="1"/>
          <p:nvPr/>
        </p:nvSpPr>
        <p:spPr>
          <a:xfrm>
            <a:off x="6519672" y="5020056"/>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Shows up in every report. Guests never choose between it and Lakeside.</a:t>
            </a:r>
            <a:endParaRPr b="0" i="0" sz="950" u="none" cap="none" strike="noStrike">
              <a:solidFill>
                <a:schemeClr val="dk1"/>
              </a:solidFill>
              <a:latin typeface="Calibri"/>
              <a:ea typeface="Calibri"/>
              <a:cs typeface="Calibri"/>
              <a:sym typeface="Calibri"/>
            </a:endParaRPr>
          </a:p>
        </p:txBody>
      </p:sp>
      <p:sp>
        <p:nvSpPr>
          <p:cNvPr id="1306" name="Google Shape;1306;p28"/>
          <p:cNvSpPr/>
          <p:nvPr/>
        </p:nvSpPr>
        <p:spPr>
          <a:xfrm>
            <a:off x="5989320" y="5367528"/>
            <a:ext cx="5379415" cy="566928"/>
          </a:xfrm>
          <a:prstGeom prst="roundRect">
            <a:avLst>
              <a:gd fmla="val 161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x-circle.png" id="1307" name="Google Shape;1307;p28"/>
          <p:cNvPicPr preferRelativeResize="0"/>
          <p:nvPr/>
        </p:nvPicPr>
        <p:blipFill rotWithShape="1">
          <a:blip r:embed="rId8">
            <a:alphaModFix/>
          </a:blip>
          <a:srcRect b="0" l="0" r="0" t="0"/>
          <a:stretch/>
        </p:blipFill>
        <p:spPr>
          <a:xfrm>
            <a:off x="6135624" y="5522976"/>
            <a:ext cx="256032" cy="256032"/>
          </a:xfrm>
          <a:prstGeom prst="rect">
            <a:avLst/>
          </a:prstGeom>
          <a:noFill/>
          <a:ln>
            <a:noFill/>
          </a:ln>
        </p:spPr>
      </p:pic>
      <p:sp>
        <p:nvSpPr>
          <p:cNvPr id="1308" name="Google Shape;1308;p28"/>
          <p:cNvSpPr txBox="1"/>
          <p:nvPr/>
        </p:nvSpPr>
        <p:spPr>
          <a:xfrm>
            <a:off x="6519672" y="5422392"/>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37373"/>
              </a:buClr>
              <a:buSzPts val="1100"/>
              <a:buFont typeface="Inter"/>
              <a:buNone/>
            </a:pPr>
            <a:r>
              <a:rPr b="1" i="0" lang="en-US" sz="1100" u="none" cap="none" strike="noStrike">
                <a:solidFill>
                  <a:srgbClr val="737373"/>
                </a:solidFill>
                <a:latin typeface="Inter"/>
                <a:ea typeface="Inter"/>
                <a:cs typeface="Inter"/>
                <a:sym typeface="Inter"/>
              </a:rPr>
              <a:t>The airport hotel, 40 minutes away</a:t>
            </a:r>
            <a:endParaRPr b="0" i="0" sz="1100" u="none" cap="none" strike="noStrike">
              <a:solidFill>
                <a:schemeClr val="dk1"/>
              </a:solidFill>
              <a:latin typeface="Calibri"/>
              <a:ea typeface="Calibri"/>
              <a:cs typeface="Calibri"/>
              <a:sym typeface="Calibri"/>
            </a:endParaRPr>
          </a:p>
        </p:txBody>
      </p:sp>
      <p:sp>
        <p:nvSpPr>
          <p:cNvPr id="1309" name="Google Shape;1309;p28"/>
          <p:cNvSpPr txBox="1"/>
          <p:nvPr/>
        </p:nvSpPr>
        <p:spPr>
          <a:xfrm>
            <a:off x="6519672" y="5641848"/>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A different guest on a different trip. In the report by postcode, not by choice.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14" name="Shape 1314"/>
        <p:cNvGrpSpPr/>
        <p:nvPr/>
      </p:nvGrpSpPr>
      <p:grpSpPr>
        <a:xfrm>
          <a:off x="0" y="0"/>
          <a:ext cx="0" cy="0"/>
          <a:chOff x="0" y="0"/>
          <a:chExt cx="0" cy="0"/>
        </a:xfrm>
      </p:grpSpPr>
      <p:sp>
        <p:nvSpPr>
          <p:cNvPr id="1315" name="Google Shape;1315;p2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pic>
        <p:nvPicPr>
          <p:cNvPr descr="/home/claude/work/renderer/brand/wordmark.png" id="1316" name="Google Shape;1316;p2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317" name="Google Shape;1317;p2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27 / 65</a:t>
            </a:r>
            <a:endParaRPr b="0" i="0" sz="900" u="none" cap="none" strike="noStrike">
              <a:solidFill>
                <a:schemeClr val="dk1"/>
              </a:solidFill>
              <a:latin typeface="Calibri"/>
              <a:ea typeface="Calibri"/>
              <a:cs typeface="Calibri"/>
              <a:sym typeface="Calibri"/>
            </a:endParaRPr>
          </a:p>
        </p:txBody>
      </p:sp>
      <p:sp>
        <p:nvSpPr>
          <p:cNvPr id="1318" name="Google Shape;1318;p2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Revenue management</a:t>
            </a:r>
            <a:r>
              <a:rPr b="0" i="0" lang="en-US" sz="1700" u="none" cap="none" strike="noStrike">
                <a:solidFill>
                  <a:srgbClr val="004FAA"/>
                </a:solidFill>
                <a:latin typeface="Inter"/>
                <a:ea typeface="Inter"/>
                <a:cs typeface="Inter"/>
                <a:sym typeface="Inter"/>
              </a:rPr>
              <a:t>  the function</a:t>
            </a:r>
            <a:endParaRPr b="0" i="0" sz="3000" u="none" cap="none" strike="noStrike">
              <a:solidFill>
                <a:schemeClr val="dk1"/>
              </a:solidFill>
              <a:latin typeface="Calibri"/>
              <a:ea typeface="Calibri"/>
              <a:cs typeface="Calibri"/>
              <a:sym typeface="Calibri"/>
            </a:endParaRPr>
          </a:p>
        </p:txBody>
      </p:sp>
      <p:sp>
        <p:nvSpPr>
          <p:cNvPr id="1319" name="Google Shape;1319;p29"/>
          <p:cNvSpPr/>
          <p:nvPr/>
        </p:nvSpPr>
        <p:spPr>
          <a:xfrm>
            <a:off x="5715000" y="1783080"/>
            <a:ext cx="5928055" cy="2615184"/>
          </a:xfrm>
          <a:prstGeom prst="roundRect">
            <a:avLst>
              <a:gd fmla="val 4196"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1321" name="Google Shape;1321;p29"/>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322" name="Google Shape;1322;p29"/>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323" name="Google Shape;1323;p29"/>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job itself; at this ICP it may be the owner, a part-timer, or an outsourced firm.</a:t>
            </a:r>
            <a:endParaRPr b="0" i="0" sz="1150" u="none" cap="none" strike="noStrike">
              <a:solidFill>
                <a:schemeClr val="dk1"/>
              </a:solidFill>
              <a:latin typeface="Calibri"/>
              <a:ea typeface="Calibri"/>
              <a:cs typeface="Calibri"/>
              <a:sym typeface="Calibri"/>
            </a:endParaRPr>
          </a:p>
        </p:txBody>
      </p:sp>
      <p:sp>
        <p:nvSpPr>
          <p:cNvPr id="1324" name="Google Shape;1324;p29"/>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1325" name="Google Shape;1325;p29"/>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1326" name="Google Shape;1326;p29"/>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327" name="Google Shape;1327;p29"/>
          <p:cNvSpPr txBox="1"/>
          <p:nvPr/>
        </p:nvSpPr>
        <p:spPr>
          <a:xfrm>
            <a:off x="1170432" y="3192399"/>
            <a:ext cx="4270248" cy="129273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Somebody has to decide when a rate moves, and at a 30-room property it is often nobody in particular. Any demand we send lands on prices somebody is, or isn't, watching. Listen for who has the final say, how often rates actually move, and whether the report anyone pays for gets read.</a:t>
            </a:r>
            <a:endParaRPr b="0" i="0" sz="1150" u="none" cap="none" strike="noStrike">
              <a:solidFill>
                <a:schemeClr val="dk1"/>
              </a:solidFill>
              <a:latin typeface="Calibri"/>
              <a:ea typeface="Calibri"/>
              <a:cs typeface="Calibri"/>
              <a:sym typeface="Calibri"/>
            </a:endParaRPr>
          </a:p>
        </p:txBody>
      </p:sp>
      <p:sp>
        <p:nvSpPr>
          <p:cNvPr id="1328" name="Google Shape;1328;p29"/>
          <p:cNvSpPr/>
          <p:nvPr/>
        </p:nvSpPr>
        <p:spPr>
          <a:xfrm>
            <a:off x="548640" y="480517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1329" name="Google Shape;1329;p29"/>
          <p:cNvPicPr preferRelativeResize="0"/>
          <p:nvPr/>
        </p:nvPicPr>
        <p:blipFill rotWithShape="1">
          <a:blip r:embed="rId6">
            <a:alphaModFix/>
          </a:blip>
          <a:srcRect b="0" l="0" r="0" t="0"/>
          <a:stretch/>
        </p:blipFill>
        <p:spPr>
          <a:xfrm>
            <a:off x="641177" y="4897709"/>
            <a:ext cx="235549" cy="235549"/>
          </a:xfrm>
          <a:prstGeom prst="rect">
            <a:avLst/>
          </a:prstGeom>
          <a:noFill/>
          <a:ln>
            <a:noFill/>
          </a:ln>
        </p:spPr>
      </p:pic>
      <p:sp>
        <p:nvSpPr>
          <p:cNvPr id="1330" name="Google Shape;1330;p29"/>
          <p:cNvSpPr txBox="1"/>
          <p:nvPr/>
        </p:nvSpPr>
        <p:spPr>
          <a:xfrm>
            <a:off x="1170432" y="4786884"/>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331" name="Google Shape;1331;p29"/>
          <p:cNvSpPr txBox="1"/>
          <p:nvPr/>
        </p:nvSpPr>
        <p:spPr>
          <a:xfrm>
            <a:off x="1170432" y="5097780"/>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Who handles revenue management for you right now — you, someone on the team, or an outside firm?</a:t>
            </a:r>
            <a:endParaRPr b="0" i="0" sz="1150" u="none" cap="none" strike="noStrike">
              <a:solidFill>
                <a:schemeClr val="dk1"/>
              </a:solidFill>
              <a:latin typeface="Calibri"/>
              <a:ea typeface="Calibri"/>
              <a:cs typeface="Calibri"/>
              <a:sym typeface="Calibri"/>
            </a:endParaRPr>
          </a:p>
        </p:txBody>
      </p:sp>
      <p:sp>
        <p:nvSpPr>
          <p:cNvPr id="1332" name="Google Shape;1332;p29"/>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WHO'S DOING IT? THREE ANSWERS YOU'LL HEAR</a:t>
            </a:r>
            <a:endParaRPr b="0" i="0" sz="900" u="none" cap="none" strike="noStrike">
              <a:solidFill>
                <a:schemeClr val="dk1"/>
              </a:solidFill>
              <a:latin typeface="Calibri"/>
              <a:ea typeface="Calibri"/>
              <a:cs typeface="Calibri"/>
              <a:sym typeface="Calibri"/>
            </a:endParaRPr>
          </a:p>
        </p:txBody>
      </p:sp>
      <p:sp>
        <p:nvSpPr>
          <p:cNvPr id="1333" name="Google Shape;1333;p29"/>
          <p:cNvSpPr/>
          <p:nvPr/>
        </p:nvSpPr>
        <p:spPr>
          <a:xfrm>
            <a:off x="5989320" y="2258568"/>
            <a:ext cx="5379415" cy="566928"/>
          </a:xfrm>
          <a:prstGeom prst="roundRect">
            <a:avLst>
              <a:gd fmla="val 16129"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9"/>
          <p:cNvSpPr txBox="1"/>
          <p:nvPr/>
        </p:nvSpPr>
        <p:spPr>
          <a:xfrm>
            <a:off x="6099048" y="2258568"/>
            <a:ext cx="329184" cy="56692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1</a:t>
            </a:r>
            <a:endParaRPr b="0" i="0" sz="1100" u="none" cap="none" strike="noStrike">
              <a:solidFill>
                <a:schemeClr val="dk1"/>
              </a:solidFill>
              <a:latin typeface="Calibri"/>
              <a:ea typeface="Calibri"/>
              <a:cs typeface="Calibri"/>
              <a:sym typeface="Calibri"/>
            </a:endParaRPr>
          </a:p>
        </p:txBody>
      </p:sp>
      <p:sp>
        <p:nvSpPr>
          <p:cNvPr id="1335" name="Google Shape;1335;p29"/>
          <p:cNvSpPr txBox="1"/>
          <p:nvPr/>
        </p:nvSpPr>
        <p:spPr>
          <a:xfrm>
            <a:off x="6519672" y="2313432"/>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The owner</a:t>
            </a:r>
            <a:endParaRPr b="0" i="0" sz="1100" u="none" cap="none" strike="noStrike">
              <a:solidFill>
                <a:schemeClr val="dk1"/>
              </a:solidFill>
              <a:latin typeface="Calibri"/>
              <a:ea typeface="Calibri"/>
              <a:cs typeface="Calibri"/>
              <a:sym typeface="Calibri"/>
            </a:endParaRPr>
          </a:p>
        </p:txBody>
      </p:sp>
      <p:sp>
        <p:nvSpPr>
          <p:cNvPr id="1336" name="Google Shape;1336;p29"/>
          <p:cNvSpPr txBox="1"/>
          <p:nvPr/>
        </p:nvSpPr>
        <p:spPr>
          <a:xfrm>
            <a:off x="6519672" y="2532888"/>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Moves rates when there is a minute, usually after the weekend has already sold out.</a:t>
            </a:r>
            <a:endParaRPr b="0" i="0" sz="950" u="none" cap="none" strike="noStrike">
              <a:solidFill>
                <a:schemeClr val="dk1"/>
              </a:solidFill>
              <a:latin typeface="Calibri"/>
              <a:ea typeface="Calibri"/>
              <a:cs typeface="Calibri"/>
              <a:sym typeface="Calibri"/>
            </a:endParaRPr>
          </a:p>
        </p:txBody>
      </p:sp>
      <p:sp>
        <p:nvSpPr>
          <p:cNvPr id="1337" name="Google Shape;1337;p29"/>
          <p:cNvSpPr/>
          <p:nvPr/>
        </p:nvSpPr>
        <p:spPr>
          <a:xfrm>
            <a:off x="5989320" y="2880360"/>
            <a:ext cx="5379415" cy="566928"/>
          </a:xfrm>
          <a:prstGeom prst="roundRect">
            <a:avLst>
              <a:gd fmla="val 16129"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9"/>
          <p:cNvSpPr txBox="1"/>
          <p:nvPr/>
        </p:nvSpPr>
        <p:spPr>
          <a:xfrm>
            <a:off x="6099048" y="2880360"/>
            <a:ext cx="329184" cy="56692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2</a:t>
            </a:r>
            <a:endParaRPr b="0" i="0" sz="1100" u="none" cap="none" strike="noStrike">
              <a:solidFill>
                <a:schemeClr val="dk1"/>
              </a:solidFill>
              <a:latin typeface="Calibri"/>
              <a:ea typeface="Calibri"/>
              <a:cs typeface="Calibri"/>
              <a:sym typeface="Calibri"/>
            </a:endParaRPr>
          </a:p>
        </p:txBody>
      </p:sp>
      <p:sp>
        <p:nvSpPr>
          <p:cNvPr id="1339" name="Google Shape;1339;p29"/>
          <p:cNvSpPr txBox="1"/>
          <p:nvPr/>
        </p:nvSpPr>
        <p:spPr>
          <a:xfrm>
            <a:off x="6519672" y="2935224"/>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Someone on the team</a:t>
            </a:r>
            <a:endParaRPr b="0" i="0" sz="1100" u="none" cap="none" strike="noStrike">
              <a:solidFill>
                <a:schemeClr val="dk1"/>
              </a:solidFill>
              <a:latin typeface="Calibri"/>
              <a:ea typeface="Calibri"/>
              <a:cs typeface="Calibri"/>
              <a:sym typeface="Calibri"/>
            </a:endParaRPr>
          </a:p>
        </p:txBody>
      </p:sp>
      <p:sp>
        <p:nvSpPr>
          <p:cNvPr id="1340" name="Google Shape;1340;p29"/>
          <p:cNvSpPr txBox="1"/>
          <p:nvPr/>
        </p:nvSpPr>
        <p:spPr>
          <a:xfrm>
            <a:off x="6519672" y="3154680"/>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The GM, or a part-timer on Sunday nights. Ask who has the final say.</a:t>
            </a:r>
            <a:endParaRPr b="0" i="0" sz="950" u="none" cap="none" strike="noStrike">
              <a:solidFill>
                <a:schemeClr val="dk1"/>
              </a:solidFill>
              <a:latin typeface="Calibri"/>
              <a:ea typeface="Calibri"/>
              <a:cs typeface="Calibri"/>
              <a:sym typeface="Calibri"/>
            </a:endParaRPr>
          </a:p>
        </p:txBody>
      </p:sp>
      <p:sp>
        <p:nvSpPr>
          <p:cNvPr id="1341" name="Google Shape;1341;p29"/>
          <p:cNvSpPr/>
          <p:nvPr/>
        </p:nvSpPr>
        <p:spPr>
          <a:xfrm>
            <a:off x="5989320" y="3502152"/>
            <a:ext cx="5379415" cy="566928"/>
          </a:xfrm>
          <a:prstGeom prst="roundRect">
            <a:avLst>
              <a:gd fmla="val 16129"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9"/>
          <p:cNvSpPr txBox="1"/>
          <p:nvPr/>
        </p:nvSpPr>
        <p:spPr>
          <a:xfrm>
            <a:off x="6099048" y="3502152"/>
            <a:ext cx="329184" cy="566928"/>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3</a:t>
            </a:r>
            <a:endParaRPr b="0" i="0" sz="1100" u="none" cap="none" strike="noStrike">
              <a:solidFill>
                <a:schemeClr val="dk1"/>
              </a:solidFill>
              <a:latin typeface="Calibri"/>
              <a:ea typeface="Calibri"/>
              <a:cs typeface="Calibri"/>
              <a:sym typeface="Calibri"/>
            </a:endParaRPr>
          </a:p>
        </p:txBody>
      </p:sp>
      <p:sp>
        <p:nvSpPr>
          <p:cNvPr id="1343" name="Google Shape;1343;p29"/>
          <p:cNvSpPr txBox="1"/>
          <p:nvPr/>
        </p:nvSpPr>
        <p:spPr>
          <a:xfrm>
            <a:off x="6519672" y="3557016"/>
            <a:ext cx="47393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An outside firm</a:t>
            </a:r>
            <a:endParaRPr b="0" i="0" sz="1100" u="none" cap="none" strike="noStrike">
              <a:solidFill>
                <a:schemeClr val="dk1"/>
              </a:solidFill>
              <a:latin typeface="Calibri"/>
              <a:ea typeface="Calibri"/>
              <a:cs typeface="Calibri"/>
              <a:sym typeface="Calibri"/>
            </a:endParaRPr>
          </a:p>
        </p:txBody>
      </p:sp>
      <p:sp>
        <p:nvSpPr>
          <p:cNvPr id="1344" name="Google Shape;1344;p29"/>
          <p:cNvSpPr txBox="1"/>
          <p:nvPr/>
        </p:nvSpPr>
        <p:spPr>
          <a:xfrm>
            <a:off x="6519672" y="3776472"/>
            <a:ext cx="4739335" cy="256032"/>
          </a:xfrm>
          <a:prstGeom prst="rect">
            <a:avLst/>
          </a:prstGeom>
          <a:noFill/>
          <a:ln>
            <a:noFill/>
          </a:ln>
        </p:spPr>
        <p:txBody>
          <a:bodyPr anchorCtr="0" anchor="t"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Emails a monthly PDF report. Ask whether anyone opens it.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49" name="Shape 1349"/>
        <p:cNvGrpSpPr/>
        <p:nvPr/>
      </p:nvGrpSpPr>
      <p:grpSpPr>
        <a:xfrm>
          <a:off x="0" y="0"/>
          <a:ext cx="0" cy="0"/>
          <a:chOff x="0" y="0"/>
          <a:chExt cx="0" cy="0"/>
        </a:xfrm>
      </p:grpSpPr>
      <p:sp>
        <p:nvSpPr>
          <p:cNvPr id="1350" name="Google Shape;1350;p3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pic>
        <p:nvPicPr>
          <p:cNvPr descr="/home/claude/work/renderer/brand/wordmark.png" id="1351" name="Google Shape;1351;p3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352" name="Google Shape;1352;p3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28 / 65</a:t>
            </a:r>
            <a:endParaRPr b="0" i="0" sz="900" u="none" cap="none" strike="noStrike">
              <a:solidFill>
                <a:schemeClr val="dk1"/>
              </a:solidFill>
              <a:latin typeface="Calibri"/>
              <a:ea typeface="Calibri"/>
              <a:cs typeface="Calibri"/>
              <a:sym typeface="Calibri"/>
            </a:endParaRPr>
          </a:p>
        </p:txBody>
      </p:sp>
      <p:sp>
        <p:nvSpPr>
          <p:cNvPr id="1353" name="Google Shape;1353;p3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Denial</a:t>
            </a:r>
            <a:r>
              <a:rPr b="0" i="0" lang="en-US" sz="1700" u="none" cap="none" strike="noStrike">
                <a:solidFill>
                  <a:srgbClr val="004FAA"/>
                </a:solidFill>
                <a:latin typeface="Inter"/>
                <a:ea typeface="Inter"/>
                <a:cs typeface="Inter"/>
                <a:sym typeface="Inter"/>
              </a:rPr>
              <a:t>  demand turned away</a:t>
            </a:r>
            <a:endParaRPr b="0" i="0" sz="3000" u="none" cap="none" strike="noStrike">
              <a:solidFill>
                <a:schemeClr val="dk1"/>
              </a:solidFill>
              <a:latin typeface="Calibri"/>
              <a:ea typeface="Calibri"/>
              <a:cs typeface="Calibri"/>
              <a:sym typeface="Calibri"/>
            </a:endParaRPr>
          </a:p>
        </p:txBody>
      </p:sp>
      <p:sp>
        <p:nvSpPr>
          <p:cNvPr id="1354" name="Google Shape;1354;p30"/>
          <p:cNvSpPr/>
          <p:nvPr/>
        </p:nvSpPr>
        <p:spPr>
          <a:xfrm>
            <a:off x="5715000" y="1783080"/>
            <a:ext cx="5928055" cy="3170301"/>
          </a:xfrm>
          <a:prstGeom prst="roundRect">
            <a:avLst>
              <a:gd fmla="val 34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0"/>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1356" name="Google Shape;1356;p30"/>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357" name="Google Shape;1357;p30"/>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358" name="Google Shape;1358;p30"/>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Demand that tried to book a date and could not because it was sold out.</a:t>
            </a:r>
            <a:endParaRPr b="0" i="0" sz="1150" u="none" cap="none" strike="noStrike">
              <a:solidFill>
                <a:schemeClr val="dk1"/>
              </a:solidFill>
              <a:latin typeface="Calibri"/>
              <a:ea typeface="Calibri"/>
              <a:cs typeface="Calibri"/>
              <a:sym typeface="Calibri"/>
            </a:endParaRPr>
          </a:p>
        </p:txBody>
      </p:sp>
      <p:sp>
        <p:nvSpPr>
          <p:cNvPr id="1359" name="Google Shape;1359;p30"/>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1360" name="Google Shape;1360;p30"/>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1361" name="Google Shape;1361;p30"/>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362" name="Google Shape;1362;p30"/>
          <p:cNvSpPr txBox="1"/>
          <p:nvPr/>
        </p:nvSpPr>
        <p:spPr>
          <a:xfrm>
            <a:off x="1170432" y="319239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Selling out early feels like safety. HiddenGem Brain reads it as underpricing, and counts every denial as the evidence for next season's rate.</a:t>
            </a:r>
            <a:endParaRPr b="0" i="0" sz="1150" u="none" cap="none" strike="noStrike">
              <a:solidFill>
                <a:schemeClr val="dk1"/>
              </a:solidFill>
              <a:latin typeface="Calibri"/>
              <a:ea typeface="Calibri"/>
              <a:cs typeface="Calibri"/>
              <a:sym typeface="Calibri"/>
            </a:endParaRPr>
          </a:p>
        </p:txBody>
      </p:sp>
      <p:sp>
        <p:nvSpPr>
          <p:cNvPr id="1363" name="Google Shape;1363;p30"/>
          <p:cNvSpPr/>
          <p:nvPr/>
        </p:nvSpPr>
        <p:spPr>
          <a:xfrm>
            <a:off x="548640" y="4213669"/>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1364" name="Google Shape;1364;p30"/>
          <p:cNvPicPr preferRelativeResize="0"/>
          <p:nvPr/>
        </p:nvPicPr>
        <p:blipFill rotWithShape="1">
          <a:blip r:embed="rId6">
            <a:alphaModFix/>
          </a:blip>
          <a:srcRect b="0" l="0" r="0" t="0"/>
          <a:stretch/>
        </p:blipFill>
        <p:spPr>
          <a:xfrm>
            <a:off x="641177" y="4306207"/>
            <a:ext cx="235549" cy="235549"/>
          </a:xfrm>
          <a:prstGeom prst="rect">
            <a:avLst/>
          </a:prstGeom>
          <a:noFill/>
          <a:ln>
            <a:noFill/>
          </a:ln>
        </p:spPr>
      </p:pic>
      <p:sp>
        <p:nvSpPr>
          <p:cNvPr id="1365" name="Google Shape;1365;p30"/>
          <p:cNvSpPr txBox="1"/>
          <p:nvPr/>
        </p:nvSpPr>
        <p:spPr>
          <a:xfrm>
            <a:off x="1170432" y="419538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366" name="Google Shape;1366;p30"/>
          <p:cNvSpPr txBox="1"/>
          <p:nvPr/>
        </p:nvSpPr>
        <p:spPr>
          <a:xfrm>
            <a:off x="1170432" y="450627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If you're turning people away on peak weekends, that denial is demand we can price for, not just celebrate.</a:t>
            </a:r>
            <a:endParaRPr b="0" i="0" sz="1150" u="none" cap="none" strike="noStrike">
              <a:solidFill>
                <a:schemeClr val="dk1"/>
              </a:solidFill>
              <a:latin typeface="Calibri"/>
              <a:ea typeface="Calibri"/>
              <a:cs typeface="Calibri"/>
              <a:sym typeface="Calibri"/>
            </a:endParaRPr>
          </a:p>
        </p:txBody>
      </p:sp>
      <p:sp>
        <p:nvSpPr>
          <p:cNvPr id="1367" name="Google Shape;1367;p30"/>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SOLD OUT BY JUNE: TWO READINGS</a:t>
            </a:r>
            <a:endParaRPr b="0" i="0" sz="900" u="none" cap="none" strike="noStrike">
              <a:solidFill>
                <a:schemeClr val="dk1"/>
              </a:solidFill>
              <a:latin typeface="Calibri"/>
              <a:ea typeface="Calibri"/>
              <a:cs typeface="Calibri"/>
              <a:sym typeface="Calibri"/>
            </a:endParaRPr>
          </a:p>
        </p:txBody>
      </p:sp>
      <p:sp>
        <p:nvSpPr>
          <p:cNvPr id="1368" name="Google Shape;1368;p30"/>
          <p:cNvSpPr/>
          <p:nvPr/>
        </p:nvSpPr>
        <p:spPr>
          <a:xfrm>
            <a:off x="5989320" y="2258568"/>
            <a:ext cx="2598268" cy="2420493"/>
          </a:xfrm>
          <a:prstGeom prst="roundRect">
            <a:avLst>
              <a:gd fmla="val 377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1369" name="Google Shape;1369;p30"/>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1370" name="Google Shape;1370;p30"/>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What the owner sees</a:t>
            </a:r>
            <a:endParaRPr b="0" i="0" sz="1250" u="none" cap="none" strike="noStrike">
              <a:solidFill>
                <a:schemeClr val="dk1"/>
              </a:solidFill>
              <a:latin typeface="Calibri"/>
              <a:ea typeface="Calibri"/>
              <a:cs typeface="Calibri"/>
              <a:sym typeface="Calibri"/>
            </a:endParaRPr>
          </a:p>
        </p:txBody>
      </p:sp>
      <p:sp>
        <p:nvSpPr>
          <p:cNvPr id="1371" name="Google Shape;1371;p30"/>
          <p:cNvSpPr txBox="1"/>
          <p:nvPr/>
        </p:nvSpPr>
        <p:spPr>
          <a:xfrm>
            <a:off x="6208776" y="2916936"/>
            <a:ext cx="2159356" cy="1086231"/>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Every August Saturday sold out by early June.</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Calls kept coming for summer weekends. Nothing left to give them.</a:t>
            </a:r>
            <a:endParaRPr b="0" i="0" sz="1050" u="none" cap="none" strike="noStrike">
              <a:solidFill>
                <a:schemeClr val="dk1"/>
              </a:solidFill>
              <a:latin typeface="Calibri"/>
              <a:ea typeface="Calibri"/>
              <a:cs typeface="Calibri"/>
              <a:sym typeface="Calibri"/>
            </a:endParaRPr>
          </a:p>
        </p:txBody>
      </p:sp>
      <p:sp>
        <p:nvSpPr>
          <p:cNvPr id="1372" name="Google Shape;1372;p30"/>
          <p:cNvSpPr/>
          <p:nvPr/>
        </p:nvSpPr>
        <p:spPr>
          <a:xfrm>
            <a:off x="8770468" y="2258568"/>
            <a:ext cx="2598268" cy="2420493"/>
          </a:xfrm>
          <a:prstGeom prst="roundRect">
            <a:avLst>
              <a:gd fmla="val 3778" name="adj"/>
            </a:avLst>
          </a:prstGeom>
          <a:solidFill>
            <a:srgbClr val="FEFCE8"/>
          </a:solidFill>
          <a:ln cap="flat" cmpd="sng" w="12700">
            <a:solidFill>
              <a:srgbClr val="F0E1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alert-triangle-amber.png" id="1373" name="Google Shape;1373;p30"/>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1374" name="Google Shape;1374;p30"/>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A16207"/>
              </a:buClr>
              <a:buSzPts val="1250"/>
              <a:buFont typeface="Inter"/>
              <a:buNone/>
            </a:pPr>
            <a:r>
              <a:rPr b="1" i="0" lang="en-US" sz="1250" u="none" cap="none" strike="noStrike">
                <a:solidFill>
                  <a:srgbClr val="A16207"/>
                </a:solidFill>
                <a:latin typeface="Inter"/>
                <a:ea typeface="Inter"/>
                <a:cs typeface="Inter"/>
                <a:sym typeface="Inter"/>
              </a:rPr>
              <a:t>What HiddenGem Brain sees</a:t>
            </a:r>
            <a:endParaRPr b="0" i="0" sz="1250" u="none" cap="none" strike="noStrike">
              <a:solidFill>
                <a:schemeClr val="dk1"/>
              </a:solidFill>
              <a:latin typeface="Calibri"/>
              <a:ea typeface="Calibri"/>
              <a:cs typeface="Calibri"/>
              <a:sym typeface="Calibri"/>
            </a:endParaRPr>
          </a:p>
        </p:txBody>
      </p:sp>
      <p:sp>
        <p:nvSpPr>
          <p:cNvPr id="1375" name="Google Shape;1375;p30"/>
          <p:cNvSpPr txBox="1"/>
          <p:nvPr/>
        </p:nvSpPr>
        <p:spPr>
          <a:xfrm>
            <a:off x="8989924" y="2916936"/>
            <a:ext cx="2159356" cy="154266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04040"/>
              </a:buClr>
              <a:buSzPts val="1050"/>
              <a:buFont typeface="Inter"/>
              <a:buNone/>
            </a:pPr>
            <a:r>
              <a:rPr b="0" i="0" lang="en-US" sz="1050" u="none" cap="none" strike="noStrike">
                <a:solidFill>
                  <a:srgbClr val="404040"/>
                </a:solidFill>
                <a:latin typeface="Inter"/>
                <a:ea typeface="Inter"/>
                <a:cs typeface="Inter"/>
                <a:sym typeface="Inter"/>
              </a:rPr>
              <a:t>Demand that tried to book and could not: </a:t>
            </a:r>
            <a:r>
              <a:rPr b="1" i="0" lang="en-US" sz="1050" u="none" cap="none" strike="noStrike">
                <a:solidFill>
                  <a:srgbClr val="404040"/>
                </a:solidFill>
                <a:latin typeface="Inter"/>
                <a:ea typeface="Inter"/>
                <a:cs typeface="Inter"/>
                <a:sym typeface="Inter"/>
              </a:rPr>
              <a:t>denial</a:t>
            </a:r>
            <a:r>
              <a:rPr b="0" i="0" lang="en-US" sz="1050" u="none" cap="none" strike="noStrike">
                <a:solidFill>
                  <a:srgbClr val="404040"/>
                </a:solidFill>
                <a:latin typeface="Inter"/>
                <a:ea typeface="Inter"/>
                <a:cs typeface="Inter"/>
                <a:sym typeface="Inter"/>
              </a:rPr>
              <a: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Booked-out-far feels like safety; it is priced too low.</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Count the calls. That is next August's rate case.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80" name="Shape 1380"/>
        <p:cNvGrpSpPr/>
        <p:nvPr/>
      </p:nvGrpSpPr>
      <p:grpSpPr>
        <a:xfrm>
          <a:off x="0" y="0"/>
          <a:ext cx="0" cy="0"/>
          <a:chOff x="0" y="0"/>
          <a:chExt cx="0" cy="0"/>
        </a:xfrm>
      </p:grpSpPr>
      <p:sp>
        <p:nvSpPr>
          <p:cNvPr id="1381" name="Google Shape;1381;p3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pic>
        <p:nvPicPr>
          <p:cNvPr descr="/home/claude/work/renderer/brand/wordmark.png" id="1382" name="Google Shape;1382;p3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383" name="Google Shape;1383;p3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29 / 65</a:t>
            </a:r>
            <a:endParaRPr b="0" i="0" sz="900" u="none" cap="none" strike="noStrike">
              <a:solidFill>
                <a:schemeClr val="dk1"/>
              </a:solidFill>
              <a:latin typeface="Calibri"/>
              <a:ea typeface="Calibri"/>
              <a:cs typeface="Calibri"/>
              <a:sym typeface="Calibri"/>
            </a:endParaRPr>
          </a:p>
        </p:txBody>
      </p:sp>
      <p:sp>
        <p:nvSpPr>
          <p:cNvPr id="1384" name="Google Shape;1384;p3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Regret</a:t>
            </a:r>
            <a:r>
              <a:rPr b="0" i="0" lang="en-US" sz="1700" u="none" cap="none" strike="noStrike">
                <a:solidFill>
                  <a:srgbClr val="004FAA"/>
                </a:solidFill>
                <a:latin typeface="Inter"/>
                <a:ea typeface="Inter"/>
                <a:cs typeface="Inter"/>
                <a:sym typeface="Inter"/>
              </a:rPr>
              <a:t>  demand that walked</a:t>
            </a:r>
            <a:endParaRPr b="0" i="0" sz="3000" u="none" cap="none" strike="noStrike">
              <a:solidFill>
                <a:schemeClr val="dk1"/>
              </a:solidFill>
              <a:latin typeface="Calibri"/>
              <a:ea typeface="Calibri"/>
              <a:cs typeface="Calibri"/>
              <a:sym typeface="Calibri"/>
            </a:endParaRPr>
          </a:p>
        </p:txBody>
      </p:sp>
      <p:sp>
        <p:nvSpPr>
          <p:cNvPr id="1385" name="Google Shape;1385;p31"/>
          <p:cNvSpPr/>
          <p:nvPr/>
        </p:nvSpPr>
        <p:spPr>
          <a:xfrm>
            <a:off x="5715000" y="1783080"/>
            <a:ext cx="5928055" cy="3170301"/>
          </a:xfrm>
          <a:prstGeom prst="roundRect">
            <a:avLst>
              <a:gd fmla="val 34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1"/>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1387" name="Google Shape;1387;p31"/>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388" name="Google Shape;1388;p31"/>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389" name="Google Shape;1389;p31"/>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Demand that looked at a date and left without booking, usually on price or restriction.</a:t>
            </a:r>
            <a:endParaRPr b="0" i="0" sz="1150" u="none" cap="none" strike="noStrike">
              <a:solidFill>
                <a:schemeClr val="dk1"/>
              </a:solidFill>
              <a:latin typeface="Calibri"/>
              <a:ea typeface="Calibri"/>
              <a:cs typeface="Calibri"/>
              <a:sym typeface="Calibri"/>
            </a:endParaRPr>
          </a:p>
        </p:txBody>
      </p:sp>
      <p:sp>
        <p:nvSpPr>
          <p:cNvPr id="1390" name="Google Shape;1390;p31"/>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1391" name="Google Shape;1391;p31"/>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1392" name="Google Shape;1392;p31"/>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393" name="Google Shape;1393;p31"/>
          <p:cNvSpPr txBox="1"/>
          <p:nvPr/>
        </p:nvSpPr>
        <p:spPr>
          <a:xfrm>
            <a:off x="1170432" y="3192399"/>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Interest is not the problem; something at the moment of booking is: the rate, or a minimum stay. Denial and regret are a pair. One couldn't book, the other wouldn't.</a:t>
            </a:r>
            <a:endParaRPr b="0" i="0" sz="1150" u="none" cap="none" strike="noStrike">
              <a:solidFill>
                <a:schemeClr val="dk1"/>
              </a:solidFill>
              <a:latin typeface="Calibri"/>
              <a:ea typeface="Calibri"/>
              <a:cs typeface="Calibri"/>
              <a:sym typeface="Calibri"/>
            </a:endParaRPr>
          </a:p>
        </p:txBody>
      </p:sp>
      <p:sp>
        <p:nvSpPr>
          <p:cNvPr id="1394" name="Google Shape;1394;p31"/>
          <p:cNvSpPr/>
          <p:nvPr/>
        </p:nvSpPr>
        <p:spPr>
          <a:xfrm>
            <a:off x="548640" y="421367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1395" name="Google Shape;1395;p31"/>
          <p:cNvPicPr preferRelativeResize="0"/>
          <p:nvPr/>
        </p:nvPicPr>
        <p:blipFill rotWithShape="1">
          <a:blip r:embed="rId6">
            <a:alphaModFix/>
          </a:blip>
          <a:srcRect b="0" l="0" r="0" t="0"/>
          <a:stretch/>
        </p:blipFill>
        <p:spPr>
          <a:xfrm>
            <a:off x="641177" y="4306207"/>
            <a:ext cx="235549" cy="235549"/>
          </a:xfrm>
          <a:prstGeom prst="rect">
            <a:avLst/>
          </a:prstGeom>
          <a:noFill/>
          <a:ln>
            <a:noFill/>
          </a:ln>
        </p:spPr>
      </p:pic>
      <p:sp>
        <p:nvSpPr>
          <p:cNvPr id="1396" name="Google Shape;1396;p31"/>
          <p:cNvSpPr txBox="1"/>
          <p:nvPr/>
        </p:nvSpPr>
        <p:spPr>
          <a:xfrm>
            <a:off x="1170432" y="419538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397" name="Google Shape;1397;p31"/>
          <p:cNvSpPr txBox="1"/>
          <p:nvPr/>
        </p:nvSpPr>
        <p:spPr>
          <a:xfrm>
            <a:off x="1170432" y="4506278"/>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Lots of people are looking at those dates and leaving — that's regret, and it usually points to price or a minimum stay.</a:t>
            </a:r>
            <a:endParaRPr b="0" i="0" sz="1150" u="none" cap="none" strike="noStrike">
              <a:solidFill>
                <a:schemeClr val="dk1"/>
              </a:solidFill>
              <a:latin typeface="Calibri"/>
              <a:ea typeface="Calibri"/>
              <a:cs typeface="Calibri"/>
              <a:sym typeface="Calibri"/>
            </a:endParaRPr>
          </a:p>
        </p:txBody>
      </p:sp>
      <p:sp>
        <p:nvSpPr>
          <p:cNvPr id="1398" name="Google Shape;1398;p31"/>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COULDN'T, VERSUS WOULDN'T</a:t>
            </a:r>
            <a:endParaRPr b="0" i="0" sz="900" u="none" cap="none" strike="noStrike">
              <a:solidFill>
                <a:schemeClr val="dk1"/>
              </a:solidFill>
              <a:latin typeface="Calibri"/>
              <a:ea typeface="Calibri"/>
              <a:cs typeface="Calibri"/>
              <a:sym typeface="Calibri"/>
            </a:endParaRPr>
          </a:p>
        </p:txBody>
      </p:sp>
      <p:sp>
        <p:nvSpPr>
          <p:cNvPr id="1399" name="Google Shape;1399;p31"/>
          <p:cNvSpPr/>
          <p:nvPr/>
        </p:nvSpPr>
        <p:spPr>
          <a:xfrm>
            <a:off x="5989320" y="2258568"/>
            <a:ext cx="2598268" cy="2420493"/>
          </a:xfrm>
          <a:prstGeom prst="roundRect">
            <a:avLst>
              <a:gd fmla="val 3778"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ock.png" id="1400" name="Google Shape;1400;p31"/>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1401" name="Google Shape;1401;p31"/>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404040"/>
              </a:buClr>
              <a:buSzPts val="1250"/>
              <a:buFont typeface="Inter"/>
              <a:buNone/>
            </a:pPr>
            <a:r>
              <a:rPr b="1" i="0" lang="en-US" sz="1250" u="none" cap="none" strike="noStrike">
                <a:solidFill>
                  <a:srgbClr val="404040"/>
                </a:solidFill>
                <a:latin typeface="Inter"/>
                <a:ea typeface="Inter"/>
                <a:cs typeface="Inter"/>
                <a:sym typeface="Inter"/>
              </a:rPr>
              <a:t>Denial: couldn't book</a:t>
            </a:r>
            <a:endParaRPr b="0" i="0" sz="1250" u="none" cap="none" strike="noStrike">
              <a:solidFill>
                <a:schemeClr val="dk1"/>
              </a:solidFill>
              <a:latin typeface="Calibri"/>
              <a:ea typeface="Calibri"/>
              <a:cs typeface="Calibri"/>
              <a:sym typeface="Calibri"/>
            </a:endParaRPr>
          </a:p>
        </p:txBody>
      </p:sp>
      <p:sp>
        <p:nvSpPr>
          <p:cNvPr id="1402" name="Google Shape;1402;p31"/>
          <p:cNvSpPr txBox="1"/>
          <p:nvPr/>
        </p:nvSpPr>
        <p:spPr>
          <a:xfrm>
            <a:off x="6208776" y="2916936"/>
            <a:ext cx="2159356" cy="739521"/>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Looked for a date. It was sold out.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Demand turned away.</a:t>
            </a:r>
            <a:endParaRPr b="0" i="0" sz="1050" u="none" cap="none" strike="noStrike">
              <a:solidFill>
                <a:schemeClr val="dk1"/>
              </a:solidFill>
              <a:latin typeface="Calibri"/>
              <a:ea typeface="Calibri"/>
              <a:cs typeface="Calibri"/>
              <a:sym typeface="Calibri"/>
            </a:endParaRPr>
          </a:p>
        </p:txBody>
      </p:sp>
      <p:sp>
        <p:nvSpPr>
          <p:cNvPr id="1403" name="Google Shape;1403;p31"/>
          <p:cNvSpPr/>
          <p:nvPr/>
        </p:nvSpPr>
        <p:spPr>
          <a:xfrm>
            <a:off x="8770468" y="2258568"/>
            <a:ext cx="2598268" cy="2420493"/>
          </a:xfrm>
          <a:prstGeom prst="roundRect">
            <a:avLst>
              <a:gd fmla="val 3778"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x-circle.png" id="1404" name="Google Shape;1404;p31"/>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1405" name="Google Shape;1405;p31"/>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Regret: wouldn't book</a:t>
            </a:r>
            <a:endParaRPr b="0" i="0" sz="1250" u="none" cap="none" strike="noStrike">
              <a:solidFill>
                <a:schemeClr val="dk1"/>
              </a:solidFill>
              <a:latin typeface="Calibri"/>
              <a:ea typeface="Calibri"/>
              <a:cs typeface="Calibri"/>
              <a:sym typeface="Calibri"/>
            </a:endParaRPr>
          </a:p>
        </p:txBody>
      </p:sp>
      <p:sp>
        <p:nvSpPr>
          <p:cNvPr id="1406" name="Google Shape;1406;p31"/>
          <p:cNvSpPr txBox="1"/>
          <p:nvPr/>
        </p:nvSpPr>
        <p:spPr>
          <a:xfrm>
            <a:off x="8989924" y="2916936"/>
            <a:ext cx="2159356" cy="154266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Looked at a date. Saw the price, or a two-night minimum.</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Left without booking. Demand that walked.</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6,000 people looked at October; bookings flat.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11" name="Shape 1411"/>
        <p:cNvGrpSpPr/>
        <p:nvPr/>
      </p:nvGrpSpPr>
      <p:grpSpPr>
        <a:xfrm>
          <a:off x="0" y="0"/>
          <a:ext cx="0" cy="0"/>
          <a:chOff x="0" y="0"/>
          <a:chExt cx="0" cy="0"/>
        </a:xfrm>
      </p:grpSpPr>
      <p:sp>
        <p:nvSpPr>
          <p:cNvPr id="1412" name="Google Shape;1412;p3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pic>
        <p:nvPicPr>
          <p:cNvPr descr="/home/claude/work/renderer/brand/wordmark.png" id="1413" name="Google Shape;1413;p3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414" name="Google Shape;1414;p3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30 / 65</a:t>
            </a:r>
            <a:endParaRPr b="0" i="0" sz="900" u="none" cap="none" strike="noStrike">
              <a:solidFill>
                <a:schemeClr val="dk1"/>
              </a:solidFill>
              <a:latin typeface="Calibri"/>
              <a:ea typeface="Calibri"/>
              <a:cs typeface="Calibri"/>
              <a:sym typeface="Calibri"/>
            </a:endParaRPr>
          </a:p>
        </p:txBody>
      </p:sp>
      <p:sp>
        <p:nvSpPr>
          <p:cNvPr id="1415" name="Google Shape;1415;p3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Orphan night</a:t>
            </a:r>
            <a:r>
              <a:rPr b="0" i="0" lang="en-US" sz="1700" u="none" cap="none" strike="noStrike">
                <a:solidFill>
                  <a:srgbClr val="004FAA"/>
                </a:solidFill>
                <a:latin typeface="Inter"/>
                <a:ea typeface="Inter"/>
                <a:cs typeface="Inter"/>
                <a:sym typeface="Inter"/>
              </a:rPr>
              <a:t>  a stranded single night</a:t>
            </a:r>
            <a:endParaRPr b="0" i="0" sz="3000" u="none" cap="none" strike="noStrike">
              <a:solidFill>
                <a:schemeClr val="dk1"/>
              </a:solidFill>
              <a:latin typeface="Calibri"/>
              <a:ea typeface="Calibri"/>
              <a:cs typeface="Calibri"/>
              <a:sym typeface="Calibri"/>
            </a:endParaRPr>
          </a:p>
        </p:txBody>
      </p:sp>
      <p:sp>
        <p:nvSpPr>
          <p:cNvPr id="1416" name="Google Shape;1416;p32"/>
          <p:cNvSpPr/>
          <p:nvPr/>
        </p:nvSpPr>
        <p:spPr>
          <a:xfrm>
            <a:off x="5715000" y="1783080"/>
            <a:ext cx="5928055" cy="3346704"/>
          </a:xfrm>
          <a:prstGeom prst="roundRect">
            <a:avLst>
              <a:gd fmla="val 327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2"/>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1418" name="Google Shape;1418;p32"/>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419" name="Google Shape;1419;p32"/>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420" name="Google Shape;1420;p32"/>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 single night left stranded between two bookings, too short for most guests to want.</a:t>
            </a:r>
            <a:endParaRPr b="0" i="0" sz="1150" u="none" cap="none" strike="noStrike">
              <a:solidFill>
                <a:schemeClr val="dk1"/>
              </a:solidFill>
              <a:latin typeface="Calibri"/>
              <a:ea typeface="Calibri"/>
              <a:cs typeface="Calibri"/>
              <a:sym typeface="Calibri"/>
            </a:endParaRPr>
          </a:p>
        </p:txBody>
      </p:sp>
      <p:sp>
        <p:nvSpPr>
          <p:cNvPr id="1421" name="Google Shape;1421;p32"/>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1422" name="Google Shape;1422;p32"/>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1423" name="Google Shape;1423;p32"/>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424" name="Google Shape;1424;p32"/>
          <p:cNvSpPr txBox="1"/>
          <p:nvPr/>
        </p:nvSpPr>
        <p:spPr>
          <a:xfrm>
            <a:off x="1170432" y="3192399"/>
            <a:ext cx="4270248" cy="109556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“94% booked” can hide a handful of single nights that will never sell on their own. At a property with a two-night minimum they cannot be sold at all. One idea, a HiddenGem Brain hypothesis and not a proven play: offer the guests either side an extra night.</a:t>
            </a:r>
            <a:endParaRPr b="0" i="0" sz="1150" u="none" cap="none" strike="noStrike">
              <a:solidFill>
                <a:schemeClr val="dk1"/>
              </a:solidFill>
              <a:latin typeface="Calibri"/>
              <a:ea typeface="Calibri"/>
              <a:cs typeface="Calibri"/>
              <a:sym typeface="Calibri"/>
            </a:endParaRPr>
          </a:p>
        </p:txBody>
      </p:sp>
      <p:sp>
        <p:nvSpPr>
          <p:cNvPr id="1425" name="Google Shape;1425;p32"/>
          <p:cNvSpPr/>
          <p:nvPr/>
        </p:nvSpPr>
        <p:spPr>
          <a:xfrm>
            <a:off x="548640" y="4608005"/>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1426" name="Google Shape;1426;p32"/>
          <p:cNvPicPr preferRelativeResize="0"/>
          <p:nvPr/>
        </p:nvPicPr>
        <p:blipFill rotWithShape="1">
          <a:blip r:embed="rId6">
            <a:alphaModFix/>
          </a:blip>
          <a:srcRect b="0" l="0" r="0" t="0"/>
          <a:stretch/>
        </p:blipFill>
        <p:spPr>
          <a:xfrm>
            <a:off x="641177" y="4700542"/>
            <a:ext cx="235549" cy="235549"/>
          </a:xfrm>
          <a:prstGeom prst="rect">
            <a:avLst/>
          </a:prstGeom>
          <a:noFill/>
          <a:ln>
            <a:noFill/>
          </a:ln>
        </p:spPr>
      </p:pic>
      <p:sp>
        <p:nvSpPr>
          <p:cNvPr id="1427" name="Google Shape;1427;p32"/>
          <p:cNvSpPr txBox="1"/>
          <p:nvPr/>
        </p:nvSpPr>
        <p:spPr>
          <a:xfrm>
            <a:off x="1170432" y="4589717"/>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428" name="Google Shape;1428;p32"/>
          <p:cNvSpPr txBox="1"/>
          <p:nvPr/>
        </p:nvSpPr>
        <p:spPr>
          <a:xfrm>
            <a:off x="1170432" y="4900613"/>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That single Tuesday between two bookings is an orphan night — a small offer could turn it into revenue.</a:t>
            </a:r>
            <a:endParaRPr b="0" i="0" sz="1150" u="none" cap="none" strike="noStrike">
              <a:solidFill>
                <a:schemeClr val="dk1"/>
              </a:solidFill>
              <a:latin typeface="Calibri"/>
              <a:ea typeface="Calibri"/>
              <a:cs typeface="Calibri"/>
              <a:sym typeface="Calibri"/>
            </a:endParaRPr>
          </a:p>
        </p:txBody>
      </p:sp>
      <p:sp>
        <p:nvSpPr>
          <p:cNvPr id="1429" name="Google Shape;1429;p32"/>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ONE ROOM, ONE MONTH</a:t>
            </a:r>
            <a:endParaRPr b="0" i="0" sz="900" u="none" cap="none" strike="noStrike">
              <a:solidFill>
                <a:schemeClr val="dk1"/>
              </a:solidFill>
              <a:latin typeface="Calibri"/>
              <a:ea typeface="Calibri"/>
              <a:cs typeface="Calibri"/>
              <a:sym typeface="Calibri"/>
            </a:endParaRPr>
          </a:p>
        </p:txBody>
      </p:sp>
      <p:sp>
        <p:nvSpPr>
          <p:cNvPr id="1430" name="Google Shape;1430;p32"/>
          <p:cNvSpPr txBox="1"/>
          <p:nvPr/>
        </p:nvSpPr>
        <p:spPr>
          <a:xfrm>
            <a:off x="5989320"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S</a:t>
            </a:r>
            <a:endParaRPr b="0" i="0" sz="850" u="none" cap="none" strike="noStrike">
              <a:solidFill>
                <a:schemeClr val="dk1"/>
              </a:solidFill>
              <a:latin typeface="Calibri"/>
              <a:ea typeface="Calibri"/>
              <a:cs typeface="Calibri"/>
              <a:sym typeface="Calibri"/>
            </a:endParaRPr>
          </a:p>
        </p:txBody>
      </p:sp>
      <p:sp>
        <p:nvSpPr>
          <p:cNvPr id="1431" name="Google Shape;1431;p32"/>
          <p:cNvSpPr txBox="1"/>
          <p:nvPr/>
        </p:nvSpPr>
        <p:spPr>
          <a:xfrm>
            <a:off x="6764339"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M</a:t>
            </a:r>
            <a:endParaRPr b="0" i="0" sz="850" u="none" cap="none" strike="noStrike">
              <a:solidFill>
                <a:schemeClr val="dk1"/>
              </a:solidFill>
              <a:latin typeface="Calibri"/>
              <a:ea typeface="Calibri"/>
              <a:cs typeface="Calibri"/>
              <a:sym typeface="Calibri"/>
            </a:endParaRPr>
          </a:p>
        </p:txBody>
      </p:sp>
      <p:sp>
        <p:nvSpPr>
          <p:cNvPr id="1432" name="Google Shape;1432;p32"/>
          <p:cNvSpPr txBox="1"/>
          <p:nvPr/>
        </p:nvSpPr>
        <p:spPr>
          <a:xfrm>
            <a:off x="7539359"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T</a:t>
            </a:r>
            <a:endParaRPr b="0" i="0" sz="850" u="none" cap="none" strike="noStrike">
              <a:solidFill>
                <a:schemeClr val="dk1"/>
              </a:solidFill>
              <a:latin typeface="Calibri"/>
              <a:ea typeface="Calibri"/>
              <a:cs typeface="Calibri"/>
              <a:sym typeface="Calibri"/>
            </a:endParaRPr>
          </a:p>
        </p:txBody>
      </p:sp>
      <p:sp>
        <p:nvSpPr>
          <p:cNvPr id="1433" name="Google Shape;1433;p32"/>
          <p:cNvSpPr txBox="1"/>
          <p:nvPr/>
        </p:nvSpPr>
        <p:spPr>
          <a:xfrm>
            <a:off x="8314378"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W</a:t>
            </a:r>
            <a:endParaRPr b="0" i="0" sz="850" u="none" cap="none" strike="noStrike">
              <a:solidFill>
                <a:schemeClr val="dk1"/>
              </a:solidFill>
              <a:latin typeface="Calibri"/>
              <a:ea typeface="Calibri"/>
              <a:cs typeface="Calibri"/>
              <a:sym typeface="Calibri"/>
            </a:endParaRPr>
          </a:p>
        </p:txBody>
      </p:sp>
      <p:sp>
        <p:nvSpPr>
          <p:cNvPr id="1434" name="Google Shape;1434;p32"/>
          <p:cNvSpPr txBox="1"/>
          <p:nvPr/>
        </p:nvSpPr>
        <p:spPr>
          <a:xfrm>
            <a:off x="9089397"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T</a:t>
            </a:r>
            <a:endParaRPr b="0" i="0" sz="850" u="none" cap="none" strike="noStrike">
              <a:solidFill>
                <a:schemeClr val="dk1"/>
              </a:solidFill>
              <a:latin typeface="Calibri"/>
              <a:ea typeface="Calibri"/>
              <a:cs typeface="Calibri"/>
              <a:sym typeface="Calibri"/>
            </a:endParaRPr>
          </a:p>
        </p:txBody>
      </p:sp>
      <p:sp>
        <p:nvSpPr>
          <p:cNvPr id="1435" name="Google Shape;1435;p32"/>
          <p:cNvSpPr txBox="1"/>
          <p:nvPr/>
        </p:nvSpPr>
        <p:spPr>
          <a:xfrm>
            <a:off x="9864417"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F</a:t>
            </a:r>
            <a:endParaRPr b="0" i="0" sz="850" u="none" cap="none" strike="noStrike">
              <a:solidFill>
                <a:schemeClr val="dk1"/>
              </a:solidFill>
              <a:latin typeface="Calibri"/>
              <a:ea typeface="Calibri"/>
              <a:cs typeface="Calibri"/>
              <a:sym typeface="Calibri"/>
            </a:endParaRPr>
          </a:p>
        </p:txBody>
      </p:sp>
      <p:sp>
        <p:nvSpPr>
          <p:cNvPr id="1436" name="Google Shape;1436;p32"/>
          <p:cNvSpPr txBox="1"/>
          <p:nvPr/>
        </p:nvSpPr>
        <p:spPr>
          <a:xfrm>
            <a:off x="10639436" y="2258568"/>
            <a:ext cx="729299" cy="182880"/>
          </a:xfrm>
          <a:prstGeom prst="rect">
            <a:avLst/>
          </a:prstGeom>
          <a:noFill/>
          <a:ln>
            <a:noFill/>
          </a:ln>
        </p:spPr>
        <p:txBody>
          <a:bodyPr anchorCtr="0" anchor="ctr" bIns="0" lIns="0" spcFirstLastPara="1" rIns="0" wrap="square" tIns="0">
            <a:noAutofit/>
          </a:bodyPr>
          <a:lstStyle/>
          <a:p>
            <a:pPr indent="0" lvl="0" marL="0" marR="0" rtl="0" algn="ctr">
              <a:lnSpc>
                <a:spcPct val="135058"/>
              </a:lnSpc>
              <a:spcBef>
                <a:spcPts val="0"/>
              </a:spcBef>
              <a:spcAft>
                <a:spcPts val="0"/>
              </a:spcAft>
              <a:buClr>
                <a:srgbClr val="737373"/>
              </a:buClr>
              <a:buSzPts val="850"/>
              <a:buFont typeface="Roboto Mono"/>
              <a:buNone/>
            </a:pPr>
            <a:r>
              <a:rPr b="0" i="0" lang="en-US" sz="850" u="none" cap="none" strike="noStrike">
                <a:solidFill>
                  <a:srgbClr val="737373"/>
                </a:solidFill>
                <a:latin typeface="Roboto Mono"/>
                <a:ea typeface="Roboto Mono"/>
                <a:cs typeface="Roboto Mono"/>
                <a:sym typeface="Roboto Mono"/>
              </a:rPr>
              <a:t>S</a:t>
            </a:r>
            <a:endParaRPr b="0" i="0" sz="850" u="none" cap="none" strike="noStrike">
              <a:solidFill>
                <a:schemeClr val="dk1"/>
              </a:solidFill>
              <a:latin typeface="Calibri"/>
              <a:ea typeface="Calibri"/>
              <a:cs typeface="Calibri"/>
              <a:sym typeface="Calibri"/>
            </a:endParaRPr>
          </a:p>
        </p:txBody>
      </p:sp>
      <p:sp>
        <p:nvSpPr>
          <p:cNvPr id="1437" name="Google Shape;1437;p32"/>
          <p:cNvSpPr/>
          <p:nvPr/>
        </p:nvSpPr>
        <p:spPr>
          <a:xfrm>
            <a:off x="7539359" y="2478024"/>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2"/>
          <p:cNvSpPr txBox="1"/>
          <p:nvPr/>
        </p:nvSpPr>
        <p:spPr>
          <a:xfrm>
            <a:off x="7585079" y="2478024"/>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a:t>
            </a:r>
            <a:endParaRPr b="0" i="0" sz="800" u="none" cap="none" strike="noStrike">
              <a:solidFill>
                <a:schemeClr val="dk1"/>
              </a:solidFill>
              <a:latin typeface="Calibri"/>
              <a:ea typeface="Calibri"/>
              <a:cs typeface="Calibri"/>
              <a:sym typeface="Calibri"/>
            </a:endParaRPr>
          </a:p>
        </p:txBody>
      </p:sp>
      <p:sp>
        <p:nvSpPr>
          <p:cNvPr id="1439" name="Google Shape;1439;p32"/>
          <p:cNvSpPr txBox="1"/>
          <p:nvPr/>
        </p:nvSpPr>
        <p:spPr>
          <a:xfrm>
            <a:off x="7758815" y="2478024"/>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40" name="Google Shape;1440;p32"/>
          <p:cNvSpPr/>
          <p:nvPr/>
        </p:nvSpPr>
        <p:spPr>
          <a:xfrm>
            <a:off x="8314378" y="2478024"/>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2"/>
          <p:cNvSpPr txBox="1"/>
          <p:nvPr/>
        </p:nvSpPr>
        <p:spPr>
          <a:xfrm>
            <a:off x="8360098" y="2478024"/>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a:t>
            </a:r>
            <a:endParaRPr b="0" i="0" sz="800" u="none" cap="none" strike="noStrike">
              <a:solidFill>
                <a:schemeClr val="dk1"/>
              </a:solidFill>
              <a:latin typeface="Calibri"/>
              <a:ea typeface="Calibri"/>
              <a:cs typeface="Calibri"/>
              <a:sym typeface="Calibri"/>
            </a:endParaRPr>
          </a:p>
        </p:txBody>
      </p:sp>
      <p:sp>
        <p:nvSpPr>
          <p:cNvPr id="1442" name="Google Shape;1442;p32"/>
          <p:cNvSpPr txBox="1"/>
          <p:nvPr/>
        </p:nvSpPr>
        <p:spPr>
          <a:xfrm>
            <a:off x="8533834" y="2478024"/>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43" name="Google Shape;1443;p32"/>
          <p:cNvSpPr/>
          <p:nvPr/>
        </p:nvSpPr>
        <p:spPr>
          <a:xfrm>
            <a:off x="9089397" y="2478024"/>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2"/>
          <p:cNvSpPr txBox="1"/>
          <p:nvPr/>
        </p:nvSpPr>
        <p:spPr>
          <a:xfrm>
            <a:off x="9135117" y="2478024"/>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3</a:t>
            </a:r>
            <a:endParaRPr b="0" i="0" sz="800" u="none" cap="none" strike="noStrike">
              <a:solidFill>
                <a:schemeClr val="dk1"/>
              </a:solidFill>
              <a:latin typeface="Calibri"/>
              <a:ea typeface="Calibri"/>
              <a:cs typeface="Calibri"/>
              <a:sym typeface="Calibri"/>
            </a:endParaRPr>
          </a:p>
        </p:txBody>
      </p:sp>
      <p:sp>
        <p:nvSpPr>
          <p:cNvPr id="1445" name="Google Shape;1445;p32"/>
          <p:cNvSpPr txBox="1"/>
          <p:nvPr/>
        </p:nvSpPr>
        <p:spPr>
          <a:xfrm>
            <a:off x="9308853" y="2478024"/>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46" name="Google Shape;1446;p32"/>
          <p:cNvSpPr/>
          <p:nvPr/>
        </p:nvSpPr>
        <p:spPr>
          <a:xfrm>
            <a:off x="9864417" y="2478024"/>
            <a:ext cx="729299" cy="387706"/>
          </a:xfrm>
          <a:prstGeom prst="roundRect">
            <a:avLst>
              <a:gd fmla="val 11792"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2"/>
          <p:cNvSpPr txBox="1"/>
          <p:nvPr/>
        </p:nvSpPr>
        <p:spPr>
          <a:xfrm>
            <a:off x="9910137" y="2478024"/>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91C1C"/>
              </a:buClr>
              <a:buSzPts val="800"/>
              <a:buFont typeface="Roboto Mono"/>
              <a:buNone/>
            </a:pPr>
            <a:r>
              <a:rPr b="1" i="0" lang="en-US" sz="800" u="none" cap="none" strike="noStrike">
                <a:solidFill>
                  <a:srgbClr val="B91C1C"/>
                </a:solidFill>
                <a:latin typeface="Roboto Mono"/>
                <a:ea typeface="Roboto Mono"/>
                <a:cs typeface="Roboto Mono"/>
                <a:sym typeface="Roboto Mono"/>
              </a:rPr>
              <a:t>4</a:t>
            </a:r>
            <a:endParaRPr b="0" i="0" sz="800" u="none" cap="none" strike="noStrike">
              <a:solidFill>
                <a:schemeClr val="dk1"/>
              </a:solidFill>
              <a:latin typeface="Calibri"/>
              <a:ea typeface="Calibri"/>
              <a:cs typeface="Calibri"/>
              <a:sym typeface="Calibri"/>
            </a:endParaRPr>
          </a:p>
        </p:txBody>
      </p:sp>
      <p:sp>
        <p:nvSpPr>
          <p:cNvPr id="1448" name="Google Shape;1448;p32"/>
          <p:cNvSpPr txBox="1"/>
          <p:nvPr/>
        </p:nvSpPr>
        <p:spPr>
          <a:xfrm>
            <a:off x="10083873" y="2478024"/>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B91C1C"/>
              </a:buClr>
              <a:buSzPts val="750"/>
              <a:buFont typeface="Roboto Mono"/>
              <a:buNone/>
            </a:pPr>
            <a:r>
              <a:rPr b="0" i="0" lang="en-US" sz="750" u="none" cap="none" strike="noStrike">
                <a:solidFill>
                  <a:srgbClr val="B91C1C"/>
                </a:solidFill>
                <a:latin typeface="Roboto Mono"/>
                <a:ea typeface="Roboto Mono"/>
                <a:cs typeface="Roboto Mono"/>
                <a:sym typeface="Roboto Mono"/>
              </a:rPr>
              <a:t>1 night</a:t>
            </a:r>
            <a:endParaRPr b="0" i="0" sz="750" u="none" cap="none" strike="noStrike">
              <a:solidFill>
                <a:schemeClr val="dk1"/>
              </a:solidFill>
              <a:latin typeface="Calibri"/>
              <a:ea typeface="Calibri"/>
              <a:cs typeface="Calibri"/>
              <a:sym typeface="Calibri"/>
            </a:endParaRPr>
          </a:p>
        </p:txBody>
      </p:sp>
      <p:sp>
        <p:nvSpPr>
          <p:cNvPr id="1449" name="Google Shape;1449;p32"/>
          <p:cNvSpPr/>
          <p:nvPr/>
        </p:nvSpPr>
        <p:spPr>
          <a:xfrm>
            <a:off x="10639436" y="2478024"/>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2"/>
          <p:cNvSpPr txBox="1"/>
          <p:nvPr/>
        </p:nvSpPr>
        <p:spPr>
          <a:xfrm>
            <a:off x="10685156" y="2478024"/>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5</a:t>
            </a:r>
            <a:endParaRPr b="0" i="0" sz="800" u="none" cap="none" strike="noStrike">
              <a:solidFill>
                <a:schemeClr val="dk1"/>
              </a:solidFill>
              <a:latin typeface="Calibri"/>
              <a:ea typeface="Calibri"/>
              <a:cs typeface="Calibri"/>
              <a:sym typeface="Calibri"/>
            </a:endParaRPr>
          </a:p>
        </p:txBody>
      </p:sp>
      <p:sp>
        <p:nvSpPr>
          <p:cNvPr id="1451" name="Google Shape;1451;p32"/>
          <p:cNvSpPr txBox="1"/>
          <p:nvPr/>
        </p:nvSpPr>
        <p:spPr>
          <a:xfrm>
            <a:off x="10858892" y="2478024"/>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52" name="Google Shape;1452;p32"/>
          <p:cNvSpPr/>
          <p:nvPr/>
        </p:nvSpPr>
        <p:spPr>
          <a:xfrm>
            <a:off x="5989320"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2"/>
          <p:cNvSpPr txBox="1"/>
          <p:nvPr/>
        </p:nvSpPr>
        <p:spPr>
          <a:xfrm>
            <a:off x="6035040"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6</a:t>
            </a:r>
            <a:endParaRPr b="0" i="0" sz="800" u="none" cap="none" strike="noStrike">
              <a:solidFill>
                <a:schemeClr val="dk1"/>
              </a:solidFill>
              <a:latin typeface="Calibri"/>
              <a:ea typeface="Calibri"/>
              <a:cs typeface="Calibri"/>
              <a:sym typeface="Calibri"/>
            </a:endParaRPr>
          </a:p>
        </p:txBody>
      </p:sp>
      <p:sp>
        <p:nvSpPr>
          <p:cNvPr id="1454" name="Google Shape;1454;p32"/>
          <p:cNvSpPr txBox="1"/>
          <p:nvPr/>
        </p:nvSpPr>
        <p:spPr>
          <a:xfrm>
            <a:off x="6208776"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55" name="Google Shape;1455;p32"/>
          <p:cNvSpPr/>
          <p:nvPr/>
        </p:nvSpPr>
        <p:spPr>
          <a:xfrm>
            <a:off x="6764339"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2"/>
          <p:cNvSpPr txBox="1"/>
          <p:nvPr/>
        </p:nvSpPr>
        <p:spPr>
          <a:xfrm>
            <a:off x="6810059"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7</a:t>
            </a:r>
            <a:endParaRPr b="0" i="0" sz="800" u="none" cap="none" strike="noStrike">
              <a:solidFill>
                <a:schemeClr val="dk1"/>
              </a:solidFill>
              <a:latin typeface="Calibri"/>
              <a:ea typeface="Calibri"/>
              <a:cs typeface="Calibri"/>
              <a:sym typeface="Calibri"/>
            </a:endParaRPr>
          </a:p>
        </p:txBody>
      </p:sp>
      <p:sp>
        <p:nvSpPr>
          <p:cNvPr id="1457" name="Google Shape;1457;p32"/>
          <p:cNvSpPr txBox="1"/>
          <p:nvPr/>
        </p:nvSpPr>
        <p:spPr>
          <a:xfrm>
            <a:off x="6983795"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58" name="Google Shape;1458;p32"/>
          <p:cNvSpPr/>
          <p:nvPr/>
        </p:nvSpPr>
        <p:spPr>
          <a:xfrm>
            <a:off x="7539359"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2"/>
          <p:cNvSpPr txBox="1"/>
          <p:nvPr/>
        </p:nvSpPr>
        <p:spPr>
          <a:xfrm>
            <a:off x="7585079"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8</a:t>
            </a:r>
            <a:endParaRPr b="0" i="0" sz="800" u="none" cap="none" strike="noStrike">
              <a:solidFill>
                <a:schemeClr val="dk1"/>
              </a:solidFill>
              <a:latin typeface="Calibri"/>
              <a:ea typeface="Calibri"/>
              <a:cs typeface="Calibri"/>
              <a:sym typeface="Calibri"/>
            </a:endParaRPr>
          </a:p>
        </p:txBody>
      </p:sp>
      <p:sp>
        <p:nvSpPr>
          <p:cNvPr id="1460" name="Google Shape;1460;p32"/>
          <p:cNvSpPr txBox="1"/>
          <p:nvPr/>
        </p:nvSpPr>
        <p:spPr>
          <a:xfrm>
            <a:off x="7758815"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61" name="Google Shape;1461;p32"/>
          <p:cNvSpPr/>
          <p:nvPr/>
        </p:nvSpPr>
        <p:spPr>
          <a:xfrm>
            <a:off x="8314378"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2"/>
          <p:cNvSpPr txBox="1"/>
          <p:nvPr/>
        </p:nvSpPr>
        <p:spPr>
          <a:xfrm>
            <a:off x="8360098"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9</a:t>
            </a:r>
            <a:endParaRPr b="0" i="0" sz="800" u="none" cap="none" strike="noStrike">
              <a:solidFill>
                <a:schemeClr val="dk1"/>
              </a:solidFill>
              <a:latin typeface="Calibri"/>
              <a:ea typeface="Calibri"/>
              <a:cs typeface="Calibri"/>
              <a:sym typeface="Calibri"/>
            </a:endParaRPr>
          </a:p>
        </p:txBody>
      </p:sp>
      <p:sp>
        <p:nvSpPr>
          <p:cNvPr id="1463" name="Google Shape;1463;p32"/>
          <p:cNvSpPr txBox="1"/>
          <p:nvPr/>
        </p:nvSpPr>
        <p:spPr>
          <a:xfrm>
            <a:off x="8533834"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64" name="Google Shape;1464;p32"/>
          <p:cNvSpPr/>
          <p:nvPr/>
        </p:nvSpPr>
        <p:spPr>
          <a:xfrm>
            <a:off x="9089397"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2"/>
          <p:cNvSpPr txBox="1"/>
          <p:nvPr/>
        </p:nvSpPr>
        <p:spPr>
          <a:xfrm>
            <a:off x="9135117"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10</a:t>
            </a:r>
            <a:endParaRPr b="0" i="0" sz="800" u="none" cap="none" strike="noStrike">
              <a:solidFill>
                <a:schemeClr val="dk1"/>
              </a:solidFill>
              <a:latin typeface="Calibri"/>
              <a:ea typeface="Calibri"/>
              <a:cs typeface="Calibri"/>
              <a:sym typeface="Calibri"/>
            </a:endParaRPr>
          </a:p>
        </p:txBody>
      </p:sp>
      <p:sp>
        <p:nvSpPr>
          <p:cNvPr id="1466" name="Google Shape;1466;p32"/>
          <p:cNvSpPr txBox="1"/>
          <p:nvPr/>
        </p:nvSpPr>
        <p:spPr>
          <a:xfrm>
            <a:off x="9308853"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67" name="Google Shape;1467;p32"/>
          <p:cNvSpPr/>
          <p:nvPr/>
        </p:nvSpPr>
        <p:spPr>
          <a:xfrm>
            <a:off x="9864417"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2"/>
          <p:cNvSpPr txBox="1"/>
          <p:nvPr/>
        </p:nvSpPr>
        <p:spPr>
          <a:xfrm>
            <a:off x="9910137"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11</a:t>
            </a:r>
            <a:endParaRPr b="0" i="0" sz="800" u="none" cap="none" strike="noStrike">
              <a:solidFill>
                <a:schemeClr val="dk1"/>
              </a:solidFill>
              <a:latin typeface="Calibri"/>
              <a:ea typeface="Calibri"/>
              <a:cs typeface="Calibri"/>
              <a:sym typeface="Calibri"/>
            </a:endParaRPr>
          </a:p>
        </p:txBody>
      </p:sp>
      <p:sp>
        <p:nvSpPr>
          <p:cNvPr id="1469" name="Google Shape;1469;p32"/>
          <p:cNvSpPr txBox="1"/>
          <p:nvPr/>
        </p:nvSpPr>
        <p:spPr>
          <a:xfrm>
            <a:off x="10083873"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70" name="Google Shape;1470;p32"/>
          <p:cNvSpPr/>
          <p:nvPr/>
        </p:nvSpPr>
        <p:spPr>
          <a:xfrm>
            <a:off x="10639436" y="2911450"/>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2"/>
          <p:cNvSpPr txBox="1"/>
          <p:nvPr/>
        </p:nvSpPr>
        <p:spPr>
          <a:xfrm>
            <a:off x="10685156" y="2911450"/>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12</a:t>
            </a:r>
            <a:endParaRPr b="0" i="0" sz="800" u="none" cap="none" strike="noStrike">
              <a:solidFill>
                <a:schemeClr val="dk1"/>
              </a:solidFill>
              <a:latin typeface="Calibri"/>
              <a:ea typeface="Calibri"/>
              <a:cs typeface="Calibri"/>
              <a:sym typeface="Calibri"/>
            </a:endParaRPr>
          </a:p>
        </p:txBody>
      </p:sp>
      <p:sp>
        <p:nvSpPr>
          <p:cNvPr id="1472" name="Google Shape;1472;p32"/>
          <p:cNvSpPr txBox="1"/>
          <p:nvPr/>
        </p:nvSpPr>
        <p:spPr>
          <a:xfrm>
            <a:off x="10858892" y="2911450"/>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73" name="Google Shape;1473;p32"/>
          <p:cNvSpPr/>
          <p:nvPr/>
        </p:nvSpPr>
        <p:spPr>
          <a:xfrm>
            <a:off x="5989320" y="3344875"/>
            <a:ext cx="729299" cy="387706"/>
          </a:xfrm>
          <a:prstGeom prst="roundRect">
            <a:avLst>
              <a:gd fmla="val 11792"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2"/>
          <p:cNvSpPr txBox="1"/>
          <p:nvPr/>
        </p:nvSpPr>
        <p:spPr>
          <a:xfrm>
            <a:off x="6035040"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91C1C"/>
              </a:buClr>
              <a:buSzPts val="800"/>
              <a:buFont typeface="Roboto Mono"/>
              <a:buNone/>
            </a:pPr>
            <a:r>
              <a:rPr b="1" i="0" lang="en-US" sz="800" u="none" cap="none" strike="noStrike">
                <a:solidFill>
                  <a:srgbClr val="B91C1C"/>
                </a:solidFill>
                <a:latin typeface="Roboto Mono"/>
                <a:ea typeface="Roboto Mono"/>
                <a:cs typeface="Roboto Mono"/>
                <a:sym typeface="Roboto Mono"/>
              </a:rPr>
              <a:t>13</a:t>
            </a:r>
            <a:endParaRPr b="0" i="0" sz="800" u="none" cap="none" strike="noStrike">
              <a:solidFill>
                <a:schemeClr val="dk1"/>
              </a:solidFill>
              <a:latin typeface="Calibri"/>
              <a:ea typeface="Calibri"/>
              <a:cs typeface="Calibri"/>
              <a:sym typeface="Calibri"/>
            </a:endParaRPr>
          </a:p>
        </p:txBody>
      </p:sp>
      <p:sp>
        <p:nvSpPr>
          <p:cNvPr id="1475" name="Google Shape;1475;p32"/>
          <p:cNvSpPr txBox="1"/>
          <p:nvPr/>
        </p:nvSpPr>
        <p:spPr>
          <a:xfrm>
            <a:off x="6208776"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B91C1C"/>
              </a:buClr>
              <a:buSzPts val="750"/>
              <a:buFont typeface="Roboto Mono"/>
              <a:buNone/>
            </a:pPr>
            <a:r>
              <a:rPr b="0" i="0" lang="en-US" sz="750" u="none" cap="none" strike="noStrike">
                <a:solidFill>
                  <a:srgbClr val="B91C1C"/>
                </a:solidFill>
                <a:latin typeface="Roboto Mono"/>
                <a:ea typeface="Roboto Mono"/>
                <a:cs typeface="Roboto Mono"/>
                <a:sym typeface="Roboto Mono"/>
              </a:rPr>
              <a:t>1 night</a:t>
            </a:r>
            <a:endParaRPr b="0" i="0" sz="750" u="none" cap="none" strike="noStrike">
              <a:solidFill>
                <a:schemeClr val="dk1"/>
              </a:solidFill>
              <a:latin typeface="Calibri"/>
              <a:ea typeface="Calibri"/>
              <a:cs typeface="Calibri"/>
              <a:sym typeface="Calibri"/>
            </a:endParaRPr>
          </a:p>
        </p:txBody>
      </p:sp>
      <p:sp>
        <p:nvSpPr>
          <p:cNvPr id="1476" name="Google Shape;1476;p32"/>
          <p:cNvSpPr/>
          <p:nvPr/>
        </p:nvSpPr>
        <p:spPr>
          <a:xfrm>
            <a:off x="6764339" y="3344875"/>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2"/>
          <p:cNvSpPr txBox="1"/>
          <p:nvPr/>
        </p:nvSpPr>
        <p:spPr>
          <a:xfrm>
            <a:off x="6810059"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14</a:t>
            </a:r>
            <a:endParaRPr b="0" i="0" sz="800" u="none" cap="none" strike="noStrike">
              <a:solidFill>
                <a:schemeClr val="dk1"/>
              </a:solidFill>
              <a:latin typeface="Calibri"/>
              <a:ea typeface="Calibri"/>
              <a:cs typeface="Calibri"/>
              <a:sym typeface="Calibri"/>
            </a:endParaRPr>
          </a:p>
        </p:txBody>
      </p:sp>
      <p:sp>
        <p:nvSpPr>
          <p:cNvPr id="1478" name="Google Shape;1478;p32"/>
          <p:cNvSpPr txBox="1"/>
          <p:nvPr/>
        </p:nvSpPr>
        <p:spPr>
          <a:xfrm>
            <a:off x="6983795"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79" name="Google Shape;1479;p32"/>
          <p:cNvSpPr/>
          <p:nvPr/>
        </p:nvSpPr>
        <p:spPr>
          <a:xfrm>
            <a:off x="7539359" y="3344875"/>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2"/>
          <p:cNvSpPr txBox="1"/>
          <p:nvPr/>
        </p:nvSpPr>
        <p:spPr>
          <a:xfrm>
            <a:off x="7585079"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15</a:t>
            </a:r>
            <a:endParaRPr b="0" i="0" sz="800" u="none" cap="none" strike="noStrike">
              <a:solidFill>
                <a:schemeClr val="dk1"/>
              </a:solidFill>
              <a:latin typeface="Calibri"/>
              <a:ea typeface="Calibri"/>
              <a:cs typeface="Calibri"/>
              <a:sym typeface="Calibri"/>
            </a:endParaRPr>
          </a:p>
        </p:txBody>
      </p:sp>
      <p:sp>
        <p:nvSpPr>
          <p:cNvPr id="1481" name="Google Shape;1481;p32"/>
          <p:cNvSpPr txBox="1"/>
          <p:nvPr/>
        </p:nvSpPr>
        <p:spPr>
          <a:xfrm>
            <a:off x="7758815"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82" name="Google Shape;1482;p32"/>
          <p:cNvSpPr/>
          <p:nvPr/>
        </p:nvSpPr>
        <p:spPr>
          <a:xfrm>
            <a:off x="8314378" y="3344875"/>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2"/>
          <p:cNvSpPr txBox="1"/>
          <p:nvPr/>
        </p:nvSpPr>
        <p:spPr>
          <a:xfrm>
            <a:off x="8360098"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16</a:t>
            </a:r>
            <a:endParaRPr b="0" i="0" sz="800" u="none" cap="none" strike="noStrike">
              <a:solidFill>
                <a:schemeClr val="dk1"/>
              </a:solidFill>
              <a:latin typeface="Calibri"/>
              <a:ea typeface="Calibri"/>
              <a:cs typeface="Calibri"/>
              <a:sym typeface="Calibri"/>
            </a:endParaRPr>
          </a:p>
        </p:txBody>
      </p:sp>
      <p:sp>
        <p:nvSpPr>
          <p:cNvPr id="1484" name="Google Shape;1484;p32"/>
          <p:cNvSpPr txBox="1"/>
          <p:nvPr/>
        </p:nvSpPr>
        <p:spPr>
          <a:xfrm>
            <a:off x="8533834"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85" name="Google Shape;1485;p32"/>
          <p:cNvSpPr/>
          <p:nvPr/>
        </p:nvSpPr>
        <p:spPr>
          <a:xfrm>
            <a:off x="9089397" y="3344875"/>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2"/>
          <p:cNvSpPr txBox="1"/>
          <p:nvPr/>
        </p:nvSpPr>
        <p:spPr>
          <a:xfrm>
            <a:off x="9135117"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17</a:t>
            </a:r>
            <a:endParaRPr b="0" i="0" sz="800" u="none" cap="none" strike="noStrike">
              <a:solidFill>
                <a:schemeClr val="dk1"/>
              </a:solidFill>
              <a:latin typeface="Calibri"/>
              <a:ea typeface="Calibri"/>
              <a:cs typeface="Calibri"/>
              <a:sym typeface="Calibri"/>
            </a:endParaRPr>
          </a:p>
        </p:txBody>
      </p:sp>
      <p:sp>
        <p:nvSpPr>
          <p:cNvPr id="1487" name="Google Shape;1487;p32"/>
          <p:cNvSpPr txBox="1"/>
          <p:nvPr/>
        </p:nvSpPr>
        <p:spPr>
          <a:xfrm>
            <a:off x="9308853"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88" name="Google Shape;1488;p32"/>
          <p:cNvSpPr/>
          <p:nvPr/>
        </p:nvSpPr>
        <p:spPr>
          <a:xfrm>
            <a:off x="9864417" y="3344875"/>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2"/>
          <p:cNvSpPr txBox="1"/>
          <p:nvPr/>
        </p:nvSpPr>
        <p:spPr>
          <a:xfrm>
            <a:off x="9910137"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18</a:t>
            </a:r>
            <a:endParaRPr b="0" i="0" sz="800" u="none" cap="none" strike="noStrike">
              <a:solidFill>
                <a:schemeClr val="dk1"/>
              </a:solidFill>
              <a:latin typeface="Calibri"/>
              <a:ea typeface="Calibri"/>
              <a:cs typeface="Calibri"/>
              <a:sym typeface="Calibri"/>
            </a:endParaRPr>
          </a:p>
        </p:txBody>
      </p:sp>
      <p:sp>
        <p:nvSpPr>
          <p:cNvPr id="1490" name="Google Shape;1490;p32"/>
          <p:cNvSpPr txBox="1"/>
          <p:nvPr/>
        </p:nvSpPr>
        <p:spPr>
          <a:xfrm>
            <a:off x="10083873"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91" name="Google Shape;1491;p32"/>
          <p:cNvSpPr/>
          <p:nvPr/>
        </p:nvSpPr>
        <p:spPr>
          <a:xfrm>
            <a:off x="10639436" y="3344875"/>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2"/>
          <p:cNvSpPr txBox="1"/>
          <p:nvPr/>
        </p:nvSpPr>
        <p:spPr>
          <a:xfrm>
            <a:off x="10685156" y="3344875"/>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19</a:t>
            </a:r>
            <a:endParaRPr b="0" i="0" sz="800" u="none" cap="none" strike="noStrike">
              <a:solidFill>
                <a:schemeClr val="dk1"/>
              </a:solidFill>
              <a:latin typeface="Calibri"/>
              <a:ea typeface="Calibri"/>
              <a:cs typeface="Calibri"/>
              <a:sym typeface="Calibri"/>
            </a:endParaRPr>
          </a:p>
        </p:txBody>
      </p:sp>
      <p:sp>
        <p:nvSpPr>
          <p:cNvPr id="1493" name="Google Shape;1493;p32"/>
          <p:cNvSpPr txBox="1"/>
          <p:nvPr/>
        </p:nvSpPr>
        <p:spPr>
          <a:xfrm>
            <a:off x="10858892" y="3344875"/>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94" name="Google Shape;1494;p32"/>
          <p:cNvSpPr/>
          <p:nvPr/>
        </p:nvSpPr>
        <p:spPr>
          <a:xfrm>
            <a:off x="5989320" y="3778301"/>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2"/>
          <p:cNvSpPr txBox="1"/>
          <p:nvPr/>
        </p:nvSpPr>
        <p:spPr>
          <a:xfrm>
            <a:off x="6035040"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20</a:t>
            </a:r>
            <a:endParaRPr b="0" i="0" sz="800" u="none" cap="none" strike="noStrike">
              <a:solidFill>
                <a:schemeClr val="dk1"/>
              </a:solidFill>
              <a:latin typeface="Calibri"/>
              <a:ea typeface="Calibri"/>
              <a:cs typeface="Calibri"/>
              <a:sym typeface="Calibri"/>
            </a:endParaRPr>
          </a:p>
        </p:txBody>
      </p:sp>
      <p:sp>
        <p:nvSpPr>
          <p:cNvPr id="1496" name="Google Shape;1496;p32"/>
          <p:cNvSpPr txBox="1"/>
          <p:nvPr/>
        </p:nvSpPr>
        <p:spPr>
          <a:xfrm>
            <a:off x="6208776"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497" name="Google Shape;1497;p32"/>
          <p:cNvSpPr/>
          <p:nvPr/>
        </p:nvSpPr>
        <p:spPr>
          <a:xfrm>
            <a:off x="6764339" y="3778301"/>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2"/>
          <p:cNvSpPr txBox="1"/>
          <p:nvPr/>
        </p:nvSpPr>
        <p:spPr>
          <a:xfrm>
            <a:off x="6810059"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21</a:t>
            </a:r>
            <a:endParaRPr b="0" i="0" sz="800" u="none" cap="none" strike="noStrike">
              <a:solidFill>
                <a:schemeClr val="dk1"/>
              </a:solidFill>
              <a:latin typeface="Calibri"/>
              <a:ea typeface="Calibri"/>
              <a:cs typeface="Calibri"/>
              <a:sym typeface="Calibri"/>
            </a:endParaRPr>
          </a:p>
        </p:txBody>
      </p:sp>
      <p:sp>
        <p:nvSpPr>
          <p:cNvPr id="1499" name="Google Shape;1499;p32"/>
          <p:cNvSpPr txBox="1"/>
          <p:nvPr/>
        </p:nvSpPr>
        <p:spPr>
          <a:xfrm>
            <a:off x="6983795"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500" name="Google Shape;1500;p32"/>
          <p:cNvSpPr/>
          <p:nvPr/>
        </p:nvSpPr>
        <p:spPr>
          <a:xfrm>
            <a:off x="7539359" y="3778301"/>
            <a:ext cx="729299" cy="387706"/>
          </a:xfrm>
          <a:prstGeom prst="roundRect">
            <a:avLst>
              <a:gd fmla="val 11792"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2"/>
          <p:cNvSpPr txBox="1"/>
          <p:nvPr/>
        </p:nvSpPr>
        <p:spPr>
          <a:xfrm>
            <a:off x="7585079"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91C1C"/>
              </a:buClr>
              <a:buSzPts val="800"/>
              <a:buFont typeface="Roboto Mono"/>
              <a:buNone/>
            </a:pPr>
            <a:r>
              <a:rPr b="1" i="0" lang="en-US" sz="800" u="none" cap="none" strike="noStrike">
                <a:solidFill>
                  <a:srgbClr val="B91C1C"/>
                </a:solidFill>
                <a:latin typeface="Roboto Mono"/>
                <a:ea typeface="Roboto Mono"/>
                <a:cs typeface="Roboto Mono"/>
                <a:sym typeface="Roboto Mono"/>
              </a:rPr>
              <a:t>22</a:t>
            </a:r>
            <a:endParaRPr b="0" i="0" sz="800" u="none" cap="none" strike="noStrike">
              <a:solidFill>
                <a:schemeClr val="dk1"/>
              </a:solidFill>
              <a:latin typeface="Calibri"/>
              <a:ea typeface="Calibri"/>
              <a:cs typeface="Calibri"/>
              <a:sym typeface="Calibri"/>
            </a:endParaRPr>
          </a:p>
        </p:txBody>
      </p:sp>
      <p:sp>
        <p:nvSpPr>
          <p:cNvPr id="1502" name="Google Shape;1502;p32"/>
          <p:cNvSpPr txBox="1"/>
          <p:nvPr/>
        </p:nvSpPr>
        <p:spPr>
          <a:xfrm>
            <a:off x="7758815"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B91C1C"/>
              </a:buClr>
              <a:buSzPts val="750"/>
              <a:buFont typeface="Roboto Mono"/>
              <a:buNone/>
            </a:pPr>
            <a:r>
              <a:rPr b="0" i="0" lang="en-US" sz="750" u="none" cap="none" strike="noStrike">
                <a:solidFill>
                  <a:srgbClr val="B91C1C"/>
                </a:solidFill>
                <a:latin typeface="Roboto Mono"/>
                <a:ea typeface="Roboto Mono"/>
                <a:cs typeface="Roboto Mono"/>
                <a:sym typeface="Roboto Mono"/>
              </a:rPr>
              <a:t>1 night</a:t>
            </a:r>
            <a:endParaRPr b="0" i="0" sz="750" u="none" cap="none" strike="noStrike">
              <a:solidFill>
                <a:schemeClr val="dk1"/>
              </a:solidFill>
              <a:latin typeface="Calibri"/>
              <a:ea typeface="Calibri"/>
              <a:cs typeface="Calibri"/>
              <a:sym typeface="Calibri"/>
            </a:endParaRPr>
          </a:p>
        </p:txBody>
      </p:sp>
      <p:sp>
        <p:nvSpPr>
          <p:cNvPr id="1503" name="Google Shape;1503;p32"/>
          <p:cNvSpPr/>
          <p:nvPr/>
        </p:nvSpPr>
        <p:spPr>
          <a:xfrm>
            <a:off x="8314378" y="3778301"/>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2"/>
          <p:cNvSpPr txBox="1"/>
          <p:nvPr/>
        </p:nvSpPr>
        <p:spPr>
          <a:xfrm>
            <a:off x="8360098"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23</a:t>
            </a:r>
            <a:endParaRPr b="0" i="0" sz="800" u="none" cap="none" strike="noStrike">
              <a:solidFill>
                <a:schemeClr val="dk1"/>
              </a:solidFill>
              <a:latin typeface="Calibri"/>
              <a:ea typeface="Calibri"/>
              <a:cs typeface="Calibri"/>
              <a:sym typeface="Calibri"/>
            </a:endParaRPr>
          </a:p>
        </p:txBody>
      </p:sp>
      <p:sp>
        <p:nvSpPr>
          <p:cNvPr id="1505" name="Google Shape;1505;p32"/>
          <p:cNvSpPr txBox="1"/>
          <p:nvPr/>
        </p:nvSpPr>
        <p:spPr>
          <a:xfrm>
            <a:off x="8533834"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506" name="Google Shape;1506;p32"/>
          <p:cNvSpPr/>
          <p:nvPr/>
        </p:nvSpPr>
        <p:spPr>
          <a:xfrm>
            <a:off x="9089397" y="3778301"/>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2"/>
          <p:cNvSpPr txBox="1"/>
          <p:nvPr/>
        </p:nvSpPr>
        <p:spPr>
          <a:xfrm>
            <a:off x="9135117"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24</a:t>
            </a:r>
            <a:endParaRPr b="0" i="0" sz="800" u="none" cap="none" strike="noStrike">
              <a:solidFill>
                <a:schemeClr val="dk1"/>
              </a:solidFill>
              <a:latin typeface="Calibri"/>
              <a:ea typeface="Calibri"/>
              <a:cs typeface="Calibri"/>
              <a:sym typeface="Calibri"/>
            </a:endParaRPr>
          </a:p>
        </p:txBody>
      </p:sp>
      <p:sp>
        <p:nvSpPr>
          <p:cNvPr id="1508" name="Google Shape;1508;p32"/>
          <p:cNvSpPr txBox="1"/>
          <p:nvPr/>
        </p:nvSpPr>
        <p:spPr>
          <a:xfrm>
            <a:off x="9308853"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509" name="Google Shape;1509;p32"/>
          <p:cNvSpPr/>
          <p:nvPr/>
        </p:nvSpPr>
        <p:spPr>
          <a:xfrm>
            <a:off x="9864417" y="3778301"/>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2"/>
          <p:cNvSpPr txBox="1"/>
          <p:nvPr/>
        </p:nvSpPr>
        <p:spPr>
          <a:xfrm>
            <a:off x="9910137"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25</a:t>
            </a:r>
            <a:endParaRPr b="0" i="0" sz="800" u="none" cap="none" strike="noStrike">
              <a:solidFill>
                <a:schemeClr val="dk1"/>
              </a:solidFill>
              <a:latin typeface="Calibri"/>
              <a:ea typeface="Calibri"/>
              <a:cs typeface="Calibri"/>
              <a:sym typeface="Calibri"/>
            </a:endParaRPr>
          </a:p>
        </p:txBody>
      </p:sp>
      <p:sp>
        <p:nvSpPr>
          <p:cNvPr id="1511" name="Google Shape;1511;p32"/>
          <p:cNvSpPr txBox="1"/>
          <p:nvPr/>
        </p:nvSpPr>
        <p:spPr>
          <a:xfrm>
            <a:off x="10083873"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512" name="Google Shape;1512;p32"/>
          <p:cNvSpPr/>
          <p:nvPr/>
        </p:nvSpPr>
        <p:spPr>
          <a:xfrm>
            <a:off x="10639436" y="3778301"/>
            <a:ext cx="729299" cy="387706"/>
          </a:xfrm>
          <a:prstGeom prst="roundRect">
            <a:avLst>
              <a:gd fmla="val 11792"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2"/>
          <p:cNvSpPr txBox="1"/>
          <p:nvPr/>
        </p:nvSpPr>
        <p:spPr>
          <a:xfrm>
            <a:off x="10685156" y="3778301"/>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800"/>
              <a:buFont typeface="Roboto Mono"/>
              <a:buNone/>
            </a:pPr>
            <a:r>
              <a:rPr b="1" i="0" lang="en-US" sz="800" u="none" cap="none" strike="noStrike">
                <a:solidFill>
                  <a:srgbClr val="FFFFFF"/>
                </a:solidFill>
                <a:latin typeface="Roboto Mono"/>
                <a:ea typeface="Roboto Mono"/>
                <a:cs typeface="Roboto Mono"/>
                <a:sym typeface="Roboto Mono"/>
              </a:rPr>
              <a:t>26</a:t>
            </a:r>
            <a:endParaRPr b="0" i="0" sz="800" u="none" cap="none" strike="noStrike">
              <a:solidFill>
                <a:schemeClr val="dk1"/>
              </a:solidFill>
              <a:latin typeface="Calibri"/>
              <a:ea typeface="Calibri"/>
              <a:cs typeface="Calibri"/>
              <a:sym typeface="Calibri"/>
            </a:endParaRPr>
          </a:p>
        </p:txBody>
      </p:sp>
      <p:sp>
        <p:nvSpPr>
          <p:cNvPr id="1514" name="Google Shape;1514;p32"/>
          <p:cNvSpPr txBox="1"/>
          <p:nvPr/>
        </p:nvSpPr>
        <p:spPr>
          <a:xfrm>
            <a:off x="10858892" y="3778301"/>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FFFFFF"/>
              </a:buClr>
              <a:buSzPts val="750"/>
              <a:buFont typeface="Roboto Mono"/>
              <a:buNone/>
            </a:pPr>
            <a:r>
              <a:rPr b="0" i="0" lang="en-US" sz="750" u="none" cap="none" strike="noStrike">
                <a:solidFill>
                  <a:srgbClr val="FFFFFF"/>
                </a:solidFill>
                <a:latin typeface="Roboto Mono"/>
                <a:ea typeface="Roboto Mono"/>
                <a:cs typeface="Roboto Mono"/>
                <a:sym typeface="Roboto Mono"/>
              </a:rPr>
              <a:t>booked</a:t>
            </a:r>
            <a:endParaRPr b="0" i="0" sz="750" u="none" cap="none" strike="noStrike">
              <a:solidFill>
                <a:schemeClr val="dk1"/>
              </a:solidFill>
              <a:latin typeface="Calibri"/>
              <a:ea typeface="Calibri"/>
              <a:cs typeface="Calibri"/>
              <a:sym typeface="Calibri"/>
            </a:endParaRPr>
          </a:p>
        </p:txBody>
      </p:sp>
      <p:sp>
        <p:nvSpPr>
          <p:cNvPr id="1515" name="Google Shape;1515;p32"/>
          <p:cNvSpPr/>
          <p:nvPr/>
        </p:nvSpPr>
        <p:spPr>
          <a:xfrm>
            <a:off x="5989320" y="4211726"/>
            <a:ext cx="729299" cy="387706"/>
          </a:xfrm>
          <a:prstGeom prst="roundRect">
            <a:avLst>
              <a:gd fmla="val 11792"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2"/>
          <p:cNvSpPr txBox="1"/>
          <p:nvPr/>
        </p:nvSpPr>
        <p:spPr>
          <a:xfrm>
            <a:off x="6035040" y="4211726"/>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A3A3A3"/>
              </a:buClr>
              <a:buSzPts val="800"/>
              <a:buFont typeface="Roboto Mono"/>
              <a:buNone/>
            </a:pPr>
            <a:r>
              <a:rPr b="1" i="0" lang="en-US" sz="800" u="none" cap="none" strike="noStrike">
                <a:solidFill>
                  <a:srgbClr val="A3A3A3"/>
                </a:solidFill>
                <a:latin typeface="Roboto Mono"/>
                <a:ea typeface="Roboto Mono"/>
                <a:cs typeface="Roboto Mono"/>
                <a:sym typeface="Roboto Mono"/>
              </a:rPr>
              <a:t>27</a:t>
            </a:r>
            <a:endParaRPr b="0" i="0" sz="800" u="none" cap="none" strike="noStrike">
              <a:solidFill>
                <a:schemeClr val="dk1"/>
              </a:solidFill>
              <a:latin typeface="Calibri"/>
              <a:ea typeface="Calibri"/>
              <a:cs typeface="Calibri"/>
              <a:sym typeface="Calibri"/>
            </a:endParaRPr>
          </a:p>
        </p:txBody>
      </p:sp>
      <p:sp>
        <p:nvSpPr>
          <p:cNvPr id="1517" name="Google Shape;1517;p32"/>
          <p:cNvSpPr txBox="1"/>
          <p:nvPr/>
        </p:nvSpPr>
        <p:spPr>
          <a:xfrm>
            <a:off x="6208776" y="4211726"/>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open</a:t>
            </a:r>
            <a:endParaRPr b="0" i="0" sz="750" u="none" cap="none" strike="noStrike">
              <a:solidFill>
                <a:schemeClr val="dk1"/>
              </a:solidFill>
              <a:latin typeface="Calibri"/>
              <a:ea typeface="Calibri"/>
              <a:cs typeface="Calibri"/>
              <a:sym typeface="Calibri"/>
            </a:endParaRPr>
          </a:p>
        </p:txBody>
      </p:sp>
      <p:sp>
        <p:nvSpPr>
          <p:cNvPr id="1518" name="Google Shape;1518;p32"/>
          <p:cNvSpPr/>
          <p:nvPr/>
        </p:nvSpPr>
        <p:spPr>
          <a:xfrm>
            <a:off x="6764339" y="4211726"/>
            <a:ext cx="729299" cy="387706"/>
          </a:xfrm>
          <a:prstGeom prst="roundRect">
            <a:avLst>
              <a:gd fmla="val 11792"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2"/>
          <p:cNvSpPr txBox="1"/>
          <p:nvPr/>
        </p:nvSpPr>
        <p:spPr>
          <a:xfrm>
            <a:off x="6810059" y="4211726"/>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A3A3A3"/>
              </a:buClr>
              <a:buSzPts val="800"/>
              <a:buFont typeface="Roboto Mono"/>
              <a:buNone/>
            </a:pPr>
            <a:r>
              <a:rPr b="1" i="0" lang="en-US" sz="800" u="none" cap="none" strike="noStrike">
                <a:solidFill>
                  <a:srgbClr val="A3A3A3"/>
                </a:solidFill>
                <a:latin typeface="Roboto Mono"/>
                <a:ea typeface="Roboto Mono"/>
                <a:cs typeface="Roboto Mono"/>
                <a:sym typeface="Roboto Mono"/>
              </a:rPr>
              <a:t>28</a:t>
            </a:r>
            <a:endParaRPr b="0" i="0" sz="800" u="none" cap="none" strike="noStrike">
              <a:solidFill>
                <a:schemeClr val="dk1"/>
              </a:solidFill>
              <a:latin typeface="Calibri"/>
              <a:ea typeface="Calibri"/>
              <a:cs typeface="Calibri"/>
              <a:sym typeface="Calibri"/>
            </a:endParaRPr>
          </a:p>
        </p:txBody>
      </p:sp>
      <p:sp>
        <p:nvSpPr>
          <p:cNvPr id="1520" name="Google Shape;1520;p32"/>
          <p:cNvSpPr txBox="1"/>
          <p:nvPr/>
        </p:nvSpPr>
        <p:spPr>
          <a:xfrm>
            <a:off x="6983795" y="4211726"/>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open</a:t>
            </a:r>
            <a:endParaRPr b="0" i="0" sz="750" u="none" cap="none" strike="noStrike">
              <a:solidFill>
                <a:schemeClr val="dk1"/>
              </a:solidFill>
              <a:latin typeface="Calibri"/>
              <a:ea typeface="Calibri"/>
              <a:cs typeface="Calibri"/>
              <a:sym typeface="Calibri"/>
            </a:endParaRPr>
          </a:p>
        </p:txBody>
      </p:sp>
      <p:sp>
        <p:nvSpPr>
          <p:cNvPr id="1521" name="Google Shape;1521;p32"/>
          <p:cNvSpPr/>
          <p:nvPr/>
        </p:nvSpPr>
        <p:spPr>
          <a:xfrm>
            <a:off x="7539359" y="4211726"/>
            <a:ext cx="729299" cy="387706"/>
          </a:xfrm>
          <a:prstGeom prst="roundRect">
            <a:avLst>
              <a:gd fmla="val 11792"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2"/>
          <p:cNvSpPr txBox="1"/>
          <p:nvPr/>
        </p:nvSpPr>
        <p:spPr>
          <a:xfrm>
            <a:off x="7585079" y="4211726"/>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A3A3A3"/>
              </a:buClr>
              <a:buSzPts val="800"/>
              <a:buFont typeface="Roboto Mono"/>
              <a:buNone/>
            </a:pPr>
            <a:r>
              <a:rPr b="1" i="0" lang="en-US" sz="800" u="none" cap="none" strike="noStrike">
                <a:solidFill>
                  <a:srgbClr val="A3A3A3"/>
                </a:solidFill>
                <a:latin typeface="Roboto Mono"/>
                <a:ea typeface="Roboto Mono"/>
                <a:cs typeface="Roboto Mono"/>
                <a:sym typeface="Roboto Mono"/>
              </a:rPr>
              <a:t>29</a:t>
            </a:r>
            <a:endParaRPr b="0" i="0" sz="800" u="none" cap="none" strike="noStrike">
              <a:solidFill>
                <a:schemeClr val="dk1"/>
              </a:solidFill>
              <a:latin typeface="Calibri"/>
              <a:ea typeface="Calibri"/>
              <a:cs typeface="Calibri"/>
              <a:sym typeface="Calibri"/>
            </a:endParaRPr>
          </a:p>
        </p:txBody>
      </p:sp>
      <p:sp>
        <p:nvSpPr>
          <p:cNvPr id="1523" name="Google Shape;1523;p32"/>
          <p:cNvSpPr txBox="1"/>
          <p:nvPr/>
        </p:nvSpPr>
        <p:spPr>
          <a:xfrm>
            <a:off x="7758815" y="4211726"/>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open</a:t>
            </a:r>
            <a:endParaRPr b="0" i="0" sz="750" u="none" cap="none" strike="noStrike">
              <a:solidFill>
                <a:schemeClr val="dk1"/>
              </a:solidFill>
              <a:latin typeface="Calibri"/>
              <a:ea typeface="Calibri"/>
              <a:cs typeface="Calibri"/>
              <a:sym typeface="Calibri"/>
            </a:endParaRPr>
          </a:p>
        </p:txBody>
      </p:sp>
      <p:sp>
        <p:nvSpPr>
          <p:cNvPr id="1524" name="Google Shape;1524;p32"/>
          <p:cNvSpPr/>
          <p:nvPr/>
        </p:nvSpPr>
        <p:spPr>
          <a:xfrm>
            <a:off x="8314378" y="4211726"/>
            <a:ext cx="729299" cy="387706"/>
          </a:xfrm>
          <a:prstGeom prst="roundRect">
            <a:avLst>
              <a:gd fmla="val 11792"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2"/>
          <p:cNvSpPr txBox="1"/>
          <p:nvPr/>
        </p:nvSpPr>
        <p:spPr>
          <a:xfrm>
            <a:off x="8360098" y="4211726"/>
            <a:ext cx="219456" cy="38770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A3A3A3"/>
              </a:buClr>
              <a:buSzPts val="800"/>
              <a:buFont typeface="Roboto Mono"/>
              <a:buNone/>
            </a:pPr>
            <a:r>
              <a:rPr b="1" i="0" lang="en-US" sz="800" u="none" cap="none" strike="noStrike">
                <a:solidFill>
                  <a:srgbClr val="A3A3A3"/>
                </a:solidFill>
                <a:latin typeface="Roboto Mono"/>
                <a:ea typeface="Roboto Mono"/>
                <a:cs typeface="Roboto Mono"/>
                <a:sym typeface="Roboto Mono"/>
              </a:rPr>
              <a:t>30</a:t>
            </a:r>
            <a:endParaRPr b="0" i="0" sz="800" u="none" cap="none" strike="noStrike">
              <a:solidFill>
                <a:schemeClr val="dk1"/>
              </a:solidFill>
              <a:latin typeface="Calibri"/>
              <a:ea typeface="Calibri"/>
              <a:cs typeface="Calibri"/>
              <a:sym typeface="Calibri"/>
            </a:endParaRPr>
          </a:p>
        </p:txBody>
      </p:sp>
      <p:sp>
        <p:nvSpPr>
          <p:cNvPr id="1526" name="Google Shape;1526;p32"/>
          <p:cNvSpPr txBox="1"/>
          <p:nvPr/>
        </p:nvSpPr>
        <p:spPr>
          <a:xfrm>
            <a:off x="8533834" y="4211726"/>
            <a:ext cx="464123" cy="387706"/>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open</a:t>
            </a:r>
            <a:endParaRPr b="0" i="0" sz="750" u="none" cap="none" strike="noStrike">
              <a:solidFill>
                <a:schemeClr val="dk1"/>
              </a:solidFill>
              <a:latin typeface="Calibri"/>
              <a:ea typeface="Calibri"/>
              <a:cs typeface="Calibri"/>
              <a:sym typeface="Calibri"/>
            </a:endParaRPr>
          </a:p>
        </p:txBody>
      </p:sp>
      <p:sp>
        <p:nvSpPr>
          <p:cNvPr id="1527" name="Google Shape;1527;p32"/>
          <p:cNvSpPr/>
          <p:nvPr/>
        </p:nvSpPr>
        <p:spPr>
          <a:xfrm>
            <a:off x="5989320" y="4690872"/>
            <a:ext cx="182880" cy="182880"/>
          </a:xfrm>
          <a:prstGeom prst="roundRect">
            <a:avLst>
              <a:gd fmla="val 20000"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2"/>
          <p:cNvSpPr txBox="1"/>
          <p:nvPr/>
        </p:nvSpPr>
        <p:spPr>
          <a:xfrm>
            <a:off x="6236208" y="4654296"/>
            <a:ext cx="660197"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Booked</a:t>
            </a:r>
            <a:endParaRPr b="0" i="0" sz="950" u="none" cap="none" strike="noStrike">
              <a:solidFill>
                <a:schemeClr val="dk1"/>
              </a:solidFill>
              <a:latin typeface="Calibri"/>
              <a:ea typeface="Calibri"/>
              <a:cs typeface="Calibri"/>
              <a:sym typeface="Calibri"/>
            </a:endParaRPr>
          </a:p>
        </p:txBody>
      </p:sp>
      <p:sp>
        <p:nvSpPr>
          <p:cNvPr id="1529" name="Google Shape;1529;p32"/>
          <p:cNvSpPr/>
          <p:nvPr/>
        </p:nvSpPr>
        <p:spPr>
          <a:xfrm>
            <a:off x="7033565" y="4690872"/>
            <a:ext cx="182880" cy="182880"/>
          </a:xfrm>
          <a:prstGeom prst="roundRect">
            <a:avLst>
              <a:gd fmla="val 20000"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2"/>
          <p:cNvSpPr txBox="1"/>
          <p:nvPr/>
        </p:nvSpPr>
        <p:spPr>
          <a:xfrm>
            <a:off x="7280453" y="4654296"/>
            <a:ext cx="2587752"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Orphan night: stranded between two stays</a:t>
            </a:r>
            <a:endParaRPr b="0" i="0" sz="950" u="none" cap="none" strike="noStrike">
              <a:solidFill>
                <a:schemeClr val="dk1"/>
              </a:solidFill>
              <a:latin typeface="Calibri"/>
              <a:ea typeface="Calibri"/>
              <a:cs typeface="Calibri"/>
              <a:sym typeface="Calibri"/>
            </a:endParaRPr>
          </a:p>
        </p:txBody>
      </p:sp>
      <p:sp>
        <p:nvSpPr>
          <p:cNvPr id="1531" name="Google Shape;1531;p32"/>
          <p:cNvSpPr/>
          <p:nvPr/>
        </p:nvSpPr>
        <p:spPr>
          <a:xfrm>
            <a:off x="10005365" y="4690872"/>
            <a:ext cx="182880" cy="182880"/>
          </a:xfrm>
          <a:prstGeom prst="roundRect">
            <a:avLst>
              <a:gd fmla="val 2000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2"/>
          <p:cNvSpPr txBox="1"/>
          <p:nvPr/>
        </p:nvSpPr>
        <p:spPr>
          <a:xfrm>
            <a:off x="10252253" y="4654296"/>
            <a:ext cx="546811"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Open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37" name="Shape 1537"/>
        <p:cNvGrpSpPr/>
        <p:nvPr/>
      </p:nvGrpSpPr>
      <p:grpSpPr>
        <a:xfrm>
          <a:off x="0" y="0"/>
          <a:ext cx="0" cy="0"/>
          <a:chOff x="0" y="0"/>
          <a:chExt cx="0" cy="0"/>
        </a:xfrm>
      </p:grpSpPr>
      <p:sp>
        <p:nvSpPr>
          <p:cNvPr id="1538" name="Google Shape;1538;p3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2 · SETTING THE PRICE</a:t>
            </a:r>
            <a:endParaRPr b="0" i="0" sz="1050" u="none" cap="none" strike="noStrike">
              <a:solidFill>
                <a:schemeClr val="dk1"/>
              </a:solidFill>
              <a:latin typeface="Calibri"/>
              <a:ea typeface="Calibri"/>
              <a:cs typeface="Calibri"/>
              <a:sym typeface="Calibri"/>
            </a:endParaRPr>
          </a:p>
        </p:txBody>
      </p:sp>
      <p:pic>
        <p:nvPicPr>
          <p:cNvPr descr="/home/claude/work/renderer/brand/wordmark.png" id="1539" name="Google Shape;1539;p3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540" name="Google Shape;1540;p3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31 / 65</a:t>
            </a:r>
            <a:endParaRPr b="0" i="0" sz="900" u="none" cap="none" strike="noStrike">
              <a:solidFill>
                <a:schemeClr val="dk1"/>
              </a:solidFill>
              <a:latin typeface="Calibri"/>
              <a:ea typeface="Calibri"/>
              <a:cs typeface="Calibri"/>
              <a:sym typeface="Calibri"/>
            </a:endParaRPr>
          </a:p>
        </p:txBody>
      </p:sp>
      <p:sp>
        <p:nvSpPr>
          <p:cNvPr id="1541" name="Google Shape;1541;p3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Rate parity</a:t>
            </a:r>
            <a:r>
              <a:rPr b="0" i="0" lang="en-US" sz="1700" u="none" cap="none" strike="noStrike">
                <a:solidFill>
                  <a:srgbClr val="004FAA"/>
                </a:solidFill>
                <a:latin typeface="Inter"/>
                <a:ea typeface="Inter"/>
                <a:cs typeface="Inter"/>
                <a:sym typeface="Inter"/>
              </a:rPr>
              <a:t>  the OTA contract's rule on your public rate</a:t>
            </a:r>
            <a:endParaRPr b="0" i="0" sz="3000" u="none" cap="none" strike="noStrike">
              <a:solidFill>
                <a:schemeClr val="dk1"/>
              </a:solidFill>
              <a:latin typeface="Calibri"/>
              <a:ea typeface="Calibri"/>
              <a:cs typeface="Calibri"/>
              <a:sym typeface="Calibri"/>
            </a:endParaRPr>
          </a:p>
        </p:txBody>
      </p:sp>
      <p:sp>
        <p:nvSpPr>
          <p:cNvPr id="1542" name="Google Shape;1542;p33"/>
          <p:cNvSpPr/>
          <p:nvPr/>
        </p:nvSpPr>
        <p:spPr>
          <a:xfrm>
            <a:off x="5715000" y="1783080"/>
            <a:ext cx="5928055" cy="3170301"/>
          </a:xfrm>
          <a:prstGeom prst="roundRect">
            <a:avLst>
              <a:gd fmla="val 34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3"/>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1544" name="Google Shape;1544;p33"/>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1545" name="Google Shape;1545;p33"/>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1546" name="Google Shape;1546;p33"/>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 contractual commitment not to undercut an OTA's rate — Expedia or Booking.com, say — on your own site.</a:t>
            </a:r>
            <a:endParaRPr b="0" i="0" sz="1150" u="none" cap="none" strike="noStrike">
              <a:solidFill>
                <a:schemeClr val="dk1"/>
              </a:solidFill>
              <a:latin typeface="Calibri"/>
              <a:ea typeface="Calibri"/>
              <a:cs typeface="Calibri"/>
              <a:sym typeface="Calibri"/>
            </a:endParaRPr>
          </a:p>
        </p:txBody>
      </p:sp>
      <p:sp>
        <p:nvSpPr>
          <p:cNvPr id="1547" name="Google Shape;1547;p33"/>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1548" name="Google Shape;1548;p33"/>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1549" name="Google Shape;1549;p33"/>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1550" name="Google Shape;1550;p33"/>
          <p:cNvSpPr txBox="1"/>
          <p:nvPr/>
        </p:nvSpPr>
        <p:spPr>
          <a:xfrm>
            <a:off x="1170432" y="3192399"/>
            <a:ext cx="4270248" cy="129273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obvious way to push people direct, a cheaper public rate on your own site, may be the one thing their OTA contract forbids. HiddenGem Brain works inside it: the public rate stays level on every channel, and offers go to channels the property owns (email, SMS, DM). Nothing about the law: check what the contract says.</a:t>
            </a:r>
            <a:endParaRPr b="0" i="0" sz="1150" u="none" cap="none" strike="noStrike">
              <a:solidFill>
                <a:schemeClr val="dk1"/>
              </a:solidFill>
              <a:latin typeface="Calibri"/>
              <a:ea typeface="Calibri"/>
              <a:cs typeface="Calibri"/>
              <a:sym typeface="Calibri"/>
            </a:endParaRPr>
          </a:p>
        </p:txBody>
      </p:sp>
      <p:sp>
        <p:nvSpPr>
          <p:cNvPr id="1551" name="Google Shape;1551;p33"/>
          <p:cNvSpPr/>
          <p:nvPr/>
        </p:nvSpPr>
        <p:spPr>
          <a:xfrm>
            <a:off x="548640" y="480517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1552" name="Google Shape;1552;p33"/>
          <p:cNvPicPr preferRelativeResize="0"/>
          <p:nvPr/>
        </p:nvPicPr>
        <p:blipFill rotWithShape="1">
          <a:blip r:embed="rId6">
            <a:alphaModFix/>
          </a:blip>
          <a:srcRect b="0" l="0" r="0" t="0"/>
          <a:stretch/>
        </p:blipFill>
        <p:spPr>
          <a:xfrm>
            <a:off x="641177" y="4897709"/>
            <a:ext cx="235549" cy="235549"/>
          </a:xfrm>
          <a:prstGeom prst="rect">
            <a:avLst/>
          </a:prstGeom>
          <a:noFill/>
          <a:ln>
            <a:noFill/>
          </a:ln>
        </p:spPr>
      </p:pic>
      <p:sp>
        <p:nvSpPr>
          <p:cNvPr id="1553" name="Google Shape;1553;p33"/>
          <p:cNvSpPr txBox="1"/>
          <p:nvPr/>
        </p:nvSpPr>
        <p:spPr>
          <a:xfrm>
            <a:off x="1170432" y="4786884"/>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1554" name="Google Shape;1554;p33"/>
          <p:cNvSpPr txBox="1"/>
          <p:nvPr/>
        </p:nvSpPr>
        <p:spPr>
          <a:xfrm>
            <a:off x="1170432" y="5097780"/>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Does your Booking.com contract include rate parity? That decides what we can offer on your own site.</a:t>
            </a:r>
            <a:endParaRPr b="0" i="0" sz="1150" u="none" cap="none" strike="noStrike">
              <a:solidFill>
                <a:schemeClr val="dk1"/>
              </a:solidFill>
              <a:latin typeface="Calibri"/>
              <a:ea typeface="Calibri"/>
              <a:cs typeface="Calibri"/>
              <a:sym typeface="Calibri"/>
            </a:endParaRPr>
          </a:p>
        </p:txBody>
      </p:sp>
      <p:sp>
        <p:nvSpPr>
          <p:cNvPr id="1555" name="Google Shape;1555;p33"/>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PRIYA'S PLAN, STARTING MONDAY</a:t>
            </a:r>
            <a:endParaRPr b="0" i="0" sz="900" u="none" cap="none" strike="noStrike">
              <a:solidFill>
                <a:schemeClr val="dk1"/>
              </a:solidFill>
              <a:latin typeface="Calibri"/>
              <a:ea typeface="Calibri"/>
              <a:cs typeface="Calibri"/>
              <a:sym typeface="Calibri"/>
            </a:endParaRPr>
          </a:p>
        </p:txBody>
      </p:sp>
      <p:sp>
        <p:nvSpPr>
          <p:cNvPr id="1556" name="Google Shape;1556;p33"/>
          <p:cNvSpPr/>
          <p:nvPr/>
        </p:nvSpPr>
        <p:spPr>
          <a:xfrm>
            <a:off x="5989320" y="2258568"/>
            <a:ext cx="2598268" cy="2420493"/>
          </a:xfrm>
          <a:prstGeom prst="roundRect">
            <a:avLst>
              <a:gd fmla="val 3778"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globe.png" id="1557" name="Google Shape;1557;p33"/>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1558" name="Google Shape;1558;p33"/>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Her own website</a:t>
            </a:r>
            <a:endParaRPr b="0" i="0" sz="1250" u="none" cap="none" strike="noStrike">
              <a:solidFill>
                <a:schemeClr val="dk1"/>
              </a:solidFill>
              <a:latin typeface="Calibri"/>
              <a:ea typeface="Calibri"/>
              <a:cs typeface="Calibri"/>
              <a:sym typeface="Calibri"/>
            </a:endParaRPr>
          </a:p>
        </p:txBody>
      </p:sp>
      <p:sp>
        <p:nvSpPr>
          <p:cNvPr id="1559" name="Google Shape;1559;p33"/>
          <p:cNvSpPr txBox="1"/>
          <p:nvPr/>
        </p:nvSpPr>
        <p:spPr>
          <a:xfrm>
            <a:off x="6208776" y="2916936"/>
            <a:ext cx="2159356" cy="154266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04040"/>
              </a:buClr>
              <a:buSzPts val="1050"/>
              <a:buFont typeface="Inter"/>
              <a:buNone/>
            </a:pPr>
            <a:r>
              <a:rPr b="1" i="0" lang="en-US" sz="1050" u="none" cap="none" strike="noStrike">
                <a:solidFill>
                  <a:srgbClr val="404040"/>
                </a:solidFill>
                <a:latin typeface="Inter"/>
                <a:ea typeface="Inter"/>
                <a:cs typeface="Inter"/>
                <a:sym typeface="Inter"/>
              </a:rPr>
              <a:t>$170</a:t>
            </a:r>
            <a:r>
              <a:rPr b="0" i="0" lang="en-US" sz="1050" u="none" cap="none" strike="noStrike">
                <a:solidFill>
                  <a:srgbClr val="404040"/>
                </a:solidFill>
                <a:latin typeface="Inter"/>
                <a:ea typeface="Inter"/>
                <a:cs typeface="Inter"/>
                <a:sym typeface="Inter"/>
              </a:rPr>
              <a:t> a night, public rate.</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$30 under Expedia, to push people direct.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If her contract has parity, this is the one thing it forbids.</a:t>
            </a:r>
            <a:endParaRPr b="0" i="0" sz="1050" u="none" cap="none" strike="noStrike">
              <a:solidFill>
                <a:schemeClr val="dk1"/>
              </a:solidFill>
              <a:latin typeface="Calibri"/>
              <a:ea typeface="Calibri"/>
              <a:cs typeface="Calibri"/>
              <a:sym typeface="Calibri"/>
            </a:endParaRPr>
          </a:p>
        </p:txBody>
      </p:sp>
      <p:sp>
        <p:nvSpPr>
          <p:cNvPr id="1560" name="Google Shape;1560;p33"/>
          <p:cNvSpPr/>
          <p:nvPr/>
        </p:nvSpPr>
        <p:spPr>
          <a:xfrm>
            <a:off x="8770468" y="2258568"/>
            <a:ext cx="2598268" cy="2420493"/>
          </a:xfrm>
          <a:prstGeom prst="roundRect">
            <a:avLst>
              <a:gd fmla="val 3778"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uilding.png" id="1561" name="Google Shape;1561;p33"/>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1562" name="Google Shape;1562;p33"/>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404040"/>
              </a:buClr>
              <a:buSzPts val="1250"/>
              <a:buFont typeface="Inter"/>
              <a:buNone/>
            </a:pPr>
            <a:r>
              <a:rPr b="1" i="0" lang="en-US" sz="1250" u="none" cap="none" strike="noStrike">
                <a:solidFill>
                  <a:srgbClr val="404040"/>
                </a:solidFill>
                <a:latin typeface="Inter"/>
                <a:ea typeface="Inter"/>
                <a:cs typeface="Inter"/>
                <a:sym typeface="Inter"/>
              </a:rPr>
              <a:t>Expedia listing</a:t>
            </a:r>
            <a:endParaRPr b="0" i="0" sz="1250" u="none" cap="none" strike="noStrike">
              <a:solidFill>
                <a:schemeClr val="dk1"/>
              </a:solidFill>
              <a:latin typeface="Calibri"/>
              <a:ea typeface="Calibri"/>
              <a:cs typeface="Calibri"/>
              <a:sym typeface="Calibri"/>
            </a:endParaRPr>
          </a:p>
        </p:txBody>
      </p:sp>
      <p:sp>
        <p:nvSpPr>
          <p:cNvPr id="1563" name="Google Shape;1563;p33"/>
          <p:cNvSpPr txBox="1"/>
          <p:nvPr/>
        </p:nvSpPr>
        <p:spPr>
          <a:xfrm>
            <a:off x="8989924" y="2916936"/>
            <a:ext cx="2159356" cy="13693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04040"/>
              </a:buClr>
              <a:buSzPts val="1050"/>
              <a:buFont typeface="Inter"/>
              <a:buNone/>
            </a:pPr>
            <a:r>
              <a:rPr b="1" i="0" lang="en-US" sz="1050" u="none" cap="none" strike="noStrike">
                <a:solidFill>
                  <a:srgbClr val="404040"/>
                </a:solidFill>
                <a:latin typeface="Inter"/>
                <a:ea typeface="Inter"/>
                <a:cs typeface="Inter"/>
                <a:sym typeface="Inter"/>
              </a:rPr>
              <a:t>$200</a:t>
            </a:r>
            <a:r>
              <a:rPr b="0" i="0" lang="en-US" sz="1050" u="none" cap="none" strike="noStrike">
                <a:solidFill>
                  <a:srgbClr val="404040"/>
                </a:solidFill>
                <a:latin typeface="Inter"/>
                <a:ea typeface="Inter"/>
                <a:cs typeface="Inter"/>
                <a:sym typeface="Inter"/>
              </a:rPr>
              <a:t> a night.</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Parity: the public rate stays level everywhere.</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Value-adds and fenced offers on owned channels instead.</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4"/>
        </a:solidFill>
      </p:bgPr>
    </p:bg>
    <p:spTree>
      <p:nvGrpSpPr>
        <p:cNvPr id="1568" name="Shape 1568"/>
        <p:cNvGrpSpPr/>
        <p:nvPr/>
      </p:nvGrpSpPr>
      <p:grpSpPr>
        <a:xfrm>
          <a:off x="0" y="0"/>
          <a:ext cx="0" cy="0"/>
          <a:chOff x="0" y="0"/>
          <a:chExt cx="0" cy="0"/>
        </a:xfrm>
      </p:grpSpPr>
      <p:sp>
        <p:nvSpPr>
          <p:cNvPr id="1569" name="Google Shape;1569;p34"/>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PRACTICE · AFTER BLOCK 2</a:t>
            </a:r>
            <a:endParaRPr b="0" i="0" sz="1050" u="none" cap="none" strike="noStrike">
              <a:solidFill>
                <a:schemeClr val="dk1"/>
              </a:solidFill>
              <a:latin typeface="Calibri"/>
              <a:ea typeface="Calibri"/>
              <a:cs typeface="Calibri"/>
              <a:sym typeface="Calibri"/>
            </a:endParaRPr>
          </a:p>
        </p:txBody>
      </p:sp>
      <p:sp>
        <p:nvSpPr>
          <p:cNvPr id="1570" name="Google Shape;1570;p34"/>
          <p:cNvSpPr txBox="1"/>
          <p:nvPr/>
        </p:nvSpPr>
        <p:spPr>
          <a:xfrm>
            <a:off x="548640" y="914400"/>
            <a:ext cx="8229600" cy="86868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4000"/>
              <a:buFont typeface="Inter"/>
              <a:buNone/>
            </a:pPr>
            <a:r>
              <a:rPr b="1" i="0" lang="en-US" sz="4000" u="none" cap="none" strike="noStrike">
                <a:solidFill>
                  <a:srgbClr val="FFFFFF"/>
                </a:solidFill>
                <a:latin typeface="Inter"/>
                <a:ea typeface="Inter"/>
                <a:cs typeface="Inter"/>
                <a:sym typeface="Inter"/>
              </a:rPr>
              <a:t>Good news, or look closer?</a:t>
            </a:r>
            <a:endParaRPr b="0" i="0" sz="4000" u="none" cap="none" strike="noStrike">
              <a:solidFill>
                <a:schemeClr val="dk1"/>
              </a:solidFill>
              <a:latin typeface="Calibri"/>
              <a:ea typeface="Calibri"/>
              <a:cs typeface="Calibri"/>
              <a:sym typeface="Calibri"/>
            </a:endParaRPr>
          </a:p>
        </p:txBody>
      </p:sp>
      <p:sp>
        <p:nvSpPr>
          <p:cNvPr id="1571" name="Google Shape;1571;p34"/>
          <p:cNvSpPr/>
          <p:nvPr/>
        </p:nvSpPr>
        <p:spPr>
          <a:xfrm>
            <a:off x="548640" y="24688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envelope-soft.png" id="1572" name="Google Shape;1572;p34"/>
          <p:cNvPicPr preferRelativeResize="0"/>
          <p:nvPr/>
        </p:nvPicPr>
        <p:blipFill rotWithShape="1">
          <a:blip r:embed="rId3">
            <a:alphaModFix/>
          </a:blip>
          <a:srcRect b="0" l="0" r="0" t="0"/>
          <a:stretch/>
        </p:blipFill>
        <p:spPr>
          <a:xfrm>
            <a:off x="841248" y="2697480"/>
            <a:ext cx="292608" cy="292608"/>
          </a:xfrm>
          <a:prstGeom prst="rect">
            <a:avLst/>
          </a:prstGeom>
          <a:noFill/>
          <a:ln>
            <a:noFill/>
          </a:ln>
        </p:spPr>
      </p:pic>
      <p:sp>
        <p:nvSpPr>
          <p:cNvPr id="1573" name="Google Shape;1573;p34"/>
          <p:cNvSpPr txBox="1"/>
          <p:nvPr/>
        </p:nvSpPr>
        <p:spPr>
          <a:xfrm>
            <a:off x="1371600" y="25603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Six owners, each pleased about something.</a:t>
            </a:r>
            <a:endParaRPr b="0" i="0" sz="1350" u="none" cap="none" strike="noStrike">
              <a:solidFill>
                <a:schemeClr val="dk1"/>
              </a:solidFill>
              <a:latin typeface="Calibri"/>
              <a:ea typeface="Calibri"/>
              <a:cs typeface="Calibri"/>
              <a:sym typeface="Calibri"/>
            </a:endParaRPr>
          </a:p>
        </p:txBody>
      </p:sp>
      <p:sp>
        <p:nvSpPr>
          <p:cNvPr id="1574" name="Google Shape;1574;p34"/>
          <p:cNvSpPr/>
          <p:nvPr/>
        </p:nvSpPr>
        <p:spPr>
          <a:xfrm>
            <a:off x="548640" y="33832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soft.png" id="1575" name="Google Shape;1575;p34"/>
          <p:cNvPicPr preferRelativeResize="0"/>
          <p:nvPr/>
        </p:nvPicPr>
        <p:blipFill rotWithShape="1">
          <a:blip r:embed="rId4">
            <a:alphaModFix/>
          </a:blip>
          <a:srcRect b="0" l="0" r="0" t="0"/>
          <a:stretch/>
        </p:blipFill>
        <p:spPr>
          <a:xfrm>
            <a:off x="841248" y="3611880"/>
            <a:ext cx="292608" cy="292608"/>
          </a:xfrm>
          <a:prstGeom prst="rect">
            <a:avLst/>
          </a:prstGeom>
          <a:noFill/>
          <a:ln>
            <a:noFill/>
          </a:ln>
        </p:spPr>
      </p:pic>
      <p:sp>
        <p:nvSpPr>
          <p:cNvPr id="1576" name="Google Shape;1576;p34"/>
          <p:cNvSpPr txBox="1"/>
          <p:nvPr/>
        </p:nvSpPr>
        <p:spPr>
          <a:xfrm>
            <a:off x="1371600" y="34747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Thumbs up, take it: good news as it stands. Thumbs down, look closer: something here needs a question.</a:t>
            </a:r>
            <a:endParaRPr b="0" i="0" sz="1350" u="none" cap="none" strike="noStrike">
              <a:solidFill>
                <a:schemeClr val="dk1"/>
              </a:solidFill>
              <a:latin typeface="Calibri"/>
              <a:ea typeface="Calibri"/>
              <a:cs typeface="Calibri"/>
              <a:sym typeface="Calibri"/>
            </a:endParaRPr>
          </a:p>
        </p:txBody>
      </p:sp>
      <p:sp>
        <p:nvSpPr>
          <p:cNvPr id="1577" name="Google Shape;1577;p34"/>
          <p:cNvSpPr/>
          <p:nvPr/>
        </p:nvSpPr>
        <p:spPr>
          <a:xfrm>
            <a:off x="548640" y="42976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soft.png" id="1578" name="Google Shape;1578;p34"/>
          <p:cNvPicPr preferRelativeResize="0"/>
          <p:nvPr/>
        </p:nvPicPr>
        <p:blipFill rotWithShape="1">
          <a:blip r:embed="rId5">
            <a:alphaModFix/>
          </a:blip>
          <a:srcRect b="0" l="0" r="0" t="0"/>
          <a:stretch/>
        </p:blipFill>
        <p:spPr>
          <a:xfrm>
            <a:off x="841248" y="4526280"/>
            <a:ext cx="292608" cy="292608"/>
          </a:xfrm>
          <a:prstGeom prst="rect">
            <a:avLst/>
          </a:prstGeom>
          <a:noFill/>
          <a:ln>
            <a:noFill/>
          </a:ln>
        </p:spPr>
      </p:pic>
      <p:sp>
        <p:nvSpPr>
          <p:cNvPr id="1579" name="Google Shape;1579;p34"/>
          <p:cNvSpPr txBox="1"/>
          <p:nvPr/>
        </p:nvSpPr>
        <p:spPr>
          <a:xfrm>
            <a:off x="1371600" y="43891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Some of them really are good news.</a:t>
            </a:r>
            <a:endParaRPr b="0" i="0" sz="1350" u="none" cap="none" strike="noStrike">
              <a:solidFill>
                <a:schemeClr val="dk1"/>
              </a:solidFill>
              <a:latin typeface="Calibri"/>
              <a:ea typeface="Calibri"/>
              <a:cs typeface="Calibri"/>
              <a:sym typeface="Calibri"/>
            </a:endParaRPr>
          </a:p>
        </p:txBody>
      </p:sp>
      <p:sp>
        <p:nvSpPr>
          <p:cNvPr id="1580" name="Google Shape;1580;p34"/>
          <p:cNvSpPr txBox="1"/>
          <p:nvPr/>
        </p:nvSpPr>
        <p:spPr>
          <a:xfrm>
            <a:off x="548640" y="62636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The owners, their properties and every number here are made up.</a:t>
            </a:r>
            <a:endParaRPr b="0" i="0" sz="1050" u="none" cap="none" strike="noStrike">
              <a:solidFill>
                <a:schemeClr val="dk1"/>
              </a:solidFill>
              <a:latin typeface="Calibri"/>
              <a:ea typeface="Calibri"/>
              <a:cs typeface="Calibri"/>
              <a:sym typeface="Calibri"/>
            </a:endParaRPr>
          </a:p>
        </p:txBody>
      </p:sp>
      <p:pic>
        <p:nvPicPr>
          <p:cNvPr descr="/home/claude/work/assets/hero-search.png" id="1581" name="Google Shape;1581;p34"/>
          <p:cNvPicPr preferRelativeResize="0"/>
          <p:nvPr/>
        </p:nvPicPr>
        <p:blipFill rotWithShape="1">
          <a:blip r:embed="rId6">
            <a:alphaModFix/>
          </a:blip>
          <a:srcRect b="0" l="0" r="0" t="0"/>
          <a:stretch/>
        </p:blipFill>
        <p:spPr>
          <a:xfrm>
            <a:off x="9418320" y="640080"/>
            <a:ext cx="2011680" cy="20116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586" name="Shape 1586"/>
        <p:cNvGrpSpPr/>
        <p:nvPr/>
      </p:nvGrpSpPr>
      <p:grpSpPr>
        <a:xfrm>
          <a:off x="0" y="0"/>
          <a:ext cx="0" cy="0"/>
          <a:chOff x="0" y="0"/>
          <a:chExt cx="0" cy="0"/>
        </a:xfrm>
      </p:grpSpPr>
      <p:sp>
        <p:nvSpPr>
          <p:cNvPr id="1587" name="Google Shape;1587;p3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1 OF 6</a:t>
            </a:r>
            <a:endParaRPr b="0" i="0" sz="1050" u="none" cap="none" strike="noStrike">
              <a:solidFill>
                <a:schemeClr val="dk1"/>
              </a:solidFill>
              <a:latin typeface="Calibri"/>
              <a:ea typeface="Calibri"/>
              <a:cs typeface="Calibri"/>
              <a:sym typeface="Calibri"/>
            </a:endParaRPr>
          </a:p>
        </p:txBody>
      </p:sp>
      <p:sp>
        <p:nvSpPr>
          <p:cNvPr id="1588" name="Google Shape;1588;p3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589" name="Google Shape;1589;p3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590" name="Google Shape;1590;p3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33 / 65</a:t>
            </a:r>
            <a:endParaRPr b="0" i="0" sz="900" u="none" cap="none" strike="noStrike">
              <a:solidFill>
                <a:schemeClr val="dk1"/>
              </a:solidFill>
              <a:latin typeface="Calibri"/>
              <a:ea typeface="Calibri"/>
              <a:cs typeface="Calibri"/>
              <a:sym typeface="Calibri"/>
            </a:endParaRPr>
          </a:p>
        </p:txBody>
      </p:sp>
      <p:sp>
        <p:nvSpPr>
          <p:cNvPr id="1591" name="Google Shape;1591;p35"/>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5"/>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Busiest month on the website ever</a:t>
            </a:r>
            <a:endParaRPr b="0" i="0" sz="1450" u="none" cap="none" strike="noStrike">
              <a:solidFill>
                <a:schemeClr val="dk1"/>
              </a:solidFill>
              <a:latin typeface="Calibri"/>
              <a:ea typeface="Calibri"/>
              <a:cs typeface="Calibri"/>
              <a:sym typeface="Calibri"/>
            </a:endParaRPr>
          </a:p>
        </p:txBody>
      </p:sp>
      <p:sp>
        <p:nvSpPr>
          <p:cNvPr id="1593" name="Google Shape;1593;p35"/>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5"/>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T</a:t>
            </a:r>
            <a:endParaRPr b="0" i="0" sz="1200" u="none" cap="none" strike="noStrike">
              <a:solidFill>
                <a:schemeClr val="dk1"/>
              </a:solidFill>
              <a:latin typeface="Calibri"/>
              <a:ea typeface="Calibri"/>
              <a:cs typeface="Calibri"/>
              <a:sym typeface="Calibri"/>
            </a:endParaRPr>
          </a:p>
        </p:txBody>
      </p:sp>
      <p:sp>
        <p:nvSpPr>
          <p:cNvPr id="1595" name="Google Shape;1595;p35"/>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Theo  </a:t>
            </a:r>
            <a:r>
              <a:rPr b="0" i="0" lang="en-US" sz="950" u="none" cap="none" strike="noStrike">
                <a:solidFill>
                  <a:srgbClr val="737373"/>
                </a:solidFill>
                <a:latin typeface="Roboto Mono"/>
                <a:ea typeface="Roboto Mono"/>
                <a:cs typeface="Roboto Mono"/>
                <a:sym typeface="Roboto Mono"/>
              </a:rPr>
              <a:t>&lt;theo@glamping-resort.example&gt;</a:t>
            </a:r>
            <a:endParaRPr b="0" i="0" sz="1150" u="none" cap="none" strike="noStrike">
              <a:solidFill>
                <a:schemeClr val="dk1"/>
              </a:solidFill>
              <a:latin typeface="Calibri"/>
              <a:ea typeface="Calibri"/>
              <a:cs typeface="Calibri"/>
              <a:sym typeface="Calibri"/>
            </a:endParaRPr>
          </a:p>
        </p:txBody>
      </p:sp>
      <p:sp>
        <p:nvSpPr>
          <p:cNvPr id="1596" name="Google Shape;1596;p35"/>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597" name="Google Shape;1597;p35"/>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598" name="Google Shape;1598;p35"/>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About 6,000 people looked at October dates on our site this month, a record. October bookings are flat, but the interest is clearly there.</a:t>
            </a:r>
            <a:endParaRPr b="0" i="0" sz="1100" u="none" cap="none" strike="noStrike">
              <a:solidFill>
                <a:schemeClr val="dk1"/>
              </a:solidFill>
              <a:latin typeface="Calibri"/>
              <a:ea typeface="Calibri"/>
              <a:cs typeface="Calibri"/>
              <a:sym typeface="Calibri"/>
            </a:endParaRPr>
          </a:p>
        </p:txBody>
      </p:sp>
      <p:sp>
        <p:nvSpPr>
          <p:cNvPr id="1599" name="Google Shape;1599;p35"/>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5"/>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601" name="Google Shape;1601;p35"/>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602" name="Google Shape;1602;p35"/>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1 OF 6</a:t>
            </a:r>
            <a:endParaRPr b="0" i="0" sz="950" u="none" cap="none" strike="noStrike">
              <a:solidFill>
                <a:schemeClr val="dk1"/>
              </a:solidFill>
              <a:latin typeface="Calibri"/>
              <a:ea typeface="Calibri"/>
              <a:cs typeface="Calibri"/>
              <a:sym typeface="Calibri"/>
            </a:endParaRPr>
          </a:p>
        </p:txBody>
      </p:sp>
      <p:sp>
        <p:nvSpPr>
          <p:cNvPr id="1603" name="Google Shape;1603;p35"/>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604" name="Google Shape;1604;p35"/>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605" name="Google Shape;1605;p35"/>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606" name="Google Shape;1606;p35"/>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607" name="Google Shape;1607;p35"/>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608" name="Google Shape;1608;p35"/>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609" name="Google Shape;1609;p35"/>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
        <p:nvSpPr>
          <p:cNvPr id="1610" name="Google Shape;1610;p35"/>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15" name="Shape 1615"/>
        <p:cNvGrpSpPr/>
        <p:nvPr/>
      </p:nvGrpSpPr>
      <p:grpSpPr>
        <a:xfrm>
          <a:off x="0" y="0"/>
          <a:ext cx="0" cy="0"/>
          <a:chOff x="0" y="0"/>
          <a:chExt cx="0" cy="0"/>
        </a:xfrm>
      </p:grpSpPr>
      <p:sp>
        <p:nvSpPr>
          <p:cNvPr id="1616" name="Google Shape;1616;p3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1 OF 6</a:t>
            </a:r>
            <a:endParaRPr b="0" i="0" sz="1050" u="none" cap="none" strike="noStrike">
              <a:solidFill>
                <a:schemeClr val="dk1"/>
              </a:solidFill>
              <a:latin typeface="Calibri"/>
              <a:ea typeface="Calibri"/>
              <a:cs typeface="Calibri"/>
              <a:sym typeface="Calibri"/>
            </a:endParaRPr>
          </a:p>
        </p:txBody>
      </p:sp>
      <p:sp>
        <p:nvSpPr>
          <p:cNvPr id="1617" name="Google Shape;1617;p3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618" name="Google Shape;1618;p3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619" name="Google Shape;1619;p3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34 / 65</a:t>
            </a:r>
            <a:endParaRPr b="0" i="0" sz="900" u="none" cap="none" strike="noStrike">
              <a:solidFill>
                <a:schemeClr val="dk1"/>
              </a:solidFill>
              <a:latin typeface="Calibri"/>
              <a:ea typeface="Calibri"/>
              <a:cs typeface="Calibri"/>
              <a:sym typeface="Calibri"/>
            </a:endParaRPr>
          </a:p>
        </p:txBody>
      </p:sp>
      <p:sp>
        <p:nvSpPr>
          <p:cNvPr id="1620" name="Google Shape;1620;p36"/>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6"/>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Busiest month on the website ever</a:t>
            </a:r>
            <a:endParaRPr b="0" i="0" sz="1450" u="none" cap="none" strike="noStrike">
              <a:solidFill>
                <a:schemeClr val="dk1"/>
              </a:solidFill>
              <a:latin typeface="Calibri"/>
              <a:ea typeface="Calibri"/>
              <a:cs typeface="Calibri"/>
              <a:sym typeface="Calibri"/>
            </a:endParaRPr>
          </a:p>
        </p:txBody>
      </p:sp>
      <p:sp>
        <p:nvSpPr>
          <p:cNvPr id="1622" name="Google Shape;1622;p36"/>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6"/>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T</a:t>
            </a:r>
            <a:endParaRPr b="0" i="0" sz="1200" u="none" cap="none" strike="noStrike">
              <a:solidFill>
                <a:schemeClr val="dk1"/>
              </a:solidFill>
              <a:latin typeface="Calibri"/>
              <a:ea typeface="Calibri"/>
              <a:cs typeface="Calibri"/>
              <a:sym typeface="Calibri"/>
            </a:endParaRPr>
          </a:p>
        </p:txBody>
      </p:sp>
      <p:sp>
        <p:nvSpPr>
          <p:cNvPr id="1624" name="Google Shape;1624;p36"/>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Theo  </a:t>
            </a:r>
            <a:r>
              <a:rPr b="0" i="0" lang="en-US" sz="950" u="none" cap="none" strike="noStrike">
                <a:solidFill>
                  <a:srgbClr val="737373"/>
                </a:solidFill>
                <a:latin typeface="Roboto Mono"/>
                <a:ea typeface="Roboto Mono"/>
                <a:cs typeface="Roboto Mono"/>
                <a:sym typeface="Roboto Mono"/>
              </a:rPr>
              <a:t>&lt;theo@glamping-resort.example&gt;</a:t>
            </a:r>
            <a:endParaRPr b="0" i="0" sz="1150" u="none" cap="none" strike="noStrike">
              <a:solidFill>
                <a:schemeClr val="dk1"/>
              </a:solidFill>
              <a:latin typeface="Calibri"/>
              <a:ea typeface="Calibri"/>
              <a:cs typeface="Calibri"/>
              <a:sym typeface="Calibri"/>
            </a:endParaRPr>
          </a:p>
        </p:txBody>
      </p:sp>
      <p:sp>
        <p:nvSpPr>
          <p:cNvPr id="1625" name="Google Shape;1625;p36"/>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626" name="Google Shape;1626;p36"/>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627" name="Google Shape;1627;p36"/>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About 6,000 people looked at October dates on our site this month, a record. October bookings are flat, but the interest is clearly there.</a:t>
            </a:r>
            <a:endParaRPr b="0" i="0" sz="1100" u="none" cap="none" strike="noStrike">
              <a:solidFill>
                <a:schemeClr val="dk1"/>
              </a:solidFill>
              <a:latin typeface="Calibri"/>
              <a:ea typeface="Calibri"/>
              <a:cs typeface="Calibri"/>
              <a:sym typeface="Calibri"/>
            </a:endParaRPr>
          </a:p>
        </p:txBody>
      </p:sp>
      <p:sp>
        <p:nvSpPr>
          <p:cNvPr id="1628" name="Google Shape;1628;p36"/>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6"/>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630" name="Google Shape;1630;p36"/>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Look closer. Six thousand people looked at October and left without booking: that is </a:t>
            </a:r>
            <a:r>
              <a:rPr b="1" i="0" lang="en-US" sz="1100" u="none" cap="none" strike="noStrike">
                <a:solidFill>
                  <a:srgbClr val="404040"/>
                </a:solidFill>
                <a:latin typeface="Inter"/>
                <a:ea typeface="Inter"/>
                <a:cs typeface="Inter"/>
                <a:sym typeface="Inter"/>
              </a:rPr>
              <a:t>regret</a:t>
            </a:r>
            <a:r>
              <a:rPr b="0" i="0" lang="en-US" sz="1100" u="none" cap="none" strike="noStrike">
                <a:solidFill>
                  <a:srgbClr val="404040"/>
                </a:solidFill>
                <a:latin typeface="Inter"/>
                <a:ea typeface="Inter"/>
                <a:cs typeface="Inter"/>
                <a:sym typeface="Inter"/>
              </a:rPr>
              <a:t>, demand that saw the price or a minimum stay and passed. Interest is not the problem; something at the moment of booking is.</a:t>
            </a:r>
            <a:endParaRPr b="0" i="0" sz="1100" u="none" cap="none" strike="noStrike">
              <a:solidFill>
                <a:schemeClr val="dk1"/>
              </a:solidFill>
              <a:latin typeface="Calibri"/>
              <a:ea typeface="Calibri"/>
              <a:cs typeface="Calibri"/>
              <a:sym typeface="Calibri"/>
            </a:endParaRPr>
          </a:p>
        </p:txBody>
      </p:sp>
      <p:sp>
        <p:nvSpPr>
          <p:cNvPr id="1631" name="Google Shape;1631;p36"/>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“That's a lot of people seeing October and leaving. Let's look at what they saw: the rate, or a minimum stay?”</a:t>
            </a:r>
            <a:endParaRPr b="0" i="0" sz="1100" u="none" cap="none" strike="noStrike">
              <a:solidFill>
                <a:schemeClr val="dk1"/>
              </a:solidFill>
              <a:latin typeface="Calibri"/>
              <a:ea typeface="Calibri"/>
              <a:cs typeface="Calibri"/>
              <a:sym typeface="Calibri"/>
            </a:endParaRPr>
          </a:p>
        </p:txBody>
      </p:sp>
      <p:sp>
        <p:nvSpPr>
          <p:cNvPr id="1632" name="Google Shape;1632;p36"/>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6"/>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634" name="Google Shape;1634;p36"/>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635" name="Google Shape;1635;p36"/>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636" name="Google Shape;1636;p36"/>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637" name="Google Shape;1637;p36"/>
          <p:cNvSpPr/>
          <p:nvPr/>
        </p:nvSpPr>
        <p:spPr>
          <a:xfrm>
            <a:off x="8549640" y="3310128"/>
            <a:ext cx="2816352" cy="713232"/>
          </a:xfrm>
          <a:prstGeom prst="roundRect">
            <a:avLst>
              <a:gd fmla="val 1282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y.png" id="1638" name="Google Shape;1638;p36"/>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639" name="Google Shape;1639;p36"/>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Thumbs up</a:t>
            </a:r>
            <a:r>
              <a:rPr b="0" i="0" lang="en-US" sz="1250" u="none" cap="none" strike="noStrike">
                <a:solidFill>
                  <a:srgbClr val="A3A3A3"/>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640" name="Google Shape;1640;p36"/>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641" name="Google Shape;1641;p36"/>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642" name="Google Shape;1642;p36"/>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47" name="Shape 1647"/>
        <p:cNvGrpSpPr/>
        <p:nvPr/>
      </p:nvGrpSpPr>
      <p:grpSpPr>
        <a:xfrm>
          <a:off x="0" y="0"/>
          <a:ext cx="0" cy="0"/>
          <a:chOff x="0" y="0"/>
          <a:chExt cx="0" cy="0"/>
        </a:xfrm>
      </p:grpSpPr>
      <p:sp>
        <p:nvSpPr>
          <p:cNvPr id="1648" name="Google Shape;1648;p3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2 OF 6</a:t>
            </a:r>
            <a:endParaRPr b="0" i="0" sz="1050" u="none" cap="none" strike="noStrike">
              <a:solidFill>
                <a:schemeClr val="dk1"/>
              </a:solidFill>
              <a:latin typeface="Calibri"/>
              <a:ea typeface="Calibri"/>
              <a:cs typeface="Calibri"/>
              <a:sym typeface="Calibri"/>
            </a:endParaRPr>
          </a:p>
        </p:txBody>
      </p:sp>
      <p:sp>
        <p:nvSpPr>
          <p:cNvPr id="1649" name="Google Shape;1649;p3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650" name="Google Shape;1650;p3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651" name="Google Shape;1651;p3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35 / 65</a:t>
            </a:r>
            <a:endParaRPr b="0" i="0" sz="900" u="none" cap="none" strike="noStrike">
              <a:solidFill>
                <a:schemeClr val="dk1"/>
              </a:solidFill>
              <a:latin typeface="Calibri"/>
              <a:ea typeface="Calibri"/>
              <a:cs typeface="Calibri"/>
              <a:sym typeface="Calibri"/>
            </a:endParaRPr>
          </a:p>
        </p:txBody>
      </p:sp>
      <p:sp>
        <p:nvSpPr>
          <p:cNvPr id="1652" name="Google Shape;1652;p37"/>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7"/>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Next week's basically full</a:t>
            </a:r>
            <a:endParaRPr b="0" i="0" sz="1450" u="none" cap="none" strike="noStrike">
              <a:solidFill>
                <a:schemeClr val="dk1"/>
              </a:solidFill>
              <a:latin typeface="Calibri"/>
              <a:ea typeface="Calibri"/>
              <a:cs typeface="Calibri"/>
              <a:sym typeface="Calibri"/>
            </a:endParaRPr>
          </a:p>
        </p:txBody>
      </p:sp>
      <p:sp>
        <p:nvSpPr>
          <p:cNvPr id="1654" name="Google Shape;1654;p37"/>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7"/>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P</a:t>
            </a:r>
            <a:endParaRPr b="0" i="0" sz="1200" u="none" cap="none" strike="noStrike">
              <a:solidFill>
                <a:schemeClr val="dk1"/>
              </a:solidFill>
              <a:latin typeface="Calibri"/>
              <a:ea typeface="Calibri"/>
              <a:cs typeface="Calibri"/>
              <a:sym typeface="Calibri"/>
            </a:endParaRPr>
          </a:p>
        </p:txBody>
      </p:sp>
      <p:sp>
        <p:nvSpPr>
          <p:cNvPr id="1656" name="Google Shape;1656;p37"/>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Priya  </a:t>
            </a:r>
            <a:r>
              <a:rPr b="0" i="0" lang="en-US" sz="950" u="none" cap="none" strike="noStrike">
                <a:solidFill>
                  <a:srgbClr val="737373"/>
                </a:solidFill>
                <a:latin typeface="Roboto Mono"/>
                <a:ea typeface="Roboto Mono"/>
                <a:cs typeface="Roboto Mono"/>
                <a:sym typeface="Roboto Mono"/>
              </a:rPr>
              <a:t>&lt;priya@boutique-hotel.example&gt;</a:t>
            </a:r>
            <a:endParaRPr b="0" i="0" sz="1150" u="none" cap="none" strike="noStrike">
              <a:solidFill>
                <a:schemeClr val="dk1"/>
              </a:solidFill>
              <a:latin typeface="Calibri"/>
              <a:ea typeface="Calibri"/>
              <a:cs typeface="Calibri"/>
              <a:sym typeface="Calibri"/>
            </a:endParaRPr>
          </a:p>
        </p:txBody>
      </p:sp>
      <p:sp>
        <p:nvSpPr>
          <p:cNvPr id="1657" name="Google Shape;1657;p37"/>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658" name="Google Shape;1658;p37"/>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659" name="Google Shape;1659;p37"/>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We're 94% booked for next week. There are just a few single nights left, stuck between longer stays. Basically sold out.</a:t>
            </a:r>
            <a:endParaRPr b="0" i="0" sz="1100" u="none" cap="none" strike="noStrike">
              <a:solidFill>
                <a:schemeClr val="dk1"/>
              </a:solidFill>
              <a:latin typeface="Calibri"/>
              <a:ea typeface="Calibri"/>
              <a:cs typeface="Calibri"/>
              <a:sym typeface="Calibri"/>
            </a:endParaRPr>
          </a:p>
        </p:txBody>
      </p:sp>
      <p:sp>
        <p:nvSpPr>
          <p:cNvPr id="1660" name="Google Shape;1660;p37"/>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7"/>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662" name="Google Shape;1662;p37"/>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663" name="Google Shape;1663;p37"/>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2 OF 6</a:t>
            </a:r>
            <a:endParaRPr b="0" i="0" sz="950" u="none" cap="none" strike="noStrike">
              <a:solidFill>
                <a:schemeClr val="dk1"/>
              </a:solidFill>
              <a:latin typeface="Calibri"/>
              <a:ea typeface="Calibri"/>
              <a:cs typeface="Calibri"/>
              <a:sym typeface="Calibri"/>
            </a:endParaRPr>
          </a:p>
        </p:txBody>
      </p:sp>
      <p:sp>
        <p:nvSpPr>
          <p:cNvPr id="1664" name="Google Shape;1664;p37"/>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665" name="Google Shape;1665;p37"/>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666" name="Google Shape;1666;p37"/>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667" name="Google Shape;1667;p37"/>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668" name="Google Shape;1668;p37"/>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669" name="Google Shape;1669;p37"/>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670" name="Google Shape;1670;p37"/>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
        <p:nvSpPr>
          <p:cNvPr id="1671" name="Google Shape;1671;p37"/>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676" name="Shape 1676"/>
        <p:cNvGrpSpPr/>
        <p:nvPr/>
      </p:nvGrpSpPr>
      <p:grpSpPr>
        <a:xfrm>
          <a:off x="0" y="0"/>
          <a:ext cx="0" cy="0"/>
          <a:chOff x="0" y="0"/>
          <a:chExt cx="0" cy="0"/>
        </a:xfrm>
      </p:grpSpPr>
      <p:sp>
        <p:nvSpPr>
          <p:cNvPr id="1677" name="Google Shape;1677;p3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2 OF 6</a:t>
            </a:r>
            <a:endParaRPr b="0" i="0" sz="1050" u="none" cap="none" strike="noStrike">
              <a:solidFill>
                <a:schemeClr val="dk1"/>
              </a:solidFill>
              <a:latin typeface="Calibri"/>
              <a:ea typeface="Calibri"/>
              <a:cs typeface="Calibri"/>
              <a:sym typeface="Calibri"/>
            </a:endParaRPr>
          </a:p>
        </p:txBody>
      </p:sp>
      <p:sp>
        <p:nvSpPr>
          <p:cNvPr id="1678" name="Google Shape;1678;p3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679" name="Google Shape;1679;p3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680" name="Google Shape;1680;p3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36 / 65</a:t>
            </a:r>
            <a:endParaRPr b="0" i="0" sz="900" u="none" cap="none" strike="noStrike">
              <a:solidFill>
                <a:schemeClr val="dk1"/>
              </a:solidFill>
              <a:latin typeface="Calibri"/>
              <a:ea typeface="Calibri"/>
              <a:cs typeface="Calibri"/>
              <a:sym typeface="Calibri"/>
            </a:endParaRPr>
          </a:p>
        </p:txBody>
      </p:sp>
      <p:sp>
        <p:nvSpPr>
          <p:cNvPr id="1681" name="Google Shape;1681;p38"/>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8"/>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Next week's basically full</a:t>
            </a:r>
            <a:endParaRPr b="0" i="0" sz="1450" u="none" cap="none" strike="noStrike">
              <a:solidFill>
                <a:schemeClr val="dk1"/>
              </a:solidFill>
              <a:latin typeface="Calibri"/>
              <a:ea typeface="Calibri"/>
              <a:cs typeface="Calibri"/>
              <a:sym typeface="Calibri"/>
            </a:endParaRPr>
          </a:p>
        </p:txBody>
      </p:sp>
      <p:sp>
        <p:nvSpPr>
          <p:cNvPr id="1683" name="Google Shape;1683;p38"/>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8"/>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P</a:t>
            </a:r>
            <a:endParaRPr b="0" i="0" sz="1200" u="none" cap="none" strike="noStrike">
              <a:solidFill>
                <a:schemeClr val="dk1"/>
              </a:solidFill>
              <a:latin typeface="Calibri"/>
              <a:ea typeface="Calibri"/>
              <a:cs typeface="Calibri"/>
              <a:sym typeface="Calibri"/>
            </a:endParaRPr>
          </a:p>
        </p:txBody>
      </p:sp>
      <p:sp>
        <p:nvSpPr>
          <p:cNvPr id="1685" name="Google Shape;1685;p38"/>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Priya  </a:t>
            </a:r>
            <a:r>
              <a:rPr b="0" i="0" lang="en-US" sz="950" u="none" cap="none" strike="noStrike">
                <a:solidFill>
                  <a:srgbClr val="737373"/>
                </a:solidFill>
                <a:latin typeface="Roboto Mono"/>
                <a:ea typeface="Roboto Mono"/>
                <a:cs typeface="Roboto Mono"/>
                <a:sym typeface="Roboto Mono"/>
              </a:rPr>
              <a:t>&lt;priya@boutique-hotel.example&gt;</a:t>
            </a:r>
            <a:endParaRPr b="0" i="0" sz="1150" u="none" cap="none" strike="noStrike">
              <a:solidFill>
                <a:schemeClr val="dk1"/>
              </a:solidFill>
              <a:latin typeface="Calibri"/>
              <a:ea typeface="Calibri"/>
              <a:cs typeface="Calibri"/>
              <a:sym typeface="Calibri"/>
            </a:endParaRPr>
          </a:p>
        </p:txBody>
      </p:sp>
      <p:sp>
        <p:nvSpPr>
          <p:cNvPr id="1686" name="Google Shape;1686;p38"/>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687" name="Google Shape;1687;p38"/>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688" name="Google Shape;1688;p38"/>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We're 94% booked for next week. There are just a few single nights left, stuck between longer stays. Basically sold out.</a:t>
            </a:r>
            <a:endParaRPr b="0" i="0" sz="1100" u="none" cap="none" strike="noStrike">
              <a:solidFill>
                <a:schemeClr val="dk1"/>
              </a:solidFill>
              <a:latin typeface="Calibri"/>
              <a:ea typeface="Calibri"/>
              <a:cs typeface="Calibri"/>
              <a:sym typeface="Calibri"/>
            </a:endParaRPr>
          </a:p>
        </p:txBody>
      </p:sp>
      <p:sp>
        <p:nvSpPr>
          <p:cNvPr id="1689" name="Google Shape;1689;p38"/>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8"/>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691" name="Google Shape;1691;p38"/>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Look closer. Single nights stuck between longer stays are </a:t>
            </a:r>
            <a:r>
              <a:rPr b="1" i="0" lang="en-US" sz="1100" u="none" cap="none" strike="noStrike">
                <a:solidFill>
                  <a:srgbClr val="404040"/>
                </a:solidFill>
                <a:latin typeface="Inter"/>
                <a:ea typeface="Inter"/>
                <a:cs typeface="Inter"/>
                <a:sym typeface="Inter"/>
              </a:rPr>
              <a:t>orphan nights</a:t>
            </a:r>
            <a:r>
              <a:rPr b="0" i="0" lang="en-US" sz="1100" u="none" cap="none" strike="noStrike">
                <a:solidFill>
                  <a:srgbClr val="404040"/>
                </a:solidFill>
                <a:latin typeface="Inter"/>
                <a:ea typeface="Inter"/>
                <a:cs typeface="Inter"/>
                <a:sym typeface="Inter"/>
              </a:rPr>
              <a:t>: too short for most guests to want, and unsellable at all under a two-night minimum. “94% booked” hides them. One idea to try: offer the guests either side an extra night.</a:t>
            </a:r>
            <a:endParaRPr b="0" i="0" sz="1100" u="none" cap="none" strike="noStrike">
              <a:solidFill>
                <a:schemeClr val="dk1"/>
              </a:solidFill>
              <a:latin typeface="Calibri"/>
              <a:ea typeface="Calibri"/>
              <a:cs typeface="Calibri"/>
              <a:sym typeface="Calibri"/>
            </a:endParaRPr>
          </a:p>
        </p:txBody>
      </p:sp>
      <p:sp>
        <p:nvSpPr>
          <p:cNvPr id="1692" name="Google Shape;1692;p38"/>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“Those single nights won't sell on their own. Want to offer the guests either side an extra night?”</a:t>
            </a:r>
            <a:endParaRPr b="0" i="0" sz="1100" u="none" cap="none" strike="noStrike">
              <a:solidFill>
                <a:schemeClr val="dk1"/>
              </a:solidFill>
              <a:latin typeface="Calibri"/>
              <a:ea typeface="Calibri"/>
              <a:cs typeface="Calibri"/>
              <a:sym typeface="Calibri"/>
            </a:endParaRPr>
          </a:p>
        </p:txBody>
      </p:sp>
      <p:sp>
        <p:nvSpPr>
          <p:cNvPr id="1693" name="Google Shape;1693;p38"/>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8"/>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695" name="Google Shape;1695;p38"/>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696" name="Google Shape;1696;p38"/>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697" name="Google Shape;1697;p38"/>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698" name="Google Shape;1698;p38"/>
          <p:cNvSpPr/>
          <p:nvPr/>
        </p:nvSpPr>
        <p:spPr>
          <a:xfrm>
            <a:off x="8549640" y="3310128"/>
            <a:ext cx="2816352" cy="713232"/>
          </a:xfrm>
          <a:prstGeom prst="roundRect">
            <a:avLst>
              <a:gd fmla="val 1282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y.png" id="1699" name="Google Shape;1699;p38"/>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700" name="Google Shape;1700;p38"/>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Thumbs up</a:t>
            </a:r>
            <a:r>
              <a:rPr b="0" i="0" lang="en-US" sz="1250" u="none" cap="none" strike="noStrike">
                <a:solidFill>
                  <a:srgbClr val="A3A3A3"/>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701" name="Google Shape;1701;p38"/>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702" name="Google Shape;1702;p38"/>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703" name="Google Shape;1703;p38"/>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08" name="Shape 1708"/>
        <p:cNvGrpSpPr/>
        <p:nvPr/>
      </p:nvGrpSpPr>
      <p:grpSpPr>
        <a:xfrm>
          <a:off x="0" y="0"/>
          <a:ext cx="0" cy="0"/>
          <a:chOff x="0" y="0"/>
          <a:chExt cx="0" cy="0"/>
        </a:xfrm>
      </p:grpSpPr>
      <p:sp>
        <p:nvSpPr>
          <p:cNvPr id="1709" name="Google Shape;1709;p3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3 OF 6</a:t>
            </a:r>
            <a:endParaRPr b="0" i="0" sz="1050" u="none" cap="none" strike="noStrike">
              <a:solidFill>
                <a:schemeClr val="dk1"/>
              </a:solidFill>
              <a:latin typeface="Calibri"/>
              <a:ea typeface="Calibri"/>
              <a:cs typeface="Calibri"/>
              <a:sym typeface="Calibri"/>
            </a:endParaRPr>
          </a:p>
        </p:txBody>
      </p:sp>
      <p:sp>
        <p:nvSpPr>
          <p:cNvPr id="1710" name="Google Shape;1710;p3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711" name="Google Shape;1711;p3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712" name="Google Shape;1712;p3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37 / 65</a:t>
            </a:r>
            <a:endParaRPr b="0" i="0" sz="900" u="none" cap="none" strike="noStrike">
              <a:solidFill>
                <a:schemeClr val="dk1"/>
              </a:solidFill>
              <a:latin typeface="Calibri"/>
              <a:ea typeface="Calibri"/>
              <a:cs typeface="Calibri"/>
              <a:sym typeface="Calibri"/>
            </a:endParaRPr>
          </a:p>
        </p:txBody>
      </p:sp>
      <p:sp>
        <p:nvSpPr>
          <p:cNvPr id="1713" name="Google Shape;1713;p39"/>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9"/>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Best summer yet</a:t>
            </a:r>
            <a:endParaRPr b="0" i="0" sz="1450" u="none" cap="none" strike="noStrike">
              <a:solidFill>
                <a:schemeClr val="dk1"/>
              </a:solidFill>
              <a:latin typeface="Calibri"/>
              <a:ea typeface="Calibri"/>
              <a:cs typeface="Calibri"/>
              <a:sym typeface="Calibri"/>
            </a:endParaRPr>
          </a:p>
        </p:txBody>
      </p:sp>
      <p:sp>
        <p:nvSpPr>
          <p:cNvPr id="1715" name="Google Shape;1715;p39"/>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9"/>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W</a:t>
            </a:r>
            <a:endParaRPr b="0" i="0" sz="1200" u="none" cap="none" strike="noStrike">
              <a:solidFill>
                <a:schemeClr val="dk1"/>
              </a:solidFill>
              <a:latin typeface="Calibri"/>
              <a:ea typeface="Calibri"/>
              <a:cs typeface="Calibri"/>
              <a:sym typeface="Calibri"/>
            </a:endParaRPr>
          </a:p>
        </p:txBody>
      </p:sp>
      <p:sp>
        <p:nvSpPr>
          <p:cNvPr id="1717" name="Google Shape;1717;p39"/>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Walt  </a:t>
            </a:r>
            <a:r>
              <a:rPr b="0" i="0" lang="en-US" sz="950" u="none" cap="none" strike="noStrike">
                <a:solidFill>
                  <a:srgbClr val="737373"/>
                </a:solidFill>
                <a:latin typeface="Roboto Mono"/>
                <a:ea typeface="Roboto Mono"/>
                <a:cs typeface="Roboto Mono"/>
                <a:sym typeface="Roboto Mono"/>
              </a:rPr>
              <a:t>&lt;walt@winery-stay.example&gt;</a:t>
            </a:r>
            <a:endParaRPr b="0" i="0" sz="1150" u="none" cap="none" strike="noStrike">
              <a:solidFill>
                <a:schemeClr val="dk1"/>
              </a:solidFill>
              <a:latin typeface="Calibri"/>
              <a:ea typeface="Calibri"/>
              <a:cs typeface="Calibri"/>
              <a:sym typeface="Calibri"/>
            </a:endParaRPr>
          </a:p>
        </p:txBody>
      </p:sp>
      <p:sp>
        <p:nvSpPr>
          <p:cNvPr id="1718" name="Google Shape;1718;p39"/>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719" name="Google Shape;1719;p39"/>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720" name="Google Shape;1720;p39"/>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Every Saturday in August sold out by early June. People kept calling for summer weekends and we had nothing to give them.</a:t>
            </a:r>
            <a:endParaRPr b="0" i="0" sz="1100" u="none" cap="none" strike="noStrike">
              <a:solidFill>
                <a:schemeClr val="dk1"/>
              </a:solidFill>
              <a:latin typeface="Calibri"/>
              <a:ea typeface="Calibri"/>
              <a:cs typeface="Calibri"/>
              <a:sym typeface="Calibri"/>
            </a:endParaRPr>
          </a:p>
        </p:txBody>
      </p:sp>
      <p:sp>
        <p:nvSpPr>
          <p:cNvPr id="1721" name="Google Shape;1721;p39"/>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9"/>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723" name="Google Shape;1723;p39"/>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724" name="Google Shape;1724;p39"/>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3 OF 6</a:t>
            </a:r>
            <a:endParaRPr b="0" i="0" sz="950" u="none" cap="none" strike="noStrike">
              <a:solidFill>
                <a:schemeClr val="dk1"/>
              </a:solidFill>
              <a:latin typeface="Calibri"/>
              <a:ea typeface="Calibri"/>
              <a:cs typeface="Calibri"/>
              <a:sym typeface="Calibri"/>
            </a:endParaRPr>
          </a:p>
        </p:txBody>
      </p:sp>
      <p:sp>
        <p:nvSpPr>
          <p:cNvPr id="1725" name="Google Shape;1725;p39"/>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726" name="Google Shape;1726;p39"/>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727" name="Google Shape;1727;p39"/>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728" name="Google Shape;1728;p39"/>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729" name="Google Shape;1729;p39"/>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730" name="Google Shape;1730;p39"/>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731" name="Google Shape;1731;p39"/>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
        <p:nvSpPr>
          <p:cNvPr id="1732" name="Google Shape;1732;p39"/>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37" name="Shape 1737"/>
        <p:cNvGrpSpPr/>
        <p:nvPr/>
      </p:nvGrpSpPr>
      <p:grpSpPr>
        <a:xfrm>
          <a:off x="0" y="0"/>
          <a:ext cx="0" cy="0"/>
          <a:chOff x="0" y="0"/>
          <a:chExt cx="0" cy="0"/>
        </a:xfrm>
      </p:grpSpPr>
      <p:sp>
        <p:nvSpPr>
          <p:cNvPr id="1738" name="Google Shape;1738;p4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3 OF 6</a:t>
            </a:r>
            <a:endParaRPr b="0" i="0" sz="1050" u="none" cap="none" strike="noStrike">
              <a:solidFill>
                <a:schemeClr val="dk1"/>
              </a:solidFill>
              <a:latin typeface="Calibri"/>
              <a:ea typeface="Calibri"/>
              <a:cs typeface="Calibri"/>
              <a:sym typeface="Calibri"/>
            </a:endParaRPr>
          </a:p>
        </p:txBody>
      </p:sp>
      <p:sp>
        <p:nvSpPr>
          <p:cNvPr id="1739" name="Google Shape;1739;p4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740" name="Google Shape;1740;p4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741" name="Google Shape;1741;p4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38 / 65</a:t>
            </a:r>
            <a:endParaRPr b="0" i="0" sz="900" u="none" cap="none" strike="noStrike">
              <a:solidFill>
                <a:schemeClr val="dk1"/>
              </a:solidFill>
              <a:latin typeface="Calibri"/>
              <a:ea typeface="Calibri"/>
              <a:cs typeface="Calibri"/>
              <a:sym typeface="Calibri"/>
            </a:endParaRPr>
          </a:p>
        </p:txBody>
      </p:sp>
      <p:sp>
        <p:nvSpPr>
          <p:cNvPr id="1742" name="Google Shape;1742;p40"/>
          <p:cNvSpPr/>
          <p:nvPr/>
        </p:nvSpPr>
        <p:spPr>
          <a:xfrm>
            <a:off x="548640" y="1481328"/>
            <a:ext cx="7406640" cy="2874899"/>
          </a:xfrm>
          <a:prstGeom prst="roundRect">
            <a:avLst>
              <a:gd fmla="val 3817"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0"/>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Best summer yet</a:t>
            </a:r>
            <a:endParaRPr b="0" i="0" sz="1450" u="none" cap="none" strike="noStrike">
              <a:solidFill>
                <a:schemeClr val="dk1"/>
              </a:solidFill>
              <a:latin typeface="Calibri"/>
              <a:ea typeface="Calibri"/>
              <a:cs typeface="Calibri"/>
              <a:sym typeface="Calibri"/>
            </a:endParaRPr>
          </a:p>
        </p:txBody>
      </p:sp>
      <p:sp>
        <p:nvSpPr>
          <p:cNvPr id="1744" name="Google Shape;1744;p40"/>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0"/>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W</a:t>
            </a:r>
            <a:endParaRPr b="0" i="0" sz="1200" u="none" cap="none" strike="noStrike">
              <a:solidFill>
                <a:schemeClr val="dk1"/>
              </a:solidFill>
              <a:latin typeface="Calibri"/>
              <a:ea typeface="Calibri"/>
              <a:cs typeface="Calibri"/>
              <a:sym typeface="Calibri"/>
            </a:endParaRPr>
          </a:p>
        </p:txBody>
      </p:sp>
      <p:sp>
        <p:nvSpPr>
          <p:cNvPr id="1746" name="Google Shape;1746;p40"/>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Walt  </a:t>
            </a:r>
            <a:r>
              <a:rPr b="0" i="0" lang="en-US" sz="950" u="none" cap="none" strike="noStrike">
                <a:solidFill>
                  <a:srgbClr val="737373"/>
                </a:solidFill>
                <a:latin typeface="Roboto Mono"/>
                <a:ea typeface="Roboto Mono"/>
                <a:cs typeface="Roboto Mono"/>
                <a:sym typeface="Roboto Mono"/>
              </a:rPr>
              <a:t>&lt;walt@winery-stay.example&gt;</a:t>
            </a:r>
            <a:endParaRPr b="0" i="0" sz="1150" u="none" cap="none" strike="noStrike">
              <a:solidFill>
                <a:schemeClr val="dk1"/>
              </a:solidFill>
              <a:latin typeface="Calibri"/>
              <a:ea typeface="Calibri"/>
              <a:cs typeface="Calibri"/>
              <a:sym typeface="Calibri"/>
            </a:endParaRPr>
          </a:p>
        </p:txBody>
      </p:sp>
      <p:sp>
        <p:nvSpPr>
          <p:cNvPr id="1747" name="Google Shape;1747;p40"/>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748" name="Google Shape;1748;p40"/>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749" name="Google Shape;1749;p40"/>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Every Saturday in August sold out by early June. People kept calling for summer weekends and we had nothing to give them.</a:t>
            </a:r>
            <a:endParaRPr b="0" i="0" sz="1100" u="none" cap="none" strike="noStrike">
              <a:solidFill>
                <a:schemeClr val="dk1"/>
              </a:solidFill>
              <a:latin typeface="Calibri"/>
              <a:ea typeface="Calibri"/>
              <a:cs typeface="Calibri"/>
              <a:sym typeface="Calibri"/>
            </a:endParaRPr>
          </a:p>
        </p:txBody>
      </p:sp>
      <p:sp>
        <p:nvSpPr>
          <p:cNvPr id="1750" name="Google Shape;1750;p40"/>
          <p:cNvSpPr/>
          <p:nvPr/>
        </p:nvSpPr>
        <p:spPr>
          <a:xfrm>
            <a:off x="548640" y="4539107"/>
            <a:ext cx="7406640" cy="1770253"/>
          </a:xfrm>
          <a:prstGeom prst="roundRect">
            <a:avLst>
              <a:gd fmla="val 619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0"/>
          <p:cNvSpPr txBox="1"/>
          <p:nvPr/>
        </p:nvSpPr>
        <p:spPr>
          <a:xfrm>
            <a:off x="859536" y="472198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752" name="Google Shape;1752;p40"/>
          <p:cNvSpPr txBox="1"/>
          <p:nvPr/>
        </p:nvSpPr>
        <p:spPr>
          <a:xfrm>
            <a:off x="859536" y="497801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Look closer. Selling out in June and turning callers away all summer is </a:t>
            </a:r>
            <a:r>
              <a:rPr b="1" i="0" lang="en-US" sz="1100" u="none" cap="none" strike="noStrike">
                <a:solidFill>
                  <a:srgbClr val="404040"/>
                </a:solidFill>
                <a:latin typeface="Inter"/>
                <a:ea typeface="Inter"/>
                <a:cs typeface="Inter"/>
                <a:sym typeface="Inter"/>
              </a:rPr>
              <a:t>denial</a:t>
            </a:r>
            <a:r>
              <a:rPr b="0" i="0" lang="en-US" sz="1100" u="none" cap="none" strike="noStrike">
                <a:solidFill>
                  <a:srgbClr val="404040"/>
                </a:solidFill>
                <a:latin typeface="Inter"/>
                <a:ea typeface="Inter"/>
                <a:cs typeface="Inter"/>
                <a:sym typeface="Inter"/>
              </a:rPr>
              <a:t>: demand that tried to book and could not. It feels like safety; HiddenGem Brain reads it as a rate set too low. Every call turned away is the case for next August's price.</a:t>
            </a:r>
            <a:endParaRPr b="0" i="0" sz="1100" u="none" cap="none" strike="noStrike">
              <a:solidFill>
                <a:schemeClr val="dk1"/>
              </a:solidFill>
              <a:latin typeface="Calibri"/>
              <a:ea typeface="Calibri"/>
              <a:cs typeface="Calibri"/>
              <a:sym typeface="Calibri"/>
            </a:endParaRPr>
          </a:p>
        </p:txBody>
      </p:sp>
      <p:sp>
        <p:nvSpPr>
          <p:cNvPr id="1753" name="Google Shape;1753;p40"/>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“Congratulations. How many people tried to book those Saturdays after June? That's the case for next August's rate.”</a:t>
            </a:r>
            <a:endParaRPr b="0" i="0" sz="1100" u="none" cap="none" strike="noStrike">
              <a:solidFill>
                <a:schemeClr val="dk1"/>
              </a:solidFill>
              <a:latin typeface="Calibri"/>
              <a:ea typeface="Calibri"/>
              <a:cs typeface="Calibri"/>
              <a:sym typeface="Calibri"/>
            </a:endParaRPr>
          </a:p>
        </p:txBody>
      </p:sp>
      <p:sp>
        <p:nvSpPr>
          <p:cNvPr id="1754" name="Google Shape;1754;p40"/>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0"/>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756" name="Google Shape;1756;p40"/>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757" name="Google Shape;1757;p40"/>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758" name="Google Shape;1758;p40"/>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759" name="Google Shape;1759;p40"/>
          <p:cNvSpPr/>
          <p:nvPr/>
        </p:nvSpPr>
        <p:spPr>
          <a:xfrm>
            <a:off x="8549640" y="3310128"/>
            <a:ext cx="2816352" cy="713232"/>
          </a:xfrm>
          <a:prstGeom prst="roundRect">
            <a:avLst>
              <a:gd fmla="val 1282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y.png" id="1760" name="Google Shape;1760;p40"/>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761" name="Google Shape;1761;p40"/>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Thumbs up</a:t>
            </a:r>
            <a:r>
              <a:rPr b="0" i="0" lang="en-US" sz="1250" u="none" cap="none" strike="noStrike">
                <a:solidFill>
                  <a:srgbClr val="A3A3A3"/>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762" name="Google Shape;1762;p40"/>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763" name="Google Shape;1763;p40"/>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764" name="Google Shape;1764;p40"/>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69" name="Shape 1769"/>
        <p:cNvGrpSpPr/>
        <p:nvPr/>
      </p:nvGrpSpPr>
      <p:grpSpPr>
        <a:xfrm>
          <a:off x="0" y="0"/>
          <a:ext cx="0" cy="0"/>
          <a:chOff x="0" y="0"/>
          <a:chExt cx="0" cy="0"/>
        </a:xfrm>
      </p:grpSpPr>
      <p:sp>
        <p:nvSpPr>
          <p:cNvPr id="1770" name="Google Shape;1770;p4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4 OF 6</a:t>
            </a:r>
            <a:endParaRPr b="0" i="0" sz="1050" u="none" cap="none" strike="noStrike">
              <a:solidFill>
                <a:schemeClr val="dk1"/>
              </a:solidFill>
              <a:latin typeface="Calibri"/>
              <a:ea typeface="Calibri"/>
              <a:cs typeface="Calibri"/>
              <a:sym typeface="Calibri"/>
            </a:endParaRPr>
          </a:p>
        </p:txBody>
      </p:sp>
      <p:sp>
        <p:nvSpPr>
          <p:cNvPr id="1771" name="Google Shape;1771;p4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772" name="Google Shape;1772;p4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773" name="Google Shape;1773;p4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39 / 65</a:t>
            </a:r>
            <a:endParaRPr b="0" i="0" sz="900" u="none" cap="none" strike="noStrike">
              <a:solidFill>
                <a:schemeClr val="dk1"/>
              </a:solidFill>
              <a:latin typeface="Calibri"/>
              <a:ea typeface="Calibri"/>
              <a:cs typeface="Calibri"/>
              <a:sym typeface="Calibri"/>
            </a:endParaRPr>
          </a:p>
        </p:txBody>
      </p:sp>
      <p:sp>
        <p:nvSpPr>
          <p:cNvPr id="1774" name="Google Shape;1774;p41"/>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1"/>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re: rates??</a:t>
            </a:r>
            <a:endParaRPr b="0" i="0" sz="1450" u="none" cap="none" strike="noStrike">
              <a:solidFill>
                <a:schemeClr val="dk1"/>
              </a:solidFill>
              <a:latin typeface="Calibri"/>
              <a:ea typeface="Calibri"/>
              <a:cs typeface="Calibri"/>
              <a:sym typeface="Calibri"/>
            </a:endParaRPr>
          </a:p>
        </p:txBody>
      </p:sp>
      <p:sp>
        <p:nvSpPr>
          <p:cNvPr id="1776" name="Google Shape;1776;p41"/>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1"/>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I</a:t>
            </a:r>
            <a:endParaRPr b="0" i="0" sz="1200" u="none" cap="none" strike="noStrike">
              <a:solidFill>
                <a:schemeClr val="dk1"/>
              </a:solidFill>
              <a:latin typeface="Calibri"/>
              <a:ea typeface="Calibri"/>
              <a:cs typeface="Calibri"/>
              <a:sym typeface="Calibri"/>
            </a:endParaRPr>
          </a:p>
        </p:txBody>
      </p:sp>
      <p:sp>
        <p:nvSpPr>
          <p:cNvPr id="1778" name="Google Shape;1778;p41"/>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Ines  </a:t>
            </a:r>
            <a:r>
              <a:rPr b="0" i="0" lang="en-US" sz="950" u="none" cap="none" strike="noStrike">
                <a:solidFill>
                  <a:srgbClr val="737373"/>
                </a:solidFill>
                <a:latin typeface="Roboto Mono"/>
                <a:ea typeface="Roboto Mono"/>
                <a:cs typeface="Roboto Mono"/>
                <a:sym typeface="Roboto Mono"/>
              </a:rPr>
              <a:t>&lt;ines@mountain-resort.example&gt;</a:t>
            </a:r>
            <a:endParaRPr b="0" i="0" sz="1150" u="none" cap="none" strike="noStrike">
              <a:solidFill>
                <a:schemeClr val="dk1"/>
              </a:solidFill>
              <a:latin typeface="Calibri"/>
              <a:ea typeface="Calibri"/>
              <a:cs typeface="Calibri"/>
              <a:sym typeface="Calibri"/>
            </a:endParaRPr>
          </a:p>
        </p:txBody>
      </p:sp>
      <p:sp>
        <p:nvSpPr>
          <p:cNvPr id="1779" name="Google Shape;1779;p41"/>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780" name="Google Shape;1780;p41"/>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781" name="Google Shape;1781;p41"/>
          <p:cNvSpPr txBox="1"/>
          <p:nvPr/>
        </p:nvSpPr>
        <p:spPr>
          <a:xfrm>
            <a:off x="859536" y="2852928"/>
            <a:ext cx="6784848" cy="828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Honestly, rates are sort of everyone's job here. Our GM bumps them up when she gets a minute, usually after we've already sold out. I go through the calendar on Sunday nights if I'm not too wiped. And we pay a firm that emails a PDF report once a month; I keep meaning to open the last two.</a:t>
            </a:r>
            <a:endParaRPr b="0" i="0" sz="1100" u="none" cap="none" strike="noStrike">
              <a:solidFill>
                <a:schemeClr val="dk1"/>
              </a:solidFill>
              <a:latin typeface="Calibri"/>
              <a:ea typeface="Calibri"/>
              <a:cs typeface="Calibri"/>
              <a:sym typeface="Calibri"/>
            </a:endParaRPr>
          </a:p>
        </p:txBody>
      </p:sp>
      <p:sp>
        <p:nvSpPr>
          <p:cNvPr id="1782" name="Google Shape;1782;p41"/>
          <p:cNvSpPr txBox="1"/>
          <p:nvPr/>
        </p:nvSpPr>
        <p:spPr>
          <a:xfrm>
            <a:off x="859536" y="377240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Someone raised our Saturdays in June and I think someone else put them back down? Anyway, it all seems to work out, so I think we're covered.</a:t>
            </a:r>
            <a:endParaRPr b="0" i="0" sz="1100" u="none" cap="none" strike="noStrike">
              <a:solidFill>
                <a:schemeClr val="dk1"/>
              </a:solidFill>
              <a:latin typeface="Calibri"/>
              <a:ea typeface="Calibri"/>
              <a:cs typeface="Calibri"/>
              <a:sym typeface="Calibri"/>
            </a:endParaRPr>
          </a:p>
        </p:txBody>
      </p:sp>
      <p:sp>
        <p:nvSpPr>
          <p:cNvPr id="1783" name="Google Shape;1783;p41"/>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1"/>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785" name="Google Shape;1785;p41"/>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786" name="Google Shape;1786;p41"/>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4 OF 6</a:t>
            </a:r>
            <a:endParaRPr b="0" i="0" sz="950" u="none" cap="none" strike="noStrike">
              <a:solidFill>
                <a:schemeClr val="dk1"/>
              </a:solidFill>
              <a:latin typeface="Calibri"/>
              <a:ea typeface="Calibri"/>
              <a:cs typeface="Calibri"/>
              <a:sym typeface="Calibri"/>
            </a:endParaRPr>
          </a:p>
        </p:txBody>
      </p:sp>
      <p:sp>
        <p:nvSpPr>
          <p:cNvPr id="1787" name="Google Shape;1787;p41"/>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788" name="Google Shape;1788;p41"/>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789" name="Google Shape;1789;p41"/>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790" name="Google Shape;1790;p41"/>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791" name="Google Shape;1791;p41"/>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792" name="Google Shape;1792;p41"/>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793" name="Google Shape;1793;p41"/>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
        <p:nvSpPr>
          <p:cNvPr id="1794" name="Google Shape;1794;p41"/>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799" name="Shape 1799"/>
        <p:cNvGrpSpPr/>
        <p:nvPr/>
      </p:nvGrpSpPr>
      <p:grpSpPr>
        <a:xfrm>
          <a:off x="0" y="0"/>
          <a:ext cx="0" cy="0"/>
          <a:chOff x="0" y="0"/>
          <a:chExt cx="0" cy="0"/>
        </a:xfrm>
      </p:grpSpPr>
      <p:sp>
        <p:nvSpPr>
          <p:cNvPr id="1800" name="Google Shape;1800;p4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4 OF 6</a:t>
            </a:r>
            <a:endParaRPr b="0" i="0" sz="1050" u="none" cap="none" strike="noStrike">
              <a:solidFill>
                <a:schemeClr val="dk1"/>
              </a:solidFill>
              <a:latin typeface="Calibri"/>
              <a:ea typeface="Calibri"/>
              <a:cs typeface="Calibri"/>
              <a:sym typeface="Calibri"/>
            </a:endParaRPr>
          </a:p>
        </p:txBody>
      </p:sp>
      <p:sp>
        <p:nvSpPr>
          <p:cNvPr id="1801" name="Google Shape;1801;p4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802" name="Google Shape;1802;p4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803" name="Google Shape;1803;p4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40 / 65</a:t>
            </a:r>
            <a:endParaRPr b="0" i="0" sz="900" u="none" cap="none" strike="noStrike">
              <a:solidFill>
                <a:schemeClr val="dk1"/>
              </a:solidFill>
              <a:latin typeface="Calibri"/>
              <a:ea typeface="Calibri"/>
              <a:cs typeface="Calibri"/>
              <a:sym typeface="Calibri"/>
            </a:endParaRPr>
          </a:p>
        </p:txBody>
      </p:sp>
      <p:sp>
        <p:nvSpPr>
          <p:cNvPr id="1804" name="Google Shape;1804;p42"/>
          <p:cNvSpPr/>
          <p:nvPr/>
        </p:nvSpPr>
        <p:spPr>
          <a:xfrm>
            <a:off x="548640" y="1481328"/>
            <a:ext cx="7406640" cy="3056509"/>
          </a:xfrm>
          <a:prstGeom prst="roundRect">
            <a:avLst>
              <a:gd fmla="val 359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2"/>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re: rates??</a:t>
            </a:r>
            <a:endParaRPr b="0" i="0" sz="1450" u="none" cap="none" strike="noStrike">
              <a:solidFill>
                <a:schemeClr val="dk1"/>
              </a:solidFill>
              <a:latin typeface="Calibri"/>
              <a:ea typeface="Calibri"/>
              <a:cs typeface="Calibri"/>
              <a:sym typeface="Calibri"/>
            </a:endParaRPr>
          </a:p>
        </p:txBody>
      </p:sp>
      <p:sp>
        <p:nvSpPr>
          <p:cNvPr id="1806" name="Google Shape;1806;p42"/>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2"/>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I</a:t>
            </a:r>
            <a:endParaRPr b="0" i="0" sz="1200" u="none" cap="none" strike="noStrike">
              <a:solidFill>
                <a:schemeClr val="dk1"/>
              </a:solidFill>
              <a:latin typeface="Calibri"/>
              <a:ea typeface="Calibri"/>
              <a:cs typeface="Calibri"/>
              <a:sym typeface="Calibri"/>
            </a:endParaRPr>
          </a:p>
        </p:txBody>
      </p:sp>
      <p:sp>
        <p:nvSpPr>
          <p:cNvPr id="1808" name="Google Shape;1808;p42"/>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Ines  </a:t>
            </a:r>
            <a:r>
              <a:rPr b="0" i="0" lang="en-US" sz="950" u="none" cap="none" strike="noStrike">
                <a:solidFill>
                  <a:srgbClr val="737373"/>
                </a:solidFill>
                <a:latin typeface="Roboto Mono"/>
                <a:ea typeface="Roboto Mono"/>
                <a:cs typeface="Roboto Mono"/>
                <a:sym typeface="Roboto Mono"/>
              </a:rPr>
              <a:t>&lt;ines@mountain-resort.example&gt;</a:t>
            </a:r>
            <a:endParaRPr b="0" i="0" sz="1150" u="none" cap="none" strike="noStrike">
              <a:solidFill>
                <a:schemeClr val="dk1"/>
              </a:solidFill>
              <a:latin typeface="Calibri"/>
              <a:ea typeface="Calibri"/>
              <a:cs typeface="Calibri"/>
              <a:sym typeface="Calibri"/>
            </a:endParaRPr>
          </a:p>
        </p:txBody>
      </p:sp>
      <p:sp>
        <p:nvSpPr>
          <p:cNvPr id="1809" name="Google Shape;1809;p42"/>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810" name="Google Shape;1810;p42"/>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811" name="Google Shape;1811;p42"/>
          <p:cNvSpPr txBox="1"/>
          <p:nvPr/>
        </p:nvSpPr>
        <p:spPr>
          <a:xfrm>
            <a:off x="859536" y="2852928"/>
            <a:ext cx="6784848" cy="828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Honestly, rates are sort of everyone's job here. Our GM bumps them up when she gets a minute, usually after we've already sold out. I go through the calendar on Sunday nights if I'm not too wiped. And we pay a firm that emails a PDF report once a month; I keep meaning to open the last two.</a:t>
            </a:r>
            <a:endParaRPr b="0" i="0" sz="1100" u="none" cap="none" strike="noStrike">
              <a:solidFill>
                <a:schemeClr val="dk1"/>
              </a:solidFill>
              <a:latin typeface="Calibri"/>
              <a:ea typeface="Calibri"/>
              <a:cs typeface="Calibri"/>
              <a:sym typeface="Calibri"/>
            </a:endParaRPr>
          </a:p>
        </p:txBody>
      </p:sp>
      <p:sp>
        <p:nvSpPr>
          <p:cNvPr id="1812" name="Google Shape;1812;p42"/>
          <p:cNvSpPr txBox="1"/>
          <p:nvPr/>
        </p:nvSpPr>
        <p:spPr>
          <a:xfrm>
            <a:off x="859536" y="377240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Someone raised our Saturdays in June and I think someone else put them back down? Anyway, it all seems to work out, so I think we're covered.</a:t>
            </a:r>
            <a:endParaRPr b="0" i="0" sz="1100" u="none" cap="none" strike="noStrike">
              <a:solidFill>
                <a:schemeClr val="dk1"/>
              </a:solidFill>
              <a:latin typeface="Calibri"/>
              <a:ea typeface="Calibri"/>
              <a:cs typeface="Calibri"/>
              <a:sym typeface="Calibri"/>
            </a:endParaRPr>
          </a:p>
        </p:txBody>
      </p:sp>
      <p:sp>
        <p:nvSpPr>
          <p:cNvPr id="1813" name="Google Shape;1813;p42"/>
          <p:cNvSpPr/>
          <p:nvPr/>
        </p:nvSpPr>
        <p:spPr>
          <a:xfrm>
            <a:off x="548640" y="4720717"/>
            <a:ext cx="7406640" cy="1588643"/>
          </a:xfrm>
          <a:prstGeom prst="roundRect">
            <a:avLst>
              <a:gd fmla="val 690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2"/>
          <p:cNvSpPr txBox="1"/>
          <p:nvPr/>
        </p:nvSpPr>
        <p:spPr>
          <a:xfrm>
            <a:off x="859536" y="490359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815" name="Google Shape;1815;p42"/>
          <p:cNvSpPr txBox="1"/>
          <p:nvPr/>
        </p:nvSpPr>
        <p:spPr>
          <a:xfrm>
            <a:off x="859536" y="515962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Look closer. Nobody is running </a:t>
            </a:r>
            <a:r>
              <a:rPr b="1" i="0" lang="en-US" sz="1100" u="none" cap="none" strike="noStrike">
                <a:solidFill>
                  <a:srgbClr val="404040"/>
                </a:solidFill>
                <a:latin typeface="Inter"/>
                <a:ea typeface="Inter"/>
                <a:cs typeface="Inter"/>
                <a:sym typeface="Inter"/>
              </a:rPr>
              <a:t>revenue management</a:t>
            </a:r>
            <a:r>
              <a:rPr b="0" i="0" lang="en-US" sz="1100" u="none" cap="none" strike="noStrike">
                <a:solidFill>
                  <a:srgbClr val="404040"/>
                </a:solidFill>
                <a:latin typeface="Inter"/>
                <a:ea typeface="Inter"/>
                <a:cs typeface="Inter"/>
                <a:sym typeface="Inter"/>
              </a:rPr>
              <a:t>: rates move late, by different people, and the paid report goes unread. Any demand we send lands on prices nobody is watching.</a:t>
            </a:r>
            <a:endParaRPr b="0" i="0" sz="1100" u="none" cap="none" strike="noStrike">
              <a:solidFill>
                <a:schemeClr val="dk1"/>
              </a:solidFill>
              <a:latin typeface="Calibri"/>
              <a:ea typeface="Calibri"/>
              <a:cs typeface="Calibri"/>
              <a:sym typeface="Calibri"/>
            </a:endParaRPr>
          </a:p>
        </p:txBody>
      </p:sp>
      <p:sp>
        <p:nvSpPr>
          <p:cNvPr id="1816" name="Google Shape;1816;p42"/>
          <p:cNvSpPr txBox="1"/>
          <p:nvPr/>
        </p:nvSpPr>
        <p:spPr>
          <a:xfrm>
            <a:off x="859536" y="5853430"/>
            <a:ext cx="6784848" cy="30962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“Who has the final say on a rate change right now?”</a:t>
            </a:r>
            <a:endParaRPr b="0" i="0" sz="1100" u="none" cap="none" strike="noStrike">
              <a:solidFill>
                <a:schemeClr val="dk1"/>
              </a:solidFill>
              <a:latin typeface="Calibri"/>
              <a:ea typeface="Calibri"/>
              <a:cs typeface="Calibri"/>
              <a:sym typeface="Calibri"/>
            </a:endParaRPr>
          </a:p>
        </p:txBody>
      </p:sp>
      <p:sp>
        <p:nvSpPr>
          <p:cNvPr id="1817" name="Google Shape;1817;p42"/>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2"/>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819" name="Google Shape;1819;p42"/>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820" name="Google Shape;1820;p42"/>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821" name="Google Shape;1821;p42"/>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822" name="Google Shape;1822;p42"/>
          <p:cNvSpPr/>
          <p:nvPr/>
        </p:nvSpPr>
        <p:spPr>
          <a:xfrm>
            <a:off x="8549640" y="3310128"/>
            <a:ext cx="2816352" cy="713232"/>
          </a:xfrm>
          <a:prstGeom prst="roundRect">
            <a:avLst>
              <a:gd fmla="val 1282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y.png" id="1823" name="Google Shape;1823;p42"/>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824" name="Google Shape;1824;p42"/>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Thumbs up</a:t>
            </a:r>
            <a:r>
              <a:rPr b="0" i="0" lang="en-US" sz="1250" u="none" cap="none" strike="noStrike">
                <a:solidFill>
                  <a:srgbClr val="A3A3A3"/>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825" name="Google Shape;1825;p42"/>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826" name="Google Shape;1826;p42"/>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827" name="Google Shape;1827;p42"/>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32" name="Shape 1832"/>
        <p:cNvGrpSpPr/>
        <p:nvPr/>
      </p:nvGrpSpPr>
      <p:grpSpPr>
        <a:xfrm>
          <a:off x="0" y="0"/>
          <a:ext cx="0" cy="0"/>
          <a:chOff x="0" y="0"/>
          <a:chExt cx="0" cy="0"/>
        </a:xfrm>
      </p:grpSpPr>
      <p:sp>
        <p:nvSpPr>
          <p:cNvPr id="1833" name="Google Shape;1833;p4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5 OF 6</a:t>
            </a:r>
            <a:endParaRPr b="0" i="0" sz="1050" u="none" cap="none" strike="noStrike">
              <a:solidFill>
                <a:schemeClr val="dk1"/>
              </a:solidFill>
              <a:latin typeface="Calibri"/>
              <a:ea typeface="Calibri"/>
              <a:cs typeface="Calibri"/>
              <a:sym typeface="Calibri"/>
            </a:endParaRPr>
          </a:p>
        </p:txBody>
      </p:sp>
      <p:sp>
        <p:nvSpPr>
          <p:cNvPr id="1834" name="Google Shape;1834;p4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835" name="Google Shape;1835;p4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836" name="Google Shape;1836;p4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41 / 65</a:t>
            </a:r>
            <a:endParaRPr b="0" i="0" sz="900" u="none" cap="none" strike="noStrike">
              <a:solidFill>
                <a:schemeClr val="dk1"/>
              </a:solidFill>
              <a:latin typeface="Calibri"/>
              <a:ea typeface="Calibri"/>
              <a:cs typeface="Calibri"/>
              <a:sym typeface="Calibri"/>
            </a:endParaRPr>
          </a:p>
        </p:txBody>
      </p:sp>
      <p:sp>
        <p:nvSpPr>
          <p:cNvPr id="1837" name="Google Shape;1837;p43"/>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3"/>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We finally picked our comp set</a:t>
            </a:r>
            <a:endParaRPr b="0" i="0" sz="1450" u="none" cap="none" strike="noStrike">
              <a:solidFill>
                <a:schemeClr val="dk1"/>
              </a:solidFill>
              <a:latin typeface="Calibri"/>
              <a:ea typeface="Calibri"/>
              <a:cs typeface="Calibri"/>
              <a:sym typeface="Calibri"/>
            </a:endParaRPr>
          </a:p>
        </p:txBody>
      </p:sp>
      <p:sp>
        <p:nvSpPr>
          <p:cNvPr id="1839" name="Google Shape;1839;p43"/>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3"/>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1841" name="Google Shape;1841;p43"/>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1842" name="Google Shape;1842;p43"/>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843" name="Google Shape;1843;p43"/>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844" name="Google Shape;1844;p43"/>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We've settled on the four lodges our guests actually compare us with, not the chain hotel by the highway that always shows up in the reports.</a:t>
            </a:r>
            <a:endParaRPr b="0" i="0" sz="1100" u="none" cap="none" strike="noStrike">
              <a:solidFill>
                <a:schemeClr val="dk1"/>
              </a:solidFill>
              <a:latin typeface="Calibri"/>
              <a:ea typeface="Calibri"/>
              <a:cs typeface="Calibri"/>
              <a:sym typeface="Calibri"/>
            </a:endParaRPr>
          </a:p>
        </p:txBody>
      </p:sp>
      <p:sp>
        <p:nvSpPr>
          <p:cNvPr id="1845" name="Google Shape;1845;p43"/>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3"/>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847" name="Google Shape;1847;p43"/>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848" name="Google Shape;1848;p43"/>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5 OF 6</a:t>
            </a:r>
            <a:endParaRPr b="0" i="0" sz="950" u="none" cap="none" strike="noStrike">
              <a:solidFill>
                <a:schemeClr val="dk1"/>
              </a:solidFill>
              <a:latin typeface="Calibri"/>
              <a:ea typeface="Calibri"/>
              <a:cs typeface="Calibri"/>
              <a:sym typeface="Calibri"/>
            </a:endParaRPr>
          </a:p>
        </p:txBody>
      </p:sp>
      <p:sp>
        <p:nvSpPr>
          <p:cNvPr id="1849" name="Google Shape;1849;p43"/>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850" name="Google Shape;1850;p43"/>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851" name="Google Shape;1851;p43"/>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852" name="Google Shape;1852;p43"/>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853" name="Google Shape;1853;p43"/>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854" name="Google Shape;1854;p43"/>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855" name="Google Shape;1855;p43"/>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
        <p:nvSpPr>
          <p:cNvPr id="1856" name="Google Shape;1856;p43"/>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61" name="Shape 1861"/>
        <p:cNvGrpSpPr/>
        <p:nvPr/>
      </p:nvGrpSpPr>
      <p:grpSpPr>
        <a:xfrm>
          <a:off x="0" y="0"/>
          <a:ext cx="0" cy="0"/>
          <a:chOff x="0" y="0"/>
          <a:chExt cx="0" cy="0"/>
        </a:xfrm>
      </p:grpSpPr>
      <p:sp>
        <p:nvSpPr>
          <p:cNvPr id="1862" name="Google Shape;1862;p4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5 OF 6</a:t>
            </a:r>
            <a:endParaRPr b="0" i="0" sz="1050" u="none" cap="none" strike="noStrike">
              <a:solidFill>
                <a:schemeClr val="dk1"/>
              </a:solidFill>
              <a:latin typeface="Calibri"/>
              <a:ea typeface="Calibri"/>
              <a:cs typeface="Calibri"/>
              <a:sym typeface="Calibri"/>
            </a:endParaRPr>
          </a:p>
        </p:txBody>
      </p:sp>
      <p:sp>
        <p:nvSpPr>
          <p:cNvPr id="1863" name="Google Shape;1863;p4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864" name="Google Shape;1864;p4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865" name="Google Shape;1865;p4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42 / 65</a:t>
            </a:r>
            <a:endParaRPr b="0" i="0" sz="900" u="none" cap="none" strike="noStrike">
              <a:solidFill>
                <a:schemeClr val="dk1"/>
              </a:solidFill>
              <a:latin typeface="Calibri"/>
              <a:ea typeface="Calibri"/>
              <a:cs typeface="Calibri"/>
              <a:sym typeface="Calibri"/>
            </a:endParaRPr>
          </a:p>
        </p:txBody>
      </p:sp>
      <p:sp>
        <p:nvSpPr>
          <p:cNvPr id="1866" name="Google Shape;1866;p44"/>
          <p:cNvSpPr/>
          <p:nvPr/>
        </p:nvSpPr>
        <p:spPr>
          <a:xfrm>
            <a:off x="548640" y="1481328"/>
            <a:ext cx="7406640" cy="3056509"/>
          </a:xfrm>
          <a:prstGeom prst="roundRect">
            <a:avLst>
              <a:gd fmla="val 359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4"/>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We finally picked our comp set</a:t>
            </a:r>
            <a:endParaRPr b="0" i="0" sz="1450" u="none" cap="none" strike="noStrike">
              <a:solidFill>
                <a:schemeClr val="dk1"/>
              </a:solidFill>
              <a:latin typeface="Calibri"/>
              <a:ea typeface="Calibri"/>
              <a:cs typeface="Calibri"/>
              <a:sym typeface="Calibri"/>
            </a:endParaRPr>
          </a:p>
        </p:txBody>
      </p:sp>
      <p:sp>
        <p:nvSpPr>
          <p:cNvPr id="1868" name="Google Shape;1868;p44"/>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4"/>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1870" name="Google Shape;1870;p44"/>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1871" name="Google Shape;1871;p44"/>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872" name="Google Shape;1872;p44"/>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873" name="Google Shape;1873;p44"/>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We've settled on the four lodges our guests actually compare us with, not the chain hotel by the highway that always shows up in the reports.</a:t>
            </a:r>
            <a:endParaRPr b="0" i="0" sz="1100" u="none" cap="none" strike="noStrike">
              <a:solidFill>
                <a:schemeClr val="dk1"/>
              </a:solidFill>
              <a:latin typeface="Calibri"/>
              <a:ea typeface="Calibri"/>
              <a:cs typeface="Calibri"/>
              <a:sym typeface="Calibri"/>
            </a:endParaRPr>
          </a:p>
        </p:txBody>
      </p:sp>
      <p:sp>
        <p:nvSpPr>
          <p:cNvPr id="1874" name="Google Shape;1874;p44"/>
          <p:cNvSpPr/>
          <p:nvPr/>
        </p:nvSpPr>
        <p:spPr>
          <a:xfrm>
            <a:off x="548640" y="4720717"/>
            <a:ext cx="7406640" cy="1588643"/>
          </a:xfrm>
          <a:prstGeom prst="roundRect">
            <a:avLst>
              <a:gd fmla="val 690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4"/>
          <p:cNvSpPr txBox="1"/>
          <p:nvPr/>
        </p:nvSpPr>
        <p:spPr>
          <a:xfrm>
            <a:off x="859536" y="490359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876" name="Google Shape;1876;p44"/>
          <p:cNvSpPr txBox="1"/>
          <p:nvPr/>
        </p:nvSpPr>
        <p:spPr>
          <a:xfrm>
            <a:off x="859536" y="515962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Take it. A </a:t>
            </a:r>
            <a:r>
              <a:rPr b="1" i="0" lang="en-US" sz="1100" u="none" cap="none" strike="noStrike">
                <a:solidFill>
                  <a:srgbClr val="404040"/>
                </a:solidFill>
                <a:latin typeface="Inter"/>
                <a:ea typeface="Inter"/>
                <a:cs typeface="Inter"/>
                <a:sym typeface="Inter"/>
              </a:rPr>
              <a:t>comp set</a:t>
            </a:r>
            <a:r>
              <a:rPr b="0" i="0" lang="en-US" sz="1100" u="none" cap="none" strike="noStrike">
                <a:solidFill>
                  <a:srgbClr val="404040"/>
                </a:solidFill>
                <a:latin typeface="Inter"/>
                <a:ea typeface="Inter"/>
                <a:cs typeface="Inter"/>
                <a:sym typeface="Inter"/>
              </a:rPr>
              <a:t> is only useful if it is the places guests really choose between, and that is exactly what Marisol has done. If you voted look closer, notice the over-correction: the job is verification, not suspicion.</a:t>
            </a:r>
            <a:endParaRPr b="0" i="0" sz="1100" u="none" cap="none" strike="noStrike">
              <a:solidFill>
                <a:schemeClr val="dk1"/>
              </a:solidFill>
              <a:latin typeface="Calibri"/>
              <a:ea typeface="Calibri"/>
              <a:cs typeface="Calibri"/>
              <a:sym typeface="Calibri"/>
            </a:endParaRPr>
          </a:p>
        </p:txBody>
      </p:sp>
      <p:sp>
        <p:nvSpPr>
          <p:cNvPr id="1877" name="Google Shape;1877;p44"/>
          <p:cNvSpPr txBox="1"/>
          <p:nvPr/>
        </p:nvSpPr>
        <p:spPr>
          <a:xfrm>
            <a:off x="859536" y="5853430"/>
            <a:ext cx="6784848" cy="30962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“That's the right four. Which of them do you lose guests to most?”</a:t>
            </a:r>
            <a:endParaRPr b="0" i="0" sz="1100" u="none" cap="none" strike="noStrike">
              <a:solidFill>
                <a:schemeClr val="dk1"/>
              </a:solidFill>
              <a:latin typeface="Calibri"/>
              <a:ea typeface="Calibri"/>
              <a:cs typeface="Calibri"/>
              <a:sym typeface="Calibri"/>
            </a:endParaRPr>
          </a:p>
        </p:txBody>
      </p:sp>
      <p:sp>
        <p:nvSpPr>
          <p:cNvPr id="1878" name="Google Shape;1878;p44"/>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4"/>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880" name="Google Shape;1880;p44"/>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881" name="Google Shape;1881;p44"/>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882" name="Google Shape;1882;p44"/>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883" name="Google Shape;1883;p44"/>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884" name="Google Shape;1884;p44"/>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885" name="Google Shape;1885;p44"/>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886" name="Google Shape;1886;p44"/>
          <p:cNvSpPr/>
          <p:nvPr/>
        </p:nvSpPr>
        <p:spPr>
          <a:xfrm>
            <a:off x="8549640" y="4169664"/>
            <a:ext cx="2816352" cy="713232"/>
          </a:xfrm>
          <a:prstGeom prst="roundRect">
            <a:avLst>
              <a:gd fmla="val 1282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grey.png" id="1887" name="Google Shape;1887;p44"/>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888" name="Google Shape;1888;p44"/>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3A3A3"/>
              </a:buClr>
              <a:buSzPts val="1250"/>
              <a:buFont typeface="Inter"/>
              <a:buNone/>
            </a:pPr>
            <a:r>
              <a:rPr b="0" i="0" lang="en-US" sz="1250" u="none" cap="none" strike="noStrike">
                <a:solidFill>
                  <a:srgbClr val="A3A3A3"/>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893" name="Shape 1893"/>
        <p:cNvGrpSpPr/>
        <p:nvPr/>
      </p:nvGrpSpPr>
      <p:grpSpPr>
        <a:xfrm>
          <a:off x="0" y="0"/>
          <a:ext cx="0" cy="0"/>
          <a:chOff x="0" y="0"/>
          <a:chExt cx="0" cy="0"/>
        </a:xfrm>
      </p:grpSpPr>
      <p:sp>
        <p:nvSpPr>
          <p:cNvPr id="1894" name="Google Shape;1894;p4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6 OF 6</a:t>
            </a:r>
            <a:endParaRPr b="0" i="0" sz="1050" u="none" cap="none" strike="noStrike">
              <a:solidFill>
                <a:schemeClr val="dk1"/>
              </a:solidFill>
              <a:latin typeface="Calibri"/>
              <a:ea typeface="Calibri"/>
              <a:cs typeface="Calibri"/>
              <a:sym typeface="Calibri"/>
            </a:endParaRPr>
          </a:p>
        </p:txBody>
      </p:sp>
      <p:sp>
        <p:nvSpPr>
          <p:cNvPr id="1895" name="Google Shape;1895;p4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896" name="Google Shape;1896;p4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897" name="Google Shape;1897;p4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43 / 65</a:t>
            </a:r>
            <a:endParaRPr b="0" i="0" sz="900" u="none" cap="none" strike="noStrike">
              <a:solidFill>
                <a:schemeClr val="dk1"/>
              </a:solidFill>
              <a:latin typeface="Calibri"/>
              <a:ea typeface="Calibri"/>
              <a:cs typeface="Calibri"/>
              <a:sym typeface="Calibri"/>
            </a:endParaRPr>
          </a:p>
        </p:txBody>
      </p:sp>
      <p:sp>
        <p:nvSpPr>
          <p:cNvPr id="1898" name="Google Shape;1898;p45"/>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5"/>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Pushing people direct</a:t>
            </a:r>
            <a:endParaRPr b="0" i="0" sz="1450" u="none" cap="none" strike="noStrike">
              <a:solidFill>
                <a:schemeClr val="dk1"/>
              </a:solidFill>
              <a:latin typeface="Calibri"/>
              <a:ea typeface="Calibri"/>
              <a:cs typeface="Calibri"/>
              <a:sym typeface="Calibri"/>
            </a:endParaRPr>
          </a:p>
        </p:txBody>
      </p:sp>
      <p:sp>
        <p:nvSpPr>
          <p:cNvPr id="1900" name="Google Shape;1900;p45"/>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5"/>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P</a:t>
            </a:r>
            <a:endParaRPr b="0" i="0" sz="1200" u="none" cap="none" strike="noStrike">
              <a:solidFill>
                <a:schemeClr val="dk1"/>
              </a:solidFill>
              <a:latin typeface="Calibri"/>
              <a:ea typeface="Calibri"/>
              <a:cs typeface="Calibri"/>
              <a:sym typeface="Calibri"/>
            </a:endParaRPr>
          </a:p>
        </p:txBody>
      </p:sp>
      <p:sp>
        <p:nvSpPr>
          <p:cNvPr id="1902" name="Google Shape;1902;p45"/>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Priya  </a:t>
            </a:r>
            <a:r>
              <a:rPr b="0" i="0" lang="en-US" sz="950" u="none" cap="none" strike="noStrike">
                <a:solidFill>
                  <a:srgbClr val="737373"/>
                </a:solidFill>
                <a:latin typeface="Roboto Mono"/>
                <a:ea typeface="Roboto Mono"/>
                <a:cs typeface="Roboto Mono"/>
                <a:sym typeface="Roboto Mono"/>
              </a:rPr>
              <a:t>&lt;priya@boutique-hotel.example&gt;</a:t>
            </a:r>
            <a:endParaRPr b="0" i="0" sz="1150" u="none" cap="none" strike="noStrike">
              <a:solidFill>
                <a:schemeClr val="dk1"/>
              </a:solidFill>
              <a:latin typeface="Calibri"/>
              <a:ea typeface="Calibri"/>
              <a:cs typeface="Calibri"/>
              <a:sym typeface="Calibri"/>
            </a:endParaRPr>
          </a:p>
        </p:txBody>
      </p:sp>
      <p:sp>
        <p:nvSpPr>
          <p:cNvPr id="1903" name="Google Shape;1903;p45"/>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904" name="Google Shape;1904;p45"/>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905" name="Google Shape;1905;p45"/>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 get more people booking direct, we've made our website $30 a night cheaper than our Expedia listing. Starting Monday.</a:t>
            </a:r>
            <a:endParaRPr b="0" i="0" sz="1100" u="none" cap="none" strike="noStrike">
              <a:solidFill>
                <a:schemeClr val="dk1"/>
              </a:solidFill>
              <a:latin typeface="Calibri"/>
              <a:ea typeface="Calibri"/>
              <a:cs typeface="Calibri"/>
              <a:sym typeface="Calibri"/>
            </a:endParaRPr>
          </a:p>
        </p:txBody>
      </p:sp>
      <p:sp>
        <p:nvSpPr>
          <p:cNvPr id="1906" name="Google Shape;1906;p45"/>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5"/>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908" name="Google Shape;1908;p45"/>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909" name="Google Shape;1909;p45"/>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6 OF 6</a:t>
            </a:r>
            <a:endParaRPr b="0" i="0" sz="950" u="none" cap="none" strike="noStrike">
              <a:solidFill>
                <a:schemeClr val="dk1"/>
              </a:solidFill>
              <a:latin typeface="Calibri"/>
              <a:ea typeface="Calibri"/>
              <a:cs typeface="Calibri"/>
              <a:sym typeface="Calibri"/>
            </a:endParaRPr>
          </a:p>
        </p:txBody>
      </p:sp>
      <p:sp>
        <p:nvSpPr>
          <p:cNvPr id="1910" name="Google Shape;1910;p45"/>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1911" name="Google Shape;1911;p45"/>
          <p:cNvSpPr/>
          <p:nvPr/>
        </p:nvSpPr>
        <p:spPr>
          <a:xfrm>
            <a:off x="8549640" y="3310128"/>
            <a:ext cx="2816352" cy="713232"/>
          </a:xfrm>
          <a:prstGeom prst="roundRect">
            <a:avLst>
              <a:gd fmla="val 1282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en.png" id="1912" name="Google Shape;1912;p45"/>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913" name="Google Shape;1913;p45"/>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Thumbs up</a:t>
            </a:r>
            <a:r>
              <a:rPr b="0" i="0" lang="en-US" sz="1250" u="none" cap="none" strike="noStrike">
                <a:solidFill>
                  <a:srgbClr val="404040"/>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914" name="Google Shape;1914;p45"/>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915" name="Google Shape;1915;p45"/>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916" name="Google Shape;1916;p45"/>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
        <p:nvSpPr>
          <p:cNvPr id="1917" name="Google Shape;1917;p45"/>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922" name="Shape 1922"/>
        <p:cNvGrpSpPr/>
        <p:nvPr/>
      </p:nvGrpSpPr>
      <p:grpSpPr>
        <a:xfrm>
          <a:off x="0" y="0"/>
          <a:ext cx="0" cy="0"/>
          <a:chOff x="0" y="0"/>
          <a:chExt cx="0" cy="0"/>
        </a:xfrm>
      </p:grpSpPr>
      <p:sp>
        <p:nvSpPr>
          <p:cNvPr id="1923" name="Google Shape;1923;p4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GOOD NEWS, OR LOOK CLOSER? · 6 OF 6</a:t>
            </a:r>
            <a:endParaRPr b="0" i="0" sz="1050" u="none" cap="none" strike="noStrike">
              <a:solidFill>
                <a:schemeClr val="dk1"/>
              </a:solidFill>
              <a:latin typeface="Calibri"/>
              <a:ea typeface="Calibri"/>
              <a:cs typeface="Calibri"/>
              <a:sym typeface="Calibri"/>
            </a:endParaRPr>
          </a:p>
        </p:txBody>
      </p:sp>
      <p:sp>
        <p:nvSpPr>
          <p:cNvPr id="1924" name="Google Shape;1924;p4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Take it, or look closer?</a:t>
            </a:r>
            <a:endParaRPr b="0" i="0" sz="3000" u="none" cap="none" strike="noStrike">
              <a:solidFill>
                <a:schemeClr val="dk1"/>
              </a:solidFill>
              <a:latin typeface="Calibri"/>
              <a:ea typeface="Calibri"/>
              <a:cs typeface="Calibri"/>
              <a:sym typeface="Calibri"/>
            </a:endParaRPr>
          </a:p>
        </p:txBody>
      </p:sp>
      <p:pic>
        <p:nvPicPr>
          <p:cNvPr descr="/home/claude/work/renderer/brand/wordmark.png" id="1925" name="Google Shape;1925;p4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926" name="Google Shape;1926;p4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44 / 65</a:t>
            </a:r>
            <a:endParaRPr b="0" i="0" sz="900" u="none" cap="none" strike="noStrike">
              <a:solidFill>
                <a:schemeClr val="dk1"/>
              </a:solidFill>
              <a:latin typeface="Calibri"/>
              <a:ea typeface="Calibri"/>
              <a:cs typeface="Calibri"/>
              <a:sym typeface="Calibri"/>
            </a:endParaRPr>
          </a:p>
        </p:txBody>
      </p:sp>
      <p:sp>
        <p:nvSpPr>
          <p:cNvPr id="1927" name="Google Shape;1927;p46"/>
          <p:cNvSpPr/>
          <p:nvPr/>
        </p:nvSpPr>
        <p:spPr>
          <a:xfrm>
            <a:off x="548640" y="1481328"/>
            <a:ext cx="7406640" cy="2686304"/>
          </a:xfrm>
          <a:prstGeom prst="roundRect">
            <a:avLst>
              <a:gd fmla="val 4085"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6"/>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Pushing people direct</a:t>
            </a:r>
            <a:endParaRPr b="0" i="0" sz="1450" u="none" cap="none" strike="noStrike">
              <a:solidFill>
                <a:schemeClr val="dk1"/>
              </a:solidFill>
              <a:latin typeface="Calibri"/>
              <a:ea typeface="Calibri"/>
              <a:cs typeface="Calibri"/>
              <a:sym typeface="Calibri"/>
            </a:endParaRPr>
          </a:p>
        </p:txBody>
      </p:sp>
      <p:sp>
        <p:nvSpPr>
          <p:cNvPr id="1929" name="Google Shape;1929;p46"/>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6"/>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P</a:t>
            </a:r>
            <a:endParaRPr b="0" i="0" sz="1200" u="none" cap="none" strike="noStrike">
              <a:solidFill>
                <a:schemeClr val="dk1"/>
              </a:solidFill>
              <a:latin typeface="Calibri"/>
              <a:ea typeface="Calibri"/>
              <a:cs typeface="Calibri"/>
              <a:sym typeface="Calibri"/>
            </a:endParaRPr>
          </a:p>
        </p:txBody>
      </p:sp>
      <p:sp>
        <p:nvSpPr>
          <p:cNvPr id="1931" name="Google Shape;1931;p46"/>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Priya  </a:t>
            </a:r>
            <a:r>
              <a:rPr b="0" i="0" lang="en-US" sz="950" u="none" cap="none" strike="noStrike">
                <a:solidFill>
                  <a:srgbClr val="737373"/>
                </a:solidFill>
                <a:latin typeface="Roboto Mono"/>
                <a:ea typeface="Roboto Mono"/>
                <a:cs typeface="Roboto Mono"/>
                <a:sym typeface="Roboto Mono"/>
              </a:rPr>
              <a:t>&lt;priya@boutique-hotel.example&gt;</a:t>
            </a:r>
            <a:endParaRPr b="0" i="0" sz="1150" u="none" cap="none" strike="noStrike">
              <a:solidFill>
                <a:schemeClr val="dk1"/>
              </a:solidFill>
              <a:latin typeface="Calibri"/>
              <a:ea typeface="Calibri"/>
              <a:cs typeface="Calibri"/>
              <a:sym typeface="Calibri"/>
            </a:endParaRPr>
          </a:p>
        </p:txBody>
      </p:sp>
      <p:sp>
        <p:nvSpPr>
          <p:cNvPr id="1932" name="Google Shape;1932;p46"/>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1933" name="Google Shape;1933;p46"/>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1934" name="Google Shape;1934;p46"/>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To get more people booking direct, we've made our website $30 a night cheaper than our Expedia listing. Starting Monday.</a:t>
            </a:r>
            <a:endParaRPr b="0" i="0" sz="1100" u="none" cap="none" strike="noStrike">
              <a:solidFill>
                <a:schemeClr val="dk1"/>
              </a:solidFill>
              <a:latin typeface="Calibri"/>
              <a:ea typeface="Calibri"/>
              <a:cs typeface="Calibri"/>
              <a:sym typeface="Calibri"/>
            </a:endParaRPr>
          </a:p>
        </p:txBody>
      </p:sp>
      <p:sp>
        <p:nvSpPr>
          <p:cNvPr id="1935" name="Google Shape;1935;p46"/>
          <p:cNvSpPr/>
          <p:nvPr/>
        </p:nvSpPr>
        <p:spPr>
          <a:xfrm>
            <a:off x="548640" y="4350512"/>
            <a:ext cx="7406640" cy="1958848"/>
          </a:xfrm>
          <a:prstGeom prst="roundRect">
            <a:avLst>
              <a:gd fmla="val 5602"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6"/>
          <p:cNvSpPr txBox="1"/>
          <p:nvPr/>
        </p:nvSpPr>
        <p:spPr>
          <a:xfrm>
            <a:off x="859536" y="453339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1937" name="Google Shape;1937;p46"/>
          <p:cNvSpPr txBox="1"/>
          <p:nvPr/>
        </p:nvSpPr>
        <p:spPr>
          <a:xfrm>
            <a:off x="859536" y="4789424"/>
            <a:ext cx="6784848" cy="8458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Look closer. Priya's goal is our goal, but a cheaper public rate on her own site may be the one thing her Expedia contract forbids: </a:t>
            </a:r>
            <a:r>
              <a:rPr b="1" i="0" lang="en-US" sz="1100" u="none" cap="none" strike="noStrike">
                <a:solidFill>
                  <a:srgbClr val="404040"/>
                </a:solidFill>
                <a:latin typeface="Inter"/>
                <a:ea typeface="Inter"/>
                <a:cs typeface="Inter"/>
                <a:sym typeface="Inter"/>
              </a:rPr>
              <a:t>rate parity</a:t>
            </a:r>
            <a:r>
              <a:rPr b="0" i="0" lang="en-US" sz="1100" u="none" cap="none" strike="noStrike">
                <a:solidFill>
                  <a:srgbClr val="404040"/>
                </a:solidFill>
                <a:latin typeface="Inter"/>
                <a:ea typeface="Inter"/>
                <a:cs typeface="Inter"/>
                <a:sym typeface="Inter"/>
              </a:rPr>
              <a:t>. Keep the public rate level and put the offer on channels she owns: email, SMS, DM. Nothing about the law; check the contract.</a:t>
            </a:r>
            <a:endParaRPr b="0" i="0" sz="1100" u="none" cap="none" strike="noStrike">
              <a:solidFill>
                <a:schemeClr val="dk1"/>
              </a:solidFill>
              <a:latin typeface="Calibri"/>
              <a:ea typeface="Calibri"/>
              <a:cs typeface="Calibri"/>
              <a:sym typeface="Calibri"/>
            </a:endParaRPr>
          </a:p>
        </p:txBody>
      </p:sp>
      <p:sp>
        <p:nvSpPr>
          <p:cNvPr id="1938" name="Google Shape;1938;p46"/>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“Before we change the public rate, can we look at what your Expedia contract says about parity?”</a:t>
            </a:r>
            <a:endParaRPr b="0" i="0" sz="1100" u="none" cap="none" strike="noStrike">
              <a:solidFill>
                <a:schemeClr val="dk1"/>
              </a:solidFill>
              <a:latin typeface="Calibri"/>
              <a:ea typeface="Calibri"/>
              <a:cs typeface="Calibri"/>
              <a:sym typeface="Calibri"/>
            </a:endParaRPr>
          </a:p>
        </p:txBody>
      </p:sp>
      <p:sp>
        <p:nvSpPr>
          <p:cNvPr id="1939" name="Google Shape;1939;p46"/>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6"/>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earch.png" id="1941" name="Google Shape;1941;p46"/>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1942" name="Google Shape;1942;p46"/>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1943" name="Google Shape;1943;p46"/>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1944" name="Google Shape;1944;p46"/>
          <p:cNvSpPr/>
          <p:nvPr/>
        </p:nvSpPr>
        <p:spPr>
          <a:xfrm>
            <a:off x="8549640" y="3310128"/>
            <a:ext cx="2816352" cy="713232"/>
          </a:xfrm>
          <a:prstGeom prst="roundRect">
            <a:avLst>
              <a:gd fmla="val 1282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up-grey.png" id="1945" name="Google Shape;1945;p46"/>
          <p:cNvPicPr preferRelativeResize="0"/>
          <p:nvPr/>
        </p:nvPicPr>
        <p:blipFill rotWithShape="1">
          <a:blip r:embed="rId5">
            <a:alphaModFix/>
          </a:blip>
          <a:srcRect b="0" l="0" r="0" t="0"/>
          <a:stretch/>
        </p:blipFill>
        <p:spPr>
          <a:xfrm>
            <a:off x="8750808" y="3511296"/>
            <a:ext cx="310896" cy="310896"/>
          </a:xfrm>
          <a:prstGeom prst="rect">
            <a:avLst/>
          </a:prstGeom>
          <a:noFill/>
          <a:ln>
            <a:noFill/>
          </a:ln>
        </p:spPr>
      </p:pic>
      <p:sp>
        <p:nvSpPr>
          <p:cNvPr id="1946" name="Google Shape;1946;p46"/>
          <p:cNvSpPr txBox="1"/>
          <p:nvPr/>
        </p:nvSpPr>
        <p:spPr>
          <a:xfrm>
            <a:off x="9189720" y="3310128"/>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Thumbs up</a:t>
            </a:r>
            <a:r>
              <a:rPr b="0" i="0" lang="en-US" sz="1250" u="none" cap="none" strike="noStrike">
                <a:solidFill>
                  <a:srgbClr val="A3A3A3"/>
                </a:solidFill>
                <a:latin typeface="Inter"/>
                <a:ea typeface="Inter"/>
                <a:cs typeface="Inter"/>
                <a:sym typeface="Inter"/>
              </a:rPr>
              <a:t>: take it</a:t>
            </a:r>
            <a:endParaRPr b="0" i="0" sz="1250" u="none" cap="none" strike="noStrike">
              <a:solidFill>
                <a:schemeClr val="dk1"/>
              </a:solidFill>
              <a:latin typeface="Calibri"/>
              <a:ea typeface="Calibri"/>
              <a:cs typeface="Calibri"/>
              <a:sym typeface="Calibri"/>
            </a:endParaRPr>
          </a:p>
        </p:txBody>
      </p:sp>
      <p:sp>
        <p:nvSpPr>
          <p:cNvPr id="1947" name="Google Shape;1947;p46"/>
          <p:cNvSpPr/>
          <p:nvPr/>
        </p:nvSpPr>
        <p:spPr>
          <a:xfrm>
            <a:off x="8549640" y="4169664"/>
            <a:ext cx="2816352" cy="713232"/>
          </a:xfrm>
          <a:prstGeom prst="roundRect">
            <a:avLst>
              <a:gd fmla="val 12821"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thumbs-down-red.png" id="1948" name="Google Shape;1948;p46"/>
          <p:cNvPicPr preferRelativeResize="0"/>
          <p:nvPr/>
        </p:nvPicPr>
        <p:blipFill rotWithShape="1">
          <a:blip r:embed="rId6">
            <a:alphaModFix/>
          </a:blip>
          <a:srcRect b="0" l="0" r="0" t="0"/>
          <a:stretch/>
        </p:blipFill>
        <p:spPr>
          <a:xfrm>
            <a:off x="8750808" y="4370832"/>
            <a:ext cx="310896" cy="310896"/>
          </a:xfrm>
          <a:prstGeom prst="rect">
            <a:avLst/>
          </a:prstGeom>
          <a:noFill/>
          <a:ln>
            <a:noFill/>
          </a:ln>
        </p:spPr>
      </p:pic>
      <p:sp>
        <p:nvSpPr>
          <p:cNvPr id="1949" name="Google Shape;1949;p46"/>
          <p:cNvSpPr txBox="1"/>
          <p:nvPr/>
        </p:nvSpPr>
        <p:spPr>
          <a:xfrm>
            <a:off x="9189720" y="4169664"/>
            <a:ext cx="2029968"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50"/>
              <a:buFont typeface="Inter"/>
              <a:buNone/>
            </a:pPr>
            <a:r>
              <a:rPr b="1" i="0" lang="en-US" sz="1250" u="none" cap="none" strike="noStrike">
                <a:solidFill>
                  <a:srgbClr val="B91C1C"/>
                </a:solidFill>
                <a:latin typeface="Inter"/>
                <a:ea typeface="Inter"/>
                <a:cs typeface="Inter"/>
                <a:sym typeface="Inter"/>
              </a:rPr>
              <a:t>Thumbs down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04040"/>
              </a:buClr>
              <a:buSzPts val="1250"/>
              <a:buFont typeface="Inter"/>
              <a:buNone/>
            </a:pPr>
            <a:r>
              <a:rPr b="0" i="0" lang="en-US" sz="1250" u="none" cap="none" strike="noStrike">
                <a:solidFill>
                  <a:srgbClr val="404040"/>
                </a:solidFill>
                <a:latin typeface="Inter"/>
                <a:ea typeface="Inter"/>
                <a:cs typeface="Inter"/>
                <a:sym typeface="Inter"/>
              </a:rPr>
              <a:t>look closer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954" name="Shape 1954"/>
        <p:cNvGrpSpPr/>
        <p:nvPr/>
      </p:nvGrpSpPr>
      <p:grpSpPr>
        <a:xfrm>
          <a:off x="0" y="0"/>
          <a:ext cx="0" cy="0"/>
          <a:chOff x="0" y="0"/>
          <a:chExt cx="0" cy="0"/>
        </a:xfrm>
      </p:grpSpPr>
      <p:sp>
        <p:nvSpPr>
          <p:cNvPr id="1955" name="Google Shape;1955;p4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3 · WHEN GUESTS BOOK</a:t>
            </a:r>
            <a:endParaRPr b="0" i="0" sz="1050" u="none" cap="none" strike="noStrike">
              <a:solidFill>
                <a:schemeClr val="dk1"/>
              </a:solidFill>
              <a:latin typeface="Calibri"/>
              <a:ea typeface="Calibri"/>
              <a:cs typeface="Calibri"/>
              <a:sym typeface="Calibri"/>
            </a:endParaRPr>
          </a:p>
        </p:txBody>
      </p:sp>
      <p:sp>
        <p:nvSpPr>
          <p:cNvPr id="1956" name="Google Shape;1956;p4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Block 3: when guests book</a:t>
            </a:r>
            <a:endParaRPr b="0" i="0" sz="3000" u="none" cap="none" strike="noStrike">
              <a:solidFill>
                <a:schemeClr val="dk1"/>
              </a:solidFill>
              <a:latin typeface="Calibri"/>
              <a:ea typeface="Calibri"/>
              <a:cs typeface="Calibri"/>
              <a:sym typeface="Calibri"/>
            </a:endParaRPr>
          </a:p>
        </p:txBody>
      </p:sp>
      <p:sp>
        <p:nvSpPr>
          <p:cNvPr id="1957" name="Google Shape;1957;p47"/>
          <p:cNvSpPr txBox="1"/>
          <p:nvPr/>
        </p:nvSpPr>
        <p:spPr>
          <a:xfrm>
            <a:off x="548640" y="1426464"/>
            <a:ext cx="1106424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400"/>
              <a:buFont typeface="Inter"/>
              <a:buNone/>
            </a:pPr>
            <a:r>
              <a:rPr b="0" i="0" lang="en-US" sz="1400" u="none" cap="none" strike="noStrike">
                <a:solidFill>
                  <a:srgbClr val="004FAA"/>
                </a:solidFill>
                <a:latin typeface="Inter"/>
                <a:ea typeface="Inter"/>
                <a:cs typeface="Inter"/>
                <a:sym typeface="Inter"/>
              </a:rPr>
              <a:t>Five terms about time: how far ahead guests book, what “on track” means for a date that hasn't happened yet, and what a booking on the books is really worth.</a:t>
            </a:r>
            <a:endParaRPr b="0" i="0" sz="1400" u="none" cap="none" strike="noStrike">
              <a:solidFill>
                <a:schemeClr val="dk1"/>
              </a:solidFill>
              <a:latin typeface="Calibri"/>
              <a:ea typeface="Calibri"/>
              <a:cs typeface="Calibri"/>
              <a:sym typeface="Calibri"/>
            </a:endParaRPr>
          </a:p>
        </p:txBody>
      </p:sp>
      <p:pic>
        <p:nvPicPr>
          <p:cNvPr descr="/home/claude/work/renderer/brand/wordmark.png" id="1958" name="Google Shape;1958;p4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959" name="Google Shape;1959;p4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45 / 65</a:t>
            </a:r>
            <a:endParaRPr b="0" i="0" sz="900" u="none" cap="none" strike="noStrike">
              <a:solidFill>
                <a:schemeClr val="dk1"/>
              </a:solidFill>
              <a:latin typeface="Calibri"/>
              <a:ea typeface="Calibri"/>
              <a:cs typeface="Calibri"/>
              <a:sym typeface="Calibri"/>
            </a:endParaRPr>
          </a:p>
        </p:txBody>
      </p:sp>
      <p:sp>
        <p:nvSpPr>
          <p:cNvPr id="1960" name="Google Shape;1960;p47"/>
          <p:cNvSpPr/>
          <p:nvPr/>
        </p:nvSpPr>
        <p:spPr>
          <a:xfrm>
            <a:off x="548640"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7"/>
          <p:cNvSpPr txBox="1"/>
          <p:nvPr/>
        </p:nvSpPr>
        <p:spPr>
          <a:xfrm>
            <a:off x="822960"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01</a:t>
            </a:r>
            <a:endParaRPr b="0" i="0" sz="1600" u="none" cap="none" strike="noStrike">
              <a:solidFill>
                <a:schemeClr val="dk1"/>
              </a:solidFill>
              <a:latin typeface="Calibri"/>
              <a:ea typeface="Calibri"/>
              <a:cs typeface="Calibri"/>
              <a:sym typeface="Calibri"/>
            </a:endParaRPr>
          </a:p>
        </p:txBody>
      </p:sp>
      <p:sp>
        <p:nvSpPr>
          <p:cNvPr id="1962" name="Google Shape;1962;p47"/>
          <p:cNvSpPr/>
          <p:nvPr/>
        </p:nvSpPr>
        <p:spPr>
          <a:xfrm>
            <a:off x="3399434"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ourglass.png" id="1963" name="Google Shape;1963;p47"/>
          <p:cNvPicPr preferRelativeResize="0"/>
          <p:nvPr/>
        </p:nvPicPr>
        <p:blipFill rotWithShape="1">
          <a:blip r:embed="rId4">
            <a:alphaModFix/>
          </a:blip>
          <a:srcRect b="0" l="0" r="0" t="0"/>
          <a:stretch/>
        </p:blipFill>
        <p:spPr>
          <a:xfrm>
            <a:off x="3491972" y="2213945"/>
            <a:ext cx="235549" cy="235549"/>
          </a:xfrm>
          <a:prstGeom prst="rect">
            <a:avLst/>
          </a:prstGeom>
          <a:noFill/>
          <a:ln>
            <a:noFill/>
          </a:ln>
        </p:spPr>
      </p:pic>
      <p:sp>
        <p:nvSpPr>
          <p:cNvPr id="1964" name="Google Shape;1964;p47"/>
          <p:cNvSpPr txBox="1"/>
          <p:nvPr/>
        </p:nvSpPr>
        <p:spPr>
          <a:xfrm>
            <a:off x="822960"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Lead time</a:t>
            </a:r>
            <a:endParaRPr b="0" i="0" sz="1700" u="none" cap="none" strike="noStrike">
              <a:solidFill>
                <a:schemeClr val="dk1"/>
              </a:solidFill>
              <a:latin typeface="Calibri"/>
              <a:ea typeface="Calibri"/>
              <a:cs typeface="Calibri"/>
              <a:sym typeface="Calibri"/>
            </a:endParaRPr>
          </a:p>
        </p:txBody>
      </p:sp>
      <p:sp>
        <p:nvSpPr>
          <p:cNvPr id="1965" name="Google Shape;1965;p47"/>
          <p:cNvSpPr txBox="1"/>
          <p:nvPr/>
        </p:nvSpPr>
        <p:spPr>
          <a:xfrm>
            <a:off x="822960"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How far ahead of arrival guests book.</a:t>
            </a:r>
            <a:endParaRPr b="0" i="0" sz="1150" u="none" cap="none" strike="noStrike">
              <a:solidFill>
                <a:schemeClr val="dk1"/>
              </a:solidFill>
              <a:latin typeface="Calibri"/>
              <a:ea typeface="Calibri"/>
              <a:cs typeface="Calibri"/>
              <a:sym typeface="Calibri"/>
            </a:endParaRPr>
          </a:p>
        </p:txBody>
      </p:sp>
      <p:sp>
        <p:nvSpPr>
          <p:cNvPr id="1966" name="Google Shape;1966;p47"/>
          <p:cNvSpPr/>
          <p:nvPr/>
        </p:nvSpPr>
        <p:spPr>
          <a:xfrm>
            <a:off x="4322978"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7"/>
          <p:cNvSpPr txBox="1"/>
          <p:nvPr/>
        </p:nvSpPr>
        <p:spPr>
          <a:xfrm>
            <a:off x="4597298"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02</a:t>
            </a:r>
            <a:endParaRPr b="0" i="0" sz="1600" u="none" cap="none" strike="noStrike">
              <a:solidFill>
                <a:schemeClr val="dk1"/>
              </a:solidFill>
              <a:latin typeface="Calibri"/>
              <a:ea typeface="Calibri"/>
              <a:cs typeface="Calibri"/>
              <a:sym typeface="Calibri"/>
            </a:endParaRPr>
          </a:p>
        </p:txBody>
      </p:sp>
      <p:sp>
        <p:nvSpPr>
          <p:cNvPr id="1968" name="Google Shape;1968;p47"/>
          <p:cNvSpPr/>
          <p:nvPr/>
        </p:nvSpPr>
        <p:spPr>
          <a:xfrm>
            <a:off x="7173773"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ine-chart-up.png" id="1969" name="Google Shape;1969;p47"/>
          <p:cNvPicPr preferRelativeResize="0"/>
          <p:nvPr/>
        </p:nvPicPr>
        <p:blipFill rotWithShape="1">
          <a:blip r:embed="rId5">
            <a:alphaModFix/>
          </a:blip>
          <a:srcRect b="0" l="0" r="0" t="0"/>
          <a:stretch/>
        </p:blipFill>
        <p:spPr>
          <a:xfrm>
            <a:off x="7266310" y="2213945"/>
            <a:ext cx="235549" cy="235549"/>
          </a:xfrm>
          <a:prstGeom prst="rect">
            <a:avLst/>
          </a:prstGeom>
          <a:noFill/>
          <a:ln>
            <a:noFill/>
          </a:ln>
        </p:spPr>
      </p:pic>
      <p:sp>
        <p:nvSpPr>
          <p:cNvPr id="1970" name="Google Shape;1970;p47"/>
          <p:cNvSpPr txBox="1"/>
          <p:nvPr/>
        </p:nvSpPr>
        <p:spPr>
          <a:xfrm>
            <a:off x="4597298"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Booking curve</a:t>
            </a:r>
            <a:endParaRPr b="0" i="0" sz="1700" u="none" cap="none" strike="noStrike">
              <a:solidFill>
                <a:schemeClr val="dk1"/>
              </a:solidFill>
              <a:latin typeface="Calibri"/>
              <a:ea typeface="Calibri"/>
              <a:cs typeface="Calibri"/>
              <a:sym typeface="Calibri"/>
            </a:endParaRPr>
          </a:p>
        </p:txBody>
      </p:sp>
      <p:sp>
        <p:nvSpPr>
          <p:cNvPr id="1971" name="Google Shape;1971;p47"/>
          <p:cNvSpPr txBox="1"/>
          <p:nvPr/>
        </p:nvSpPr>
        <p:spPr>
          <a:xfrm>
            <a:off x="4597298"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shape bookings pile up in ahead of a date.</a:t>
            </a:r>
            <a:endParaRPr b="0" i="0" sz="1150" u="none" cap="none" strike="noStrike">
              <a:solidFill>
                <a:schemeClr val="dk1"/>
              </a:solidFill>
              <a:latin typeface="Calibri"/>
              <a:ea typeface="Calibri"/>
              <a:cs typeface="Calibri"/>
              <a:sym typeface="Calibri"/>
            </a:endParaRPr>
          </a:p>
        </p:txBody>
      </p:sp>
      <p:sp>
        <p:nvSpPr>
          <p:cNvPr id="1972" name="Google Shape;1972;p47"/>
          <p:cNvSpPr/>
          <p:nvPr/>
        </p:nvSpPr>
        <p:spPr>
          <a:xfrm>
            <a:off x="8097317" y="1920240"/>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7"/>
          <p:cNvSpPr txBox="1"/>
          <p:nvPr/>
        </p:nvSpPr>
        <p:spPr>
          <a:xfrm>
            <a:off x="8371637" y="2139696"/>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03</a:t>
            </a:r>
            <a:endParaRPr b="0" i="0" sz="1600" u="none" cap="none" strike="noStrike">
              <a:solidFill>
                <a:schemeClr val="dk1"/>
              </a:solidFill>
              <a:latin typeface="Calibri"/>
              <a:ea typeface="Calibri"/>
              <a:cs typeface="Calibri"/>
              <a:sym typeface="Calibri"/>
            </a:endParaRPr>
          </a:p>
        </p:txBody>
      </p:sp>
      <p:sp>
        <p:nvSpPr>
          <p:cNvPr id="1974" name="Google Shape;1974;p47"/>
          <p:cNvSpPr/>
          <p:nvPr/>
        </p:nvSpPr>
        <p:spPr>
          <a:xfrm>
            <a:off x="10948111" y="2121408"/>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speedometer.png" id="1975" name="Google Shape;1975;p47"/>
          <p:cNvPicPr preferRelativeResize="0"/>
          <p:nvPr/>
        </p:nvPicPr>
        <p:blipFill rotWithShape="1">
          <a:blip r:embed="rId6">
            <a:alphaModFix/>
          </a:blip>
          <a:srcRect b="0" l="0" r="0" t="0"/>
          <a:stretch/>
        </p:blipFill>
        <p:spPr>
          <a:xfrm>
            <a:off x="11040648" y="2213945"/>
            <a:ext cx="235549" cy="235549"/>
          </a:xfrm>
          <a:prstGeom prst="rect">
            <a:avLst/>
          </a:prstGeom>
          <a:noFill/>
          <a:ln>
            <a:noFill/>
          </a:ln>
        </p:spPr>
      </p:pic>
      <p:sp>
        <p:nvSpPr>
          <p:cNvPr id="1976" name="Google Shape;1976;p47"/>
          <p:cNvSpPr txBox="1"/>
          <p:nvPr/>
        </p:nvSpPr>
        <p:spPr>
          <a:xfrm>
            <a:off x="8371637" y="2523744"/>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Pace</a:t>
            </a:r>
            <a:endParaRPr b="0" i="0" sz="1700" u="none" cap="none" strike="noStrike">
              <a:solidFill>
                <a:schemeClr val="dk1"/>
              </a:solidFill>
              <a:latin typeface="Calibri"/>
              <a:ea typeface="Calibri"/>
              <a:cs typeface="Calibri"/>
              <a:sym typeface="Calibri"/>
            </a:endParaRPr>
          </a:p>
        </p:txBody>
      </p:sp>
      <p:sp>
        <p:nvSpPr>
          <p:cNvPr id="1977" name="Google Shape;1977;p47"/>
          <p:cNvSpPr txBox="1"/>
          <p:nvPr/>
        </p:nvSpPr>
        <p:spPr>
          <a:xfrm>
            <a:off x="8371637" y="2999232"/>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Ahead or behind, for a date that hasn't happened yet.</a:t>
            </a:r>
            <a:endParaRPr b="0" i="0" sz="1150" u="none" cap="none" strike="noStrike">
              <a:solidFill>
                <a:schemeClr val="dk1"/>
              </a:solidFill>
              <a:latin typeface="Calibri"/>
              <a:ea typeface="Calibri"/>
              <a:cs typeface="Calibri"/>
              <a:sym typeface="Calibri"/>
            </a:endParaRPr>
          </a:p>
        </p:txBody>
      </p:sp>
      <p:sp>
        <p:nvSpPr>
          <p:cNvPr id="1978" name="Google Shape;1978;p47"/>
          <p:cNvSpPr/>
          <p:nvPr/>
        </p:nvSpPr>
        <p:spPr>
          <a:xfrm>
            <a:off x="548640"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7"/>
          <p:cNvSpPr txBox="1"/>
          <p:nvPr/>
        </p:nvSpPr>
        <p:spPr>
          <a:xfrm>
            <a:off x="822960"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04</a:t>
            </a:r>
            <a:endParaRPr b="0" i="0" sz="1600" u="none" cap="none" strike="noStrike">
              <a:solidFill>
                <a:schemeClr val="dk1"/>
              </a:solidFill>
              <a:latin typeface="Calibri"/>
              <a:ea typeface="Calibri"/>
              <a:cs typeface="Calibri"/>
              <a:sym typeface="Calibri"/>
            </a:endParaRPr>
          </a:p>
        </p:txBody>
      </p:sp>
      <p:sp>
        <p:nvSpPr>
          <p:cNvPr id="1980" name="Google Shape;1980;p47"/>
          <p:cNvSpPr/>
          <p:nvPr/>
        </p:nvSpPr>
        <p:spPr>
          <a:xfrm>
            <a:off x="3399434"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endar-check.png" id="1981" name="Google Shape;1981;p47"/>
          <p:cNvPicPr preferRelativeResize="0"/>
          <p:nvPr/>
        </p:nvPicPr>
        <p:blipFill rotWithShape="1">
          <a:blip r:embed="rId7">
            <a:alphaModFix/>
          </a:blip>
          <a:srcRect b="0" l="0" r="0" t="0"/>
          <a:stretch/>
        </p:blipFill>
        <p:spPr>
          <a:xfrm>
            <a:off x="3491972" y="4541093"/>
            <a:ext cx="235549" cy="235549"/>
          </a:xfrm>
          <a:prstGeom prst="rect">
            <a:avLst/>
          </a:prstGeom>
          <a:noFill/>
          <a:ln>
            <a:noFill/>
          </a:ln>
        </p:spPr>
      </p:pic>
      <p:sp>
        <p:nvSpPr>
          <p:cNvPr id="1982" name="Google Shape;1982;p47"/>
          <p:cNvSpPr txBox="1"/>
          <p:nvPr/>
        </p:nvSpPr>
        <p:spPr>
          <a:xfrm>
            <a:off x="822960"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Effective OTB</a:t>
            </a:r>
            <a:endParaRPr b="0" i="0" sz="1700" u="none" cap="none" strike="noStrike">
              <a:solidFill>
                <a:schemeClr val="dk1"/>
              </a:solidFill>
              <a:latin typeface="Calibri"/>
              <a:ea typeface="Calibri"/>
              <a:cs typeface="Calibri"/>
              <a:sym typeface="Calibri"/>
            </a:endParaRPr>
          </a:p>
        </p:txBody>
      </p:sp>
      <p:sp>
        <p:nvSpPr>
          <p:cNvPr id="1983" name="Google Shape;1983;p47"/>
          <p:cNvSpPr txBox="1"/>
          <p:nvPr/>
        </p:nvSpPr>
        <p:spPr>
          <a:xfrm>
            <a:off x="822960"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On the books, minus the cancellations to expect.</a:t>
            </a:r>
            <a:endParaRPr b="0" i="0" sz="1150" u="none" cap="none" strike="noStrike">
              <a:solidFill>
                <a:schemeClr val="dk1"/>
              </a:solidFill>
              <a:latin typeface="Calibri"/>
              <a:ea typeface="Calibri"/>
              <a:cs typeface="Calibri"/>
              <a:sym typeface="Calibri"/>
            </a:endParaRPr>
          </a:p>
        </p:txBody>
      </p:sp>
      <p:sp>
        <p:nvSpPr>
          <p:cNvPr id="1984" name="Google Shape;1984;p47"/>
          <p:cNvSpPr/>
          <p:nvPr/>
        </p:nvSpPr>
        <p:spPr>
          <a:xfrm>
            <a:off x="4322978" y="4247388"/>
            <a:ext cx="3545738" cy="2098548"/>
          </a:xfrm>
          <a:prstGeom prst="roundRect">
            <a:avLst>
              <a:gd fmla="val 5229"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7"/>
          <p:cNvSpPr txBox="1"/>
          <p:nvPr/>
        </p:nvSpPr>
        <p:spPr>
          <a:xfrm>
            <a:off x="4597298" y="4466844"/>
            <a:ext cx="731520" cy="31089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600"/>
              <a:buFont typeface="Roboto Mono"/>
              <a:buNone/>
            </a:pPr>
            <a:r>
              <a:rPr b="1" i="0" lang="en-US" sz="1600" u="none" cap="none" strike="noStrike">
                <a:solidFill>
                  <a:srgbClr val="0066DE"/>
                </a:solidFill>
                <a:latin typeface="Roboto Mono"/>
                <a:ea typeface="Roboto Mono"/>
                <a:cs typeface="Roboto Mono"/>
                <a:sym typeface="Roboto Mono"/>
              </a:rPr>
              <a:t>05</a:t>
            </a:r>
            <a:endParaRPr b="0" i="0" sz="1600" u="none" cap="none" strike="noStrike">
              <a:solidFill>
                <a:schemeClr val="dk1"/>
              </a:solidFill>
              <a:latin typeface="Calibri"/>
              <a:ea typeface="Calibri"/>
              <a:cs typeface="Calibri"/>
              <a:sym typeface="Calibri"/>
            </a:endParaRPr>
          </a:p>
        </p:txBody>
      </p:sp>
      <p:sp>
        <p:nvSpPr>
          <p:cNvPr id="1986" name="Google Shape;1986;p47"/>
          <p:cNvSpPr/>
          <p:nvPr/>
        </p:nvSpPr>
        <p:spPr>
          <a:xfrm>
            <a:off x="7173773" y="444855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users.png" id="1987" name="Google Shape;1987;p47"/>
          <p:cNvPicPr preferRelativeResize="0"/>
          <p:nvPr/>
        </p:nvPicPr>
        <p:blipFill rotWithShape="1">
          <a:blip r:embed="rId8">
            <a:alphaModFix/>
          </a:blip>
          <a:srcRect b="0" l="0" r="0" t="0"/>
          <a:stretch/>
        </p:blipFill>
        <p:spPr>
          <a:xfrm>
            <a:off x="7266310" y="4541093"/>
            <a:ext cx="235549" cy="235549"/>
          </a:xfrm>
          <a:prstGeom prst="rect">
            <a:avLst/>
          </a:prstGeom>
          <a:noFill/>
          <a:ln>
            <a:noFill/>
          </a:ln>
        </p:spPr>
      </p:pic>
      <p:sp>
        <p:nvSpPr>
          <p:cNvPr id="1988" name="Google Shape;1988;p47"/>
          <p:cNvSpPr txBox="1"/>
          <p:nvPr/>
        </p:nvSpPr>
        <p:spPr>
          <a:xfrm>
            <a:off x="4597298" y="4850892"/>
            <a:ext cx="2997098" cy="457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71717"/>
              </a:buClr>
              <a:buSzPts val="1700"/>
              <a:buFont typeface="Inter"/>
              <a:buNone/>
            </a:pPr>
            <a:r>
              <a:rPr b="1" i="0" lang="en-US" sz="1700" u="none" cap="none" strike="noStrike">
                <a:solidFill>
                  <a:srgbClr val="171717"/>
                </a:solidFill>
                <a:latin typeface="Inter"/>
                <a:ea typeface="Inter"/>
                <a:cs typeface="Inter"/>
                <a:sym typeface="Inter"/>
              </a:rPr>
              <a:t>Transient vs group</a:t>
            </a:r>
            <a:endParaRPr b="0" i="0" sz="1700" u="none" cap="none" strike="noStrike">
              <a:solidFill>
                <a:schemeClr val="dk1"/>
              </a:solidFill>
              <a:latin typeface="Calibri"/>
              <a:ea typeface="Calibri"/>
              <a:cs typeface="Calibri"/>
              <a:sym typeface="Calibri"/>
            </a:endParaRPr>
          </a:p>
        </p:txBody>
      </p:sp>
      <p:sp>
        <p:nvSpPr>
          <p:cNvPr id="1989" name="Google Shape;1989;p47"/>
          <p:cNvSpPr txBox="1"/>
          <p:nvPr/>
        </p:nvSpPr>
        <p:spPr>
          <a:xfrm>
            <a:off x="4597298" y="5326380"/>
            <a:ext cx="2997098" cy="86410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Individual guests versus contracted blocks.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994" name="Shape 1994"/>
        <p:cNvGrpSpPr/>
        <p:nvPr/>
      </p:nvGrpSpPr>
      <p:grpSpPr>
        <a:xfrm>
          <a:off x="0" y="0"/>
          <a:ext cx="0" cy="0"/>
          <a:chOff x="0" y="0"/>
          <a:chExt cx="0" cy="0"/>
        </a:xfrm>
      </p:grpSpPr>
      <p:sp>
        <p:nvSpPr>
          <p:cNvPr id="1995" name="Google Shape;1995;p4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3 · WHEN GUESTS BOOK</a:t>
            </a:r>
            <a:endParaRPr b="0" i="0" sz="1050" u="none" cap="none" strike="noStrike">
              <a:solidFill>
                <a:schemeClr val="dk1"/>
              </a:solidFill>
              <a:latin typeface="Calibri"/>
              <a:ea typeface="Calibri"/>
              <a:cs typeface="Calibri"/>
              <a:sym typeface="Calibri"/>
            </a:endParaRPr>
          </a:p>
        </p:txBody>
      </p:sp>
      <p:pic>
        <p:nvPicPr>
          <p:cNvPr descr="/home/claude/work/renderer/brand/wordmark.png" id="1996" name="Google Shape;1996;p4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1997" name="Google Shape;1997;p4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46 / 65</a:t>
            </a:r>
            <a:endParaRPr b="0" i="0" sz="900" u="none" cap="none" strike="noStrike">
              <a:solidFill>
                <a:schemeClr val="dk1"/>
              </a:solidFill>
              <a:latin typeface="Calibri"/>
              <a:ea typeface="Calibri"/>
              <a:cs typeface="Calibri"/>
              <a:sym typeface="Calibri"/>
            </a:endParaRPr>
          </a:p>
        </p:txBody>
      </p:sp>
      <p:sp>
        <p:nvSpPr>
          <p:cNvPr id="1998" name="Google Shape;1998;p4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Lead time</a:t>
            </a:r>
            <a:r>
              <a:rPr b="0" i="0" lang="en-US" sz="1700" u="none" cap="none" strike="noStrike">
                <a:solidFill>
                  <a:srgbClr val="004FAA"/>
                </a:solidFill>
                <a:latin typeface="Inter"/>
                <a:ea typeface="Inter"/>
                <a:cs typeface="Inter"/>
                <a:sym typeface="Inter"/>
              </a:rPr>
              <a:t>  how far ahead guests book</a:t>
            </a:r>
            <a:endParaRPr b="0" i="0" sz="3000" u="none" cap="none" strike="noStrike">
              <a:solidFill>
                <a:schemeClr val="dk1"/>
              </a:solidFill>
              <a:latin typeface="Calibri"/>
              <a:ea typeface="Calibri"/>
              <a:cs typeface="Calibri"/>
              <a:sym typeface="Calibri"/>
            </a:endParaRPr>
          </a:p>
        </p:txBody>
      </p:sp>
      <p:sp>
        <p:nvSpPr>
          <p:cNvPr id="1999" name="Google Shape;1999;p48"/>
          <p:cNvSpPr/>
          <p:nvPr/>
        </p:nvSpPr>
        <p:spPr>
          <a:xfrm>
            <a:off x="5715000" y="1783080"/>
            <a:ext cx="5928055" cy="3950208"/>
          </a:xfrm>
          <a:prstGeom prst="roundRect">
            <a:avLst>
              <a:gd fmla="val 2778"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8"/>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001" name="Google Shape;2001;p48"/>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002" name="Google Shape;2002;p48"/>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003" name="Google Shape;2003;p48"/>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How far ahead of arrival a booking is made; it differs sharply by date class and by segment.</a:t>
            </a:r>
            <a:endParaRPr b="0" i="0" sz="1150" u="none" cap="none" strike="noStrike">
              <a:solidFill>
                <a:schemeClr val="dk1"/>
              </a:solidFill>
              <a:latin typeface="Calibri"/>
              <a:ea typeface="Calibri"/>
              <a:cs typeface="Calibri"/>
              <a:sym typeface="Calibri"/>
            </a:endParaRPr>
          </a:p>
        </p:txBody>
      </p:sp>
      <p:sp>
        <p:nvSpPr>
          <p:cNvPr id="2004" name="Google Shape;2004;p48"/>
          <p:cNvSpPr/>
          <p:nvPr/>
        </p:nvSpPr>
        <p:spPr>
          <a:xfrm>
            <a:off x="548640" y="306409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2005" name="Google Shape;2005;p48"/>
          <p:cNvPicPr preferRelativeResize="0"/>
          <p:nvPr/>
        </p:nvPicPr>
        <p:blipFill rotWithShape="1">
          <a:blip r:embed="rId5">
            <a:alphaModFix/>
          </a:blip>
          <a:srcRect b="0" l="0" r="0" t="0"/>
          <a:stretch/>
        </p:blipFill>
        <p:spPr>
          <a:xfrm>
            <a:off x="641177" y="3156635"/>
            <a:ext cx="235549" cy="235549"/>
          </a:xfrm>
          <a:prstGeom prst="rect">
            <a:avLst/>
          </a:prstGeom>
          <a:noFill/>
          <a:ln>
            <a:noFill/>
          </a:ln>
        </p:spPr>
      </p:pic>
      <p:sp>
        <p:nvSpPr>
          <p:cNvPr id="2006" name="Google Shape;2006;p48"/>
          <p:cNvSpPr txBox="1"/>
          <p:nvPr/>
        </p:nvSpPr>
        <p:spPr>
          <a:xfrm>
            <a:off x="1170432" y="304580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007" name="Google Shape;2007;p48"/>
          <p:cNvSpPr txBox="1"/>
          <p:nvPr/>
        </p:nvSpPr>
        <p:spPr>
          <a:xfrm>
            <a:off x="1170432" y="3356705"/>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ads have to be running before the window when guests book, and that window is different for a ski weekend than for a summer week. When an owner asks “when should we start advertising?”, lead time is the answer.</a:t>
            </a:r>
            <a:endParaRPr b="0" i="0" sz="1150" u="none" cap="none" strike="noStrike">
              <a:solidFill>
                <a:schemeClr val="dk1"/>
              </a:solidFill>
              <a:latin typeface="Calibri"/>
              <a:ea typeface="Calibri"/>
              <a:cs typeface="Calibri"/>
              <a:sym typeface="Calibri"/>
            </a:endParaRPr>
          </a:p>
        </p:txBody>
      </p:sp>
      <p:sp>
        <p:nvSpPr>
          <p:cNvPr id="2008" name="Google Shape;2008;p48"/>
          <p:cNvSpPr/>
          <p:nvPr/>
        </p:nvSpPr>
        <p:spPr>
          <a:xfrm>
            <a:off x="548640" y="473945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2009" name="Google Shape;2009;p48"/>
          <p:cNvPicPr preferRelativeResize="0"/>
          <p:nvPr/>
        </p:nvPicPr>
        <p:blipFill rotWithShape="1">
          <a:blip r:embed="rId6">
            <a:alphaModFix/>
          </a:blip>
          <a:srcRect b="0" l="0" r="0" t="0"/>
          <a:stretch/>
        </p:blipFill>
        <p:spPr>
          <a:xfrm>
            <a:off x="641177" y="4831987"/>
            <a:ext cx="235549" cy="235549"/>
          </a:xfrm>
          <a:prstGeom prst="rect">
            <a:avLst/>
          </a:prstGeom>
          <a:noFill/>
          <a:ln>
            <a:noFill/>
          </a:ln>
        </p:spPr>
      </p:pic>
      <p:sp>
        <p:nvSpPr>
          <p:cNvPr id="2010" name="Google Shape;2010;p48"/>
          <p:cNvSpPr txBox="1"/>
          <p:nvPr/>
        </p:nvSpPr>
        <p:spPr>
          <a:xfrm>
            <a:off x="1170432" y="472116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011" name="Google Shape;2011;p48"/>
          <p:cNvSpPr txBox="1"/>
          <p:nvPr/>
        </p:nvSpPr>
        <p:spPr>
          <a:xfrm>
            <a:off x="1170432" y="5032058"/>
            <a:ext cx="4270248" cy="701231"/>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What's your usual lead time for summer? If guests book months out, spring is when we need to be in front of them.</a:t>
            </a:r>
            <a:endParaRPr b="0" i="0" sz="1150" u="none" cap="none" strike="noStrike">
              <a:solidFill>
                <a:schemeClr val="dk1"/>
              </a:solidFill>
              <a:latin typeface="Calibri"/>
              <a:ea typeface="Calibri"/>
              <a:cs typeface="Calibri"/>
              <a:sym typeface="Calibri"/>
            </a:endParaRPr>
          </a:p>
        </p:txBody>
      </p:sp>
      <p:sp>
        <p:nvSpPr>
          <p:cNvPr id="2012" name="Google Shape;2012;p48"/>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LEAD TIME BY GUEST SEGMENT</a:t>
            </a:r>
            <a:endParaRPr b="0" i="0" sz="900" u="none" cap="none" strike="noStrike">
              <a:solidFill>
                <a:schemeClr val="dk1"/>
              </a:solidFill>
              <a:latin typeface="Calibri"/>
              <a:ea typeface="Calibri"/>
              <a:cs typeface="Calibri"/>
              <a:sym typeface="Calibri"/>
            </a:endParaRPr>
          </a:p>
        </p:txBody>
      </p:sp>
      <p:sp>
        <p:nvSpPr>
          <p:cNvPr id="2013" name="Google Shape;2013;p48"/>
          <p:cNvSpPr/>
          <p:nvPr/>
        </p:nvSpPr>
        <p:spPr>
          <a:xfrm>
            <a:off x="5989320" y="22585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8"/>
          <p:cNvSpPr txBox="1"/>
          <p:nvPr/>
        </p:nvSpPr>
        <p:spPr>
          <a:xfrm>
            <a:off x="9357055" y="22585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0 days</a:t>
            </a:r>
            <a:endParaRPr b="0" i="0" sz="1050" u="none" cap="none" strike="noStrike">
              <a:solidFill>
                <a:schemeClr val="dk1"/>
              </a:solidFill>
              <a:latin typeface="Calibri"/>
              <a:ea typeface="Calibri"/>
              <a:cs typeface="Calibri"/>
              <a:sym typeface="Calibri"/>
            </a:endParaRPr>
          </a:p>
        </p:txBody>
      </p:sp>
      <p:sp>
        <p:nvSpPr>
          <p:cNvPr id="2015" name="Google Shape;2015;p48"/>
          <p:cNvSpPr txBox="1"/>
          <p:nvPr/>
        </p:nvSpPr>
        <p:spPr>
          <a:xfrm>
            <a:off x="6172200" y="22585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Walk-in, same day</a:t>
            </a:r>
            <a:endParaRPr b="0" i="0" sz="1100" u="none" cap="none" strike="noStrike">
              <a:solidFill>
                <a:schemeClr val="dk1"/>
              </a:solidFill>
              <a:latin typeface="Calibri"/>
              <a:ea typeface="Calibri"/>
              <a:cs typeface="Calibri"/>
              <a:sym typeface="Calibri"/>
            </a:endParaRPr>
          </a:p>
        </p:txBody>
      </p:sp>
      <p:sp>
        <p:nvSpPr>
          <p:cNvPr id="2016" name="Google Shape;2016;p48"/>
          <p:cNvSpPr/>
          <p:nvPr/>
        </p:nvSpPr>
        <p:spPr>
          <a:xfrm>
            <a:off x="5989320" y="27157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8"/>
          <p:cNvSpPr txBox="1"/>
          <p:nvPr/>
        </p:nvSpPr>
        <p:spPr>
          <a:xfrm>
            <a:off x="9357055" y="27157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1 to 3 days</a:t>
            </a:r>
            <a:endParaRPr b="0" i="0" sz="1050" u="none" cap="none" strike="noStrike">
              <a:solidFill>
                <a:schemeClr val="dk1"/>
              </a:solidFill>
              <a:latin typeface="Calibri"/>
              <a:ea typeface="Calibri"/>
              <a:cs typeface="Calibri"/>
              <a:sym typeface="Calibri"/>
            </a:endParaRPr>
          </a:p>
        </p:txBody>
      </p:sp>
      <p:sp>
        <p:nvSpPr>
          <p:cNvPr id="2018" name="Google Shape;2018;p48"/>
          <p:cNvSpPr txBox="1"/>
          <p:nvPr/>
        </p:nvSpPr>
        <p:spPr>
          <a:xfrm>
            <a:off x="6172200" y="27157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Last-minute leisure</a:t>
            </a:r>
            <a:endParaRPr b="0" i="0" sz="1100" u="none" cap="none" strike="noStrike">
              <a:solidFill>
                <a:schemeClr val="dk1"/>
              </a:solidFill>
              <a:latin typeface="Calibri"/>
              <a:ea typeface="Calibri"/>
              <a:cs typeface="Calibri"/>
              <a:sym typeface="Calibri"/>
            </a:endParaRPr>
          </a:p>
        </p:txBody>
      </p:sp>
      <p:sp>
        <p:nvSpPr>
          <p:cNvPr id="2019" name="Google Shape;2019;p48"/>
          <p:cNvSpPr/>
          <p:nvPr/>
        </p:nvSpPr>
        <p:spPr>
          <a:xfrm>
            <a:off x="5989320" y="31729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8"/>
          <p:cNvSpPr txBox="1"/>
          <p:nvPr/>
        </p:nvSpPr>
        <p:spPr>
          <a:xfrm>
            <a:off x="9357055" y="31729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3 to 7 days</a:t>
            </a:r>
            <a:endParaRPr b="0" i="0" sz="1050" u="none" cap="none" strike="noStrike">
              <a:solidFill>
                <a:schemeClr val="dk1"/>
              </a:solidFill>
              <a:latin typeface="Calibri"/>
              <a:ea typeface="Calibri"/>
              <a:cs typeface="Calibri"/>
              <a:sym typeface="Calibri"/>
            </a:endParaRPr>
          </a:p>
        </p:txBody>
      </p:sp>
      <p:sp>
        <p:nvSpPr>
          <p:cNvPr id="2021" name="Google Shape;2021;p48"/>
          <p:cNvSpPr txBox="1"/>
          <p:nvPr/>
        </p:nvSpPr>
        <p:spPr>
          <a:xfrm>
            <a:off x="6172200" y="31729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Domestic business travel</a:t>
            </a:r>
            <a:endParaRPr b="0" i="0" sz="1100" u="none" cap="none" strike="noStrike">
              <a:solidFill>
                <a:schemeClr val="dk1"/>
              </a:solidFill>
              <a:latin typeface="Calibri"/>
              <a:ea typeface="Calibri"/>
              <a:cs typeface="Calibri"/>
              <a:sym typeface="Calibri"/>
            </a:endParaRPr>
          </a:p>
        </p:txBody>
      </p:sp>
      <p:sp>
        <p:nvSpPr>
          <p:cNvPr id="2022" name="Google Shape;2022;p48"/>
          <p:cNvSpPr/>
          <p:nvPr/>
        </p:nvSpPr>
        <p:spPr>
          <a:xfrm>
            <a:off x="5989320" y="36301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8"/>
          <p:cNvSpPr txBox="1"/>
          <p:nvPr/>
        </p:nvSpPr>
        <p:spPr>
          <a:xfrm>
            <a:off x="9357055" y="36301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7 to 14 days</a:t>
            </a:r>
            <a:endParaRPr b="0" i="0" sz="1050" u="none" cap="none" strike="noStrike">
              <a:solidFill>
                <a:schemeClr val="dk1"/>
              </a:solidFill>
              <a:latin typeface="Calibri"/>
              <a:ea typeface="Calibri"/>
              <a:cs typeface="Calibri"/>
              <a:sym typeface="Calibri"/>
            </a:endParaRPr>
          </a:p>
        </p:txBody>
      </p:sp>
      <p:sp>
        <p:nvSpPr>
          <p:cNvPr id="2024" name="Google Shape;2024;p48"/>
          <p:cNvSpPr txBox="1"/>
          <p:nvPr/>
        </p:nvSpPr>
        <p:spPr>
          <a:xfrm>
            <a:off x="6172200" y="36301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Weekend getaways</a:t>
            </a:r>
            <a:endParaRPr b="0" i="0" sz="1100" u="none" cap="none" strike="noStrike">
              <a:solidFill>
                <a:schemeClr val="dk1"/>
              </a:solidFill>
              <a:latin typeface="Calibri"/>
              <a:ea typeface="Calibri"/>
              <a:cs typeface="Calibri"/>
              <a:sym typeface="Calibri"/>
            </a:endParaRPr>
          </a:p>
        </p:txBody>
      </p:sp>
      <p:sp>
        <p:nvSpPr>
          <p:cNvPr id="2025" name="Google Shape;2025;p48"/>
          <p:cNvSpPr/>
          <p:nvPr/>
        </p:nvSpPr>
        <p:spPr>
          <a:xfrm>
            <a:off x="5989320" y="40873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8"/>
          <p:cNvSpPr txBox="1"/>
          <p:nvPr/>
        </p:nvSpPr>
        <p:spPr>
          <a:xfrm>
            <a:off x="9357055" y="40873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30 to 60 days</a:t>
            </a:r>
            <a:endParaRPr b="0" i="0" sz="1050" u="none" cap="none" strike="noStrike">
              <a:solidFill>
                <a:schemeClr val="dk1"/>
              </a:solidFill>
              <a:latin typeface="Calibri"/>
              <a:ea typeface="Calibri"/>
              <a:cs typeface="Calibri"/>
              <a:sym typeface="Calibri"/>
            </a:endParaRPr>
          </a:p>
        </p:txBody>
      </p:sp>
      <p:sp>
        <p:nvSpPr>
          <p:cNvPr id="2027" name="Google Shape;2027;p48"/>
          <p:cNvSpPr txBox="1"/>
          <p:nvPr/>
        </p:nvSpPr>
        <p:spPr>
          <a:xfrm>
            <a:off x="6172200" y="40873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Planned vacations</a:t>
            </a:r>
            <a:endParaRPr b="0" i="0" sz="1100" u="none" cap="none" strike="noStrike">
              <a:solidFill>
                <a:schemeClr val="dk1"/>
              </a:solidFill>
              <a:latin typeface="Calibri"/>
              <a:ea typeface="Calibri"/>
              <a:cs typeface="Calibri"/>
              <a:sym typeface="Calibri"/>
            </a:endParaRPr>
          </a:p>
        </p:txBody>
      </p:sp>
      <p:sp>
        <p:nvSpPr>
          <p:cNvPr id="2028" name="Google Shape;2028;p48"/>
          <p:cNvSpPr/>
          <p:nvPr/>
        </p:nvSpPr>
        <p:spPr>
          <a:xfrm>
            <a:off x="5989320" y="45445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8"/>
          <p:cNvSpPr txBox="1"/>
          <p:nvPr/>
        </p:nvSpPr>
        <p:spPr>
          <a:xfrm>
            <a:off x="9357055" y="45445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45 to 90 days</a:t>
            </a:r>
            <a:endParaRPr b="0" i="0" sz="1050" u="none" cap="none" strike="noStrike">
              <a:solidFill>
                <a:schemeClr val="dk1"/>
              </a:solidFill>
              <a:latin typeface="Calibri"/>
              <a:ea typeface="Calibri"/>
              <a:cs typeface="Calibri"/>
              <a:sym typeface="Calibri"/>
            </a:endParaRPr>
          </a:p>
        </p:txBody>
      </p:sp>
      <p:sp>
        <p:nvSpPr>
          <p:cNvPr id="2030" name="Google Shape;2030;p48"/>
          <p:cNvSpPr txBox="1"/>
          <p:nvPr/>
        </p:nvSpPr>
        <p:spPr>
          <a:xfrm>
            <a:off x="6172200" y="45445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International tourists</a:t>
            </a:r>
            <a:endParaRPr b="0" i="0" sz="1100" u="none" cap="none" strike="noStrike">
              <a:solidFill>
                <a:schemeClr val="dk1"/>
              </a:solidFill>
              <a:latin typeface="Calibri"/>
              <a:ea typeface="Calibri"/>
              <a:cs typeface="Calibri"/>
              <a:sym typeface="Calibri"/>
            </a:endParaRPr>
          </a:p>
        </p:txBody>
      </p:sp>
      <p:sp>
        <p:nvSpPr>
          <p:cNvPr id="2031" name="Google Shape;2031;p48"/>
          <p:cNvSpPr/>
          <p:nvPr/>
        </p:nvSpPr>
        <p:spPr>
          <a:xfrm>
            <a:off x="5989320" y="5001768"/>
            <a:ext cx="5379415" cy="402336"/>
          </a:xfrm>
          <a:prstGeom prst="roundRect">
            <a:avLst>
              <a:gd fmla="val 22727"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8"/>
          <p:cNvSpPr txBox="1"/>
          <p:nvPr/>
        </p:nvSpPr>
        <p:spPr>
          <a:xfrm>
            <a:off x="9357055" y="5001768"/>
            <a:ext cx="1828800" cy="402336"/>
          </a:xfrm>
          <a:prstGeom prst="rect">
            <a:avLst/>
          </a:prstGeom>
          <a:noFill/>
          <a:ln>
            <a:noFill/>
          </a:ln>
        </p:spPr>
        <p:txBody>
          <a:bodyPr anchorCtr="0" anchor="ctr" bIns="0" lIns="0" spcFirstLastPara="1" rIns="0" wrap="square" tIns="0">
            <a:noAutofit/>
          </a:bodyPr>
          <a:lstStyle/>
          <a:p>
            <a:pPr indent="0" lvl="0" marL="0" marR="0" rtl="0" algn="r">
              <a:lnSpc>
                <a:spcPct val="135047"/>
              </a:lnSpc>
              <a:spcBef>
                <a:spcPts val="0"/>
              </a:spcBef>
              <a:spcAft>
                <a:spcPts val="0"/>
              </a:spcAft>
              <a:buClr>
                <a:srgbClr val="004FAA"/>
              </a:buClr>
              <a:buSzPts val="1050"/>
              <a:buFont typeface="Roboto Mono"/>
              <a:buNone/>
            </a:pPr>
            <a:r>
              <a:rPr b="1" i="0" lang="en-US" sz="1050" u="none" cap="none" strike="noStrike">
                <a:solidFill>
                  <a:srgbClr val="004FAA"/>
                </a:solidFill>
                <a:latin typeface="Roboto Mono"/>
                <a:ea typeface="Roboto Mono"/>
                <a:cs typeface="Roboto Mono"/>
                <a:sym typeface="Roboto Mono"/>
              </a:rPr>
              <a:t>60 to 180 days</a:t>
            </a:r>
            <a:endParaRPr b="0" i="0" sz="1050" u="none" cap="none" strike="noStrike">
              <a:solidFill>
                <a:schemeClr val="dk1"/>
              </a:solidFill>
              <a:latin typeface="Calibri"/>
              <a:ea typeface="Calibri"/>
              <a:cs typeface="Calibri"/>
              <a:sym typeface="Calibri"/>
            </a:endParaRPr>
          </a:p>
        </p:txBody>
      </p:sp>
      <p:sp>
        <p:nvSpPr>
          <p:cNvPr id="2033" name="Google Shape;2033;p48"/>
          <p:cNvSpPr txBox="1"/>
          <p:nvPr/>
        </p:nvSpPr>
        <p:spPr>
          <a:xfrm>
            <a:off x="6172200" y="5001768"/>
            <a:ext cx="3093415" cy="402336"/>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Inter"/>
              <a:buNone/>
            </a:pPr>
            <a:r>
              <a:rPr b="1" i="0" lang="en-US" sz="1100" u="none" cap="none" strike="noStrike">
                <a:solidFill>
                  <a:srgbClr val="171717"/>
                </a:solidFill>
                <a:latin typeface="Inter"/>
                <a:ea typeface="Inter"/>
                <a:cs typeface="Inter"/>
                <a:sym typeface="Inter"/>
              </a:rPr>
              <a:t>Group and wedding bookings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038" name="Shape 2038"/>
        <p:cNvGrpSpPr/>
        <p:nvPr/>
      </p:nvGrpSpPr>
      <p:grpSpPr>
        <a:xfrm>
          <a:off x="0" y="0"/>
          <a:ext cx="0" cy="0"/>
          <a:chOff x="0" y="0"/>
          <a:chExt cx="0" cy="0"/>
        </a:xfrm>
      </p:grpSpPr>
      <p:sp>
        <p:nvSpPr>
          <p:cNvPr id="2039" name="Google Shape;2039;p4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3 · WHEN GUESTS BOOK</a:t>
            </a:r>
            <a:endParaRPr b="0" i="0" sz="1050" u="none" cap="none" strike="noStrike">
              <a:solidFill>
                <a:schemeClr val="dk1"/>
              </a:solidFill>
              <a:latin typeface="Calibri"/>
              <a:ea typeface="Calibri"/>
              <a:cs typeface="Calibri"/>
              <a:sym typeface="Calibri"/>
            </a:endParaRPr>
          </a:p>
        </p:txBody>
      </p:sp>
      <p:pic>
        <p:nvPicPr>
          <p:cNvPr descr="/home/claude/work/renderer/brand/wordmark.png" id="2040" name="Google Shape;2040;p4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041" name="Google Shape;2041;p4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47 / 65</a:t>
            </a:r>
            <a:endParaRPr b="0" i="0" sz="900" u="none" cap="none" strike="noStrike">
              <a:solidFill>
                <a:schemeClr val="dk1"/>
              </a:solidFill>
              <a:latin typeface="Calibri"/>
              <a:ea typeface="Calibri"/>
              <a:cs typeface="Calibri"/>
              <a:sym typeface="Calibri"/>
            </a:endParaRPr>
          </a:p>
        </p:txBody>
      </p:sp>
      <p:sp>
        <p:nvSpPr>
          <p:cNvPr id="2042" name="Google Shape;2042;p4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Booking curve</a:t>
            </a:r>
            <a:r>
              <a:rPr b="0" i="0" lang="en-US" sz="1700" u="none" cap="none" strike="noStrike">
                <a:solidFill>
                  <a:srgbClr val="004FAA"/>
                </a:solidFill>
                <a:latin typeface="Inter"/>
                <a:ea typeface="Inter"/>
                <a:cs typeface="Inter"/>
                <a:sym typeface="Inter"/>
              </a:rPr>
              <a:t>  the shape bookings arrive in</a:t>
            </a:r>
            <a:endParaRPr b="0" i="0" sz="3000" u="none" cap="none" strike="noStrike">
              <a:solidFill>
                <a:schemeClr val="dk1"/>
              </a:solidFill>
              <a:latin typeface="Calibri"/>
              <a:ea typeface="Calibri"/>
              <a:cs typeface="Calibri"/>
              <a:sym typeface="Calibri"/>
            </a:endParaRPr>
          </a:p>
        </p:txBody>
      </p:sp>
      <p:sp>
        <p:nvSpPr>
          <p:cNvPr id="2043" name="Google Shape;2043;p49"/>
          <p:cNvSpPr/>
          <p:nvPr/>
        </p:nvSpPr>
        <p:spPr>
          <a:xfrm>
            <a:off x="5715000" y="1783080"/>
            <a:ext cx="5928055" cy="4453128"/>
          </a:xfrm>
          <a:prstGeom prst="roundRect">
            <a:avLst>
              <a:gd fmla="val 246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9"/>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045" name="Google Shape;2045;p49"/>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046" name="Google Shape;2046;p49"/>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047" name="Google Shape;2047;p49"/>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The shape reservations accumulate in ahead of a stay date, which differs by segment.</a:t>
            </a:r>
            <a:endParaRPr b="0" i="0" sz="1150" u="none" cap="none" strike="noStrike">
              <a:solidFill>
                <a:schemeClr val="dk1"/>
              </a:solidFill>
              <a:latin typeface="Calibri"/>
              <a:ea typeface="Calibri"/>
              <a:cs typeface="Calibri"/>
              <a:sym typeface="Calibri"/>
            </a:endParaRPr>
          </a:p>
        </p:txBody>
      </p:sp>
      <p:sp>
        <p:nvSpPr>
          <p:cNvPr id="2048" name="Google Shape;2048;p49"/>
          <p:cNvSpPr/>
          <p:nvPr/>
        </p:nvSpPr>
        <p:spPr>
          <a:xfrm>
            <a:off x="548640" y="331555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2049" name="Google Shape;2049;p49"/>
          <p:cNvPicPr preferRelativeResize="0"/>
          <p:nvPr/>
        </p:nvPicPr>
        <p:blipFill rotWithShape="1">
          <a:blip r:embed="rId5">
            <a:alphaModFix/>
          </a:blip>
          <a:srcRect b="0" l="0" r="0" t="0"/>
          <a:stretch/>
        </p:blipFill>
        <p:spPr>
          <a:xfrm>
            <a:off x="641177" y="3408095"/>
            <a:ext cx="235549" cy="235549"/>
          </a:xfrm>
          <a:prstGeom prst="rect">
            <a:avLst/>
          </a:prstGeom>
          <a:noFill/>
          <a:ln>
            <a:noFill/>
          </a:ln>
        </p:spPr>
      </p:pic>
      <p:sp>
        <p:nvSpPr>
          <p:cNvPr id="2050" name="Google Shape;2050;p49"/>
          <p:cNvSpPr txBox="1"/>
          <p:nvPr/>
        </p:nvSpPr>
        <p:spPr>
          <a:xfrm>
            <a:off x="1170432" y="329726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051" name="Google Shape;2051;p49"/>
          <p:cNvSpPr txBox="1"/>
          <p:nvPr/>
        </p:nvSpPr>
        <p:spPr>
          <a:xfrm>
            <a:off x="1170432" y="3608165"/>
            <a:ext cx="4270248" cy="109556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July and October fill on different curves. You cannot call a date soft until you have compared it with its own curve. HiddenGem Brain fits a separate target curve per property and date class, and manages to the curve rather than worshipping it.</a:t>
            </a:r>
            <a:endParaRPr b="0" i="0" sz="1150" u="none" cap="none" strike="noStrike">
              <a:solidFill>
                <a:schemeClr val="dk1"/>
              </a:solidFill>
              <a:latin typeface="Calibri"/>
              <a:ea typeface="Calibri"/>
              <a:cs typeface="Calibri"/>
              <a:sym typeface="Calibri"/>
            </a:endParaRPr>
          </a:p>
        </p:txBody>
      </p:sp>
      <p:sp>
        <p:nvSpPr>
          <p:cNvPr id="2052" name="Google Shape;2052;p49"/>
          <p:cNvSpPr/>
          <p:nvPr/>
        </p:nvSpPr>
        <p:spPr>
          <a:xfrm>
            <a:off x="548640" y="543953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2053" name="Google Shape;2053;p49"/>
          <p:cNvPicPr preferRelativeResize="0"/>
          <p:nvPr/>
        </p:nvPicPr>
        <p:blipFill rotWithShape="1">
          <a:blip r:embed="rId6">
            <a:alphaModFix/>
          </a:blip>
          <a:srcRect b="0" l="0" r="0" t="0"/>
          <a:stretch/>
        </p:blipFill>
        <p:spPr>
          <a:xfrm>
            <a:off x="641177" y="5532074"/>
            <a:ext cx="235549" cy="235549"/>
          </a:xfrm>
          <a:prstGeom prst="rect">
            <a:avLst/>
          </a:prstGeom>
          <a:noFill/>
          <a:ln>
            <a:noFill/>
          </a:ln>
        </p:spPr>
      </p:pic>
      <p:sp>
        <p:nvSpPr>
          <p:cNvPr id="2054" name="Google Shape;2054;p49"/>
          <p:cNvSpPr txBox="1"/>
          <p:nvPr/>
        </p:nvSpPr>
        <p:spPr>
          <a:xfrm>
            <a:off x="1170432" y="5421249"/>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055" name="Google Shape;2055;p49"/>
          <p:cNvSpPr txBox="1"/>
          <p:nvPr/>
        </p:nvSpPr>
        <p:spPr>
          <a:xfrm>
            <a:off x="1170432" y="5732145"/>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Your booking curve shows when each type of guest books, so we can time the ads to match.</a:t>
            </a:r>
            <a:endParaRPr b="0" i="0" sz="1150" u="none" cap="none" strike="noStrike">
              <a:solidFill>
                <a:schemeClr val="dk1"/>
              </a:solidFill>
              <a:latin typeface="Calibri"/>
              <a:ea typeface="Calibri"/>
              <a:cs typeface="Calibri"/>
              <a:sym typeface="Calibri"/>
            </a:endParaRPr>
          </a:p>
        </p:txBody>
      </p:sp>
      <p:sp>
        <p:nvSpPr>
          <p:cNvPr id="2056" name="Google Shape;2056;p49"/>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TWO MONTHS, TWO CURVES</a:t>
            </a:r>
            <a:endParaRPr b="0" i="0" sz="900" u="none" cap="none" strike="noStrike">
              <a:solidFill>
                <a:schemeClr val="dk1"/>
              </a:solidFill>
              <a:latin typeface="Calibri"/>
              <a:ea typeface="Calibri"/>
              <a:cs typeface="Calibri"/>
              <a:sym typeface="Calibri"/>
            </a:endParaRPr>
          </a:p>
        </p:txBody>
      </p:sp>
      <p:cxnSp>
        <p:nvCxnSpPr>
          <p:cNvPr id="2057" name="Google Shape;2057;p49"/>
          <p:cNvCxnSpPr/>
          <p:nvPr/>
        </p:nvCxnSpPr>
        <p:spPr>
          <a:xfrm>
            <a:off x="6766560" y="5148072"/>
            <a:ext cx="4510735" cy="0"/>
          </a:xfrm>
          <a:prstGeom prst="straightConnector1">
            <a:avLst/>
          </a:prstGeom>
          <a:noFill/>
          <a:ln cap="flat" cmpd="sng" w="12700">
            <a:solidFill>
              <a:srgbClr val="D4D4D4"/>
            </a:solidFill>
            <a:prstDash val="solid"/>
            <a:round/>
            <a:headEnd len="sm" w="sm" type="none"/>
            <a:tailEnd len="sm" w="sm" type="none"/>
          </a:ln>
        </p:spPr>
      </p:cxnSp>
      <p:cxnSp>
        <p:nvCxnSpPr>
          <p:cNvPr id="2058" name="Google Shape;2058;p49"/>
          <p:cNvCxnSpPr/>
          <p:nvPr/>
        </p:nvCxnSpPr>
        <p:spPr>
          <a:xfrm>
            <a:off x="6766560" y="2578608"/>
            <a:ext cx="0" cy="2569464"/>
          </a:xfrm>
          <a:prstGeom prst="straightConnector1">
            <a:avLst/>
          </a:prstGeom>
          <a:noFill/>
          <a:ln cap="flat" cmpd="sng" w="12700">
            <a:solidFill>
              <a:srgbClr val="D4D4D4"/>
            </a:solidFill>
            <a:prstDash val="solid"/>
            <a:round/>
            <a:headEnd len="sm" w="sm" type="none"/>
            <a:tailEnd len="sm" w="sm" type="none"/>
          </a:ln>
        </p:spPr>
      </p:cxnSp>
      <p:sp>
        <p:nvSpPr>
          <p:cNvPr id="2059" name="Google Shape;2059;p49"/>
          <p:cNvSpPr txBox="1"/>
          <p:nvPr/>
        </p:nvSpPr>
        <p:spPr>
          <a:xfrm>
            <a:off x="6217920" y="2487168"/>
            <a:ext cx="457200" cy="182880"/>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100%</a:t>
            </a:r>
            <a:endParaRPr b="0" i="0" sz="750" u="none" cap="none" strike="noStrike">
              <a:solidFill>
                <a:schemeClr val="dk1"/>
              </a:solidFill>
              <a:latin typeface="Calibri"/>
              <a:ea typeface="Calibri"/>
              <a:cs typeface="Calibri"/>
              <a:sym typeface="Calibri"/>
            </a:endParaRPr>
          </a:p>
        </p:txBody>
      </p:sp>
      <p:sp>
        <p:nvSpPr>
          <p:cNvPr id="2060" name="Google Shape;2060;p49"/>
          <p:cNvSpPr txBox="1"/>
          <p:nvPr/>
        </p:nvSpPr>
        <p:spPr>
          <a:xfrm>
            <a:off x="6217920" y="3771900"/>
            <a:ext cx="457200" cy="182880"/>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50%</a:t>
            </a:r>
            <a:endParaRPr b="0" i="0" sz="750" u="none" cap="none" strike="noStrike">
              <a:solidFill>
                <a:schemeClr val="dk1"/>
              </a:solidFill>
              <a:latin typeface="Calibri"/>
              <a:ea typeface="Calibri"/>
              <a:cs typeface="Calibri"/>
              <a:sym typeface="Calibri"/>
            </a:endParaRPr>
          </a:p>
        </p:txBody>
      </p:sp>
      <p:sp>
        <p:nvSpPr>
          <p:cNvPr id="2061" name="Google Shape;2061;p49"/>
          <p:cNvSpPr txBox="1"/>
          <p:nvPr/>
        </p:nvSpPr>
        <p:spPr>
          <a:xfrm>
            <a:off x="6217920" y="5056632"/>
            <a:ext cx="457200" cy="182880"/>
          </a:xfrm>
          <a:prstGeom prst="rect">
            <a:avLst/>
          </a:prstGeom>
          <a:noFill/>
          <a:ln>
            <a:noFill/>
          </a:ln>
        </p:spPr>
        <p:txBody>
          <a:bodyPr anchorCtr="0" anchor="ctr" bIns="0" lIns="0" spcFirstLastPara="1" rIns="0" wrap="square" tIns="0">
            <a:noAutofit/>
          </a:bodyPr>
          <a:lstStyle/>
          <a:p>
            <a:pPr indent="0" lvl="0" marL="0" marR="0" rtl="0" algn="r">
              <a:lnSpc>
                <a:spcPct val="135066"/>
              </a:lnSpc>
              <a:spcBef>
                <a:spcPts val="0"/>
              </a:spcBef>
              <a:spcAft>
                <a:spcPts val="0"/>
              </a:spcAft>
              <a:buClr>
                <a:srgbClr val="A3A3A3"/>
              </a:buClr>
              <a:buSzPts val="750"/>
              <a:buFont typeface="Roboto Mono"/>
              <a:buNone/>
            </a:pPr>
            <a:r>
              <a:rPr b="0" i="0" lang="en-US" sz="750" u="none" cap="none" strike="noStrike">
                <a:solidFill>
                  <a:srgbClr val="A3A3A3"/>
                </a:solidFill>
                <a:latin typeface="Roboto Mono"/>
                <a:ea typeface="Roboto Mono"/>
                <a:cs typeface="Roboto Mono"/>
                <a:sym typeface="Roboto Mono"/>
              </a:rPr>
              <a:t>0%</a:t>
            </a:r>
            <a:endParaRPr b="0" i="0" sz="750" u="none" cap="none" strike="noStrike">
              <a:solidFill>
                <a:schemeClr val="dk1"/>
              </a:solidFill>
              <a:latin typeface="Calibri"/>
              <a:ea typeface="Calibri"/>
              <a:cs typeface="Calibri"/>
              <a:sym typeface="Calibri"/>
            </a:endParaRPr>
          </a:p>
        </p:txBody>
      </p:sp>
      <p:sp>
        <p:nvSpPr>
          <p:cNvPr id="2062" name="Google Shape;2062;p49"/>
          <p:cNvSpPr txBox="1"/>
          <p:nvPr/>
        </p:nvSpPr>
        <p:spPr>
          <a:xfrm>
            <a:off x="6309360" y="5184648"/>
            <a:ext cx="914400" cy="182880"/>
          </a:xfrm>
          <a:prstGeom prst="rect">
            <a:avLst/>
          </a:prstGeom>
          <a:noFill/>
          <a:ln>
            <a:noFill/>
          </a:ln>
        </p:spPr>
        <p:txBody>
          <a:bodyPr anchorCtr="0" anchor="ctr" bIns="0" lIns="0" spcFirstLastPara="1" rIns="0" wrap="square" tIns="0">
            <a:noAutofit/>
          </a:bodyPr>
          <a:lstStyle/>
          <a:p>
            <a:pPr indent="0" lvl="0" marL="0" marR="0" rtl="0" algn="ctr">
              <a:lnSpc>
                <a:spcPct val="135066"/>
              </a:lnSpc>
              <a:spcBef>
                <a:spcPts val="0"/>
              </a:spcBef>
              <a:spcAft>
                <a:spcPts val="0"/>
              </a:spcAft>
              <a:buClr>
                <a:srgbClr val="737373"/>
              </a:buClr>
              <a:buSzPts val="750"/>
              <a:buFont typeface="Roboto Mono"/>
              <a:buNone/>
            </a:pPr>
            <a:r>
              <a:rPr b="0" i="0" lang="en-US" sz="750" u="none" cap="none" strike="noStrike">
                <a:solidFill>
                  <a:srgbClr val="737373"/>
                </a:solidFill>
                <a:latin typeface="Roboto Mono"/>
                <a:ea typeface="Roboto Mono"/>
                <a:cs typeface="Roboto Mono"/>
                <a:sym typeface="Roboto Mono"/>
              </a:rPr>
              <a:t>3 months out</a:t>
            </a:r>
            <a:endParaRPr b="0" i="0" sz="750" u="none" cap="none" strike="noStrike">
              <a:solidFill>
                <a:schemeClr val="dk1"/>
              </a:solidFill>
              <a:latin typeface="Calibri"/>
              <a:ea typeface="Calibri"/>
              <a:cs typeface="Calibri"/>
              <a:sym typeface="Calibri"/>
            </a:endParaRPr>
          </a:p>
        </p:txBody>
      </p:sp>
      <p:sp>
        <p:nvSpPr>
          <p:cNvPr id="2063" name="Google Shape;2063;p49"/>
          <p:cNvSpPr txBox="1"/>
          <p:nvPr/>
        </p:nvSpPr>
        <p:spPr>
          <a:xfrm>
            <a:off x="7812938" y="5184648"/>
            <a:ext cx="914400" cy="182880"/>
          </a:xfrm>
          <a:prstGeom prst="rect">
            <a:avLst/>
          </a:prstGeom>
          <a:noFill/>
          <a:ln>
            <a:noFill/>
          </a:ln>
        </p:spPr>
        <p:txBody>
          <a:bodyPr anchorCtr="0" anchor="ctr" bIns="0" lIns="0" spcFirstLastPara="1" rIns="0" wrap="square" tIns="0">
            <a:noAutofit/>
          </a:bodyPr>
          <a:lstStyle/>
          <a:p>
            <a:pPr indent="0" lvl="0" marL="0" marR="0" rtl="0" algn="ctr">
              <a:lnSpc>
                <a:spcPct val="135066"/>
              </a:lnSpc>
              <a:spcBef>
                <a:spcPts val="0"/>
              </a:spcBef>
              <a:spcAft>
                <a:spcPts val="0"/>
              </a:spcAft>
              <a:buClr>
                <a:srgbClr val="737373"/>
              </a:buClr>
              <a:buSzPts val="750"/>
              <a:buFont typeface="Roboto Mono"/>
              <a:buNone/>
            </a:pPr>
            <a:r>
              <a:rPr b="0" i="0" lang="en-US" sz="750" u="none" cap="none" strike="noStrike">
                <a:solidFill>
                  <a:srgbClr val="737373"/>
                </a:solidFill>
                <a:latin typeface="Roboto Mono"/>
                <a:ea typeface="Roboto Mono"/>
                <a:cs typeface="Roboto Mono"/>
                <a:sym typeface="Roboto Mono"/>
              </a:rPr>
              <a:t>2 months</a:t>
            </a:r>
            <a:endParaRPr b="0" i="0" sz="750" u="none" cap="none" strike="noStrike">
              <a:solidFill>
                <a:schemeClr val="dk1"/>
              </a:solidFill>
              <a:latin typeface="Calibri"/>
              <a:ea typeface="Calibri"/>
              <a:cs typeface="Calibri"/>
              <a:sym typeface="Calibri"/>
            </a:endParaRPr>
          </a:p>
        </p:txBody>
      </p:sp>
      <p:sp>
        <p:nvSpPr>
          <p:cNvPr id="2064" name="Google Shape;2064;p49"/>
          <p:cNvSpPr txBox="1"/>
          <p:nvPr/>
        </p:nvSpPr>
        <p:spPr>
          <a:xfrm>
            <a:off x="9316517" y="5184648"/>
            <a:ext cx="914400" cy="182880"/>
          </a:xfrm>
          <a:prstGeom prst="rect">
            <a:avLst/>
          </a:prstGeom>
          <a:noFill/>
          <a:ln>
            <a:noFill/>
          </a:ln>
        </p:spPr>
        <p:txBody>
          <a:bodyPr anchorCtr="0" anchor="ctr" bIns="0" lIns="0" spcFirstLastPara="1" rIns="0" wrap="square" tIns="0">
            <a:noAutofit/>
          </a:bodyPr>
          <a:lstStyle/>
          <a:p>
            <a:pPr indent="0" lvl="0" marL="0" marR="0" rtl="0" algn="ctr">
              <a:lnSpc>
                <a:spcPct val="135066"/>
              </a:lnSpc>
              <a:spcBef>
                <a:spcPts val="0"/>
              </a:spcBef>
              <a:spcAft>
                <a:spcPts val="0"/>
              </a:spcAft>
              <a:buClr>
                <a:srgbClr val="737373"/>
              </a:buClr>
              <a:buSzPts val="750"/>
              <a:buFont typeface="Roboto Mono"/>
              <a:buNone/>
            </a:pPr>
            <a:r>
              <a:rPr b="0" i="0" lang="en-US" sz="750" u="none" cap="none" strike="noStrike">
                <a:solidFill>
                  <a:srgbClr val="737373"/>
                </a:solidFill>
                <a:latin typeface="Roboto Mono"/>
                <a:ea typeface="Roboto Mono"/>
                <a:cs typeface="Roboto Mono"/>
                <a:sym typeface="Roboto Mono"/>
              </a:rPr>
              <a:t>1 month</a:t>
            </a:r>
            <a:endParaRPr b="0" i="0" sz="750" u="none" cap="none" strike="noStrike">
              <a:solidFill>
                <a:schemeClr val="dk1"/>
              </a:solidFill>
              <a:latin typeface="Calibri"/>
              <a:ea typeface="Calibri"/>
              <a:cs typeface="Calibri"/>
              <a:sym typeface="Calibri"/>
            </a:endParaRPr>
          </a:p>
        </p:txBody>
      </p:sp>
      <p:sp>
        <p:nvSpPr>
          <p:cNvPr id="2065" name="Google Shape;2065;p49"/>
          <p:cNvSpPr txBox="1"/>
          <p:nvPr/>
        </p:nvSpPr>
        <p:spPr>
          <a:xfrm>
            <a:off x="10820095" y="5184648"/>
            <a:ext cx="914400" cy="182880"/>
          </a:xfrm>
          <a:prstGeom prst="rect">
            <a:avLst/>
          </a:prstGeom>
          <a:noFill/>
          <a:ln>
            <a:noFill/>
          </a:ln>
        </p:spPr>
        <p:txBody>
          <a:bodyPr anchorCtr="0" anchor="ctr" bIns="0" lIns="0" spcFirstLastPara="1" rIns="0" wrap="square" tIns="0">
            <a:noAutofit/>
          </a:bodyPr>
          <a:lstStyle/>
          <a:p>
            <a:pPr indent="0" lvl="0" marL="0" marR="0" rtl="0" algn="ctr">
              <a:lnSpc>
                <a:spcPct val="135066"/>
              </a:lnSpc>
              <a:spcBef>
                <a:spcPts val="0"/>
              </a:spcBef>
              <a:spcAft>
                <a:spcPts val="0"/>
              </a:spcAft>
              <a:buClr>
                <a:srgbClr val="737373"/>
              </a:buClr>
              <a:buSzPts val="750"/>
              <a:buFont typeface="Roboto Mono"/>
              <a:buNone/>
            </a:pPr>
            <a:r>
              <a:rPr b="0" i="0" lang="en-US" sz="750" u="none" cap="none" strike="noStrike">
                <a:solidFill>
                  <a:srgbClr val="737373"/>
                </a:solidFill>
                <a:latin typeface="Roboto Mono"/>
                <a:ea typeface="Roboto Mono"/>
                <a:cs typeface="Roboto Mono"/>
                <a:sym typeface="Roboto Mono"/>
              </a:rPr>
              <a:t>arrival</a:t>
            </a:r>
            <a:endParaRPr b="0" i="0" sz="750" u="none" cap="none" strike="noStrike">
              <a:solidFill>
                <a:schemeClr val="dk1"/>
              </a:solidFill>
              <a:latin typeface="Calibri"/>
              <a:ea typeface="Calibri"/>
              <a:cs typeface="Calibri"/>
              <a:sym typeface="Calibri"/>
            </a:endParaRPr>
          </a:p>
        </p:txBody>
      </p:sp>
      <p:sp>
        <p:nvSpPr>
          <p:cNvPr id="2066" name="Google Shape;2066;p49"/>
          <p:cNvSpPr txBox="1"/>
          <p:nvPr/>
        </p:nvSpPr>
        <p:spPr>
          <a:xfrm>
            <a:off x="6766560" y="5385816"/>
            <a:ext cx="4510735" cy="201168"/>
          </a:xfrm>
          <a:prstGeom prst="rect">
            <a:avLst/>
          </a:prstGeom>
          <a:noFill/>
          <a:ln>
            <a:noFill/>
          </a:ln>
        </p:spPr>
        <p:txBody>
          <a:bodyPr anchorCtr="0" anchor="ctr" bIns="0" lIns="0" spcFirstLastPara="1" rIns="0" wrap="square" tIns="0">
            <a:noAutofit/>
          </a:bodyPr>
          <a:lstStyle/>
          <a:p>
            <a:pPr indent="0" lvl="0" marL="0" marR="0" rtl="0" algn="ctr">
              <a:lnSpc>
                <a:spcPct val="135052"/>
              </a:lnSpc>
              <a:spcBef>
                <a:spcPts val="0"/>
              </a:spcBef>
              <a:spcAft>
                <a:spcPts val="0"/>
              </a:spcAft>
              <a:buClr>
                <a:srgbClr val="525252"/>
              </a:buClr>
              <a:buSzPts val="950"/>
              <a:buFont typeface="Inter"/>
              <a:buNone/>
            </a:pPr>
            <a:r>
              <a:rPr b="1" i="0" lang="en-US" sz="950" u="none" cap="none" strike="noStrike">
                <a:solidFill>
                  <a:srgbClr val="525252"/>
                </a:solidFill>
                <a:latin typeface="Inter"/>
                <a:ea typeface="Inter"/>
                <a:cs typeface="Inter"/>
                <a:sym typeface="Inter"/>
              </a:rPr>
              <a:t>Months before arrival</a:t>
            </a:r>
            <a:endParaRPr b="0" i="0" sz="950" u="none" cap="none" strike="noStrike">
              <a:solidFill>
                <a:schemeClr val="dk1"/>
              </a:solidFill>
              <a:latin typeface="Calibri"/>
              <a:ea typeface="Calibri"/>
              <a:cs typeface="Calibri"/>
              <a:sym typeface="Calibri"/>
            </a:endParaRPr>
          </a:p>
        </p:txBody>
      </p:sp>
      <p:sp>
        <p:nvSpPr>
          <p:cNvPr id="2067" name="Google Shape;2067;p49"/>
          <p:cNvSpPr txBox="1"/>
          <p:nvPr/>
        </p:nvSpPr>
        <p:spPr>
          <a:xfrm rot="-5400000">
            <a:off x="4892040" y="3753612"/>
            <a:ext cx="2377440" cy="219456"/>
          </a:xfrm>
          <a:prstGeom prst="rect">
            <a:avLst/>
          </a:prstGeom>
          <a:noFill/>
          <a:ln>
            <a:noFill/>
          </a:ln>
        </p:spPr>
        <p:txBody>
          <a:bodyPr anchorCtr="0" anchor="ctr" bIns="0" lIns="0" spcFirstLastPara="1" rIns="0" wrap="square" tIns="0">
            <a:noAutofit/>
          </a:bodyPr>
          <a:lstStyle/>
          <a:p>
            <a:pPr indent="0" lvl="0" marL="0" marR="0" rtl="0" algn="ctr">
              <a:lnSpc>
                <a:spcPct val="135052"/>
              </a:lnSpc>
              <a:spcBef>
                <a:spcPts val="0"/>
              </a:spcBef>
              <a:spcAft>
                <a:spcPts val="0"/>
              </a:spcAft>
              <a:buClr>
                <a:srgbClr val="525252"/>
              </a:buClr>
              <a:buSzPts val="950"/>
              <a:buFont typeface="Inter"/>
              <a:buNone/>
            </a:pPr>
            <a:r>
              <a:rPr b="1" i="0" lang="en-US" sz="950" u="none" cap="none" strike="noStrike">
                <a:solidFill>
                  <a:srgbClr val="525252"/>
                </a:solidFill>
                <a:latin typeface="Inter"/>
                <a:ea typeface="Inter"/>
                <a:cs typeface="Inter"/>
                <a:sym typeface="Inter"/>
              </a:rPr>
              <a:t>Share of rooms booked</a:t>
            </a:r>
            <a:endParaRPr b="0" i="0" sz="950" u="none" cap="none" strike="noStrike">
              <a:solidFill>
                <a:schemeClr val="dk1"/>
              </a:solidFill>
              <a:latin typeface="Calibri"/>
              <a:ea typeface="Calibri"/>
              <a:cs typeface="Calibri"/>
              <a:sym typeface="Calibri"/>
            </a:endParaRPr>
          </a:p>
        </p:txBody>
      </p:sp>
      <p:cxnSp>
        <p:nvCxnSpPr>
          <p:cNvPr id="2068" name="Google Shape;2068;p49"/>
          <p:cNvCxnSpPr/>
          <p:nvPr/>
        </p:nvCxnSpPr>
        <p:spPr>
          <a:xfrm flipH="1" rot="10800000">
            <a:off x="6766560" y="2938333"/>
            <a:ext cx="1503578" cy="411114"/>
          </a:xfrm>
          <a:prstGeom prst="straightConnector1">
            <a:avLst/>
          </a:prstGeom>
          <a:noFill/>
          <a:ln cap="flat" cmpd="sng" w="28575">
            <a:solidFill>
              <a:srgbClr val="0066DE"/>
            </a:solidFill>
            <a:prstDash val="solid"/>
            <a:round/>
            <a:headEnd len="sm" w="sm" type="none"/>
            <a:tailEnd len="sm" w="sm" type="none"/>
          </a:ln>
        </p:spPr>
      </p:cxnSp>
      <p:cxnSp>
        <p:nvCxnSpPr>
          <p:cNvPr id="2069" name="Google Shape;2069;p49"/>
          <p:cNvCxnSpPr/>
          <p:nvPr/>
        </p:nvCxnSpPr>
        <p:spPr>
          <a:xfrm flipH="1" rot="10800000">
            <a:off x="8270138" y="2681387"/>
            <a:ext cx="1503578" cy="256946"/>
          </a:xfrm>
          <a:prstGeom prst="straightConnector1">
            <a:avLst/>
          </a:prstGeom>
          <a:noFill/>
          <a:ln cap="flat" cmpd="sng" w="28575">
            <a:solidFill>
              <a:srgbClr val="0066DE"/>
            </a:solidFill>
            <a:prstDash val="solid"/>
            <a:round/>
            <a:headEnd len="sm" w="sm" type="none"/>
            <a:tailEnd len="sm" w="sm" type="none"/>
          </a:ln>
        </p:spPr>
      </p:cxnSp>
      <p:cxnSp>
        <p:nvCxnSpPr>
          <p:cNvPr id="2070" name="Google Shape;2070;p49"/>
          <p:cNvCxnSpPr/>
          <p:nvPr/>
        </p:nvCxnSpPr>
        <p:spPr>
          <a:xfrm flipH="1" rot="10800000">
            <a:off x="9773717" y="2578608"/>
            <a:ext cx="1503578" cy="102779"/>
          </a:xfrm>
          <a:prstGeom prst="straightConnector1">
            <a:avLst/>
          </a:prstGeom>
          <a:noFill/>
          <a:ln cap="flat" cmpd="sng" w="28575">
            <a:solidFill>
              <a:srgbClr val="0066DE"/>
            </a:solidFill>
            <a:prstDash val="solid"/>
            <a:round/>
            <a:headEnd len="sm" w="sm" type="none"/>
            <a:tailEnd len="sm" w="sm" type="none"/>
          </a:ln>
        </p:spPr>
      </p:cxnSp>
      <p:cxnSp>
        <p:nvCxnSpPr>
          <p:cNvPr id="2071" name="Google Shape;2071;p49"/>
          <p:cNvCxnSpPr/>
          <p:nvPr/>
        </p:nvCxnSpPr>
        <p:spPr>
          <a:xfrm flipH="1" rot="10800000">
            <a:off x="6766560" y="3734867"/>
            <a:ext cx="1503578" cy="642366"/>
          </a:xfrm>
          <a:prstGeom prst="straightConnector1">
            <a:avLst/>
          </a:prstGeom>
          <a:noFill/>
          <a:ln cap="flat" cmpd="sng" w="28575">
            <a:solidFill>
              <a:srgbClr val="72A8FF"/>
            </a:solidFill>
            <a:prstDash val="solid"/>
            <a:round/>
            <a:headEnd len="sm" w="sm" type="none"/>
            <a:tailEnd len="sm" w="sm" type="none"/>
          </a:ln>
        </p:spPr>
      </p:cxnSp>
      <p:cxnSp>
        <p:nvCxnSpPr>
          <p:cNvPr id="2072" name="Google Shape;2072;p49"/>
          <p:cNvCxnSpPr/>
          <p:nvPr/>
        </p:nvCxnSpPr>
        <p:spPr>
          <a:xfrm flipH="1" rot="10800000">
            <a:off x="8270138" y="3092501"/>
            <a:ext cx="1503578" cy="642366"/>
          </a:xfrm>
          <a:prstGeom prst="straightConnector1">
            <a:avLst/>
          </a:prstGeom>
          <a:noFill/>
          <a:ln cap="flat" cmpd="sng" w="28575">
            <a:solidFill>
              <a:srgbClr val="72A8FF"/>
            </a:solidFill>
            <a:prstDash val="solid"/>
            <a:round/>
            <a:headEnd len="sm" w="sm" type="none"/>
            <a:tailEnd len="sm" w="sm" type="none"/>
          </a:ln>
        </p:spPr>
      </p:cxnSp>
      <p:cxnSp>
        <p:nvCxnSpPr>
          <p:cNvPr id="2073" name="Google Shape;2073;p49"/>
          <p:cNvCxnSpPr/>
          <p:nvPr/>
        </p:nvCxnSpPr>
        <p:spPr>
          <a:xfrm flipH="1" rot="10800000">
            <a:off x="9773717" y="2707081"/>
            <a:ext cx="1503578" cy="385420"/>
          </a:xfrm>
          <a:prstGeom prst="straightConnector1">
            <a:avLst/>
          </a:prstGeom>
          <a:noFill/>
          <a:ln cap="flat" cmpd="sng" w="28575">
            <a:solidFill>
              <a:srgbClr val="72A8FF"/>
            </a:solidFill>
            <a:prstDash val="solid"/>
            <a:round/>
            <a:headEnd len="sm" w="sm" type="none"/>
            <a:tailEnd len="sm" w="sm" type="none"/>
          </a:ln>
        </p:spPr>
      </p:cxnSp>
      <p:cxnSp>
        <p:nvCxnSpPr>
          <p:cNvPr id="2074" name="Google Shape;2074;p49"/>
          <p:cNvCxnSpPr/>
          <p:nvPr/>
        </p:nvCxnSpPr>
        <p:spPr>
          <a:xfrm>
            <a:off x="6766560" y="2578608"/>
            <a:ext cx="0" cy="2569464"/>
          </a:xfrm>
          <a:prstGeom prst="straightConnector1">
            <a:avLst/>
          </a:prstGeom>
          <a:noFill/>
          <a:ln cap="flat" cmpd="sng" w="12700">
            <a:solidFill>
              <a:srgbClr val="A3A3A3"/>
            </a:solidFill>
            <a:prstDash val="dash"/>
            <a:round/>
            <a:headEnd len="sm" w="sm" type="none"/>
            <a:tailEnd len="sm" w="sm" type="none"/>
          </a:ln>
        </p:spPr>
      </p:cxnSp>
      <p:sp>
        <p:nvSpPr>
          <p:cNvPr id="2075" name="Google Shape;2075;p49"/>
          <p:cNvSpPr txBox="1"/>
          <p:nvPr/>
        </p:nvSpPr>
        <p:spPr>
          <a:xfrm>
            <a:off x="5943600" y="2340864"/>
            <a:ext cx="1645920" cy="182880"/>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525252"/>
              </a:buClr>
              <a:buSzPts val="800"/>
              <a:buFont typeface="Roboto Mono"/>
              <a:buNone/>
            </a:pPr>
            <a:r>
              <a:rPr b="0" i="0" lang="en-US" sz="800" u="none" cap="none" strike="noStrike">
                <a:solidFill>
                  <a:srgbClr val="525252"/>
                </a:solidFill>
                <a:latin typeface="Roboto Mono"/>
                <a:ea typeface="Roboto Mono"/>
                <a:cs typeface="Roboto Mono"/>
                <a:sym typeface="Roboto Mono"/>
              </a:rPr>
              <a:t>today</a:t>
            </a:r>
            <a:endParaRPr b="0" i="0" sz="800" u="none" cap="none" strike="noStrike">
              <a:solidFill>
                <a:schemeClr val="dk1"/>
              </a:solidFill>
              <a:latin typeface="Calibri"/>
              <a:ea typeface="Calibri"/>
              <a:cs typeface="Calibri"/>
              <a:sym typeface="Calibri"/>
            </a:endParaRPr>
          </a:p>
        </p:txBody>
      </p:sp>
      <p:sp>
        <p:nvSpPr>
          <p:cNvPr id="2076" name="Google Shape;2076;p49"/>
          <p:cNvSpPr/>
          <p:nvPr/>
        </p:nvSpPr>
        <p:spPr>
          <a:xfrm>
            <a:off x="6702552" y="3285439"/>
            <a:ext cx="128016" cy="12801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9"/>
          <p:cNvSpPr txBox="1"/>
          <p:nvPr/>
        </p:nvSpPr>
        <p:spPr>
          <a:xfrm>
            <a:off x="6894576" y="3404311"/>
            <a:ext cx="1463040" cy="219456"/>
          </a:xfrm>
          <a:prstGeom prst="rect">
            <a:avLst/>
          </a:prstGeom>
          <a:noFill/>
          <a:ln>
            <a:noFill/>
          </a:ln>
        </p:spPr>
        <p:txBody>
          <a:bodyPr anchorCtr="0" anchor="ctr" bIns="0" lIns="0" spcFirstLastPara="1" rIns="0" wrap="square" tIns="0">
            <a:noAutofit/>
          </a:bodyPr>
          <a:lstStyle/>
          <a:p>
            <a:pPr indent="0" lvl="0" marL="0" marR="0" rtl="0" algn="l">
              <a:lnSpc>
                <a:spcPct val="135058"/>
              </a:lnSpc>
              <a:spcBef>
                <a:spcPts val="0"/>
              </a:spcBef>
              <a:spcAft>
                <a:spcPts val="0"/>
              </a:spcAft>
              <a:buClr>
                <a:srgbClr val="0066DE"/>
              </a:buClr>
              <a:buSzPts val="850"/>
              <a:buFont typeface="Roboto Mono"/>
              <a:buNone/>
            </a:pPr>
            <a:r>
              <a:rPr b="1" i="0" lang="en-US" sz="850" u="none" cap="none" strike="noStrike">
                <a:solidFill>
                  <a:srgbClr val="0066DE"/>
                </a:solidFill>
                <a:latin typeface="Roboto Mono"/>
                <a:ea typeface="Roboto Mono"/>
                <a:cs typeface="Roboto Mono"/>
                <a:sym typeface="Roboto Mono"/>
              </a:rPr>
              <a:t>July: 70%</a:t>
            </a:r>
            <a:endParaRPr b="0" i="0" sz="850" u="none" cap="none" strike="noStrike">
              <a:solidFill>
                <a:schemeClr val="dk1"/>
              </a:solidFill>
              <a:latin typeface="Calibri"/>
              <a:ea typeface="Calibri"/>
              <a:cs typeface="Calibri"/>
              <a:sym typeface="Calibri"/>
            </a:endParaRPr>
          </a:p>
        </p:txBody>
      </p:sp>
      <p:sp>
        <p:nvSpPr>
          <p:cNvPr id="2078" name="Google Shape;2078;p49"/>
          <p:cNvSpPr/>
          <p:nvPr/>
        </p:nvSpPr>
        <p:spPr>
          <a:xfrm>
            <a:off x="6702552" y="4313225"/>
            <a:ext cx="128016" cy="128016"/>
          </a:xfrm>
          <a:prstGeom prst="ellipse">
            <a:avLst/>
          </a:prstGeom>
          <a:solidFill>
            <a:srgbClr val="72A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9"/>
          <p:cNvSpPr txBox="1"/>
          <p:nvPr/>
        </p:nvSpPr>
        <p:spPr>
          <a:xfrm>
            <a:off x="6894576" y="4432097"/>
            <a:ext cx="1463040" cy="219456"/>
          </a:xfrm>
          <a:prstGeom prst="rect">
            <a:avLst/>
          </a:prstGeom>
          <a:noFill/>
          <a:ln>
            <a:noFill/>
          </a:ln>
        </p:spPr>
        <p:txBody>
          <a:bodyPr anchorCtr="0" anchor="ctr" bIns="0" lIns="0" spcFirstLastPara="1" rIns="0" wrap="square" tIns="0">
            <a:noAutofit/>
          </a:bodyPr>
          <a:lstStyle/>
          <a:p>
            <a:pPr indent="0" lvl="0" marL="0" marR="0" rtl="0" algn="l">
              <a:lnSpc>
                <a:spcPct val="135058"/>
              </a:lnSpc>
              <a:spcBef>
                <a:spcPts val="0"/>
              </a:spcBef>
              <a:spcAft>
                <a:spcPts val="0"/>
              </a:spcAft>
              <a:buClr>
                <a:srgbClr val="72A8FF"/>
              </a:buClr>
              <a:buSzPts val="850"/>
              <a:buFont typeface="Roboto Mono"/>
              <a:buNone/>
            </a:pPr>
            <a:r>
              <a:rPr b="1" i="0" lang="en-US" sz="850" u="none" cap="none" strike="noStrike">
                <a:solidFill>
                  <a:srgbClr val="72A8FF"/>
                </a:solidFill>
                <a:latin typeface="Roboto Mono"/>
                <a:ea typeface="Roboto Mono"/>
                <a:cs typeface="Roboto Mono"/>
                <a:sym typeface="Roboto Mono"/>
              </a:rPr>
              <a:t>October: 30%</a:t>
            </a:r>
            <a:endParaRPr b="0" i="0" sz="850" u="none" cap="none" strike="noStrike">
              <a:solidFill>
                <a:schemeClr val="dk1"/>
              </a:solidFill>
              <a:latin typeface="Calibri"/>
              <a:ea typeface="Calibri"/>
              <a:cs typeface="Calibri"/>
              <a:sym typeface="Calibri"/>
            </a:endParaRPr>
          </a:p>
        </p:txBody>
      </p:sp>
      <p:cxnSp>
        <p:nvCxnSpPr>
          <p:cNvPr id="2080" name="Google Shape;2080;p49"/>
          <p:cNvCxnSpPr/>
          <p:nvPr/>
        </p:nvCxnSpPr>
        <p:spPr>
          <a:xfrm>
            <a:off x="6492240" y="5815584"/>
            <a:ext cx="274320" cy="0"/>
          </a:xfrm>
          <a:prstGeom prst="straightConnector1">
            <a:avLst/>
          </a:prstGeom>
          <a:noFill/>
          <a:ln cap="flat" cmpd="sng" w="28575">
            <a:solidFill>
              <a:srgbClr val="0066DE"/>
            </a:solidFill>
            <a:prstDash val="solid"/>
            <a:round/>
            <a:headEnd len="sm" w="sm" type="none"/>
            <a:tailEnd len="sm" w="sm" type="none"/>
          </a:ln>
        </p:spPr>
      </p:cxnSp>
      <p:sp>
        <p:nvSpPr>
          <p:cNvPr id="2081" name="Google Shape;2081;p49"/>
          <p:cNvSpPr txBox="1"/>
          <p:nvPr/>
        </p:nvSpPr>
        <p:spPr>
          <a:xfrm>
            <a:off x="6839712" y="5687568"/>
            <a:ext cx="501091"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July</a:t>
            </a:r>
            <a:endParaRPr b="0" i="0" sz="950" u="none" cap="none" strike="noStrike">
              <a:solidFill>
                <a:schemeClr val="dk1"/>
              </a:solidFill>
              <a:latin typeface="Calibri"/>
              <a:ea typeface="Calibri"/>
              <a:cs typeface="Calibri"/>
              <a:sym typeface="Calibri"/>
            </a:endParaRPr>
          </a:p>
        </p:txBody>
      </p:sp>
      <p:cxnSp>
        <p:nvCxnSpPr>
          <p:cNvPr id="2082" name="Google Shape;2082;p49"/>
          <p:cNvCxnSpPr/>
          <p:nvPr/>
        </p:nvCxnSpPr>
        <p:spPr>
          <a:xfrm>
            <a:off x="7523683" y="5815584"/>
            <a:ext cx="274320" cy="0"/>
          </a:xfrm>
          <a:prstGeom prst="straightConnector1">
            <a:avLst/>
          </a:prstGeom>
          <a:noFill/>
          <a:ln cap="flat" cmpd="sng" w="28575">
            <a:solidFill>
              <a:srgbClr val="72A8FF"/>
            </a:solidFill>
            <a:prstDash val="solid"/>
            <a:round/>
            <a:headEnd len="sm" w="sm" type="none"/>
            <a:tailEnd len="sm" w="sm" type="none"/>
          </a:ln>
        </p:spPr>
      </p:cxnSp>
      <p:sp>
        <p:nvSpPr>
          <p:cNvPr id="2083" name="Google Shape;2083;p49"/>
          <p:cNvSpPr txBox="1"/>
          <p:nvPr/>
        </p:nvSpPr>
        <p:spPr>
          <a:xfrm>
            <a:off x="7871155" y="5687568"/>
            <a:ext cx="671170" cy="256032"/>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525252"/>
              </a:buClr>
              <a:buSzPts val="950"/>
              <a:buFont typeface="Inter"/>
              <a:buNone/>
            </a:pPr>
            <a:r>
              <a:rPr b="0" i="0" lang="en-US" sz="950" u="none" cap="none" strike="noStrike">
                <a:solidFill>
                  <a:srgbClr val="525252"/>
                </a:solidFill>
                <a:latin typeface="Inter"/>
                <a:ea typeface="Inter"/>
                <a:cs typeface="Inter"/>
                <a:sym typeface="Inter"/>
              </a:rPr>
              <a:t>October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088" name="Shape 2088"/>
        <p:cNvGrpSpPr/>
        <p:nvPr/>
      </p:nvGrpSpPr>
      <p:grpSpPr>
        <a:xfrm>
          <a:off x="0" y="0"/>
          <a:ext cx="0" cy="0"/>
          <a:chOff x="0" y="0"/>
          <a:chExt cx="0" cy="0"/>
        </a:xfrm>
      </p:grpSpPr>
      <p:sp>
        <p:nvSpPr>
          <p:cNvPr id="2089" name="Google Shape;2089;p5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3 · WHEN GUESTS BOOK</a:t>
            </a:r>
            <a:endParaRPr b="0" i="0" sz="1050" u="none" cap="none" strike="noStrike">
              <a:solidFill>
                <a:schemeClr val="dk1"/>
              </a:solidFill>
              <a:latin typeface="Calibri"/>
              <a:ea typeface="Calibri"/>
              <a:cs typeface="Calibri"/>
              <a:sym typeface="Calibri"/>
            </a:endParaRPr>
          </a:p>
        </p:txBody>
      </p:sp>
      <p:pic>
        <p:nvPicPr>
          <p:cNvPr descr="/home/claude/work/renderer/brand/wordmark.png" id="2090" name="Google Shape;2090;p5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091" name="Google Shape;2091;p5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48 / 65</a:t>
            </a:r>
            <a:endParaRPr b="0" i="0" sz="900" u="none" cap="none" strike="noStrike">
              <a:solidFill>
                <a:schemeClr val="dk1"/>
              </a:solidFill>
              <a:latin typeface="Calibri"/>
              <a:ea typeface="Calibri"/>
              <a:cs typeface="Calibri"/>
              <a:sym typeface="Calibri"/>
            </a:endParaRPr>
          </a:p>
        </p:txBody>
      </p:sp>
      <p:sp>
        <p:nvSpPr>
          <p:cNvPr id="2092" name="Google Shape;2092;p5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Pace</a:t>
            </a:r>
            <a:r>
              <a:rPr b="0" i="0" lang="en-US" sz="1700" u="none" cap="none" strike="noStrike">
                <a:solidFill>
                  <a:srgbClr val="004FAA"/>
                </a:solidFill>
                <a:latin typeface="Inter"/>
                <a:ea typeface="Inter"/>
                <a:cs typeface="Inter"/>
                <a:sym typeface="Inter"/>
              </a:rPr>
              <a:t>  ahead or behind, for a date that hasn't happened</a:t>
            </a:r>
            <a:endParaRPr b="0" i="0" sz="3000" u="none" cap="none" strike="noStrike">
              <a:solidFill>
                <a:schemeClr val="dk1"/>
              </a:solidFill>
              <a:latin typeface="Calibri"/>
              <a:ea typeface="Calibri"/>
              <a:cs typeface="Calibri"/>
              <a:sym typeface="Calibri"/>
            </a:endParaRPr>
          </a:p>
        </p:txBody>
      </p:sp>
      <p:sp>
        <p:nvSpPr>
          <p:cNvPr id="2093" name="Google Shape;2093;p50"/>
          <p:cNvSpPr/>
          <p:nvPr/>
        </p:nvSpPr>
        <p:spPr>
          <a:xfrm>
            <a:off x="5715000" y="1783080"/>
            <a:ext cx="5928055" cy="2433828"/>
          </a:xfrm>
          <a:prstGeom prst="roundRect">
            <a:avLst>
              <a:gd fmla="val 4508"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50"/>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095" name="Google Shape;2095;p50"/>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096" name="Google Shape;2096;p50"/>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097" name="Google Shape;2097;p50"/>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How fast bookings are arriving for a future date against last year or target.</a:t>
            </a:r>
            <a:endParaRPr b="0" i="0" sz="1150" u="none" cap="none" strike="noStrike">
              <a:solidFill>
                <a:schemeClr val="dk1"/>
              </a:solidFill>
              <a:latin typeface="Calibri"/>
              <a:ea typeface="Calibri"/>
              <a:cs typeface="Calibri"/>
              <a:sym typeface="Calibri"/>
            </a:endParaRPr>
          </a:p>
        </p:txBody>
      </p:sp>
      <p:sp>
        <p:nvSpPr>
          <p:cNvPr id="2098" name="Google Shape;2098;p50"/>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2099" name="Google Shape;2099;p50"/>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2100" name="Google Shape;2100;p50"/>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101" name="Google Shape;2101;p50"/>
          <p:cNvSpPr txBox="1"/>
          <p:nvPr/>
        </p:nvSpPr>
        <p:spPr>
          <a:xfrm>
            <a:off x="1170425" y="3192400"/>
            <a:ext cx="4270200" cy="1839900"/>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answers “are we ahead or behind” for a future date: the same date, compared at the same point last year, or against the curve. </a:t>
            </a:r>
            <a:endParaRPr b="0" i="0" sz="1150" u="none" cap="none" strike="noStrike">
              <a:solidFill>
                <a:srgbClr val="525252"/>
              </a:solidFill>
              <a:latin typeface="Inter"/>
              <a:ea typeface="Inter"/>
              <a:cs typeface="Inter"/>
              <a:sym typeface="Inter"/>
            </a:endParaRPr>
          </a:p>
          <a:p>
            <a:pPr indent="0" lvl="0" marL="0" marR="0" rtl="0" algn="l">
              <a:lnSpc>
                <a:spcPct val="135043"/>
              </a:lnSpc>
              <a:spcBef>
                <a:spcPts val="0"/>
              </a:spcBef>
              <a:spcAft>
                <a:spcPts val="0"/>
              </a:spcAft>
              <a:buClr>
                <a:srgbClr val="525252"/>
              </a:buClr>
              <a:buSzPts val="1150"/>
              <a:buFont typeface="Inter"/>
              <a:buNone/>
            </a:pPr>
            <a:r>
              <a:t/>
            </a:r>
            <a:endParaRPr sz="1150">
              <a:solidFill>
                <a:srgbClr val="525252"/>
              </a:solidFill>
              <a:latin typeface="Inter"/>
              <a:ea typeface="Inter"/>
              <a:cs typeface="Inter"/>
              <a:sym typeface="Inter"/>
            </a:endParaRPr>
          </a:p>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Keep pickup separate: pickup is how many bookings came in last week; pace is how that compares with last year or target.</a:t>
            </a:r>
            <a:endParaRPr b="0" i="0" sz="1150" u="none" cap="none" strike="noStrike">
              <a:solidFill>
                <a:schemeClr val="dk1"/>
              </a:solidFill>
              <a:latin typeface="Calibri"/>
              <a:ea typeface="Calibri"/>
              <a:cs typeface="Calibri"/>
              <a:sym typeface="Calibri"/>
            </a:endParaRPr>
          </a:p>
        </p:txBody>
      </p:sp>
      <p:sp>
        <p:nvSpPr>
          <p:cNvPr id="2102" name="Google Shape;2102;p50"/>
          <p:cNvSpPr/>
          <p:nvPr/>
        </p:nvSpPr>
        <p:spPr>
          <a:xfrm>
            <a:off x="548640" y="480517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2103" name="Google Shape;2103;p50"/>
          <p:cNvPicPr preferRelativeResize="0"/>
          <p:nvPr/>
        </p:nvPicPr>
        <p:blipFill rotWithShape="1">
          <a:blip r:embed="rId6">
            <a:alphaModFix/>
          </a:blip>
          <a:srcRect b="0" l="0" r="0" t="0"/>
          <a:stretch/>
        </p:blipFill>
        <p:spPr>
          <a:xfrm>
            <a:off x="641177" y="4897709"/>
            <a:ext cx="235549" cy="235549"/>
          </a:xfrm>
          <a:prstGeom prst="rect">
            <a:avLst/>
          </a:prstGeom>
          <a:noFill/>
          <a:ln>
            <a:noFill/>
          </a:ln>
        </p:spPr>
      </p:pic>
      <p:sp>
        <p:nvSpPr>
          <p:cNvPr id="2104" name="Google Shape;2104;p50"/>
          <p:cNvSpPr txBox="1"/>
          <p:nvPr/>
        </p:nvSpPr>
        <p:spPr>
          <a:xfrm>
            <a:off x="1170432" y="4786884"/>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105" name="Google Shape;2105;p50"/>
          <p:cNvSpPr txBox="1"/>
          <p:nvPr/>
        </p:nvSpPr>
        <p:spPr>
          <a:xfrm>
            <a:off x="1170432" y="5097780"/>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How is October pacing against last year? That tells us whether to push now or hold.</a:t>
            </a:r>
            <a:endParaRPr b="0" i="0" sz="1150" u="none" cap="none" strike="noStrike">
              <a:solidFill>
                <a:schemeClr val="dk1"/>
              </a:solidFill>
              <a:latin typeface="Calibri"/>
              <a:ea typeface="Calibri"/>
              <a:cs typeface="Calibri"/>
              <a:sym typeface="Calibri"/>
            </a:endParaRPr>
          </a:p>
        </p:txBody>
      </p:sp>
      <p:sp>
        <p:nvSpPr>
          <p:cNvPr id="2106" name="Google Shape;2106;p50"/>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OCTOBER: SAME DATE, SAME DISTANCE OUT</a:t>
            </a:r>
            <a:endParaRPr b="0" i="0" sz="900" u="none" cap="none" strike="noStrike">
              <a:solidFill>
                <a:schemeClr val="dk1"/>
              </a:solidFill>
              <a:latin typeface="Calibri"/>
              <a:ea typeface="Calibri"/>
              <a:cs typeface="Calibri"/>
              <a:sym typeface="Calibri"/>
            </a:endParaRPr>
          </a:p>
        </p:txBody>
      </p:sp>
      <p:sp>
        <p:nvSpPr>
          <p:cNvPr id="2107" name="Google Shape;2107;p50"/>
          <p:cNvSpPr txBox="1"/>
          <p:nvPr/>
        </p:nvSpPr>
        <p:spPr>
          <a:xfrm>
            <a:off x="5989320" y="2258568"/>
            <a:ext cx="237744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Last year, 90 days out</a:t>
            </a:r>
            <a:endParaRPr b="0" i="0" sz="1050" u="none" cap="none" strike="noStrike">
              <a:solidFill>
                <a:schemeClr val="dk1"/>
              </a:solidFill>
              <a:latin typeface="Calibri"/>
              <a:ea typeface="Calibri"/>
              <a:cs typeface="Calibri"/>
              <a:sym typeface="Calibri"/>
            </a:endParaRPr>
          </a:p>
        </p:txBody>
      </p:sp>
      <p:sp>
        <p:nvSpPr>
          <p:cNvPr id="2108" name="Google Shape;2108;p50"/>
          <p:cNvSpPr/>
          <p:nvPr/>
        </p:nvSpPr>
        <p:spPr>
          <a:xfrm>
            <a:off x="8458200" y="2340864"/>
            <a:ext cx="1142817" cy="292608"/>
          </a:xfrm>
          <a:prstGeom prst="roundRect">
            <a:avLst>
              <a:gd fmla="val 15625"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50"/>
          <p:cNvSpPr txBox="1"/>
          <p:nvPr/>
        </p:nvSpPr>
        <p:spPr>
          <a:xfrm>
            <a:off x="9692457" y="2258568"/>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30%</a:t>
            </a:r>
            <a:endParaRPr b="0" i="0" sz="1000" u="none" cap="none" strike="noStrike">
              <a:solidFill>
                <a:schemeClr val="dk1"/>
              </a:solidFill>
              <a:latin typeface="Calibri"/>
              <a:ea typeface="Calibri"/>
              <a:cs typeface="Calibri"/>
              <a:sym typeface="Calibri"/>
            </a:endParaRPr>
          </a:p>
        </p:txBody>
      </p:sp>
      <p:sp>
        <p:nvSpPr>
          <p:cNvPr id="2110" name="Google Shape;2110;p50"/>
          <p:cNvSpPr txBox="1"/>
          <p:nvPr/>
        </p:nvSpPr>
        <p:spPr>
          <a:xfrm>
            <a:off x="5989320" y="2770632"/>
            <a:ext cx="2377440" cy="45720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This year, 90 days out</a:t>
            </a:r>
            <a:endParaRPr b="0" i="0" sz="1050" u="none" cap="none" strike="noStrike">
              <a:solidFill>
                <a:schemeClr val="dk1"/>
              </a:solidFill>
              <a:latin typeface="Calibri"/>
              <a:ea typeface="Calibri"/>
              <a:cs typeface="Calibri"/>
              <a:sym typeface="Calibri"/>
            </a:endParaRPr>
          </a:p>
        </p:txBody>
      </p:sp>
      <p:sp>
        <p:nvSpPr>
          <p:cNvPr id="2111" name="Google Shape;2111;p50"/>
          <p:cNvSpPr/>
          <p:nvPr/>
        </p:nvSpPr>
        <p:spPr>
          <a:xfrm>
            <a:off x="8458200" y="2852928"/>
            <a:ext cx="1371381" cy="292608"/>
          </a:xfrm>
          <a:prstGeom prst="roundRect">
            <a:avLst>
              <a:gd fmla="val 15625"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50"/>
          <p:cNvSpPr txBox="1"/>
          <p:nvPr/>
        </p:nvSpPr>
        <p:spPr>
          <a:xfrm>
            <a:off x="9921021" y="2770632"/>
            <a:ext cx="100584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36%</a:t>
            </a:r>
            <a:endParaRPr b="0" i="0" sz="1000" u="none" cap="none" strike="noStrike">
              <a:solidFill>
                <a:schemeClr val="dk1"/>
              </a:solidFill>
              <a:latin typeface="Calibri"/>
              <a:ea typeface="Calibri"/>
              <a:cs typeface="Calibri"/>
              <a:sym typeface="Calibri"/>
            </a:endParaRPr>
          </a:p>
        </p:txBody>
      </p:sp>
      <p:sp>
        <p:nvSpPr>
          <p:cNvPr id="2113" name="Google Shape;2113;p50"/>
          <p:cNvSpPr txBox="1"/>
          <p:nvPr/>
        </p:nvSpPr>
        <p:spPr>
          <a:xfrm>
            <a:off x="5989320" y="3355848"/>
            <a:ext cx="5379415" cy="53187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25252"/>
              </a:buClr>
              <a:buSzPts val="1000"/>
              <a:buFont typeface="Inter"/>
              <a:buNone/>
            </a:pPr>
            <a:r>
              <a:rPr b="0" i="0" lang="en-US" sz="1000" u="none" cap="none" strike="noStrike">
                <a:solidFill>
                  <a:srgbClr val="525252"/>
                </a:solidFill>
                <a:latin typeface="Inter"/>
                <a:ea typeface="Inter"/>
                <a:cs typeface="Inter"/>
                <a:sym typeface="Inter"/>
              </a:rPr>
              <a:t>Pace: October is 6% ahead of where it was at the same point last year. Pickup is the other read: how many bookings came in this week. Pace says whether you are ahead; pickup says whether you are still moving.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118" name="Shape 2118"/>
        <p:cNvGrpSpPr/>
        <p:nvPr/>
      </p:nvGrpSpPr>
      <p:grpSpPr>
        <a:xfrm>
          <a:off x="0" y="0"/>
          <a:ext cx="0" cy="0"/>
          <a:chOff x="0" y="0"/>
          <a:chExt cx="0" cy="0"/>
        </a:xfrm>
      </p:grpSpPr>
      <p:sp>
        <p:nvSpPr>
          <p:cNvPr id="2119" name="Google Shape;2119;p5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3 · WHEN GUESTS BOOK</a:t>
            </a:r>
            <a:endParaRPr b="0" i="0" sz="1050" u="none" cap="none" strike="noStrike">
              <a:solidFill>
                <a:schemeClr val="dk1"/>
              </a:solidFill>
              <a:latin typeface="Calibri"/>
              <a:ea typeface="Calibri"/>
              <a:cs typeface="Calibri"/>
              <a:sym typeface="Calibri"/>
            </a:endParaRPr>
          </a:p>
        </p:txBody>
      </p:sp>
      <p:pic>
        <p:nvPicPr>
          <p:cNvPr descr="/home/claude/work/renderer/brand/wordmark.png" id="2120" name="Google Shape;2120;p5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121" name="Google Shape;2121;p5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49 / 65</a:t>
            </a:r>
            <a:endParaRPr b="0" i="0" sz="900" u="none" cap="none" strike="noStrike">
              <a:solidFill>
                <a:schemeClr val="dk1"/>
              </a:solidFill>
              <a:latin typeface="Calibri"/>
              <a:ea typeface="Calibri"/>
              <a:cs typeface="Calibri"/>
              <a:sym typeface="Calibri"/>
            </a:endParaRPr>
          </a:p>
        </p:txBody>
      </p:sp>
      <p:sp>
        <p:nvSpPr>
          <p:cNvPr id="2122" name="Google Shape;2122;p5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Effective OTB</a:t>
            </a:r>
            <a:r>
              <a:rPr b="0" i="0" lang="en-US" sz="1700" u="none" cap="none" strike="noStrike">
                <a:solidFill>
                  <a:srgbClr val="004FAA"/>
                </a:solidFill>
                <a:latin typeface="Inter"/>
                <a:ea typeface="Inter"/>
                <a:cs typeface="Inter"/>
                <a:sym typeface="Inter"/>
              </a:rPr>
              <a:t>  on the books, minus expected cancellations</a:t>
            </a:r>
            <a:endParaRPr b="0" i="0" sz="3000" u="none" cap="none" strike="noStrike">
              <a:solidFill>
                <a:schemeClr val="dk1"/>
              </a:solidFill>
              <a:latin typeface="Calibri"/>
              <a:ea typeface="Calibri"/>
              <a:cs typeface="Calibri"/>
              <a:sym typeface="Calibri"/>
            </a:endParaRPr>
          </a:p>
        </p:txBody>
      </p:sp>
      <p:sp>
        <p:nvSpPr>
          <p:cNvPr id="2123" name="Google Shape;2123;p51"/>
          <p:cNvSpPr/>
          <p:nvPr/>
        </p:nvSpPr>
        <p:spPr>
          <a:xfrm>
            <a:off x="5715000" y="1783080"/>
            <a:ext cx="5928055" cy="4526280"/>
          </a:xfrm>
          <a:prstGeom prst="roundRect">
            <a:avLst>
              <a:gd fmla="val 242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1"/>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125" name="Google Shape;2125;p51"/>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126" name="Google Shape;2126;p51"/>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127" name="Google Shape;2127;p51"/>
          <p:cNvSpPr txBox="1"/>
          <p:nvPr/>
        </p:nvSpPr>
        <p:spPr>
          <a:xfrm>
            <a:off x="1170432" y="2075688"/>
            <a:ext cx="4270248" cy="30689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On-the-books weighted for expected cancellation.</a:t>
            </a:r>
            <a:endParaRPr b="0" i="0" sz="1150" u="none" cap="none" strike="noStrike">
              <a:solidFill>
                <a:schemeClr val="dk1"/>
              </a:solidFill>
              <a:latin typeface="Calibri"/>
              <a:ea typeface="Calibri"/>
              <a:cs typeface="Calibri"/>
              <a:sym typeface="Calibri"/>
            </a:endParaRPr>
          </a:p>
        </p:txBody>
      </p:sp>
      <p:sp>
        <p:nvSpPr>
          <p:cNvPr id="2128" name="Google Shape;2128;p51"/>
          <p:cNvSpPr/>
          <p:nvPr/>
        </p:nvSpPr>
        <p:spPr>
          <a:xfrm>
            <a:off x="548640" y="3205544"/>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2129" name="Google Shape;2129;p51"/>
          <p:cNvPicPr preferRelativeResize="0"/>
          <p:nvPr/>
        </p:nvPicPr>
        <p:blipFill rotWithShape="1">
          <a:blip r:embed="rId5">
            <a:alphaModFix/>
          </a:blip>
          <a:srcRect b="0" l="0" r="0" t="0"/>
          <a:stretch/>
        </p:blipFill>
        <p:spPr>
          <a:xfrm>
            <a:off x="641177" y="3298081"/>
            <a:ext cx="235549" cy="235549"/>
          </a:xfrm>
          <a:prstGeom prst="rect">
            <a:avLst/>
          </a:prstGeom>
          <a:noFill/>
          <a:ln>
            <a:noFill/>
          </a:ln>
        </p:spPr>
      </p:pic>
      <p:sp>
        <p:nvSpPr>
          <p:cNvPr id="2130" name="Google Shape;2130;p51"/>
          <p:cNvSpPr txBox="1"/>
          <p:nvPr/>
        </p:nvSpPr>
        <p:spPr>
          <a:xfrm>
            <a:off x="1170432" y="3187256"/>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131" name="Google Shape;2131;p51"/>
          <p:cNvSpPr txBox="1"/>
          <p:nvPr/>
        </p:nvSpPr>
        <p:spPr>
          <a:xfrm>
            <a:off x="1170432" y="3498152"/>
            <a:ext cx="4270248" cy="898398"/>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“October's basically there” and “most of it is refundable” can both be true. A calendar filled far out with refundable bookings is, in HiddenGem Brain's words, both cheap and fragile.</a:t>
            </a:r>
            <a:endParaRPr b="0" i="0" sz="1150" u="none" cap="none" strike="noStrike">
              <a:solidFill>
                <a:schemeClr val="dk1"/>
              </a:solidFill>
              <a:latin typeface="Calibri"/>
              <a:ea typeface="Calibri"/>
              <a:cs typeface="Calibri"/>
              <a:sym typeface="Calibri"/>
            </a:endParaRPr>
          </a:p>
        </p:txBody>
      </p:sp>
      <p:sp>
        <p:nvSpPr>
          <p:cNvPr id="2132" name="Google Shape;2132;p51"/>
          <p:cNvSpPr/>
          <p:nvPr/>
        </p:nvSpPr>
        <p:spPr>
          <a:xfrm>
            <a:off x="548640" y="521951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2133" name="Google Shape;2133;p51"/>
          <p:cNvPicPr preferRelativeResize="0"/>
          <p:nvPr/>
        </p:nvPicPr>
        <p:blipFill rotWithShape="1">
          <a:blip r:embed="rId6">
            <a:alphaModFix/>
          </a:blip>
          <a:srcRect b="0" l="0" r="0" t="0"/>
          <a:stretch/>
        </p:blipFill>
        <p:spPr>
          <a:xfrm>
            <a:off x="641177" y="5312047"/>
            <a:ext cx="235549" cy="235549"/>
          </a:xfrm>
          <a:prstGeom prst="rect">
            <a:avLst/>
          </a:prstGeom>
          <a:noFill/>
          <a:ln>
            <a:noFill/>
          </a:ln>
        </p:spPr>
      </p:pic>
      <p:sp>
        <p:nvSpPr>
          <p:cNvPr id="2134" name="Google Shape;2134;p51"/>
          <p:cNvSpPr txBox="1"/>
          <p:nvPr/>
        </p:nvSpPr>
        <p:spPr>
          <a:xfrm>
            <a:off x="1170432" y="520122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135" name="Google Shape;2135;p51"/>
          <p:cNvSpPr txBox="1"/>
          <p:nvPr/>
        </p:nvSpPr>
        <p:spPr>
          <a:xfrm>
            <a:off x="1170432" y="551211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Once we allow for likely cancellations, your effective OTB for October is a bit lower than it looks.</a:t>
            </a:r>
            <a:endParaRPr b="0" i="0" sz="1150" u="none" cap="none" strike="noStrike">
              <a:solidFill>
                <a:schemeClr val="dk1"/>
              </a:solidFill>
              <a:latin typeface="Calibri"/>
              <a:ea typeface="Calibri"/>
              <a:cs typeface="Calibri"/>
              <a:sym typeface="Calibri"/>
            </a:endParaRPr>
          </a:p>
        </p:txBody>
      </p:sp>
      <p:sp>
        <p:nvSpPr>
          <p:cNvPr id="2136" name="Google Shape;2136;p51"/>
          <p:cNvSpPr/>
          <p:nvPr/>
        </p:nvSpPr>
        <p:spPr>
          <a:xfrm>
            <a:off x="5989320" y="1984248"/>
            <a:ext cx="5379415" cy="438912"/>
          </a:xfrm>
          <a:prstGeom prst="roundRect">
            <a:avLst>
              <a:gd fmla="val 2083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51"/>
          <p:cNvSpPr/>
          <p:nvPr/>
        </p:nvSpPr>
        <p:spPr>
          <a:xfrm>
            <a:off x="6080760" y="2029968"/>
            <a:ext cx="347472" cy="347472"/>
          </a:xfrm>
          <a:prstGeom prst="roundRect">
            <a:avLst>
              <a:gd fmla="val 28947" name="adj"/>
            </a:avLst>
          </a:prstGeom>
          <a:solidFill>
            <a:srgbClr val="FFFF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alculator.png" id="2138" name="Google Shape;2138;p51"/>
          <p:cNvPicPr preferRelativeResize="0"/>
          <p:nvPr/>
        </p:nvPicPr>
        <p:blipFill rotWithShape="1">
          <a:blip r:embed="rId7">
            <a:alphaModFix/>
          </a:blip>
          <a:srcRect b="0" l="0" r="0" t="0"/>
          <a:stretch/>
        </p:blipFill>
        <p:spPr>
          <a:xfrm>
            <a:off x="6157204" y="2106412"/>
            <a:ext cx="194584" cy="194584"/>
          </a:xfrm>
          <a:prstGeom prst="rect">
            <a:avLst/>
          </a:prstGeom>
          <a:noFill/>
          <a:ln>
            <a:noFill/>
          </a:ln>
        </p:spPr>
      </p:pic>
      <p:sp>
        <p:nvSpPr>
          <p:cNvPr id="2139" name="Google Shape;2139;p51"/>
          <p:cNvSpPr txBox="1"/>
          <p:nvPr/>
        </p:nvSpPr>
        <p:spPr>
          <a:xfrm>
            <a:off x="6556248" y="1984248"/>
            <a:ext cx="4693615" cy="43891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1200"/>
              <a:buFont typeface="Roboto Mono"/>
              <a:buNone/>
            </a:pPr>
            <a:r>
              <a:rPr b="1" i="0" lang="en-US" sz="1200" u="none" cap="none" strike="noStrike">
                <a:solidFill>
                  <a:srgbClr val="004FAA"/>
                </a:solidFill>
                <a:latin typeface="Roboto Mono"/>
                <a:ea typeface="Roboto Mono"/>
                <a:cs typeface="Roboto Mono"/>
                <a:sym typeface="Roboto Mono"/>
              </a:rPr>
              <a:t>OTB × (1 − expected cancellation rate)</a:t>
            </a:r>
            <a:endParaRPr b="0" i="0" sz="1200" u="none" cap="none" strike="noStrike">
              <a:solidFill>
                <a:schemeClr val="dk1"/>
              </a:solidFill>
              <a:latin typeface="Calibri"/>
              <a:ea typeface="Calibri"/>
              <a:cs typeface="Calibri"/>
              <a:sym typeface="Calibri"/>
            </a:endParaRPr>
          </a:p>
        </p:txBody>
      </p:sp>
      <p:sp>
        <p:nvSpPr>
          <p:cNvPr id="2140" name="Google Shape;2140;p51"/>
          <p:cNvSpPr txBox="1"/>
          <p:nvPr/>
        </p:nvSpPr>
        <p:spPr>
          <a:xfrm>
            <a:off x="5989320" y="2532888"/>
            <a:ext cx="5379415" cy="73037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Theo's glamping resort has October </a:t>
            </a:r>
            <a:r>
              <a:rPr b="1" i="0" lang="en-US" sz="1100" u="none" cap="none" strike="noStrike">
                <a:solidFill>
                  <a:srgbClr val="404040"/>
                </a:solidFill>
                <a:latin typeface="Inter"/>
                <a:ea typeface="Inter"/>
                <a:cs typeface="Inter"/>
                <a:sym typeface="Inter"/>
              </a:rPr>
              <a:t>80%</a:t>
            </a:r>
            <a:r>
              <a:rPr b="0" i="0" lang="en-US" sz="1100" u="none" cap="none" strike="noStrike">
                <a:solidFill>
                  <a:srgbClr val="404040"/>
                </a:solidFill>
                <a:latin typeface="Inter"/>
                <a:ea typeface="Inter"/>
                <a:cs typeface="Inter"/>
                <a:sym typeface="Inter"/>
              </a:rPr>
              <a:t> on the books. All of it is refundable, and about </a:t>
            </a:r>
            <a:r>
              <a:rPr b="1" i="0" lang="en-US" sz="1100" u="none" cap="none" strike="noStrike">
                <a:solidFill>
                  <a:srgbClr val="404040"/>
                </a:solidFill>
                <a:latin typeface="Inter"/>
                <a:ea typeface="Inter"/>
                <a:cs typeface="Inter"/>
                <a:sym typeface="Inter"/>
              </a:rPr>
              <a:t>20%</a:t>
            </a:r>
            <a:r>
              <a:rPr b="0" i="0" lang="en-US" sz="1100" u="none" cap="none" strike="noStrike">
                <a:solidFill>
                  <a:srgbClr val="404040"/>
                </a:solidFill>
                <a:latin typeface="Inter"/>
                <a:ea typeface="Inter"/>
                <a:cs typeface="Inter"/>
                <a:sym typeface="Inter"/>
              </a:rPr>
              <a:t> of refundable bookings usually cancel. How much of October is really there?</a:t>
            </a:r>
            <a:endParaRPr b="0" i="0" sz="1100" u="none" cap="none" strike="noStrike">
              <a:solidFill>
                <a:schemeClr val="dk1"/>
              </a:solidFill>
              <a:latin typeface="Calibri"/>
              <a:ea typeface="Calibri"/>
              <a:cs typeface="Calibri"/>
              <a:sym typeface="Calibri"/>
            </a:endParaRPr>
          </a:p>
        </p:txBody>
      </p:sp>
      <p:sp>
        <p:nvSpPr>
          <p:cNvPr id="2141" name="Google Shape;2141;p51"/>
          <p:cNvSpPr txBox="1"/>
          <p:nvPr/>
        </p:nvSpPr>
        <p:spPr>
          <a:xfrm>
            <a:off x="6172200" y="3318129"/>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Expected to cancel = 20% of the 80% = 80% × 0.20 = 16%</a:t>
            </a:r>
            <a:endParaRPr b="0" i="0" sz="1100" u="none" cap="none" strike="noStrike">
              <a:solidFill>
                <a:schemeClr val="dk1"/>
              </a:solidFill>
              <a:latin typeface="Calibri"/>
              <a:ea typeface="Calibri"/>
              <a:cs typeface="Calibri"/>
              <a:sym typeface="Calibri"/>
            </a:endParaRPr>
          </a:p>
        </p:txBody>
      </p:sp>
      <p:sp>
        <p:nvSpPr>
          <p:cNvPr id="2142" name="Google Shape;2142;p51"/>
          <p:cNvSpPr txBox="1"/>
          <p:nvPr/>
        </p:nvSpPr>
        <p:spPr>
          <a:xfrm>
            <a:off x="6172200" y="3565017"/>
            <a:ext cx="5196535" cy="23774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100"/>
              <a:buFont typeface="Roboto Mono"/>
              <a:buNone/>
            </a:pPr>
            <a:r>
              <a:rPr b="0" i="0" lang="en-US" sz="1100" u="none" cap="none" strike="noStrike">
                <a:solidFill>
                  <a:srgbClr val="171717"/>
                </a:solidFill>
                <a:latin typeface="Roboto Mono"/>
                <a:ea typeface="Roboto Mono"/>
                <a:cs typeface="Roboto Mono"/>
                <a:sym typeface="Roboto Mono"/>
              </a:rPr>
              <a:t>Effective OTB = 80% − 16%, or 80% × (1 − 0.20)</a:t>
            </a:r>
            <a:endParaRPr b="0" i="0" sz="1100" u="none" cap="none" strike="noStrike">
              <a:solidFill>
                <a:schemeClr val="dk1"/>
              </a:solidFill>
              <a:latin typeface="Calibri"/>
              <a:ea typeface="Calibri"/>
              <a:cs typeface="Calibri"/>
              <a:sym typeface="Calibri"/>
            </a:endParaRPr>
          </a:p>
        </p:txBody>
      </p:sp>
      <p:sp>
        <p:nvSpPr>
          <p:cNvPr id="2143" name="Google Shape;2143;p51"/>
          <p:cNvSpPr/>
          <p:nvPr/>
        </p:nvSpPr>
        <p:spPr>
          <a:xfrm>
            <a:off x="5989320" y="3857625"/>
            <a:ext cx="5379415" cy="365760"/>
          </a:xfrm>
          <a:prstGeom prst="roundRect">
            <a:avLst>
              <a:gd fmla="val 25000"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2144" name="Google Shape;2144;p51"/>
          <p:cNvPicPr preferRelativeResize="0"/>
          <p:nvPr/>
        </p:nvPicPr>
        <p:blipFill rotWithShape="1">
          <a:blip r:embed="rId8">
            <a:alphaModFix/>
          </a:blip>
          <a:srcRect b="0" l="0" r="0" t="0"/>
          <a:stretch/>
        </p:blipFill>
        <p:spPr>
          <a:xfrm>
            <a:off x="6117336" y="3921633"/>
            <a:ext cx="237744" cy="237744"/>
          </a:xfrm>
          <a:prstGeom prst="rect">
            <a:avLst/>
          </a:prstGeom>
          <a:noFill/>
          <a:ln>
            <a:noFill/>
          </a:ln>
        </p:spPr>
      </p:pic>
      <p:sp>
        <p:nvSpPr>
          <p:cNvPr id="2145" name="Google Shape;2145;p51"/>
          <p:cNvSpPr txBox="1"/>
          <p:nvPr/>
        </p:nvSpPr>
        <p:spPr>
          <a:xfrm>
            <a:off x="6464808" y="3857625"/>
            <a:ext cx="4830775"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1200"/>
              <a:buFont typeface="Inter"/>
              <a:buNone/>
            </a:pPr>
            <a:r>
              <a:rPr b="1" i="0" lang="en-US" sz="1200" u="none" cap="none" strike="noStrike">
                <a:solidFill>
                  <a:srgbClr val="15803D"/>
                </a:solidFill>
                <a:latin typeface="Inter"/>
                <a:ea typeface="Inter"/>
                <a:cs typeface="Inter"/>
                <a:sym typeface="Inter"/>
              </a:rPr>
              <a:t>Therefore, effective OTB = 64%</a:t>
            </a:r>
            <a:endParaRPr b="0" i="0" sz="1200" u="none" cap="none" strike="noStrike">
              <a:solidFill>
                <a:schemeClr val="dk1"/>
              </a:solidFill>
              <a:latin typeface="Calibri"/>
              <a:ea typeface="Calibri"/>
              <a:cs typeface="Calibri"/>
              <a:sym typeface="Calibri"/>
            </a:endParaRPr>
          </a:p>
        </p:txBody>
      </p:sp>
      <p:sp>
        <p:nvSpPr>
          <p:cNvPr id="2146" name="Google Shape;2146;p51"/>
          <p:cNvSpPr txBox="1"/>
          <p:nvPr/>
        </p:nvSpPr>
        <p:spPr>
          <a:xfrm>
            <a:off x="5989320" y="4333113"/>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OCTOBER, BEFORE AND AFTER EXPECTED CANCELLATIONS</a:t>
            </a:r>
            <a:endParaRPr b="0" i="0" sz="900" u="none" cap="none" strike="noStrike">
              <a:solidFill>
                <a:schemeClr val="dk1"/>
              </a:solidFill>
              <a:latin typeface="Calibri"/>
              <a:ea typeface="Calibri"/>
              <a:cs typeface="Calibri"/>
              <a:sym typeface="Calibri"/>
            </a:endParaRPr>
          </a:p>
        </p:txBody>
      </p:sp>
      <p:sp>
        <p:nvSpPr>
          <p:cNvPr id="2147" name="Google Shape;2147;p51"/>
          <p:cNvSpPr txBox="1"/>
          <p:nvPr/>
        </p:nvSpPr>
        <p:spPr>
          <a:xfrm>
            <a:off x="5989320" y="4607433"/>
            <a:ext cx="2103120" cy="421005"/>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On the books (OTB)</a:t>
            </a:r>
            <a:endParaRPr b="0" i="0" sz="1050" u="none" cap="none" strike="noStrike">
              <a:solidFill>
                <a:schemeClr val="dk1"/>
              </a:solidFill>
              <a:latin typeface="Calibri"/>
              <a:ea typeface="Calibri"/>
              <a:cs typeface="Calibri"/>
              <a:sym typeface="Calibri"/>
            </a:endParaRPr>
          </a:p>
        </p:txBody>
      </p:sp>
      <p:sp>
        <p:nvSpPr>
          <p:cNvPr id="2148" name="Google Shape;2148;p51"/>
          <p:cNvSpPr/>
          <p:nvPr/>
        </p:nvSpPr>
        <p:spPr>
          <a:xfrm>
            <a:off x="8183880" y="4683214"/>
            <a:ext cx="1743212" cy="269443"/>
          </a:xfrm>
          <a:prstGeom prst="roundRect">
            <a:avLst>
              <a:gd fmla="val 1696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51"/>
          <p:cNvSpPr txBox="1"/>
          <p:nvPr/>
        </p:nvSpPr>
        <p:spPr>
          <a:xfrm>
            <a:off x="10018532" y="4607433"/>
            <a:ext cx="1005840" cy="421005"/>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80%</a:t>
            </a:r>
            <a:endParaRPr b="0" i="0" sz="1000" u="none" cap="none" strike="noStrike">
              <a:solidFill>
                <a:schemeClr val="dk1"/>
              </a:solidFill>
              <a:latin typeface="Calibri"/>
              <a:ea typeface="Calibri"/>
              <a:cs typeface="Calibri"/>
              <a:sym typeface="Calibri"/>
            </a:endParaRPr>
          </a:p>
        </p:txBody>
      </p:sp>
      <p:sp>
        <p:nvSpPr>
          <p:cNvPr id="2150" name="Google Shape;2150;p51"/>
          <p:cNvSpPr txBox="1"/>
          <p:nvPr/>
        </p:nvSpPr>
        <p:spPr>
          <a:xfrm>
            <a:off x="5989320" y="5083302"/>
            <a:ext cx="2103120" cy="421005"/>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To cancel: 20% of 80%</a:t>
            </a:r>
            <a:endParaRPr b="0" i="0" sz="1050" u="none" cap="none" strike="noStrike">
              <a:solidFill>
                <a:schemeClr val="dk1"/>
              </a:solidFill>
              <a:latin typeface="Calibri"/>
              <a:ea typeface="Calibri"/>
              <a:cs typeface="Calibri"/>
              <a:sym typeface="Calibri"/>
            </a:endParaRPr>
          </a:p>
        </p:txBody>
      </p:sp>
      <p:sp>
        <p:nvSpPr>
          <p:cNvPr id="2151" name="Google Shape;2151;p51"/>
          <p:cNvSpPr/>
          <p:nvPr/>
        </p:nvSpPr>
        <p:spPr>
          <a:xfrm>
            <a:off x="8183880" y="5159083"/>
            <a:ext cx="348642" cy="269443"/>
          </a:xfrm>
          <a:prstGeom prst="roundRect">
            <a:avLst>
              <a:gd fmla="val 16968" name="adj"/>
            </a:avLst>
          </a:prstGeom>
          <a:solidFill>
            <a:srgbClr val="FEF2F2"/>
          </a:solidFill>
          <a:ln cap="flat" cmpd="sng" w="12700">
            <a:solidFill>
              <a:srgbClr val="F3C4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51"/>
          <p:cNvSpPr txBox="1"/>
          <p:nvPr/>
        </p:nvSpPr>
        <p:spPr>
          <a:xfrm>
            <a:off x="8623962" y="5083302"/>
            <a:ext cx="1005840" cy="421005"/>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− 16%</a:t>
            </a:r>
            <a:endParaRPr b="0" i="0" sz="1000" u="none" cap="none" strike="noStrike">
              <a:solidFill>
                <a:schemeClr val="dk1"/>
              </a:solidFill>
              <a:latin typeface="Calibri"/>
              <a:ea typeface="Calibri"/>
              <a:cs typeface="Calibri"/>
              <a:sym typeface="Calibri"/>
            </a:endParaRPr>
          </a:p>
        </p:txBody>
      </p:sp>
      <p:sp>
        <p:nvSpPr>
          <p:cNvPr id="2153" name="Google Shape;2153;p51"/>
          <p:cNvSpPr txBox="1"/>
          <p:nvPr/>
        </p:nvSpPr>
        <p:spPr>
          <a:xfrm>
            <a:off x="5989320" y="5559171"/>
            <a:ext cx="2103120" cy="421005"/>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171717"/>
              </a:buClr>
              <a:buSzPts val="1050"/>
              <a:buFont typeface="Inter"/>
              <a:buNone/>
            </a:pPr>
            <a:r>
              <a:rPr b="1" i="0" lang="en-US" sz="1050" u="none" cap="none" strike="noStrike">
                <a:solidFill>
                  <a:srgbClr val="171717"/>
                </a:solidFill>
                <a:latin typeface="Inter"/>
                <a:ea typeface="Inter"/>
                <a:cs typeface="Inter"/>
                <a:sym typeface="Inter"/>
              </a:rPr>
              <a:t>Effective OTB</a:t>
            </a:r>
            <a:endParaRPr b="0" i="0" sz="1050" u="none" cap="none" strike="noStrike">
              <a:solidFill>
                <a:schemeClr val="dk1"/>
              </a:solidFill>
              <a:latin typeface="Calibri"/>
              <a:ea typeface="Calibri"/>
              <a:cs typeface="Calibri"/>
              <a:sym typeface="Calibri"/>
            </a:endParaRPr>
          </a:p>
        </p:txBody>
      </p:sp>
      <p:sp>
        <p:nvSpPr>
          <p:cNvPr id="2154" name="Google Shape;2154;p51"/>
          <p:cNvSpPr/>
          <p:nvPr/>
        </p:nvSpPr>
        <p:spPr>
          <a:xfrm>
            <a:off x="8183880" y="5634952"/>
            <a:ext cx="1394570" cy="269443"/>
          </a:xfrm>
          <a:prstGeom prst="roundRect">
            <a:avLst>
              <a:gd fmla="val 16968" name="adj"/>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51"/>
          <p:cNvSpPr txBox="1"/>
          <p:nvPr/>
        </p:nvSpPr>
        <p:spPr>
          <a:xfrm>
            <a:off x="9669890" y="5559171"/>
            <a:ext cx="1005840" cy="421005"/>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000"/>
              <a:buFont typeface="Roboto Mono"/>
              <a:buNone/>
            </a:pPr>
            <a:r>
              <a:rPr b="1" i="0" lang="en-US" sz="1000" u="none" cap="none" strike="noStrike">
                <a:solidFill>
                  <a:srgbClr val="171717"/>
                </a:solidFill>
                <a:latin typeface="Roboto Mono"/>
                <a:ea typeface="Roboto Mono"/>
                <a:cs typeface="Roboto Mono"/>
                <a:sym typeface="Roboto Mono"/>
              </a:rPr>
              <a:t>64%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160" name="Shape 2160"/>
        <p:cNvGrpSpPr/>
        <p:nvPr/>
      </p:nvGrpSpPr>
      <p:grpSpPr>
        <a:xfrm>
          <a:off x="0" y="0"/>
          <a:ext cx="0" cy="0"/>
          <a:chOff x="0" y="0"/>
          <a:chExt cx="0" cy="0"/>
        </a:xfrm>
      </p:grpSpPr>
      <p:sp>
        <p:nvSpPr>
          <p:cNvPr id="2161" name="Google Shape;2161;p5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BLOCK 3 · WHEN GUESTS BOOK</a:t>
            </a:r>
            <a:endParaRPr b="0" i="0" sz="1050" u="none" cap="none" strike="noStrike">
              <a:solidFill>
                <a:schemeClr val="dk1"/>
              </a:solidFill>
              <a:latin typeface="Calibri"/>
              <a:ea typeface="Calibri"/>
              <a:cs typeface="Calibri"/>
              <a:sym typeface="Calibri"/>
            </a:endParaRPr>
          </a:p>
        </p:txBody>
      </p:sp>
      <p:pic>
        <p:nvPicPr>
          <p:cNvPr descr="/home/claude/work/renderer/brand/wordmark.png" id="2162" name="Google Shape;2162;p5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163" name="Google Shape;2163;p5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50 / 65</a:t>
            </a:r>
            <a:endParaRPr b="0" i="0" sz="900" u="none" cap="none" strike="noStrike">
              <a:solidFill>
                <a:schemeClr val="dk1"/>
              </a:solidFill>
              <a:latin typeface="Calibri"/>
              <a:ea typeface="Calibri"/>
              <a:cs typeface="Calibri"/>
              <a:sym typeface="Calibri"/>
            </a:endParaRPr>
          </a:p>
        </p:txBody>
      </p:sp>
      <p:sp>
        <p:nvSpPr>
          <p:cNvPr id="2164" name="Google Shape;2164;p5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Transient vs group</a:t>
            </a:r>
            <a:r>
              <a:rPr b="0" i="0" lang="en-US" sz="1700" u="none" cap="none" strike="noStrike">
                <a:solidFill>
                  <a:srgbClr val="004FAA"/>
                </a:solidFill>
                <a:latin typeface="Inter"/>
                <a:ea typeface="Inter"/>
                <a:cs typeface="Inter"/>
                <a:sym typeface="Inter"/>
              </a:rPr>
              <a:t>  individual guests versus contracted blocks</a:t>
            </a:r>
            <a:endParaRPr b="0" i="0" sz="3000" u="none" cap="none" strike="noStrike">
              <a:solidFill>
                <a:schemeClr val="dk1"/>
              </a:solidFill>
              <a:latin typeface="Calibri"/>
              <a:ea typeface="Calibri"/>
              <a:cs typeface="Calibri"/>
              <a:sym typeface="Calibri"/>
            </a:endParaRPr>
          </a:p>
        </p:txBody>
      </p:sp>
      <p:sp>
        <p:nvSpPr>
          <p:cNvPr id="2165" name="Google Shape;2165;p52"/>
          <p:cNvSpPr/>
          <p:nvPr/>
        </p:nvSpPr>
        <p:spPr>
          <a:xfrm>
            <a:off x="5715000" y="1783080"/>
            <a:ext cx="5928055" cy="3170301"/>
          </a:xfrm>
          <a:prstGeom prst="roundRect">
            <a:avLst>
              <a:gd fmla="val 34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52"/>
          <p:cNvSpPr/>
          <p:nvPr/>
        </p:nvSpPr>
        <p:spPr>
          <a:xfrm>
            <a:off x="548640" y="178308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167" name="Google Shape;2167;p52"/>
          <p:cNvPicPr preferRelativeResize="0"/>
          <p:nvPr/>
        </p:nvPicPr>
        <p:blipFill rotWithShape="1">
          <a:blip r:embed="rId4">
            <a:alphaModFix/>
          </a:blip>
          <a:srcRect b="0" l="0" r="0" t="0"/>
          <a:stretch/>
        </p:blipFill>
        <p:spPr>
          <a:xfrm>
            <a:off x="641177" y="1875617"/>
            <a:ext cx="235549" cy="235549"/>
          </a:xfrm>
          <a:prstGeom prst="rect">
            <a:avLst/>
          </a:prstGeom>
          <a:noFill/>
          <a:ln>
            <a:noFill/>
          </a:ln>
        </p:spPr>
      </p:pic>
      <p:sp>
        <p:nvSpPr>
          <p:cNvPr id="2168" name="Google Shape;2168;p52"/>
          <p:cNvSpPr txBox="1"/>
          <p:nvPr/>
        </p:nvSpPr>
        <p:spPr>
          <a:xfrm>
            <a:off x="1170432" y="1764792"/>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Dictionary</a:t>
            </a:r>
            <a:endParaRPr b="0" i="0" sz="1450" u="none" cap="none" strike="noStrike">
              <a:solidFill>
                <a:schemeClr val="dk1"/>
              </a:solidFill>
              <a:latin typeface="Calibri"/>
              <a:ea typeface="Calibri"/>
              <a:cs typeface="Calibri"/>
              <a:sym typeface="Calibri"/>
            </a:endParaRPr>
          </a:p>
        </p:txBody>
      </p:sp>
      <p:sp>
        <p:nvSpPr>
          <p:cNvPr id="2169" name="Google Shape;2169;p52"/>
          <p:cNvSpPr txBox="1"/>
          <p:nvPr/>
        </p:nvSpPr>
        <p:spPr>
          <a:xfrm>
            <a:off x="1170432" y="2075688"/>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Individual bookings versus contracted blocks — two different businesses inside one property.</a:t>
            </a:r>
            <a:endParaRPr b="0" i="0" sz="1150" u="none" cap="none" strike="noStrike">
              <a:solidFill>
                <a:schemeClr val="dk1"/>
              </a:solidFill>
              <a:latin typeface="Calibri"/>
              <a:ea typeface="Calibri"/>
              <a:cs typeface="Calibri"/>
              <a:sym typeface="Calibri"/>
            </a:endParaRPr>
          </a:p>
        </p:txBody>
      </p:sp>
      <p:sp>
        <p:nvSpPr>
          <p:cNvPr id="2170" name="Google Shape;2170;p52"/>
          <p:cNvSpPr/>
          <p:nvPr/>
        </p:nvSpPr>
        <p:spPr>
          <a:xfrm>
            <a:off x="548640" y="2899791"/>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heart.png" id="2171" name="Google Shape;2171;p52"/>
          <p:cNvPicPr preferRelativeResize="0"/>
          <p:nvPr/>
        </p:nvPicPr>
        <p:blipFill rotWithShape="1">
          <a:blip r:embed="rId5">
            <a:alphaModFix/>
          </a:blip>
          <a:srcRect b="0" l="0" r="0" t="0"/>
          <a:stretch/>
        </p:blipFill>
        <p:spPr>
          <a:xfrm>
            <a:off x="641177" y="2992328"/>
            <a:ext cx="235549" cy="235549"/>
          </a:xfrm>
          <a:prstGeom prst="rect">
            <a:avLst/>
          </a:prstGeom>
          <a:noFill/>
          <a:ln>
            <a:noFill/>
          </a:ln>
        </p:spPr>
      </p:pic>
      <p:sp>
        <p:nvSpPr>
          <p:cNvPr id="2172" name="Google Shape;2172;p52"/>
          <p:cNvSpPr txBox="1"/>
          <p:nvPr/>
        </p:nvSpPr>
        <p:spPr>
          <a:xfrm>
            <a:off x="1170432" y="2881503"/>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Why the owner cares</a:t>
            </a:r>
            <a:endParaRPr b="0" i="0" sz="1450" u="none" cap="none" strike="noStrike">
              <a:solidFill>
                <a:schemeClr val="dk1"/>
              </a:solidFill>
              <a:latin typeface="Calibri"/>
              <a:ea typeface="Calibri"/>
              <a:cs typeface="Calibri"/>
              <a:sym typeface="Calibri"/>
            </a:endParaRPr>
          </a:p>
        </p:txBody>
      </p:sp>
      <p:sp>
        <p:nvSpPr>
          <p:cNvPr id="2173" name="Google Shape;2173;p52"/>
          <p:cNvSpPr txBox="1"/>
          <p:nvPr/>
        </p:nvSpPr>
        <p:spPr>
          <a:xfrm>
            <a:off x="1170432" y="3192399"/>
            <a:ext cx="4270248" cy="1095566"/>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A wedding planner wanting every suite at 15% off looks like a sure thing. The question is what the block pushes out: on a Saturday that sells out anyway it replaces full-rate individual guests; on a soft date it can be pure gain.</a:t>
            </a:r>
            <a:endParaRPr b="0" i="0" sz="1150" u="none" cap="none" strike="noStrike">
              <a:solidFill>
                <a:schemeClr val="dk1"/>
              </a:solidFill>
              <a:latin typeface="Calibri"/>
              <a:ea typeface="Calibri"/>
              <a:cs typeface="Calibri"/>
              <a:sym typeface="Calibri"/>
            </a:endParaRPr>
          </a:p>
        </p:txBody>
      </p:sp>
      <p:sp>
        <p:nvSpPr>
          <p:cNvPr id="2174" name="Google Shape;2174;p52"/>
          <p:cNvSpPr/>
          <p:nvPr/>
        </p:nvSpPr>
        <p:spPr>
          <a:xfrm>
            <a:off x="548640" y="4608005"/>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square.png" id="2175" name="Google Shape;2175;p52"/>
          <p:cNvPicPr preferRelativeResize="0"/>
          <p:nvPr/>
        </p:nvPicPr>
        <p:blipFill rotWithShape="1">
          <a:blip r:embed="rId6">
            <a:alphaModFix/>
          </a:blip>
          <a:srcRect b="0" l="0" r="0" t="0"/>
          <a:stretch/>
        </p:blipFill>
        <p:spPr>
          <a:xfrm>
            <a:off x="641177" y="4700542"/>
            <a:ext cx="235549" cy="235549"/>
          </a:xfrm>
          <a:prstGeom prst="rect">
            <a:avLst/>
          </a:prstGeom>
          <a:noFill/>
          <a:ln>
            <a:noFill/>
          </a:ln>
        </p:spPr>
      </p:pic>
      <p:sp>
        <p:nvSpPr>
          <p:cNvPr id="2176" name="Google Shape;2176;p52"/>
          <p:cNvSpPr txBox="1"/>
          <p:nvPr/>
        </p:nvSpPr>
        <p:spPr>
          <a:xfrm>
            <a:off x="1170432" y="4589717"/>
            <a:ext cx="4270248" cy="274320"/>
          </a:xfrm>
          <a:prstGeom prst="rect">
            <a:avLst/>
          </a:prstGeom>
          <a:noFill/>
          <a:ln>
            <a:noFill/>
          </a:ln>
        </p:spPr>
        <p:txBody>
          <a:bodyPr anchorCtr="0" anchor="ctr"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Contextual usage</a:t>
            </a:r>
            <a:endParaRPr b="0" i="0" sz="1450" u="none" cap="none" strike="noStrike">
              <a:solidFill>
                <a:schemeClr val="dk1"/>
              </a:solidFill>
              <a:latin typeface="Calibri"/>
              <a:ea typeface="Calibri"/>
              <a:cs typeface="Calibri"/>
              <a:sym typeface="Calibri"/>
            </a:endParaRPr>
          </a:p>
        </p:txBody>
      </p:sp>
      <p:sp>
        <p:nvSpPr>
          <p:cNvPr id="2177" name="Google Shape;2177;p52"/>
          <p:cNvSpPr txBox="1"/>
          <p:nvPr/>
        </p:nvSpPr>
        <p:spPr>
          <a:xfrm>
            <a:off x="1170432" y="4900613"/>
            <a:ext cx="4270248" cy="504063"/>
          </a:xfrm>
          <a:prstGeom prst="rect">
            <a:avLst/>
          </a:prstGeom>
          <a:noFill/>
          <a:ln>
            <a:noFill/>
          </a:ln>
        </p:spPr>
        <p:txBody>
          <a:bodyPr anchorCtr="0" anchor="t"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Is most of your business transient or group? The two need very different marketing.</a:t>
            </a:r>
            <a:endParaRPr b="0" i="0" sz="1150" u="none" cap="none" strike="noStrike">
              <a:solidFill>
                <a:schemeClr val="dk1"/>
              </a:solidFill>
              <a:latin typeface="Calibri"/>
              <a:ea typeface="Calibri"/>
              <a:cs typeface="Calibri"/>
              <a:sym typeface="Calibri"/>
            </a:endParaRPr>
          </a:p>
        </p:txBody>
      </p:sp>
      <p:sp>
        <p:nvSpPr>
          <p:cNvPr id="2178" name="Google Shape;2178;p52"/>
          <p:cNvSpPr txBox="1"/>
          <p:nvPr/>
        </p:nvSpPr>
        <p:spPr>
          <a:xfrm>
            <a:off x="5989320" y="1984248"/>
            <a:ext cx="5379415"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4FAA"/>
              </a:buClr>
              <a:buSzPts val="900"/>
              <a:buFont typeface="Roboto Mono"/>
              <a:buNone/>
            </a:pPr>
            <a:r>
              <a:rPr b="0" i="0" lang="en-US" sz="900" u="none" cap="none" strike="noStrike">
                <a:solidFill>
                  <a:srgbClr val="004FAA"/>
                </a:solidFill>
                <a:latin typeface="Roboto Mono"/>
                <a:ea typeface="Roboto Mono"/>
                <a:cs typeface="Roboto Mono"/>
                <a:sym typeface="Roboto Mono"/>
              </a:rPr>
              <a:t>TWO BUSINESSES INSIDE ONE PROPERTY</a:t>
            </a:r>
            <a:endParaRPr b="0" i="0" sz="900" u="none" cap="none" strike="noStrike">
              <a:solidFill>
                <a:schemeClr val="dk1"/>
              </a:solidFill>
              <a:latin typeface="Calibri"/>
              <a:ea typeface="Calibri"/>
              <a:cs typeface="Calibri"/>
              <a:sym typeface="Calibri"/>
            </a:endParaRPr>
          </a:p>
        </p:txBody>
      </p:sp>
      <p:sp>
        <p:nvSpPr>
          <p:cNvPr id="2179" name="Google Shape;2179;p52"/>
          <p:cNvSpPr/>
          <p:nvPr/>
        </p:nvSpPr>
        <p:spPr>
          <a:xfrm>
            <a:off x="5989320" y="2258568"/>
            <a:ext cx="2598268" cy="2420493"/>
          </a:xfrm>
          <a:prstGeom prst="roundRect">
            <a:avLst>
              <a:gd fmla="val 3778"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user.png" id="2180" name="Google Shape;2180;p52"/>
          <p:cNvPicPr preferRelativeResize="0"/>
          <p:nvPr/>
        </p:nvPicPr>
        <p:blipFill rotWithShape="1">
          <a:blip r:embed="rId7">
            <a:alphaModFix/>
          </a:blip>
          <a:srcRect b="0" l="0" r="0" t="0"/>
          <a:stretch/>
        </p:blipFill>
        <p:spPr>
          <a:xfrm>
            <a:off x="6208776" y="2459736"/>
            <a:ext cx="310896" cy="310896"/>
          </a:xfrm>
          <a:prstGeom prst="rect">
            <a:avLst/>
          </a:prstGeom>
          <a:noFill/>
          <a:ln>
            <a:noFill/>
          </a:ln>
        </p:spPr>
      </p:pic>
      <p:sp>
        <p:nvSpPr>
          <p:cNvPr id="2181" name="Google Shape;2181;p52"/>
          <p:cNvSpPr txBox="1"/>
          <p:nvPr/>
        </p:nvSpPr>
        <p:spPr>
          <a:xfrm>
            <a:off x="6629400"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004FAA"/>
              </a:buClr>
              <a:buSzPts val="1250"/>
              <a:buFont typeface="Inter"/>
              <a:buNone/>
            </a:pPr>
            <a:r>
              <a:rPr b="1" i="0" lang="en-US" sz="1250" u="none" cap="none" strike="noStrike">
                <a:solidFill>
                  <a:srgbClr val="004FAA"/>
                </a:solidFill>
                <a:latin typeface="Inter"/>
                <a:ea typeface="Inter"/>
                <a:cs typeface="Inter"/>
                <a:sym typeface="Inter"/>
              </a:rPr>
              <a:t>Transient</a:t>
            </a:r>
            <a:endParaRPr b="0" i="0" sz="1250" u="none" cap="none" strike="noStrike">
              <a:solidFill>
                <a:schemeClr val="dk1"/>
              </a:solidFill>
              <a:latin typeface="Calibri"/>
              <a:ea typeface="Calibri"/>
              <a:cs typeface="Calibri"/>
              <a:sym typeface="Calibri"/>
            </a:endParaRPr>
          </a:p>
        </p:txBody>
      </p:sp>
      <p:sp>
        <p:nvSpPr>
          <p:cNvPr id="2182" name="Google Shape;2182;p52"/>
          <p:cNvSpPr txBox="1"/>
          <p:nvPr/>
        </p:nvSpPr>
        <p:spPr>
          <a:xfrm>
            <a:off x="6208776" y="2916936"/>
            <a:ext cx="2159356" cy="1369314"/>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Individual guests booking on their own.</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Book one room at a time, at the public rate.</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404040"/>
              </a:buClr>
              <a:buSzPts val="1050"/>
              <a:buFont typeface="Inter"/>
              <a:buChar char="•"/>
            </a:pPr>
            <a:r>
              <a:rPr b="0" i="0" lang="en-US" sz="1050" u="none" cap="none" strike="noStrike">
                <a:solidFill>
                  <a:srgbClr val="404040"/>
                </a:solidFill>
                <a:latin typeface="Inter"/>
                <a:ea typeface="Inter"/>
                <a:cs typeface="Inter"/>
                <a:sym typeface="Inter"/>
              </a:rPr>
              <a:t>Marketing finds them one by one.</a:t>
            </a:r>
            <a:endParaRPr b="0" i="0" sz="1050" u="none" cap="none" strike="noStrike">
              <a:solidFill>
                <a:schemeClr val="dk1"/>
              </a:solidFill>
              <a:latin typeface="Calibri"/>
              <a:ea typeface="Calibri"/>
              <a:cs typeface="Calibri"/>
              <a:sym typeface="Calibri"/>
            </a:endParaRPr>
          </a:p>
        </p:txBody>
      </p:sp>
      <p:sp>
        <p:nvSpPr>
          <p:cNvPr id="2183" name="Google Shape;2183;p52"/>
          <p:cNvSpPr/>
          <p:nvPr/>
        </p:nvSpPr>
        <p:spPr>
          <a:xfrm>
            <a:off x="8770468" y="2258568"/>
            <a:ext cx="2598268" cy="2420493"/>
          </a:xfrm>
          <a:prstGeom prst="roundRect">
            <a:avLst>
              <a:gd fmla="val 3778" name="adj"/>
            </a:avLst>
          </a:prstGeom>
          <a:solidFill>
            <a:srgbClr val="0066DE"/>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users-white.png" id="2184" name="Google Shape;2184;p52"/>
          <p:cNvPicPr preferRelativeResize="0"/>
          <p:nvPr/>
        </p:nvPicPr>
        <p:blipFill rotWithShape="1">
          <a:blip r:embed="rId8">
            <a:alphaModFix/>
          </a:blip>
          <a:srcRect b="0" l="0" r="0" t="0"/>
          <a:stretch/>
        </p:blipFill>
        <p:spPr>
          <a:xfrm>
            <a:off x="8989924" y="2459736"/>
            <a:ext cx="310896" cy="310896"/>
          </a:xfrm>
          <a:prstGeom prst="rect">
            <a:avLst/>
          </a:prstGeom>
          <a:noFill/>
          <a:ln>
            <a:noFill/>
          </a:ln>
        </p:spPr>
      </p:pic>
      <p:sp>
        <p:nvSpPr>
          <p:cNvPr id="2185" name="Google Shape;2185;p52"/>
          <p:cNvSpPr txBox="1"/>
          <p:nvPr/>
        </p:nvSpPr>
        <p:spPr>
          <a:xfrm>
            <a:off x="9410548" y="2459736"/>
            <a:ext cx="1729588" cy="310896"/>
          </a:xfrm>
          <a:prstGeom prst="rect">
            <a:avLst/>
          </a:prstGeom>
          <a:noFill/>
          <a:ln>
            <a:noFill/>
          </a:ln>
        </p:spPr>
        <p:txBody>
          <a:bodyPr anchorCtr="0" anchor="ctr" bIns="0" lIns="0" spcFirstLastPara="1" rIns="0" wrap="square" tIns="0">
            <a:noAutofit/>
          </a:bodyPr>
          <a:lstStyle/>
          <a:p>
            <a:pPr indent="0" lvl="0" marL="0" marR="0" rtl="0" algn="l">
              <a:lnSpc>
                <a:spcPct val="135040"/>
              </a:lnSpc>
              <a:spcBef>
                <a:spcPts val="0"/>
              </a:spcBef>
              <a:spcAft>
                <a:spcPts val="0"/>
              </a:spcAft>
              <a:buClr>
                <a:srgbClr val="FFFFFF"/>
              </a:buClr>
              <a:buSzPts val="1250"/>
              <a:buFont typeface="Inter"/>
              <a:buNone/>
            </a:pPr>
            <a:r>
              <a:rPr b="1" i="0" lang="en-US" sz="1250" u="none" cap="none" strike="noStrike">
                <a:solidFill>
                  <a:srgbClr val="FFFFFF"/>
                </a:solidFill>
                <a:latin typeface="Inter"/>
                <a:ea typeface="Inter"/>
                <a:cs typeface="Inter"/>
                <a:sym typeface="Inter"/>
              </a:rPr>
              <a:t>Group</a:t>
            </a:r>
            <a:endParaRPr b="0" i="0" sz="1250" u="none" cap="none" strike="noStrike">
              <a:solidFill>
                <a:schemeClr val="dk1"/>
              </a:solidFill>
              <a:latin typeface="Calibri"/>
              <a:ea typeface="Calibri"/>
              <a:cs typeface="Calibri"/>
              <a:sym typeface="Calibri"/>
            </a:endParaRPr>
          </a:p>
        </p:txBody>
      </p:sp>
      <p:sp>
        <p:nvSpPr>
          <p:cNvPr id="2186" name="Google Shape;2186;p52"/>
          <p:cNvSpPr txBox="1"/>
          <p:nvPr/>
        </p:nvSpPr>
        <p:spPr>
          <a:xfrm>
            <a:off x="8989924" y="2916936"/>
            <a:ext cx="2159356" cy="1542669"/>
          </a:xfrm>
          <a:prstGeom prst="rect">
            <a:avLst/>
          </a:prstGeom>
          <a:noFill/>
          <a:ln>
            <a:noFill/>
          </a:ln>
        </p:spPr>
        <p:txBody>
          <a:bodyPr anchorCtr="0" anchor="t" bIns="0" lIns="0" spcFirstLastPara="1" rIns="0" wrap="square" tIns="0">
            <a:noAutofit/>
          </a:bodyPr>
          <a:lstStyle/>
          <a:p>
            <a:pPr indent="-152400" lvl="0" marL="152400" marR="0" rtl="0" algn="l">
              <a:lnSpc>
                <a:spcPct val="130000"/>
              </a:lnSpc>
              <a:spcBef>
                <a:spcPts val="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A contracted block: a wedding, a retreat, a tour.</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Many rooms in one booking, usually at a negotiated rate.</a:t>
            </a:r>
            <a:endParaRPr b="0" i="0" sz="1050" u="none" cap="none" strike="noStrike">
              <a:solidFill>
                <a:schemeClr val="dk1"/>
              </a:solidFill>
              <a:latin typeface="Calibri"/>
              <a:ea typeface="Calibri"/>
              <a:cs typeface="Calibri"/>
              <a:sym typeface="Calibri"/>
            </a:endParaRPr>
          </a:p>
          <a:p>
            <a:pPr indent="-152400" lvl="0" marL="152400" marR="0" rtl="0" algn="l">
              <a:lnSpc>
                <a:spcPct val="130000"/>
              </a:lnSpc>
              <a:spcBef>
                <a:spcPts val="500"/>
              </a:spcBef>
              <a:spcAft>
                <a:spcPts val="0"/>
              </a:spcAft>
              <a:buClr>
                <a:srgbClr val="FFFFFF"/>
              </a:buClr>
              <a:buSzPts val="1050"/>
              <a:buFont typeface="Inter"/>
              <a:buChar char="•"/>
            </a:pPr>
            <a:r>
              <a:rPr b="0" i="0" lang="en-US" sz="1050" u="none" cap="none" strike="noStrike">
                <a:solidFill>
                  <a:srgbClr val="FFFFFF"/>
                </a:solidFill>
                <a:latin typeface="Inter"/>
                <a:ea typeface="Inter"/>
                <a:cs typeface="Inter"/>
                <a:sym typeface="Inter"/>
              </a:rPr>
              <a:t>Ask what the block pushes out.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4"/>
        </a:solidFill>
      </p:bgPr>
    </p:bg>
    <p:spTree>
      <p:nvGrpSpPr>
        <p:cNvPr id="2191" name="Shape 2191"/>
        <p:cNvGrpSpPr/>
        <p:nvPr/>
      </p:nvGrpSpPr>
      <p:grpSpPr>
        <a:xfrm>
          <a:off x="0" y="0"/>
          <a:ext cx="0" cy="0"/>
          <a:chOff x="0" y="0"/>
          <a:chExt cx="0" cy="0"/>
        </a:xfrm>
      </p:grpSpPr>
      <p:sp>
        <p:nvSpPr>
          <p:cNvPr id="2192" name="Google Shape;2192;p53"/>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PRACTICE · AFTER BLOCK 3</a:t>
            </a:r>
            <a:endParaRPr b="0" i="0" sz="1050" u="none" cap="none" strike="noStrike">
              <a:solidFill>
                <a:schemeClr val="dk1"/>
              </a:solidFill>
              <a:latin typeface="Calibri"/>
              <a:ea typeface="Calibri"/>
              <a:cs typeface="Calibri"/>
              <a:sym typeface="Calibri"/>
            </a:endParaRPr>
          </a:p>
        </p:txBody>
      </p:sp>
      <p:sp>
        <p:nvSpPr>
          <p:cNvPr id="2193" name="Google Shape;2193;p53"/>
          <p:cNvSpPr txBox="1"/>
          <p:nvPr/>
        </p:nvSpPr>
        <p:spPr>
          <a:xfrm>
            <a:off x="548640" y="914400"/>
            <a:ext cx="8229600" cy="86868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4000"/>
              <a:buFont typeface="Inter"/>
              <a:buNone/>
            </a:pPr>
            <a:r>
              <a:rPr b="1" i="0" lang="en-US" sz="4000" u="none" cap="none" strike="noStrike">
                <a:solidFill>
                  <a:srgbClr val="FFFFFF"/>
                </a:solidFill>
                <a:latin typeface="Inter"/>
                <a:ea typeface="Inter"/>
                <a:cs typeface="Inter"/>
                <a:sym typeface="Inter"/>
              </a:rPr>
              <a:t>What's it really about?</a:t>
            </a:r>
            <a:endParaRPr b="0" i="0" sz="4000" u="none" cap="none" strike="noStrike">
              <a:solidFill>
                <a:schemeClr val="dk1"/>
              </a:solidFill>
              <a:latin typeface="Calibri"/>
              <a:ea typeface="Calibri"/>
              <a:cs typeface="Calibri"/>
              <a:sym typeface="Calibri"/>
            </a:endParaRPr>
          </a:p>
        </p:txBody>
      </p:sp>
      <p:sp>
        <p:nvSpPr>
          <p:cNvPr id="2194" name="Google Shape;2194;p53"/>
          <p:cNvSpPr/>
          <p:nvPr/>
        </p:nvSpPr>
        <p:spPr>
          <a:xfrm>
            <a:off x="548640" y="24688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envelope-soft.png" id="2195" name="Google Shape;2195;p53"/>
          <p:cNvPicPr preferRelativeResize="0"/>
          <p:nvPr/>
        </p:nvPicPr>
        <p:blipFill rotWithShape="1">
          <a:blip r:embed="rId3">
            <a:alphaModFix/>
          </a:blip>
          <a:srcRect b="0" l="0" r="0" t="0"/>
          <a:stretch/>
        </p:blipFill>
        <p:spPr>
          <a:xfrm>
            <a:off x="841248" y="2697480"/>
            <a:ext cx="292608" cy="292608"/>
          </a:xfrm>
          <a:prstGeom prst="rect">
            <a:avLst/>
          </a:prstGeom>
          <a:noFill/>
          <a:ln>
            <a:noFill/>
          </a:ln>
        </p:spPr>
      </p:pic>
      <p:sp>
        <p:nvSpPr>
          <p:cNvPr id="2196" name="Google Shape;2196;p53"/>
          <p:cNvSpPr txBox="1"/>
          <p:nvPr/>
        </p:nvSpPr>
        <p:spPr>
          <a:xfrm>
            <a:off x="1371600" y="25603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Five things owners ask. Each is really about one term.</a:t>
            </a:r>
            <a:endParaRPr b="0" i="0" sz="1350" u="none" cap="none" strike="noStrike">
              <a:solidFill>
                <a:schemeClr val="dk1"/>
              </a:solidFill>
              <a:latin typeface="Calibri"/>
              <a:ea typeface="Calibri"/>
              <a:cs typeface="Calibri"/>
              <a:sym typeface="Calibri"/>
            </a:endParaRPr>
          </a:p>
        </p:txBody>
      </p:sp>
      <p:sp>
        <p:nvSpPr>
          <p:cNvPr id="2197" name="Google Shape;2197;p53"/>
          <p:cNvSpPr/>
          <p:nvPr/>
        </p:nvSpPr>
        <p:spPr>
          <a:xfrm>
            <a:off x="548640" y="33832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eye-soft.png" id="2198" name="Google Shape;2198;p53"/>
          <p:cNvPicPr preferRelativeResize="0"/>
          <p:nvPr/>
        </p:nvPicPr>
        <p:blipFill rotWithShape="1">
          <a:blip r:embed="rId4">
            <a:alphaModFix/>
          </a:blip>
          <a:srcRect b="0" l="0" r="0" t="0"/>
          <a:stretch/>
        </p:blipFill>
        <p:spPr>
          <a:xfrm>
            <a:off x="841248" y="3611880"/>
            <a:ext cx="292608" cy="292608"/>
          </a:xfrm>
          <a:prstGeom prst="rect">
            <a:avLst/>
          </a:prstGeom>
          <a:noFill/>
          <a:ln>
            <a:noFill/>
          </a:ln>
        </p:spPr>
      </p:pic>
      <p:sp>
        <p:nvSpPr>
          <p:cNvPr id="2199" name="Google Shape;2199;p53"/>
          <p:cNvSpPr txBox="1"/>
          <p:nvPr/>
        </p:nvSpPr>
        <p:spPr>
          <a:xfrm>
            <a:off x="1371600" y="34747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Some options are terms from today, some aren't.</a:t>
            </a:r>
            <a:endParaRPr b="0" i="0" sz="1350" u="none" cap="none" strike="noStrike">
              <a:solidFill>
                <a:schemeClr val="dk1"/>
              </a:solidFill>
              <a:latin typeface="Calibri"/>
              <a:ea typeface="Calibri"/>
              <a:cs typeface="Calibri"/>
              <a:sym typeface="Calibri"/>
            </a:endParaRPr>
          </a:p>
        </p:txBody>
      </p:sp>
      <p:sp>
        <p:nvSpPr>
          <p:cNvPr id="2200" name="Google Shape;2200;p53"/>
          <p:cNvSpPr/>
          <p:nvPr/>
        </p:nvSpPr>
        <p:spPr>
          <a:xfrm>
            <a:off x="548640" y="4297680"/>
            <a:ext cx="8138160" cy="749808"/>
          </a:xfrm>
          <a:prstGeom prst="roundRect">
            <a:avLst>
              <a:gd fmla="val 12195" name="adj"/>
            </a:avLst>
          </a:prstGeom>
          <a:solidFill>
            <a:srgbClr val="002552"/>
          </a:solidFill>
          <a:ln cap="flat" cmpd="sng" w="12700">
            <a:solidFill>
              <a:srgbClr val="11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lt-soft.png" id="2201" name="Google Shape;2201;p53"/>
          <p:cNvPicPr preferRelativeResize="0"/>
          <p:nvPr/>
        </p:nvPicPr>
        <p:blipFill rotWithShape="1">
          <a:blip r:embed="rId5">
            <a:alphaModFix/>
          </a:blip>
          <a:srcRect b="0" l="0" r="0" t="0"/>
          <a:stretch/>
        </p:blipFill>
        <p:spPr>
          <a:xfrm>
            <a:off x="841248" y="4526280"/>
            <a:ext cx="292608" cy="292608"/>
          </a:xfrm>
          <a:prstGeom prst="rect">
            <a:avLst/>
          </a:prstGeom>
          <a:noFill/>
          <a:ln>
            <a:noFill/>
          </a:ln>
        </p:spPr>
      </p:pic>
      <p:sp>
        <p:nvSpPr>
          <p:cNvPr id="2202" name="Google Shape;2202;p53"/>
          <p:cNvSpPr txBox="1"/>
          <p:nvPr/>
        </p:nvSpPr>
        <p:spPr>
          <a:xfrm>
            <a:off x="1371600" y="4389120"/>
            <a:ext cx="7132320" cy="566928"/>
          </a:xfrm>
          <a:prstGeom prst="rect">
            <a:avLst/>
          </a:prstGeom>
          <a:noFill/>
          <a:ln>
            <a:noFill/>
          </a:ln>
        </p:spPr>
        <p:txBody>
          <a:bodyPr anchorCtr="0" anchor="ctr" bIns="0" lIns="0" spcFirstLastPara="1" rIns="0" wrap="square" tIns="0">
            <a:noAutofit/>
          </a:bodyPr>
          <a:lstStyle/>
          <a:p>
            <a:pPr indent="0" lvl="0" marL="0" marR="0" rtl="0" algn="l">
              <a:lnSpc>
                <a:spcPct val="135037"/>
              </a:lnSpc>
              <a:spcBef>
                <a:spcPts val="0"/>
              </a:spcBef>
              <a:spcAft>
                <a:spcPts val="0"/>
              </a:spcAft>
              <a:buClr>
                <a:srgbClr val="FFFFFF"/>
              </a:buClr>
              <a:buSzPts val="1350"/>
              <a:buFont typeface="Inter"/>
              <a:buNone/>
            </a:pPr>
            <a:r>
              <a:rPr b="0" i="0" lang="en-US" sz="1350" u="none" cap="none" strike="noStrike">
                <a:solidFill>
                  <a:srgbClr val="FFFFFF"/>
                </a:solidFill>
                <a:latin typeface="Inter"/>
                <a:ea typeface="Inter"/>
                <a:cs typeface="Inter"/>
                <a:sym typeface="Inter"/>
              </a:rPr>
              <a:t>Hold up the number, one to four.</a:t>
            </a:r>
            <a:endParaRPr b="0" i="0" sz="1350" u="none" cap="none" strike="noStrike">
              <a:solidFill>
                <a:schemeClr val="dk1"/>
              </a:solidFill>
              <a:latin typeface="Calibri"/>
              <a:ea typeface="Calibri"/>
              <a:cs typeface="Calibri"/>
              <a:sym typeface="Calibri"/>
            </a:endParaRPr>
          </a:p>
        </p:txBody>
      </p:sp>
      <p:sp>
        <p:nvSpPr>
          <p:cNvPr id="2203" name="Google Shape;2203;p53"/>
          <p:cNvSpPr txBox="1"/>
          <p:nvPr/>
        </p:nvSpPr>
        <p:spPr>
          <a:xfrm>
            <a:off x="548640" y="62636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The owners, their properties and every number here are made up.</a:t>
            </a:r>
            <a:endParaRPr b="0" i="0" sz="1050" u="none" cap="none" strike="noStrike">
              <a:solidFill>
                <a:schemeClr val="dk1"/>
              </a:solidFill>
              <a:latin typeface="Calibri"/>
              <a:ea typeface="Calibri"/>
              <a:cs typeface="Calibri"/>
              <a:sym typeface="Calibri"/>
            </a:endParaRPr>
          </a:p>
        </p:txBody>
      </p:sp>
      <p:pic>
        <p:nvPicPr>
          <p:cNvPr descr="/home/claude/work/assets/hero-message-question.png" id="2204" name="Google Shape;2204;p53"/>
          <p:cNvPicPr preferRelativeResize="0"/>
          <p:nvPr/>
        </p:nvPicPr>
        <p:blipFill rotWithShape="1">
          <a:blip r:embed="rId6">
            <a:alphaModFix/>
          </a:blip>
          <a:srcRect b="0" l="0" r="0" t="0"/>
          <a:stretch/>
        </p:blipFill>
        <p:spPr>
          <a:xfrm>
            <a:off x="9418320" y="640080"/>
            <a:ext cx="2011680" cy="201168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209" name="Shape 2209"/>
        <p:cNvGrpSpPr/>
        <p:nvPr/>
      </p:nvGrpSpPr>
      <p:grpSpPr>
        <a:xfrm>
          <a:off x="0" y="0"/>
          <a:ext cx="0" cy="0"/>
          <a:chOff x="0" y="0"/>
          <a:chExt cx="0" cy="0"/>
        </a:xfrm>
      </p:grpSpPr>
      <p:sp>
        <p:nvSpPr>
          <p:cNvPr id="2210" name="Google Shape;2210;p5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1 OF 5</a:t>
            </a:r>
            <a:endParaRPr b="0" i="0" sz="1050" u="none" cap="none" strike="noStrike">
              <a:solidFill>
                <a:schemeClr val="dk1"/>
              </a:solidFill>
              <a:latin typeface="Calibri"/>
              <a:ea typeface="Calibri"/>
              <a:cs typeface="Calibri"/>
              <a:sym typeface="Calibri"/>
            </a:endParaRPr>
          </a:p>
        </p:txBody>
      </p:sp>
      <p:sp>
        <p:nvSpPr>
          <p:cNvPr id="2211" name="Google Shape;2211;p5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212" name="Google Shape;2212;p5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213" name="Google Shape;2213;p5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52 / 65</a:t>
            </a:r>
            <a:endParaRPr b="0" i="0" sz="900" u="none" cap="none" strike="noStrike">
              <a:solidFill>
                <a:schemeClr val="dk1"/>
              </a:solidFill>
              <a:latin typeface="Calibri"/>
              <a:ea typeface="Calibri"/>
              <a:cs typeface="Calibri"/>
              <a:sym typeface="Calibri"/>
            </a:endParaRPr>
          </a:p>
        </p:txBody>
      </p:sp>
      <p:sp>
        <p:nvSpPr>
          <p:cNvPr id="2214" name="Google Shape;2214;p54"/>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54"/>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October check</a:t>
            </a:r>
            <a:endParaRPr b="0" i="0" sz="1450" u="none" cap="none" strike="noStrike">
              <a:solidFill>
                <a:schemeClr val="dk1"/>
              </a:solidFill>
              <a:latin typeface="Calibri"/>
              <a:ea typeface="Calibri"/>
              <a:cs typeface="Calibri"/>
              <a:sym typeface="Calibri"/>
            </a:endParaRPr>
          </a:p>
        </p:txBody>
      </p:sp>
      <p:sp>
        <p:nvSpPr>
          <p:cNvPr id="2216" name="Google Shape;2216;p54"/>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54"/>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2218" name="Google Shape;2218;p54"/>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2219" name="Google Shape;2219;p54"/>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220" name="Google Shape;2220;p54"/>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221" name="Google Shape;2221;p54"/>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Are we ahead of or behind where we were this time last year for October?</a:t>
            </a:r>
            <a:endParaRPr b="0" i="0" sz="1100" u="none" cap="none" strike="noStrike">
              <a:solidFill>
                <a:schemeClr val="dk1"/>
              </a:solidFill>
              <a:latin typeface="Calibri"/>
              <a:ea typeface="Calibri"/>
              <a:cs typeface="Calibri"/>
              <a:sym typeface="Calibri"/>
            </a:endParaRPr>
          </a:p>
        </p:txBody>
      </p:sp>
      <p:sp>
        <p:nvSpPr>
          <p:cNvPr id="2222" name="Google Shape;2222;p54"/>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4"/>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224" name="Google Shape;2224;p54"/>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225" name="Google Shape;2225;p54"/>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1 OF 5</a:t>
            </a:r>
            <a:endParaRPr b="0" i="0" sz="950" u="none" cap="none" strike="noStrike">
              <a:solidFill>
                <a:schemeClr val="dk1"/>
              </a:solidFill>
              <a:latin typeface="Calibri"/>
              <a:ea typeface="Calibri"/>
              <a:cs typeface="Calibri"/>
              <a:sym typeface="Calibri"/>
            </a:endParaRPr>
          </a:p>
        </p:txBody>
      </p:sp>
      <p:sp>
        <p:nvSpPr>
          <p:cNvPr id="2226" name="Google Shape;2226;p54"/>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2227" name="Google Shape;2227;p54"/>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4"/>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4"/>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230" name="Google Shape;2230;p54"/>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Pace</a:t>
            </a:r>
            <a:endParaRPr b="0" i="0" sz="1250" u="none" cap="none" strike="noStrike">
              <a:solidFill>
                <a:schemeClr val="dk1"/>
              </a:solidFill>
              <a:latin typeface="Calibri"/>
              <a:ea typeface="Calibri"/>
              <a:cs typeface="Calibri"/>
              <a:sym typeface="Calibri"/>
            </a:endParaRPr>
          </a:p>
        </p:txBody>
      </p:sp>
      <p:sp>
        <p:nvSpPr>
          <p:cNvPr id="2231" name="Google Shape;2231;p54"/>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4"/>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4"/>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234" name="Google Shape;2234;p54"/>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Pickup</a:t>
            </a:r>
            <a:endParaRPr b="0" i="0" sz="1250" u="none" cap="none" strike="noStrike">
              <a:solidFill>
                <a:schemeClr val="dk1"/>
              </a:solidFill>
              <a:latin typeface="Calibri"/>
              <a:ea typeface="Calibri"/>
              <a:cs typeface="Calibri"/>
              <a:sym typeface="Calibri"/>
            </a:endParaRPr>
          </a:p>
        </p:txBody>
      </p:sp>
      <p:sp>
        <p:nvSpPr>
          <p:cNvPr id="2235" name="Google Shape;2235;p54"/>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54"/>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4"/>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238" name="Google Shape;2238;p54"/>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Lead time</a:t>
            </a:r>
            <a:endParaRPr b="0" i="0" sz="1250" u="none" cap="none" strike="noStrike">
              <a:solidFill>
                <a:schemeClr val="dk1"/>
              </a:solidFill>
              <a:latin typeface="Calibri"/>
              <a:ea typeface="Calibri"/>
              <a:cs typeface="Calibri"/>
              <a:sym typeface="Calibri"/>
            </a:endParaRPr>
          </a:p>
        </p:txBody>
      </p:sp>
      <p:sp>
        <p:nvSpPr>
          <p:cNvPr id="2239" name="Google Shape;2239;p54"/>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4"/>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4"/>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242" name="Google Shape;2242;p54"/>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
        <p:nvSpPr>
          <p:cNvPr id="2243" name="Google Shape;2243;p54"/>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248" name="Shape 2248"/>
        <p:cNvGrpSpPr/>
        <p:nvPr/>
      </p:nvGrpSpPr>
      <p:grpSpPr>
        <a:xfrm>
          <a:off x="0" y="0"/>
          <a:ext cx="0" cy="0"/>
          <a:chOff x="0" y="0"/>
          <a:chExt cx="0" cy="0"/>
        </a:xfrm>
      </p:grpSpPr>
      <p:sp>
        <p:nvSpPr>
          <p:cNvPr id="2249" name="Google Shape;2249;p5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1 OF 5</a:t>
            </a:r>
            <a:endParaRPr b="0" i="0" sz="1050" u="none" cap="none" strike="noStrike">
              <a:solidFill>
                <a:schemeClr val="dk1"/>
              </a:solidFill>
              <a:latin typeface="Calibri"/>
              <a:ea typeface="Calibri"/>
              <a:cs typeface="Calibri"/>
              <a:sym typeface="Calibri"/>
            </a:endParaRPr>
          </a:p>
        </p:txBody>
      </p:sp>
      <p:sp>
        <p:nvSpPr>
          <p:cNvPr id="2250" name="Google Shape;2250;p5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251" name="Google Shape;2251;p5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252" name="Google Shape;2252;p5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53 / 65</a:t>
            </a:r>
            <a:endParaRPr b="0" i="0" sz="900" u="none" cap="none" strike="noStrike">
              <a:solidFill>
                <a:schemeClr val="dk1"/>
              </a:solidFill>
              <a:latin typeface="Calibri"/>
              <a:ea typeface="Calibri"/>
              <a:cs typeface="Calibri"/>
              <a:sym typeface="Calibri"/>
            </a:endParaRPr>
          </a:p>
        </p:txBody>
      </p:sp>
      <p:sp>
        <p:nvSpPr>
          <p:cNvPr id="2253" name="Google Shape;2253;p55"/>
          <p:cNvSpPr/>
          <p:nvPr/>
        </p:nvSpPr>
        <p:spPr>
          <a:xfrm>
            <a:off x="548640" y="1481328"/>
            <a:ext cx="7406640" cy="3063494"/>
          </a:xfrm>
          <a:prstGeom prst="roundRect">
            <a:avLst>
              <a:gd fmla="val 3582"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5"/>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October check</a:t>
            </a:r>
            <a:endParaRPr b="0" i="0" sz="1450" u="none" cap="none" strike="noStrike">
              <a:solidFill>
                <a:schemeClr val="dk1"/>
              </a:solidFill>
              <a:latin typeface="Calibri"/>
              <a:ea typeface="Calibri"/>
              <a:cs typeface="Calibri"/>
              <a:sym typeface="Calibri"/>
            </a:endParaRPr>
          </a:p>
        </p:txBody>
      </p:sp>
      <p:sp>
        <p:nvSpPr>
          <p:cNvPr id="2255" name="Google Shape;2255;p55"/>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5"/>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M</a:t>
            </a:r>
            <a:endParaRPr b="0" i="0" sz="1200" u="none" cap="none" strike="noStrike">
              <a:solidFill>
                <a:schemeClr val="dk1"/>
              </a:solidFill>
              <a:latin typeface="Calibri"/>
              <a:ea typeface="Calibri"/>
              <a:cs typeface="Calibri"/>
              <a:sym typeface="Calibri"/>
            </a:endParaRPr>
          </a:p>
        </p:txBody>
      </p:sp>
      <p:sp>
        <p:nvSpPr>
          <p:cNvPr id="2257" name="Google Shape;2257;p55"/>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Marisol  </a:t>
            </a:r>
            <a:r>
              <a:rPr b="0" i="0" lang="en-US" sz="950" u="none" cap="none" strike="noStrike">
                <a:solidFill>
                  <a:srgbClr val="737373"/>
                </a:solidFill>
                <a:latin typeface="Roboto Mono"/>
                <a:ea typeface="Roboto Mono"/>
                <a:cs typeface="Roboto Mono"/>
                <a:sym typeface="Roboto Mono"/>
              </a:rPr>
              <a:t>&lt;marisol@lakeside-lodge.example&gt;</a:t>
            </a:r>
            <a:endParaRPr b="0" i="0" sz="1150" u="none" cap="none" strike="noStrike">
              <a:solidFill>
                <a:schemeClr val="dk1"/>
              </a:solidFill>
              <a:latin typeface="Calibri"/>
              <a:ea typeface="Calibri"/>
              <a:cs typeface="Calibri"/>
              <a:sym typeface="Calibri"/>
            </a:endParaRPr>
          </a:p>
        </p:txBody>
      </p:sp>
      <p:sp>
        <p:nvSpPr>
          <p:cNvPr id="2258" name="Google Shape;2258;p55"/>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259" name="Google Shape;2259;p55"/>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260" name="Google Shape;2260;p55"/>
          <p:cNvSpPr txBox="1"/>
          <p:nvPr/>
        </p:nvSpPr>
        <p:spPr>
          <a:xfrm>
            <a:off x="859536" y="2852928"/>
            <a:ext cx="6784848"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Are we ahead of or behind where we were this time last year for October?</a:t>
            </a:r>
            <a:endParaRPr b="0" i="0" sz="1100" u="none" cap="none" strike="noStrike">
              <a:solidFill>
                <a:schemeClr val="dk1"/>
              </a:solidFill>
              <a:latin typeface="Calibri"/>
              <a:ea typeface="Calibri"/>
              <a:cs typeface="Calibri"/>
              <a:sym typeface="Calibri"/>
            </a:endParaRPr>
          </a:p>
        </p:txBody>
      </p:sp>
      <p:sp>
        <p:nvSpPr>
          <p:cNvPr id="2261" name="Google Shape;2261;p55"/>
          <p:cNvSpPr/>
          <p:nvPr/>
        </p:nvSpPr>
        <p:spPr>
          <a:xfrm>
            <a:off x="548640" y="4727702"/>
            <a:ext cx="7406640" cy="1581658"/>
          </a:xfrm>
          <a:prstGeom prst="roundRect">
            <a:avLst>
              <a:gd fmla="val 6938"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5"/>
          <p:cNvSpPr txBox="1"/>
          <p:nvPr/>
        </p:nvSpPr>
        <p:spPr>
          <a:xfrm>
            <a:off x="859536" y="4910582"/>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2263" name="Google Shape;2263;p55"/>
          <p:cNvSpPr txBox="1"/>
          <p:nvPr/>
        </p:nvSpPr>
        <p:spPr>
          <a:xfrm>
            <a:off x="859536" y="5166614"/>
            <a:ext cx="6784848" cy="4686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Pace</a:t>
            </a:r>
            <a:r>
              <a:rPr b="0" i="0" lang="en-US" sz="1100" u="none" cap="none" strike="noStrike">
                <a:solidFill>
                  <a:srgbClr val="404040"/>
                </a:solidFill>
                <a:latin typeface="Inter"/>
                <a:ea typeface="Inter"/>
                <a:cs typeface="Inter"/>
                <a:sym typeface="Inter"/>
              </a:rPr>
              <a:t>: the same future date, compared at the same point last year. Pickup is the trap: it is how many bookings came in last week, not how that compares with last year.</a:t>
            </a:r>
            <a:endParaRPr b="0" i="0" sz="1100" u="none" cap="none" strike="noStrike">
              <a:solidFill>
                <a:schemeClr val="dk1"/>
              </a:solidFill>
              <a:latin typeface="Calibri"/>
              <a:ea typeface="Calibri"/>
              <a:cs typeface="Calibri"/>
              <a:sym typeface="Calibri"/>
            </a:endParaRPr>
          </a:p>
        </p:txBody>
      </p:sp>
      <p:sp>
        <p:nvSpPr>
          <p:cNvPr id="2264" name="Google Shape;2264;p55"/>
          <p:cNvSpPr txBox="1"/>
          <p:nvPr/>
        </p:nvSpPr>
        <p:spPr>
          <a:xfrm>
            <a:off x="859536" y="5671820"/>
            <a:ext cx="6784848" cy="49123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“Here's October against the same point last year, and against where we'd want it by now.”</a:t>
            </a:r>
            <a:endParaRPr b="0" i="0" sz="1100" u="none" cap="none" strike="noStrike">
              <a:solidFill>
                <a:schemeClr val="dk1"/>
              </a:solidFill>
              <a:latin typeface="Calibri"/>
              <a:ea typeface="Calibri"/>
              <a:cs typeface="Calibri"/>
              <a:sym typeface="Calibri"/>
            </a:endParaRPr>
          </a:p>
        </p:txBody>
      </p:sp>
      <p:sp>
        <p:nvSpPr>
          <p:cNvPr id="2265" name="Google Shape;2265;p55"/>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5"/>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267" name="Google Shape;2267;p55"/>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268" name="Google Shape;2268;p55"/>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2269" name="Google Shape;2269;p55"/>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2270" name="Google Shape;2270;p55"/>
          <p:cNvSpPr/>
          <p:nvPr/>
        </p:nvSpPr>
        <p:spPr>
          <a:xfrm>
            <a:off x="8549640" y="3200400"/>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2271" name="Google Shape;2271;p55"/>
          <p:cNvPicPr preferRelativeResize="0"/>
          <p:nvPr/>
        </p:nvPicPr>
        <p:blipFill rotWithShape="1">
          <a:blip r:embed="rId5">
            <a:alphaModFix/>
          </a:blip>
          <a:srcRect b="0" l="0" r="0" t="0"/>
          <a:stretch/>
        </p:blipFill>
        <p:spPr>
          <a:xfrm>
            <a:off x="8750808" y="3282696"/>
            <a:ext cx="310896" cy="310896"/>
          </a:xfrm>
          <a:prstGeom prst="rect">
            <a:avLst/>
          </a:prstGeom>
          <a:noFill/>
          <a:ln>
            <a:noFill/>
          </a:ln>
        </p:spPr>
      </p:pic>
      <p:sp>
        <p:nvSpPr>
          <p:cNvPr id="2272" name="Google Shape;2272;p55"/>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Pace</a:t>
            </a:r>
            <a:endParaRPr b="0" i="0" sz="1250" u="none" cap="none" strike="noStrike">
              <a:solidFill>
                <a:schemeClr val="dk1"/>
              </a:solidFill>
              <a:latin typeface="Calibri"/>
              <a:ea typeface="Calibri"/>
              <a:cs typeface="Calibri"/>
              <a:sym typeface="Calibri"/>
            </a:endParaRPr>
          </a:p>
        </p:txBody>
      </p:sp>
      <p:sp>
        <p:nvSpPr>
          <p:cNvPr id="2273" name="Google Shape;2273;p55"/>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5"/>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5"/>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276" name="Google Shape;2276;p55"/>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Pickup</a:t>
            </a:r>
            <a:endParaRPr b="0" i="0" sz="1250" u="none" cap="none" strike="noStrike">
              <a:solidFill>
                <a:schemeClr val="dk1"/>
              </a:solidFill>
              <a:latin typeface="Calibri"/>
              <a:ea typeface="Calibri"/>
              <a:cs typeface="Calibri"/>
              <a:sym typeface="Calibri"/>
            </a:endParaRPr>
          </a:p>
        </p:txBody>
      </p:sp>
      <p:sp>
        <p:nvSpPr>
          <p:cNvPr id="2277" name="Google Shape;2277;p55"/>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5"/>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5"/>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280" name="Google Shape;2280;p55"/>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Lead time</a:t>
            </a:r>
            <a:endParaRPr b="0" i="0" sz="1250" u="none" cap="none" strike="noStrike">
              <a:solidFill>
                <a:schemeClr val="dk1"/>
              </a:solidFill>
              <a:latin typeface="Calibri"/>
              <a:ea typeface="Calibri"/>
              <a:cs typeface="Calibri"/>
              <a:sym typeface="Calibri"/>
            </a:endParaRPr>
          </a:p>
        </p:txBody>
      </p:sp>
      <p:sp>
        <p:nvSpPr>
          <p:cNvPr id="2281" name="Google Shape;2281;p55"/>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5"/>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5"/>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284" name="Google Shape;2284;p55"/>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289" name="Shape 2289"/>
        <p:cNvGrpSpPr/>
        <p:nvPr/>
      </p:nvGrpSpPr>
      <p:grpSpPr>
        <a:xfrm>
          <a:off x="0" y="0"/>
          <a:ext cx="0" cy="0"/>
          <a:chOff x="0" y="0"/>
          <a:chExt cx="0" cy="0"/>
        </a:xfrm>
      </p:grpSpPr>
      <p:sp>
        <p:nvSpPr>
          <p:cNvPr id="2290" name="Google Shape;2290;p5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2 OF 5</a:t>
            </a:r>
            <a:endParaRPr b="0" i="0" sz="1050" u="none" cap="none" strike="noStrike">
              <a:solidFill>
                <a:schemeClr val="dk1"/>
              </a:solidFill>
              <a:latin typeface="Calibri"/>
              <a:ea typeface="Calibri"/>
              <a:cs typeface="Calibri"/>
              <a:sym typeface="Calibri"/>
            </a:endParaRPr>
          </a:p>
        </p:txBody>
      </p:sp>
      <p:sp>
        <p:nvSpPr>
          <p:cNvPr id="2291" name="Google Shape;2291;p5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292" name="Google Shape;2292;p5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293" name="Google Shape;2293;p5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54 / 65</a:t>
            </a:r>
            <a:endParaRPr b="0" i="0" sz="900" u="none" cap="none" strike="noStrike">
              <a:solidFill>
                <a:schemeClr val="dk1"/>
              </a:solidFill>
              <a:latin typeface="Calibri"/>
              <a:ea typeface="Calibri"/>
              <a:cs typeface="Calibri"/>
              <a:sym typeface="Calibri"/>
            </a:endParaRPr>
          </a:p>
        </p:txBody>
      </p:sp>
      <p:sp>
        <p:nvSpPr>
          <p:cNvPr id="2294" name="Google Shape;2294;p56"/>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6"/>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Ski weekends</a:t>
            </a:r>
            <a:endParaRPr b="0" i="0" sz="1450" u="none" cap="none" strike="noStrike">
              <a:solidFill>
                <a:schemeClr val="dk1"/>
              </a:solidFill>
              <a:latin typeface="Calibri"/>
              <a:ea typeface="Calibri"/>
              <a:cs typeface="Calibri"/>
              <a:sym typeface="Calibri"/>
            </a:endParaRPr>
          </a:p>
        </p:txBody>
      </p:sp>
      <p:sp>
        <p:nvSpPr>
          <p:cNvPr id="2296" name="Google Shape;2296;p56"/>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6"/>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I</a:t>
            </a:r>
            <a:endParaRPr b="0" i="0" sz="1200" u="none" cap="none" strike="noStrike">
              <a:solidFill>
                <a:schemeClr val="dk1"/>
              </a:solidFill>
              <a:latin typeface="Calibri"/>
              <a:ea typeface="Calibri"/>
              <a:cs typeface="Calibri"/>
              <a:sym typeface="Calibri"/>
            </a:endParaRPr>
          </a:p>
        </p:txBody>
      </p:sp>
      <p:sp>
        <p:nvSpPr>
          <p:cNvPr id="2298" name="Google Shape;2298;p56"/>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Ines  </a:t>
            </a:r>
            <a:r>
              <a:rPr b="0" i="0" lang="en-US" sz="950" u="none" cap="none" strike="noStrike">
                <a:solidFill>
                  <a:srgbClr val="737373"/>
                </a:solidFill>
                <a:latin typeface="Roboto Mono"/>
                <a:ea typeface="Roboto Mono"/>
                <a:cs typeface="Roboto Mono"/>
                <a:sym typeface="Roboto Mono"/>
              </a:rPr>
              <a:t>&lt;ines@mountain-resort.example&gt;</a:t>
            </a:r>
            <a:endParaRPr b="0" i="0" sz="1150" u="none" cap="none" strike="noStrike">
              <a:solidFill>
                <a:schemeClr val="dk1"/>
              </a:solidFill>
              <a:latin typeface="Calibri"/>
              <a:ea typeface="Calibri"/>
              <a:cs typeface="Calibri"/>
              <a:sym typeface="Calibri"/>
            </a:endParaRPr>
          </a:p>
        </p:txBody>
      </p:sp>
      <p:sp>
        <p:nvSpPr>
          <p:cNvPr id="2299" name="Google Shape;2299;p56"/>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300" name="Google Shape;2300;p56"/>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301" name="Google Shape;2301;p56"/>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When should we start advertising our ski weekends? Our last agency always started two weeks out.</a:t>
            </a:r>
            <a:endParaRPr b="0" i="0" sz="1100" u="none" cap="none" strike="noStrike">
              <a:solidFill>
                <a:schemeClr val="dk1"/>
              </a:solidFill>
              <a:latin typeface="Calibri"/>
              <a:ea typeface="Calibri"/>
              <a:cs typeface="Calibri"/>
              <a:sym typeface="Calibri"/>
            </a:endParaRPr>
          </a:p>
        </p:txBody>
      </p:sp>
      <p:sp>
        <p:nvSpPr>
          <p:cNvPr id="2302" name="Google Shape;2302;p56"/>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6"/>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304" name="Google Shape;2304;p56"/>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305" name="Google Shape;2305;p56"/>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2 OF 5</a:t>
            </a:r>
            <a:endParaRPr b="0" i="0" sz="950" u="none" cap="none" strike="noStrike">
              <a:solidFill>
                <a:schemeClr val="dk1"/>
              </a:solidFill>
              <a:latin typeface="Calibri"/>
              <a:ea typeface="Calibri"/>
              <a:cs typeface="Calibri"/>
              <a:sym typeface="Calibri"/>
            </a:endParaRPr>
          </a:p>
        </p:txBody>
      </p:sp>
      <p:sp>
        <p:nvSpPr>
          <p:cNvPr id="2306" name="Google Shape;2306;p56"/>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2307" name="Google Shape;2307;p56"/>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6"/>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6"/>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310" name="Google Shape;2310;p56"/>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Feeder market</a:t>
            </a:r>
            <a:endParaRPr b="0" i="0" sz="1250" u="none" cap="none" strike="noStrike">
              <a:solidFill>
                <a:schemeClr val="dk1"/>
              </a:solidFill>
              <a:latin typeface="Calibri"/>
              <a:ea typeface="Calibri"/>
              <a:cs typeface="Calibri"/>
              <a:sym typeface="Calibri"/>
            </a:endParaRPr>
          </a:p>
        </p:txBody>
      </p:sp>
      <p:sp>
        <p:nvSpPr>
          <p:cNvPr id="2311" name="Google Shape;2311;p56"/>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6"/>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6"/>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314" name="Google Shape;2314;p56"/>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Lead time</a:t>
            </a:r>
            <a:endParaRPr b="0" i="0" sz="1250" u="none" cap="none" strike="noStrike">
              <a:solidFill>
                <a:schemeClr val="dk1"/>
              </a:solidFill>
              <a:latin typeface="Calibri"/>
              <a:ea typeface="Calibri"/>
              <a:cs typeface="Calibri"/>
              <a:sym typeface="Calibri"/>
            </a:endParaRPr>
          </a:p>
        </p:txBody>
      </p:sp>
      <p:sp>
        <p:nvSpPr>
          <p:cNvPr id="2315" name="Google Shape;2315;p56"/>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6"/>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56"/>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318" name="Google Shape;2318;p56"/>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Shoulder season</a:t>
            </a:r>
            <a:endParaRPr b="0" i="0" sz="1250" u="none" cap="none" strike="noStrike">
              <a:solidFill>
                <a:schemeClr val="dk1"/>
              </a:solidFill>
              <a:latin typeface="Calibri"/>
              <a:ea typeface="Calibri"/>
              <a:cs typeface="Calibri"/>
              <a:sym typeface="Calibri"/>
            </a:endParaRPr>
          </a:p>
        </p:txBody>
      </p:sp>
      <p:sp>
        <p:nvSpPr>
          <p:cNvPr id="2319" name="Google Shape;2319;p56"/>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6"/>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6"/>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322" name="Google Shape;2322;p56"/>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Effective OTB</a:t>
            </a:r>
            <a:endParaRPr b="0" i="0" sz="1250" u="none" cap="none" strike="noStrike">
              <a:solidFill>
                <a:schemeClr val="dk1"/>
              </a:solidFill>
              <a:latin typeface="Calibri"/>
              <a:ea typeface="Calibri"/>
              <a:cs typeface="Calibri"/>
              <a:sym typeface="Calibri"/>
            </a:endParaRPr>
          </a:p>
        </p:txBody>
      </p:sp>
      <p:sp>
        <p:nvSpPr>
          <p:cNvPr id="2323" name="Google Shape;2323;p56"/>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328" name="Shape 2328"/>
        <p:cNvGrpSpPr/>
        <p:nvPr/>
      </p:nvGrpSpPr>
      <p:grpSpPr>
        <a:xfrm>
          <a:off x="0" y="0"/>
          <a:ext cx="0" cy="0"/>
          <a:chOff x="0" y="0"/>
          <a:chExt cx="0" cy="0"/>
        </a:xfrm>
      </p:grpSpPr>
      <p:sp>
        <p:nvSpPr>
          <p:cNvPr id="2329" name="Google Shape;2329;p57"/>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2 OF 5</a:t>
            </a:r>
            <a:endParaRPr b="0" i="0" sz="1050" u="none" cap="none" strike="noStrike">
              <a:solidFill>
                <a:schemeClr val="dk1"/>
              </a:solidFill>
              <a:latin typeface="Calibri"/>
              <a:ea typeface="Calibri"/>
              <a:cs typeface="Calibri"/>
              <a:sym typeface="Calibri"/>
            </a:endParaRPr>
          </a:p>
        </p:txBody>
      </p:sp>
      <p:sp>
        <p:nvSpPr>
          <p:cNvPr id="2330" name="Google Shape;2330;p57"/>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331" name="Google Shape;2331;p57"/>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332" name="Google Shape;2332;p57"/>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55 / 65</a:t>
            </a:r>
            <a:endParaRPr b="0" i="0" sz="900" u="none" cap="none" strike="noStrike">
              <a:solidFill>
                <a:schemeClr val="dk1"/>
              </a:solidFill>
              <a:latin typeface="Calibri"/>
              <a:ea typeface="Calibri"/>
              <a:cs typeface="Calibri"/>
              <a:sym typeface="Calibri"/>
            </a:endParaRPr>
          </a:p>
        </p:txBody>
      </p:sp>
      <p:sp>
        <p:nvSpPr>
          <p:cNvPr id="2333" name="Google Shape;2333;p57"/>
          <p:cNvSpPr/>
          <p:nvPr/>
        </p:nvSpPr>
        <p:spPr>
          <a:xfrm>
            <a:off x="548640" y="1481328"/>
            <a:ext cx="7406640" cy="3056509"/>
          </a:xfrm>
          <a:prstGeom prst="roundRect">
            <a:avLst>
              <a:gd fmla="val 359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57"/>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Ski weekends</a:t>
            </a:r>
            <a:endParaRPr b="0" i="0" sz="1450" u="none" cap="none" strike="noStrike">
              <a:solidFill>
                <a:schemeClr val="dk1"/>
              </a:solidFill>
              <a:latin typeface="Calibri"/>
              <a:ea typeface="Calibri"/>
              <a:cs typeface="Calibri"/>
              <a:sym typeface="Calibri"/>
            </a:endParaRPr>
          </a:p>
        </p:txBody>
      </p:sp>
      <p:sp>
        <p:nvSpPr>
          <p:cNvPr id="2335" name="Google Shape;2335;p57"/>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57"/>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I</a:t>
            </a:r>
            <a:endParaRPr b="0" i="0" sz="1200" u="none" cap="none" strike="noStrike">
              <a:solidFill>
                <a:schemeClr val="dk1"/>
              </a:solidFill>
              <a:latin typeface="Calibri"/>
              <a:ea typeface="Calibri"/>
              <a:cs typeface="Calibri"/>
              <a:sym typeface="Calibri"/>
            </a:endParaRPr>
          </a:p>
        </p:txBody>
      </p:sp>
      <p:sp>
        <p:nvSpPr>
          <p:cNvPr id="2337" name="Google Shape;2337;p57"/>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Ines  </a:t>
            </a:r>
            <a:r>
              <a:rPr b="0" i="0" lang="en-US" sz="950" u="none" cap="none" strike="noStrike">
                <a:solidFill>
                  <a:srgbClr val="737373"/>
                </a:solidFill>
                <a:latin typeface="Roboto Mono"/>
                <a:ea typeface="Roboto Mono"/>
                <a:cs typeface="Roboto Mono"/>
                <a:sym typeface="Roboto Mono"/>
              </a:rPr>
              <a:t>&lt;ines@mountain-resort.example&gt;</a:t>
            </a:r>
            <a:endParaRPr b="0" i="0" sz="1150" u="none" cap="none" strike="noStrike">
              <a:solidFill>
                <a:schemeClr val="dk1"/>
              </a:solidFill>
              <a:latin typeface="Calibri"/>
              <a:ea typeface="Calibri"/>
              <a:cs typeface="Calibri"/>
              <a:sym typeface="Calibri"/>
            </a:endParaRPr>
          </a:p>
        </p:txBody>
      </p:sp>
      <p:sp>
        <p:nvSpPr>
          <p:cNvPr id="2338" name="Google Shape;2338;p57"/>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339" name="Google Shape;2339;p57"/>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340" name="Google Shape;2340;p57"/>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When should we start advertising our ski weekends? Our last agency always started two weeks out.</a:t>
            </a:r>
            <a:endParaRPr b="0" i="0" sz="1100" u="none" cap="none" strike="noStrike">
              <a:solidFill>
                <a:schemeClr val="dk1"/>
              </a:solidFill>
              <a:latin typeface="Calibri"/>
              <a:ea typeface="Calibri"/>
              <a:cs typeface="Calibri"/>
              <a:sym typeface="Calibri"/>
            </a:endParaRPr>
          </a:p>
        </p:txBody>
      </p:sp>
      <p:sp>
        <p:nvSpPr>
          <p:cNvPr id="2341" name="Google Shape;2341;p57"/>
          <p:cNvSpPr/>
          <p:nvPr/>
        </p:nvSpPr>
        <p:spPr>
          <a:xfrm>
            <a:off x="548640" y="4720717"/>
            <a:ext cx="7406640" cy="1588643"/>
          </a:xfrm>
          <a:prstGeom prst="roundRect">
            <a:avLst>
              <a:gd fmla="val 690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7"/>
          <p:cNvSpPr txBox="1"/>
          <p:nvPr/>
        </p:nvSpPr>
        <p:spPr>
          <a:xfrm>
            <a:off x="859536" y="490359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2343" name="Google Shape;2343;p57"/>
          <p:cNvSpPr txBox="1"/>
          <p:nvPr/>
        </p:nvSpPr>
        <p:spPr>
          <a:xfrm>
            <a:off x="859536" y="515962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Lead time</a:t>
            </a:r>
            <a:r>
              <a:rPr b="0" i="0" lang="en-US" sz="1100" u="none" cap="none" strike="noStrike">
                <a:solidFill>
                  <a:srgbClr val="404040"/>
                </a:solidFill>
                <a:latin typeface="Inter"/>
                <a:ea typeface="Inter"/>
                <a:cs typeface="Inter"/>
                <a:sym typeface="Inter"/>
              </a:rPr>
              <a:t>: “when should we start” is really “how far ahead do these guests book”. The ads have to be running before that window opens. Feeder market answers where, not when; shoulder season is a time of year, not a booking window.</a:t>
            </a:r>
            <a:endParaRPr b="0" i="0" sz="1100" u="none" cap="none" strike="noStrike">
              <a:solidFill>
                <a:schemeClr val="dk1"/>
              </a:solidFill>
              <a:latin typeface="Calibri"/>
              <a:ea typeface="Calibri"/>
              <a:cs typeface="Calibri"/>
              <a:sym typeface="Calibri"/>
            </a:endParaRPr>
          </a:p>
        </p:txBody>
      </p:sp>
      <p:sp>
        <p:nvSpPr>
          <p:cNvPr id="2344" name="Google Shape;2344;p57"/>
          <p:cNvSpPr txBox="1"/>
          <p:nvPr/>
        </p:nvSpPr>
        <p:spPr>
          <a:xfrm>
            <a:off x="859536" y="5853430"/>
            <a:ext cx="6784848" cy="30962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“How far ahead do your ski-weekend guests usually book?”</a:t>
            </a:r>
            <a:endParaRPr b="0" i="0" sz="1100" u="none" cap="none" strike="noStrike">
              <a:solidFill>
                <a:schemeClr val="dk1"/>
              </a:solidFill>
              <a:latin typeface="Calibri"/>
              <a:ea typeface="Calibri"/>
              <a:cs typeface="Calibri"/>
              <a:sym typeface="Calibri"/>
            </a:endParaRPr>
          </a:p>
        </p:txBody>
      </p:sp>
      <p:sp>
        <p:nvSpPr>
          <p:cNvPr id="2345" name="Google Shape;2345;p57"/>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7"/>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347" name="Google Shape;2347;p57"/>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348" name="Google Shape;2348;p57"/>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2349" name="Google Shape;2349;p57"/>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2350" name="Google Shape;2350;p57"/>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7"/>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7"/>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353" name="Google Shape;2353;p57"/>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Feeder market</a:t>
            </a:r>
            <a:endParaRPr b="0" i="0" sz="1250" u="none" cap="none" strike="noStrike">
              <a:solidFill>
                <a:schemeClr val="dk1"/>
              </a:solidFill>
              <a:latin typeface="Calibri"/>
              <a:ea typeface="Calibri"/>
              <a:cs typeface="Calibri"/>
              <a:sym typeface="Calibri"/>
            </a:endParaRPr>
          </a:p>
        </p:txBody>
      </p:sp>
      <p:sp>
        <p:nvSpPr>
          <p:cNvPr id="2354" name="Google Shape;2354;p57"/>
          <p:cNvSpPr/>
          <p:nvPr/>
        </p:nvSpPr>
        <p:spPr>
          <a:xfrm>
            <a:off x="8549640" y="3785616"/>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2355" name="Google Shape;2355;p57"/>
          <p:cNvPicPr preferRelativeResize="0"/>
          <p:nvPr/>
        </p:nvPicPr>
        <p:blipFill rotWithShape="1">
          <a:blip r:embed="rId5">
            <a:alphaModFix/>
          </a:blip>
          <a:srcRect b="0" l="0" r="0" t="0"/>
          <a:stretch/>
        </p:blipFill>
        <p:spPr>
          <a:xfrm>
            <a:off x="8750808" y="3867912"/>
            <a:ext cx="310896" cy="310896"/>
          </a:xfrm>
          <a:prstGeom prst="rect">
            <a:avLst/>
          </a:prstGeom>
          <a:noFill/>
          <a:ln>
            <a:noFill/>
          </a:ln>
        </p:spPr>
      </p:pic>
      <p:sp>
        <p:nvSpPr>
          <p:cNvPr id="2356" name="Google Shape;2356;p57"/>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Lead time</a:t>
            </a:r>
            <a:endParaRPr b="0" i="0" sz="1250" u="none" cap="none" strike="noStrike">
              <a:solidFill>
                <a:schemeClr val="dk1"/>
              </a:solidFill>
              <a:latin typeface="Calibri"/>
              <a:ea typeface="Calibri"/>
              <a:cs typeface="Calibri"/>
              <a:sym typeface="Calibri"/>
            </a:endParaRPr>
          </a:p>
        </p:txBody>
      </p:sp>
      <p:sp>
        <p:nvSpPr>
          <p:cNvPr id="2357" name="Google Shape;2357;p57"/>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7"/>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7"/>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360" name="Google Shape;2360;p57"/>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Shoulder season</a:t>
            </a:r>
            <a:endParaRPr b="0" i="0" sz="1250" u="none" cap="none" strike="noStrike">
              <a:solidFill>
                <a:schemeClr val="dk1"/>
              </a:solidFill>
              <a:latin typeface="Calibri"/>
              <a:ea typeface="Calibri"/>
              <a:cs typeface="Calibri"/>
              <a:sym typeface="Calibri"/>
            </a:endParaRPr>
          </a:p>
        </p:txBody>
      </p:sp>
      <p:sp>
        <p:nvSpPr>
          <p:cNvPr id="2361" name="Google Shape;2361;p57"/>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7"/>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7"/>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364" name="Google Shape;2364;p57"/>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Effective OTB</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369" name="Shape 2369"/>
        <p:cNvGrpSpPr/>
        <p:nvPr/>
      </p:nvGrpSpPr>
      <p:grpSpPr>
        <a:xfrm>
          <a:off x="0" y="0"/>
          <a:ext cx="0" cy="0"/>
          <a:chOff x="0" y="0"/>
          <a:chExt cx="0" cy="0"/>
        </a:xfrm>
      </p:grpSpPr>
      <p:sp>
        <p:nvSpPr>
          <p:cNvPr id="2370" name="Google Shape;2370;p58"/>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3 OF 5</a:t>
            </a:r>
            <a:endParaRPr b="0" i="0" sz="1050" u="none" cap="none" strike="noStrike">
              <a:solidFill>
                <a:schemeClr val="dk1"/>
              </a:solidFill>
              <a:latin typeface="Calibri"/>
              <a:ea typeface="Calibri"/>
              <a:cs typeface="Calibri"/>
              <a:sym typeface="Calibri"/>
            </a:endParaRPr>
          </a:p>
        </p:txBody>
      </p:sp>
      <p:sp>
        <p:nvSpPr>
          <p:cNvPr id="2371" name="Google Shape;2371;p58"/>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372" name="Google Shape;2372;p58"/>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373" name="Google Shape;2373;p58"/>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56 / 65</a:t>
            </a:r>
            <a:endParaRPr b="0" i="0" sz="900" u="none" cap="none" strike="noStrike">
              <a:solidFill>
                <a:schemeClr val="dk1"/>
              </a:solidFill>
              <a:latin typeface="Calibri"/>
              <a:ea typeface="Calibri"/>
              <a:cs typeface="Calibri"/>
              <a:sym typeface="Calibri"/>
            </a:endParaRPr>
          </a:p>
        </p:txBody>
      </p:sp>
      <p:sp>
        <p:nvSpPr>
          <p:cNvPr id="2374" name="Google Shape;2374;p58"/>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8"/>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Wedding enquiry</a:t>
            </a:r>
            <a:endParaRPr b="0" i="0" sz="1450" u="none" cap="none" strike="noStrike">
              <a:solidFill>
                <a:schemeClr val="dk1"/>
              </a:solidFill>
              <a:latin typeface="Calibri"/>
              <a:ea typeface="Calibri"/>
              <a:cs typeface="Calibri"/>
              <a:sym typeface="Calibri"/>
            </a:endParaRPr>
          </a:p>
        </p:txBody>
      </p:sp>
      <p:sp>
        <p:nvSpPr>
          <p:cNvPr id="2376" name="Google Shape;2376;p58"/>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8"/>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W</a:t>
            </a:r>
            <a:endParaRPr b="0" i="0" sz="1200" u="none" cap="none" strike="noStrike">
              <a:solidFill>
                <a:schemeClr val="dk1"/>
              </a:solidFill>
              <a:latin typeface="Calibri"/>
              <a:ea typeface="Calibri"/>
              <a:cs typeface="Calibri"/>
              <a:sym typeface="Calibri"/>
            </a:endParaRPr>
          </a:p>
        </p:txBody>
      </p:sp>
      <p:sp>
        <p:nvSpPr>
          <p:cNvPr id="2378" name="Google Shape;2378;p58"/>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Walt  </a:t>
            </a:r>
            <a:r>
              <a:rPr b="0" i="0" lang="en-US" sz="950" u="none" cap="none" strike="noStrike">
                <a:solidFill>
                  <a:srgbClr val="737373"/>
                </a:solidFill>
                <a:latin typeface="Roboto Mono"/>
                <a:ea typeface="Roboto Mono"/>
                <a:cs typeface="Roboto Mono"/>
                <a:sym typeface="Roboto Mono"/>
              </a:rPr>
              <a:t>&lt;walt@winery-stay.example&gt;</a:t>
            </a:r>
            <a:endParaRPr b="0" i="0" sz="1150" u="none" cap="none" strike="noStrike">
              <a:solidFill>
                <a:schemeClr val="dk1"/>
              </a:solidFill>
              <a:latin typeface="Calibri"/>
              <a:ea typeface="Calibri"/>
              <a:cs typeface="Calibri"/>
              <a:sym typeface="Calibri"/>
            </a:endParaRPr>
          </a:p>
        </p:txBody>
      </p:sp>
      <p:sp>
        <p:nvSpPr>
          <p:cNvPr id="2379" name="Google Shape;2379;p58"/>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380" name="Google Shape;2380;p58"/>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381" name="Google Shape;2381;p58"/>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 wedding planner wants all 12 suites for the second Saturday in June, at 15% off. It sold out last year anyway, so this just locks it in. That's a sure thing, isn't it?</a:t>
            </a:r>
            <a:endParaRPr b="0" i="0" sz="1100" u="none" cap="none" strike="noStrike">
              <a:solidFill>
                <a:schemeClr val="dk1"/>
              </a:solidFill>
              <a:latin typeface="Calibri"/>
              <a:ea typeface="Calibri"/>
              <a:cs typeface="Calibri"/>
              <a:sym typeface="Calibri"/>
            </a:endParaRPr>
          </a:p>
        </p:txBody>
      </p:sp>
      <p:sp>
        <p:nvSpPr>
          <p:cNvPr id="2382" name="Google Shape;2382;p58"/>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8"/>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384" name="Google Shape;2384;p58"/>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385" name="Google Shape;2385;p58"/>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3 OF 5</a:t>
            </a:r>
            <a:endParaRPr b="0" i="0" sz="950" u="none" cap="none" strike="noStrike">
              <a:solidFill>
                <a:schemeClr val="dk1"/>
              </a:solidFill>
              <a:latin typeface="Calibri"/>
              <a:ea typeface="Calibri"/>
              <a:cs typeface="Calibri"/>
              <a:sym typeface="Calibri"/>
            </a:endParaRPr>
          </a:p>
        </p:txBody>
      </p:sp>
      <p:sp>
        <p:nvSpPr>
          <p:cNvPr id="2386" name="Google Shape;2386;p58"/>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2387" name="Google Shape;2387;p58"/>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8"/>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8"/>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390" name="Google Shape;2390;p58"/>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Package rate</a:t>
            </a:r>
            <a:endParaRPr b="0" i="0" sz="1250" u="none" cap="none" strike="noStrike">
              <a:solidFill>
                <a:schemeClr val="dk1"/>
              </a:solidFill>
              <a:latin typeface="Calibri"/>
              <a:ea typeface="Calibri"/>
              <a:cs typeface="Calibri"/>
              <a:sym typeface="Calibri"/>
            </a:endParaRPr>
          </a:p>
        </p:txBody>
      </p:sp>
      <p:sp>
        <p:nvSpPr>
          <p:cNvPr id="2391" name="Google Shape;2391;p58"/>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8"/>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8"/>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394" name="Google Shape;2394;p58"/>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Effective OTB</a:t>
            </a:r>
            <a:endParaRPr b="0" i="0" sz="1250" u="none" cap="none" strike="noStrike">
              <a:solidFill>
                <a:schemeClr val="dk1"/>
              </a:solidFill>
              <a:latin typeface="Calibri"/>
              <a:ea typeface="Calibri"/>
              <a:cs typeface="Calibri"/>
              <a:sym typeface="Calibri"/>
            </a:endParaRPr>
          </a:p>
        </p:txBody>
      </p:sp>
      <p:sp>
        <p:nvSpPr>
          <p:cNvPr id="2395" name="Google Shape;2395;p58"/>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8"/>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8"/>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398" name="Google Shape;2398;p58"/>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Transient vs group</a:t>
            </a:r>
            <a:endParaRPr b="0" i="0" sz="1250" u="none" cap="none" strike="noStrike">
              <a:solidFill>
                <a:schemeClr val="dk1"/>
              </a:solidFill>
              <a:latin typeface="Calibri"/>
              <a:ea typeface="Calibri"/>
              <a:cs typeface="Calibri"/>
              <a:sym typeface="Calibri"/>
            </a:endParaRPr>
          </a:p>
        </p:txBody>
      </p:sp>
      <p:sp>
        <p:nvSpPr>
          <p:cNvPr id="2399" name="Google Shape;2399;p58"/>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8"/>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8"/>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402" name="Google Shape;2402;p58"/>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
        <p:nvSpPr>
          <p:cNvPr id="2403" name="Google Shape;2403;p58"/>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408" name="Shape 2408"/>
        <p:cNvGrpSpPr/>
        <p:nvPr/>
      </p:nvGrpSpPr>
      <p:grpSpPr>
        <a:xfrm>
          <a:off x="0" y="0"/>
          <a:ext cx="0" cy="0"/>
          <a:chOff x="0" y="0"/>
          <a:chExt cx="0" cy="0"/>
        </a:xfrm>
      </p:grpSpPr>
      <p:sp>
        <p:nvSpPr>
          <p:cNvPr id="2409" name="Google Shape;2409;p59"/>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3 OF 5</a:t>
            </a:r>
            <a:endParaRPr b="0" i="0" sz="1050" u="none" cap="none" strike="noStrike">
              <a:solidFill>
                <a:schemeClr val="dk1"/>
              </a:solidFill>
              <a:latin typeface="Calibri"/>
              <a:ea typeface="Calibri"/>
              <a:cs typeface="Calibri"/>
              <a:sym typeface="Calibri"/>
            </a:endParaRPr>
          </a:p>
        </p:txBody>
      </p:sp>
      <p:sp>
        <p:nvSpPr>
          <p:cNvPr id="2410" name="Google Shape;2410;p59"/>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411" name="Google Shape;2411;p59"/>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412" name="Google Shape;2412;p59"/>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57 / 65</a:t>
            </a:r>
            <a:endParaRPr b="0" i="0" sz="900" u="none" cap="none" strike="noStrike">
              <a:solidFill>
                <a:schemeClr val="dk1"/>
              </a:solidFill>
              <a:latin typeface="Calibri"/>
              <a:ea typeface="Calibri"/>
              <a:cs typeface="Calibri"/>
              <a:sym typeface="Calibri"/>
            </a:endParaRPr>
          </a:p>
        </p:txBody>
      </p:sp>
      <p:sp>
        <p:nvSpPr>
          <p:cNvPr id="2413" name="Google Shape;2413;p59"/>
          <p:cNvSpPr/>
          <p:nvPr/>
        </p:nvSpPr>
        <p:spPr>
          <a:xfrm>
            <a:off x="548640" y="1481328"/>
            <a:ext cx="7406640" cy="3056509"/>
          </a:xfrm>
          <a:prstGeom prst="roundRect">
            <a:avLst>
              <a:gd fmla="val 359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9"/>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Wedding enquiry</a:t>
            </a:r>
            <a:endParaRPr b="0" i="0" sz="1450" u="none" cap="none" strike="noStrike">
              <a:solidFill>
                <a:schemeClr val="dk1"/>
              </a:solidFill>
              <a:latin typeface="Calibri"/>
              <a:ea typeface="Calibri"/>
              <a:cs typeface="Calibri"/>
              <a:sym typeface="Calibri"/>
            </a:endParaRPr>
          </a:p>
        </p:txBody>
      </p:sp>
      <p:sp>
        <p:nvSpPr>
          <p:cNvPr id="2415" name="Google Shape;2415;p59"/>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9"/>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W</a:t>
            </a:r>
            <a:endParaRPr b="0" i="0" sz="1200" u="none" cap="none" strike="noStrike">
              <a:solidFill>
                <a:schemeClr val="dk1"/>
              </a:solidFill>
              <a:latin typeface="Calibri"/>
              <a:ea typeface="Calibri"/>
              <a:cs typeface="Calibri"/>
              <a:sym typeface="Calibri"/>
            </a:endParaRPr>
          </a:p>
        </p:txBody>
      </p:sp>
      <p:sp>
        <p:nvSpPr>
          <p:cNvPr id="2417" name="Google Shape;2417;p59"/>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Walt  </a:t>
            </a:r>
            <a:r>
              <a:rPr b="0" i="0" lang="en-US" sz="950" u="none" cap="none" strike="noStrike">
                <a:solidFill>
                  <a:srgbClr val="737373"/>
                </a:solidFill>
                <a:latin typeface="Roboto Mono"/>
                <a:ea typeface="Roboto Mono"/>
                <a:cs typeface="Roboto Mono"/>
                <a:sym typeface="Roboto Mono"/>
              </a:rPr>
              <a:t>&lt;walt@winery-stay.example&gt;</a:t>
            </a:r>
            <a:endParaRPr b="0" i="0" sz="1150" u="none" cap="none" strike="noStrike">
              <a:solidFill>
                <a:schemeClr val="dk1"/>
              </a:solidFill>
              <a:latin typeface="Calibri"/>
              <a:ea typeface="Calibri"/>
              <a:cs typeface="Calibri"/>
              <a:sym typeface="Calibri"/>
            </a:endParaRPr>
          </a:p>
        </p:txBody>
      </p:sp>
      <p:sp>
        <p:nvSpPr>
          <p:cNvPr id="2418" name="Google Shape;2418;p59"/>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419" name="Google Shape;2419;p59"/>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420" name="Google Shape;2420;p59"/>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A wedding planner wants all 12 suites for the second Saturday in June, at 15% off. It sold out last year anyway, so this just locks it in. That's a sure thing, isn't it?</a:t>
            </a:r>
            <a:endParaRPr b="0" i="0" sz="1100" u="none" cap="none" strike="noStrike">
              <a:solidFill>
                <a:schemeClr val="dk1"/>
              </a:solidFill>
              <a:latin typeface="Calibri"/>
              <a:ea typeface="Calibri"/>
              <a:cs typeface="Calibri"/>
              <a:sym typeface="Calibri"/>
            </a:endParaRPr>
          </a:p>
        </p:txBody>
      </p:sp>
      <p:sp>
        <p:nvSpPr>
          <p:cNvPr id="2421" name="Google Shape;2421;p59"/>
          <p:cNvSpPr/>
          <p:nvPr/>
        </p:nvSpPr>
        <p:spPr>
          <a:xfrm>
            <a:off x="548640" y="4720717"/>
            <a:ext cx="7406640" cy="1588643"/>
          </a:xfrm>
          <a:prstGeom prst="roundRect">
            <a:avLst>
              <a:gd fmla="val 690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9"/>
          <p:cNvSpPr txBox="1"/>
          <p:nvPr/>
        </p:nvSpPr>
        <p:spPr>
          <a:xfrm>
            <a:off x="859536" y="490359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2423" name="Google Shape;2423;p59"/>
          <p:cNvSpPr txBox="1"/>
          <p:nvPr/>
        </p:nvSpPr>
        <p:spPr>
          <a:xfrm>
            <a:off x="859536" y="515962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Transient vs group</a:t>
            </a:r>
            <a:r>
              <a:rPr b="0" i="0" lang="en-US" sz="1100" u="none" cap="none" strike="noStrike">
                <a:solidFill>
                  <a:srgbClr val="404040"/>
                </a:solidFill>
                <a:latin typeface="Inter"/>
                <a:ea typeface="Inter"/>
                <a:cs typeface="Inter"/>
                <a:sym typeface="Inter"/>
              </a:rPr>
              <a:t>: a contracted block of all 12 suites at 15% off, on a Saturday that sells out anyway, replaces full-rate individual guests. The question is what the block pushes out. Package rate is the trap: a discounted block is not a package.</a:t>
            </a:r>
            <a:endParaRPr b="0" i="0" sz="1100" u="none" cap="none" strike="noStrike">
              <a:solidFill>
                <a:schemeClr val="dk1"/>
              </a:solidFill>
              <a:latin typeface="Calibri"/>
              <a:ea typeface="Calibri"/>
              <a:cs typeface="Calibri"/>
              <a:sym typeface="Calibri"/>
            </a:endParaRPr>
          </a:p>
        </p:txBody>
      </p:sp>
      <p:sp>
        <p:nvSpPr>
          <p:cNvPr id="2424" name="Google Shape;2424;p59"/>
          <p:cNvSpPr txBox="1"/>
          <p:nvPr/>
        </p:nvSpPr>
        <p:spPr>
          <a:xfrm>
            <a:off x="859536" y="5853430"/>
            <a:ext cx="6784848" cy="30962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“What does that Saturday usually sell for on its own?”</a:t>
            </a:r>
            <a:endParaRPr b="0" i="0" sz="1100" u="none" cap="none" strike="noStrike">
              <a:solidFill>
                <a:schemeClr val="dk1"/>
              </a:solidFill>
              <a:latin typeface="Calibri"/>
              <a:ea typeface="Calibri"/>
              <a:cs typeface="Calibri"/>
              <a:sym typeface="Calibri"/>
            </a:endParaRPr>
          </a:p>
        </p:txBody>
      </p:sp>
      <p:sp>
        <p:nvSpPr>
          <p:cNvPr id="2425" name="Google Shape;2425;p59"/>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9"/>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427" name="Google Shape;2427;p59"/>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428" name="Google Shape;2428;p59"/>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2429" name="Google Shape;2429;p59"/>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2430" name="Google Shape;2430;p59"/>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9"/>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9"/>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433" name="Google Shape;2433;p59"/>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Package rate</a:t>
            </a:r>
            <a:endParaRPr b="0" i="0" sz="1250" u="none" cap="none" strike="noStrike">
              <a:solidFill>
                <a:schemeClr val="dk1"/>
              </a:solidFill>
              <a:latin typeface="Calibri"/>
              <a:ea typeface="Calibri"/>
              <a:cs typeface="Calibri"/>
              <a:sym typeface="Calibri"/>
            </a:endParaRPr>
          </a:p>
        </p:txBody>
      </p:sp>
      <p:sp>
        <p:nvSpPr>
          <p:cNvPr id="2434" name="Google Shape;2434;p59"/>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9"/>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9"/>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437" name="Google Shape;2437;p59"/>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Effective OTB</a:t>
            </a:r>
            <a:endParaRPr b="0" i="0" sz="1250" u="none" cap="none" strike="noStrike">
              <a:solidFill>
                <a:schemeClr val="dk1"/>
              </a:solidFill>
              <a:latin typeface="Calibri"/>
              <a:ea typeface="Calibri"/>
              <a:cs typeface="Calibri"/>
              <a:sym typeface="Calibri"/>
            </a:endParaRPr>
          </a:p>
        </p:txBody>
      </p:sp>
      <p:sp>
        <p:nvSpPr>
          <p:cNvPr id="2438" name="Google Shape;2438;p59"/>
          <p:cNvSpPr/>
          <p:nvPr/>
        </p:nvSpPr>
        <p:spPr>
          <a:xfrm>
            <a:off x="8549640" y="4370832"/>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2439" name="Google Shape;2439;p59"/>
          <p:cNvPicPr preferRelativeResize="0"/>
          <p:nvPr/>
        </p:nvPicPr>
        <p:blipFill rotWithShape="1">
          <a:blip r:embed="rId5">
            <a:alphaModFix/>
          </a:blip>
          <a:srcRect b="0" l="0" r="0" t="0"/>
          <a:stretch/>
        </p:blipFill>
        <p:spPr>
          <a:xfrm>
            <a:off x="8750808" y="4453128"/>
            <a:ext cx="310896" cy="310896"/>
          </a:xfrm>
          <a:prstGeom prst="rect">
            <a:avLst/>
          </a:prstGeom>
          <a:noFill/>
          <a:ln>
            <a:noFill/>
          </a:ln>
        </p:spPr>
      </p:pic>
      <p:sp>
        <p:nvSpPr>
          <p:cNvPr id="2440" name="Google Shape;2440;p59"/>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Transient vs group</a:t>
            </a:r>
            <a:endParaRPr b="0" i="0" sz="1250" u="none" cap="none" strike="noStrike">
              <a:solidFill>
                <a:schemeClr val="dk1"/>
              </a:solidFill>
              <a:latin typeface="Calibri"/>
              <a:ea typeface="Calibri"/>
              <a:cs typeface="Calibri"/>
              <a:sym typeface="Calibri"/>
            </a:endParaRPr>
          </a:p>
        </p:txBody>
      </p:sp>
      <p:sp>
        <p:nvSpPr>
          <p:cNvPr id="2441" name="Google Shape;2441;p59"/>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9"/>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59"/>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444" name="Google Shape;2444;p59"/>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449" name="Shape 2449"/>
        <p:cNvGrpSpPr/>
        <p:nvPr/>
      </p:nvGrpSpPr>
      <p:grpSpPr>
        <a:xfrm>
          <a:off x="0" y="0"/>
          <a:ext cx="0" cy="0"/>
          <a:chOff x="0" y="0"/>
          <a:chExt cx="0" cy="0"/>
        </a:xfrm>
      </p:grpSpPr>
      <p:sp>
        <p:nvSpPr>
          <p:cNvPr id="2450" name="Google Shape;2450;p60"/>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4 OF 5</a:t>
            </a:r>
            <a:endParaRPr b="0" i="0" sz="1050" u="none" cap="none" strike="noStrike">
              <a:solidFill>
                <a:schemeClr val="dk1"/>
              </a:solidFill>
              <a:latin typeface="Calibri"/>
              <a:ea typeface="Calibri"/>
              <a:cs typeface="Calibri"/>
              <a:sym typeface="Calibri"/>
            </a:endParaRPr>
          </a:p>
        </p:txBody>
      </p:sp>
      <p:sp>
        <p:nvSpPr>
          <p:cNvPr id="2451" name="Google Shape;2451;p60"/>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452" name="Google Shape;2452;p60"/>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453" name="Google Shape;2453;p60"/>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58 / 65</a:t>
            </a:r>
            <a:endParaRPr b="0" i="0" sz="900" u="none" cap="none" strike="noStrike">
              <a:solidFill>
                <a:schemeClr val="dk1"/>
              </a:solidFill>
              <a:latin typeface="Calibri"/>
              <a:ea typeface="Calibri"/>
              <a:cs typeface="Calibri"/>
              <a:sym typeface="Calibri"/>
            </a:endParaRPr>
          </a:p>
        </p:txBody>
      </p:sp>
      <p:sp>
        <p:nvSpPr>
          <p:cNvPr id="2454" name="Google Shape;2454;p60"/>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60"/>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October's nearly there</a:t>
            </a:r>
            <a:endParaRPr b="0" i="0" sz="1450" u="none" cap="none" strike="noStrike">
              <a:solidFill>
                <a:schemeClr val="dk1"/>
              </a:solidFill>
              <a:latin typeface="Calibri"/>
              <a:ea typeface="Calibri"/>
              <a:cs typeface="Calibri"/>
              <a:sym typeface="Calibri"/>
            </a:endParaRPr>
          </a:p>
        </p:txBody>
      </p:sp>
      <p:sp>
        <p:nvSpPr>
          <p:cNvPr id="2456" name="Google Shape;2456;p60"/>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0"/>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T</a:t>
            </a:r>
            <a:endParaRPr b="0" i="0" sz="1200" u="none" cap="none" strike="noStrike">
              <a:solidFill>
                <a:schemeClr val="dk1"/>
              </a:solidFill>
              <a:latin typeface="Calibri"/>
              <a:ea typeface="Calibri"/>
              <a:cs typeface="Calibri"/>
              <a:sym typeface="Calibri"/>
            </a:endParaRPr>
          </a:p>
        </p:txBody>
      </p:sp>
      <p:sp>
        <p:nvSpPr>
          <p:cNvPr id="2458" name="Google Shape;2458;p60"/>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Theo  </a:t>
            </a:r>
            <a:r>
              <a:rPr b="0" i="0" lang="en-US" sz="950" u="none" cap="none" strike="noStrike">
                <a:solidFill>
                  <a:srgbClr val="737373"/>
                </a:solidFill>
                <a:latin typeface="Roboto Mono"/>
                <a:ea typeface="Roboto Mono"/>
                <a:cs typeface="Roboto Mono"/>
                <a:sym typeface="Roboto Mono"/>
              </a:rPr>
              <a:t>&lt;theo@glamping-resort.example&gt;</a:t>
            </a:r>
            <a:endParaRPr b="0" i="0" sz="1150" u="none" cap="none" strike="noStrike">
              <a:solidFill>
                <a:schemeClr val="dk1"/>
              </a:solidFill>
              <a:latin typeface="Calibri"/>
              <a:ea typeface="Calibri"/>
              <a:cs typeface="Calibri"/>
              <a:sym typeface="Calibri"/>
            </a:endParaRPr>
          </a:p>
        </p:txBody>
      </p:sp>
      <p:sp>
        <p:nvSpPr>
          <p:cNvPr id="2459" name="Google Shape;2459;p60"/>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460" name="Google Shape;2460;p60"/>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461" name="Google Shape;2461;p60"/>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October is already 80% booked. Most of it is refundable, but still, we're basically there, right?</a:t>
            </a:r>
            <a:endParaRPr b="0" i="0" sz="1100" u="none" cap="none" strike="noStrike">
              <a:solidFill>
                <a:schemeClr val="dk1"/>
              </a:solidFill>
              <a:latin typeface="Calibri"/>
              <a:ea typeface="Calibri"/>
              <a:cs typeface="Calibri"/>
              <a:sym typeface="Calibri"/>
            </a:endParaRPr>
          </a:p>
        </p:txBody>
      </p:sp>
      <p:sp>
        <p:nvSpPr>
          <p:cNvPr id="2462" name="Google Shape;2462;p60"/>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60"/>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464" name="Google Shape;2464;p60"/>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465" name="Google Shape;2465;p60"/>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4 OF 5</a:t>
            </a:r>
            <a:endParaRPr b="0" i="0" sz="950" u="none" cap="none" strike="noStrike">
              <a:solidFill>
                <a:schemeClr val="dk1"/>
              </a:solidFill>
              <a:latin typeface="Calibri"/>
              <a:ea typeface="Calibri"/>
              <a:cs typeface="Calibri"/>
              <a:sym typeface="Calibri"/>
            </a:endParaRPr>
          </a:p>
        </p:txBody>
      </p:sp>
      <p:sp>
        <p:nvSpPr>
          <p:cNvPr id="2466" name="Google Shape;2466;p60"/>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2467" name="Google Shape;2467;p60"/>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60"/>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60"/>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470" name="Google Shape;2470;p60"/>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OTB (on the books)</a:t>
            </a:r>
            <a:endParaRPr b="0" i="0" sz="1250" u="none" cap="none" strike="noStrike">
              <a:solidFill>
                <a:schemeClr val="dk1"/>
              </a:solidFill>
              <a:latin typeface="Calibri"/>
              <a:ea typeface="Calibri"/>
              <a:cs typeface="Calibri"/>
              <a:sym typeface="Calibri"/>
            </a:endParaRPr>
          </a:p>
        </p:txBody>
      </p:sp>
      <p:sp>
        <p:nvSpPr>
          <p:cNvPr id="2471" name="Google Shape;2471;p60"/>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60"/>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60"/>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474" name="Google Shape;2474;p60"/>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Cancellation rate</a:t>
            </a:r>
            <a:endParaRPr b="0" i="0" sz="1250" u="none" cap="none" strike="noStrike">
              <a:solidFill>
                <a:schemeClr val="dk1"/>
              </a:solidFill>
              <a:latin typeface="Calibri"/>
              <a:ea typeface="Calibri"/>
              <a:cs typeface="Calibri"/>
              <a:sym typeface="Calibri"/>
            </a:endParaRPr>
          </a:p>
        </p:txBody>
      </p:sp>
      <p:sp>
        <p:nvSpPr>
          <p:cNvPr id="2475" name="Google Shape;2475;p60"/>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60"/>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60"/>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478" name="Google Shape;2478;p60"/>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
        <p:nvSpPr>
          <p:cNvPr id="2479" name="Google Shape;2479;p60"/>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60"/>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60"/>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482" name="Google Shape;2482;p60"/>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Effective OTB</a:t>
            </a:r>
            <a:endParaRPr b="0" i="0" sz="1250" u="none" cap="none" strike="noStrike">
              <a:solidFill>
                <a:schemeClr val="dk1"/>
              </a:solidFill>
              <a:latin typeface="Calibri"/>
              <a:ea typeface="Calibri"/>
              <a:cs typeface="Calibri"/>
              <a:sym typeface="Calibri"/>
            </a:endParaRPr>
          </a:p>
        </p:txBody>
      </p:sp>
      <p:sp>
        <p:nvSpPr>
          <p:cNvPr id="2483" name="Google Shape;2483;p60"/>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488" name="Shape 2488"/>
        <p:cNvGrpSpPr/>
        <p:nvPr/>
      </p:nvGrpSpPr>
      <p:grpSpPr>
        <a:xfrm>
          <a:off x="0" y="0"/>
          <a:ext cx="0" cy="0"/>
          <a:chOff x="0" y="0"/>
          <a:chExt cx="0" cy="0"/>
        </a:xfrm>
      </p:grpSpPr>
      <p:sp>
        <p:nvSpPr>
          <p:cNvPr id="2489" name="Google Shape;2489;p61"/>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4 OF 5</a:t>
            </a:r>
            <a:endParaRPr b="0" i="0" sz="1050" u="none" cap="none" strike="noStrike">
              <a:solidFill>
                <a:schemeClr val="dk1"/>
              </a:solidFill>
              <a:latin typeface="Calibri"/>
              <a:ea typeface="Calibri"/>
              <a:cs typeface="Calibri"/>
              <a:sym typeface="Calibri"/>
            </a:endParaRPr>
          </a:p>
        </p:txBody>
      </p:sp>
      <p:sp>
        <p:nvSpPr>
          <p:cNvPr id="2490" name="Google Shape;2490;p61"/>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491" name="Google Shape;2491;p61"/>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492" name="Google Shape;2492;p61"/>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59 / 65</a:t>
            </a:r>
            <a:endParaRPr b="0" i="0" sz="900" u="none" cap="none" strike="noStrike">
              <a:solidFill>
                <a:schemeClr val="dk1"/>
              </a:solidFill>
              <a:latin typeface="Calibri"/>
              <a:ea typeface="Calibri"/>
              <a:cs typeface="Calibri"/>
              <a:sym typeface="Calibri"/>
            </a:endParaRPr>
          </a:p>
        </p:txBody>
      </p:sp>
      <p:sp>
        <p:nvSpPr>
          <p:cNvPr id="2493" name="Google Shape;2493;p61"/>
          <p:cNvSpPr/>
          <p:nvPr/>
        </p:nvSpPr>
        <p:spPr>
          <a:xfrm>
            <a:off x="548640" y="1481328"/>
            <a:ext cx="7406640" cy="3056509"/>
          </a:xfrm>
          <a:prstGeom prst="roundRect">
            <a:avLst>
              <a:gd fmla="val 359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61"/>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October's nearly there</a:t>
            </a:r>
            <a:endParaRPr b="0" i="0" sz="1450" u="none" cap="none" strike="noStrike">
              <a:solidFill>
                <a:schemeClr val="dk1"/>
              </a:solidFill>
              <a:latin typeface="Calibri"/>
              <a:ea typeface="Calibri"/>
              <a:cs typeface="Calibri"/>
              <a:sym typeface="Calibri"/>
            </a:endParaRPr>
          </a:p>
        </p:txBody>
      </p:sp>
      <p:sp>
        <p:nvSpPr>
          <p:cNvPr id="2495" name="Google Shape;2495;p61"/>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61"/>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T</a:t>
            </a:r>
            <a:endParaRPr b="0" i="0" sz="1200" u="none" cap="none" strike="noStrike">
              <a:solidFill>
                <a:schemeClr val="dk1"/>
              </a:solidFill>
              <a:latin typeface="Calibri"/>
              <a:ea typeface="Calibri"/>
              <a:cs typeface="Calibri"/>
              <a:sym typeface="Calibri"/>
            </a:endParaRPr>
          </a:p>
        </p:txBody>
      </p:sp>
      <p:sp>
        <p:nvSpPr>
          <p:cNvPr id="2497" name="Google Shape;2497;p61"/>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Theo  </a:t>
            </a:r>
            <a:r>
              <a:rPr b="0" i="0" lang="en-US" sz="950" u="none" cap="none" strike="noStrike">
                <a:solidFill>
                  <a:srgbClr val="737373"/>
                </a:solidFill>
                <a:latin typeface="Roboto Mono"/>
                <a:ea typeface="Roboto Mono"/>
                <a:cs typeface="Roboto Mono"/>
                <a:sym typeface="Roboto Mono"/>
              </a:rPr>
              <a:t>&lt;theo@glamping-resort.example&gt;</a:t>
            </a:r>
            <a:endParaRPr b="0" i="0" sz="1150" u="none" cap="none" strike="noStrike">
              <a:solidFill>
                <a:schemeClr val="dk1"/>
              </a:solidFill>
              <a:latin typeface="Calibri"/>
              <a:ea typeface="Calibri"/>
              <a:cs typeface="Calibri"/>
              <a:sym typeface="Calibri"/>
            </a:endParaRPr>
          </a:p>
        </p:txBody>
      </p:sp>
      <p:sp>
        <p:nvSpPr>
          <p:cNvPr id="2498" name="Google Shape;2498;p61"/>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499" name="Google Shape;2499;p61"/>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500" name="Google Shape;2500;p61"/>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October is already 80% booked. Most of it is refundable, but still, we're basically there, right?</a:t>
            </a:r>
            <a:endParaRPr b="0" i="0" sz="1100" u="none" cap="none" strike="noStrike">
              <a:solidFill>
                <a:schemeClr val="dk1"/>
              </a:solidFill>
              <a:latin typeface="Calibri"/>
              <a:ea typeface="Calibri"/>
              <a:cs typeface="Calibri"/>
              <a:sym typeface="Calibri"/>
            </a:endParaRPr>
          </a:p>
        </p:txBody>
      </p:sp>
      <p:sp>
        <p:nvSpPr>
          <p:cNvPr id="2501" name="Google Shape;2501;p61"/>
          <p:cNvSpPr/>
          <p:nvPr/>
        </p:nvSpPr>
        <p:spPr>
          <a:xfrm>
            <a:off x="548640" y="4720717"/>
            <a:ext cx="7406640" cy="1588643"/>
          </a:xfrm>
          <a:prstGeom prst="roundRect">
            <a:avLst>
              <a:gd fmla="val 690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61"/>
          <p:cNvSpPr txBox="1"/>
          <p:nvPr/>
        </p:nvSpPr>
        <p:spPr>
          <a:xfrm>
            <a:off x="859536" y="490359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2503" name="Google Shape;2503;p61"/>
          <p:cNvSpPr txBox="1"/>
          <p:nvPr/>
        </p:nvSpPr>
        <p:spPr>
          <a:xfrm>
            <a:off x="859536" y="515962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Effective OTB</a:t>
            </a:r>
            <a:r>
              <a:rPr b="0" i="0" lang="en-US" sz="1100" u="none" cap="none" strike="noStrike">
                <a:solidFill>
                  <a:srgbClr val="404040"/>
                </a:solidFill>
                <a:latin typeface="Inter"/>
                <a:ea typeface="Inter"/>
                <a:cs typeface="Inter"/>
                <a:sym typeface="Inter"/>
              </a:rPr>
              <a:t>: 80% on the books, weighted for the cancellations to expect. OTB is the 80% Theo is quoting and cancellation rate is the input; effective OTB is the answer to his actual question. If 20% of those refundable bookings cancel, October is really 64%.</a:t>
            </a:r>
            <a:endParaRPr b="0" i="0" sz="1100" u="none" cap="none" strike="noStrike">
              <a:solidFill>
                <a:schemeClr val="dk1"/>
              </a:solidFill>
              <a:latin typeface="Calibri"/>
              <a:ea typeface="Calibri"/>
              <a:cs typeface="Calibri"/>
              <a:sym typeface="Calibri"/>
            </a:endParaRPr>
          </a:p>
        </p:txBody>
      </p:sp>
      <p:sp>
        <p:nvSpPr>
          <p:cNvPr id="2504" name="Google Shape;2504;p61"/>
          <p:cNvSpPr txBox="1"/>
          <p:nvPr/>
        </p:nvSpPr>
        <p:spPr>
          <a:xfrm>
            <a:off x="859536" y="5853430"/>
            <a:ext cx="6784848" cy="30962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“How much of that is refundable?”</a:t>
            </a:r>
            <a:endParaRPr b="0" i="0" sz="1100" u="none" cap="none" strike="noStrike">
              <a:solidFill>
                <a:schemeClr val="dk1"/>
              </a:solidFill>
              <a:latin typeface="Calibri"/>
              <a:ea typeface="Calibri"/>
              <a:cs typeface="Calibri"/>
              <a:sym typeface="Calibri"/>
            </a:endParaRPr>
          </a:p>
        </p:txBody>
      </p:sp>
      <p:sp>
        <p:nvSpPr>
          <p:cNvPr id="2505" name="Google Shape;2505;p61"/>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61"/>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507" name="Google Shape;2507;p61"/>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508" name="Google Shape;2508;p61"/>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2509" name="Google Shape;2509;p61"/>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2510" name="Google Shape;2510;p61"/>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61"/>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61"/>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513" name="Google Shape;2513;p61"/>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OTB (on the books)</a:t>
            </a:r>
            <a:endParaRPr b="0" i="0" sz="1250" u="none" cap="none" strike="noStrike">
              <a:solidFill>
                <a:schemeClr val="dk1"/>
              </a:solidFill>
              <a:latin typeface="Calibri"/>
              <a:ea typeface="Calibri"/>
              <a:cs typeface="Calibri"/>
              <a:sym typeface="Calibri"/>
            </a:endParaRPr>
          </a:p>
        </p:txBody>
      </p:sp>
      <p:sp>
        <p:nvSpPr>
          <p:cNvPr id="2514" name="Google Shape;2514;p61"/>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61"/>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61"/>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517" name="Google Shape;2517;p61"/>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Cancellation rate</a:t>
            </a:r>
            <a:endParaRPr b="0" i="0" sz="1250" u="none" cap="none" strike="noStrike">
              <a:solidFill>
                <a:schemeClr val="dk1"/>
              </a:solidFill>
              <a:latin typeface="Calibri"/>
              <a:ea typeface="Calibri"/>
              <a:cs typeface="Calibri"/>
              <a:sym typeface="Calibri"/>
            </a:endParaRPr>
          </a:p>
        </p:txBody>
      </p:sp>
      <p:sp>
        <p:nvSpPr>
          <p:cNvPr id="2518" name="Google Shape;2518;p61"/>
          <p:cNvSpPr/>
          <p:nvPr/>
        </p:nvSpPr>
        <p:spPr>
          <a:xfrm>
            <a:off x="8549640" y="4370832"/>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61"/>
          <p:cNvSpPr/>
          <p:nvPr/>
        </p:nvSpPr>
        <p:spPr>
          <a:xfrm>
            <a:off x="8750808" y="4453128"/>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61"/>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521" name="Google Shape;2521;p61"/>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
        <p:nvSpPr>
          <p:cNvPr id="2522" name="Google Shape;2522;p61"/>
          <p:cNvSpPr/>
          <p:nvPr/>
        </p:nvSpPr>
        <p:spPr>
          <a:xfrm>
            <a:off x="8549640" y="4956048"/>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2523" name="Google Shape;2523;p61"/>
          <p:cNvPicPr preferRelativeResize="0"/>
          <p:nvPr/>
        </p:nvPicPr>
        <p:blipFill rotWithShape="1">
          <a:blip r:embed="rId5">
            <a:alphaModFix/>
          </a:blip>
          <a:srcRect b="0" l="0" r="0" t="0"/>
          <a:stretch/>
        </p:blipFill>
        <p:spPr>
          <a:xfrm>
            <a:off x="8750808" y="5038344"/>
            <a:ext cx="310896" cy="310896"/>
          </a:xfrm>
          <a:prstGeom prst="rect">
            <a:avLst/>
          </a:prstGeom>
          <a:noFill/>
          <a:ln>
            <a:noFill/>
          </a:ln>
        </p:spPr>
      </p:pic>
      <p:sp>
        <p:nvSpPr>
          <p:cNvPr id="2524" name="Google Shape;2524;p61"/>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Effective OTB</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529" name="Shape 2529"/>
        <p:cNvGrpSpPr/>
        <p:nvPr/>
      </p:nvGrpSpPr>
      <p:grpSpPr>
        <a:xfrm>
          <a:off x="0" y="0"/>
          <a:ext cx="0" cy="0"/>
          <a:chOff x="0" y="0"/>
          <a:chExt cx="0" cy="0"/>
        </a:xfrm>
      </p:grpSpPr>
      <p:sp>
        <p:nvSpPr>
          <p:cNvPr id="2530" name="Google Shape;2530;p62"/>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5 OF 5</a:t>
            </a:r>
            <a:endParaRPr b="0" i="0" sz="1050" u="none" cap="none" strike="noStrike">
              <a:solidFill>
                <a:schemeClr val="dk1"/>
              </a:solidFill>
              <a:latin typeface="Calibri"/>
              <a:ea typeface="Calibri"/>
              <a:cs typeface="Calibri"/>
              <a:sym typeface="Calibri"/>
            </a:endParaRPr>
          </a:p>
        </p:txBody>
      </p:sp>
      <p:sp>
        <p:nvSpPr>
          <p:cNvPr id="2531" name="Google Shape;2531;p62"/>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532" name="Google Shape;2532;p62"/>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533" name="Google Shape;2533;p62"/>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60 / 65</a:t>
            </a:r>
            <a:endParaRPr b="0" i="0" sz="900" u="none" cap="none" strike="noStrike">
              <a:solidFill>
                <a:schemeClr val="dk1"/>
              </a:solidFill>
              <a:latin typeface="Calibri"/>
              <a:ea typeface="Calibri"/>
              <a:cs typeface="Calibri"/>
              <a:sym typeface="Calibri"/>
            </a:endParaRPr>
          </a:p>
        </p:txBody>
      </p:sp>
      <p:sp>
        <p:nvSpPr>
          <p:cNvPr id="2534" name="Google Shape;2534;p62"/>
          <p:cNvSpPr/>
          <p:nvPr/>
        </p:nvSpPr>
        <p:spPr>
          <a:xfrm>
            <a:off x="548640" y="1481328"/>
            <a:ext cx="7406640" cy="4828032"/>
          </a:xfrm>
          <a:prstGeom prst="roundRect">
            <a:avLst>
              <a:gd fmla="val 227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62"/>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Should I worry about October?</a:t>
            </a:r>
            <a:endParaRPr b="0" i="0" sz="1450" u="none" cap="none" strike="noStrike">
              <a:solidFill>
                <a:schemeClr val="dk1"/>
              </a:solidFill>
              <a:latin typeface="Calibri"/>
              <a:ea typeface="Calibri"/>
              <a:cs typeface="Calibri"/>
              <a:sym typeface="Calibri"/>
            </a:endParaRPr>
          </a:p>
        </p:txBody>
      </p:sp>
      <p:sp>
        <p:nvSpPr>
          <p:cNvPr id="2536" name="Google Shape;2536;p62"/>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62"/>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P</a:t>
            </a:r>
            <a:endParaRPr b="0" i="0" sz="1200" u="none" cap="none" strike="noStrike">
              <a:solidFill>
                <a:schemeClr val="dk1"/>
              </a:solidFill>
              <a:latin typeface="Calibri"/>
              <a:ea typeface="Calibri"/>
              <a:cs typeface="Calibri"/>
              <a:sym typeface="Calibri"/>
            </a:endParaRPr>
          </a:p>
        </p:txBody>
      </p:sp>
      <p:sp>
        <p:nvSpPr>
          <p:cNvPr id="2538" name="Google Shape;2538;p62"/>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Priya  </a:t>
            </a:r>
            <a:r>
              <a:rPr b="0" i="0" lang="en-US" sz="950" u="none" cap="none" strike="noStrike">
                <a:solidFill>
                  <a:srgbClr val="737373"/>
                </a:solidFill>
                <a:latin typeface="Roboto Mono"/>
                <a:ea typeface="Roboto Mono"/>
                <a:cs typeface="Roboto Mono"/>
                <a:sym typeface="Roboto Mono"/>
              </a:rPr>
              <a:t>&lt;priya@boutique-hotel.example&gt;</a:t>
            </a:r>
            <a:endParaRPr b="0" i="0" sz="1150" u="none" cap="none" strike="noStrike">
              <a:solidFill>
                <a:schemeClr val="dk1"/>
              </a:solidFill>
              <a:latin typeface="Calibri"/>
              <a:ea typeface="Calibri"/>
              <a:cs typeface="Calibri"/>
              <a:sym typeface="Calibri"/>
            </a:endParaRPr>
          </a:p>
        </p:txBody>
      </p:sp>
      <p:sp>
        <p:nvSpPr>
          <p:cNvPr id="2539" name="Google Shape;2539;p62"/>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540" name="Google Shape;2540;p62"/>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541" name="Google Shape;2541;p62"/>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Three months out, July was already 70% booked. October is three months out now and sitting at 30%. Is October in trouble?</a:t>
            </a:r>
            <a:endParaRPr b="0" i="0" sz="1100" u="none" cap="none" strike="noStrike">
              <a:solidFill>
                <a:schemeClr val="dk1"/>
              </a:solidFill>
              <a:latin typeface="Calibri"/>
              <a:ea typeface="Calibri"/>
              <a:cs typeface="Calibri"/>
              <a:sym typeface="Calibri"/>
            </a:endParaRPr>
          </a:p>
        </p:txBody>
      </p:sp>
      <p:sp>
        <p:nvSpPr>
          <p:cNvPr id="2542" name="Google Shape;2542;p62"/>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62"/>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544" name="Google Shape;2544;p62"/>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545" name="Google Shape;2545;p62"/>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EMAIL 5 OF 5</a:t>
            </a:r>
            <a:endParaRPr b="0" i="0" sz="950" u="none" cap="none" strike="noStrike">
              <a:solidFill>
                <a:schemeClr val="dk1"/>
              </a:solidFill>
              <a:latin typeface="Calibri"/>
              <a:ea typeface="Calibri"/>
              <a:cs typeface="Calibri"/>
              <a:sym typeface="Calibri"/>
            </a:endParaRPr>
          </a:p>
        </p:txBody>
      </p:sp>
      <p:sp>
        <p:nvSpPr>
          <p:cNvPr id="2546" name="Google Shape;2546;p62"/>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Cast your vote</a:t>
            </a:r>
            <a:endParaRPr b="0" i="0" sz="1800" u="none" cap="none" strike="noStrike">
              <a:solidFill>
                <a:schemeClr val="dk1"/>
              </a:solidFill>
              <a:latin typeface="Calibri"/>
              <a:ea typeface="Calibri"/>
              <a:cs typeface="Calibri"/>
              <a:sym typeface="Calibri"/>
            </a:endParaRPr>
          </a:p>
        </p:txBody>
      </p:sp>
      <p:sp>
        <p:nvSpPr>
          <p:cNvPr id="2547" name="Google Shape;2547;p62"/>
          <p:cNvSpPr/>
          <p:nvPr/>
        </p:nvSpPr>
        <p:spPr>
          <a:xfrm>
            <a:off x="8549640" y="3200400"/>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62"/>
          <p:cNvSpPr/>
          <p:nvPr/>
        </p:nvSpPr>
        <p:spPr>
          <a:xfrm>
            <a:off x="8750808" y="3282696"/>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62"/>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550" name="Google Shape;2550;p62"/>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Soft dates</a:t>
            </a:r>
            <a:endParaRPr b="0" i="0" sz="1250" u="none" cap="none" strike="noStrike">
              <a:solidFill>
                <a:schemeClr val="dk1"/>
              </a:solidFill>
              <a:latin typeface="Calibri"/>
              <a:ea typeface="Calibri"/>
              <a:cs typeface="Calibri"/>
              <a:sym typeface="Calibri"/>
            </a:endParaRPr>
          </a:p>
        </p:txBody>
      </p:sp>
      <p:sp>
        <p:nvSpPr>
          <p:cNvPr id="2551" name="Google Shape;2551;p62"/>
          <p:cNvSpPr/>
          <p:nvPr/>
        </p:nvSpPr>
        <p:spPr>
          <a:xfrm>
            <a:off x="8549640" y="3785616"/>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62"/>
          <p:cNvSpPr/>
          <p:nvPr/>
        </p:nvSpPr>
        <p:spPr>
          <a:xfrm>
            <a:off x="8750808" y="3867912"/>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62"/>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554" name="Google Shape;2554;p62"/>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Regret</a:t>
            </a:r>
            <a:endParaRPr b="0" i="0" sz="1250" u="none" cap="none" strike="noStrike">
              <a:solidFill>
                <a:schemeClr val="dk1"/>
              </a:solidFill>
              <a:latin typeface="Calibri"/>
              <a:ea typeface="Calibri"/>
              <a:cs typeface="Calibri"/>
              <a:sym typeface="Calibri"/>
            </a:endParaRPr>
          </a:p>
        </p:txBody>
      </p:sp>
      <p:sp>
        <p:nvSpPr>
          <p:cNvPr id="2555" name="Google Shape;2555;p62"/>
          <p:cNvSpPr/>
          <p:nvPr/>
        </p:nvSpPr>
        <p:spPr>
          <a:xfrm>
            <a:off x="8549640" y="4370832"/>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62"/>
          <p:cNvSpPr/>
          <p:nvPr/>
        </p:nvSpPr>
        <p:spPr>
          <a:xfrm>
            <a:off x="8750808" y="4453128"/>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62"/>
          <p:cNvSpPr txBox="1"/>
          <p:nvPr/>
        </p:nvSpPr>
        <p:spPr>
          <a:xfrm>
            <a:off x="8750808" y="445312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558" name="Google Shape;2558;p62"/>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
        <p:nvSpPr>
          <p:cNvPr id="2559" name="Google Shape;2559;p62"/>
          <p:cNvSpPr/>
          <p:nvPr/>
        </p:nvSpPr>
        <p:spPr>
          <a:xfrm>
            <a:off x="8549640" y="4956048"/>
            <a:ext cx="2816352" cy="475488"/>
          </a:xfrm>
          <a:prstGeom prst="roundRect">
            <a:avLst>
              <a:gd fmla="val 19231" name="adj"/>
            </a:avLst>
          </a:prstGeom>
          <a:solidFill>
            <a:srgbClr val="F5F5F5"/>
          </a:solidFill>
          <a:ln cap="flat" cmpd="sng" w="12700">
            <a:solidFill>
              <a:srgbClr val="D4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62"/>
          <p:cNvSpPr/>
          <p:nvPr/>
        </p:nvSpPr>
        <p:spPr>
          <a:xfrm>
            <a:off x="8750808" y="5038344"/>
            <a:ext cx="310896" cy="310896"/>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62"/>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562" name="Google Shape;2562;p62"/>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250"/>
              <a:buFont typeface="Inter"/>
              <a:buNone/>
            </a:pPr>
            <a:r>
              <a:rPr b="1" i="0" lang="en-US" sz="1250" u="none" cap="none" strike="noStrike">
                <a:solidFill>
                  <a:srgbClr val="171717"/>
                </a:solidFill>
                <a:latin typeface="Inter"/>
                <a:ea typeface="Inter"/>
                <a:cs typeface="Inter"/>
                <a:sym typeface="Inter"/>
              </a:rPr>
              <a:t>Slow season</a:t>
            </a:r>
            <a:endParaRPr b="0" i="0" sz="1250" u="none" cap="none" strike="noStrike">
              <a:solidFill>
                <a:schemeClr val="dk1"/>
              </a:solidFill>
              <a:latin typeface="Calibri"/>
              <a:ea typeface="Calibri"/>
              <a:cs typeface="Calibri"/>
              <a:sym typeface="Calibri"/>
            </a:endParaRPr>
          </a:p>
        </p:txBody>
      </p:sp>
      <p:sp>
        <p:nvSpPr>
          <p:cNvPr id="2563" name="Google Shape;2563;p62"/>
          <p:cNvSpPr txBox="1"/>
          <p:nvPr/>
        </p:nvSpPr>
        <p:spPr>
          <a:xfrm>
            <a:off x="8549640" y="5522976"/>
            <a:ext cx="2816352" cy="548640"/>
          </a:xfrm>
          <a:prstGeom prst="rect">
            <a:avLst/>
          </a:prstGeom>
          <a:noFill/>
          <a:ln>
            <a:noFill/>
          </a:ln>
        </p:spPr>
        <p:txBody>
          <a:bodyPr anchorCtr="0" anchor="t" bIns="0" lIns="0" spcFirstLastPara="1" rIns="0" wrap="square" tIns="0">
            <a:noAutofit/>
          </a:bodyPr>
          <a:lstStyle/>
          <a:p>
            <a:pPr indent="0" lvl="0" marL="0" marR="0" rtl="0" algn="l">
              <a:lnSpc>
                <a:spcPct val="135047"/>
              </a:lnSpc>
              <a:spcBef>
                <a:spcPts val="0"/>
              </a:spcBef>
              <a:spcAft>
                <a:spcPts val="0"/>
              </a:spcAft>
              <a:buClr>
                <a:srgbClr val="737373"/>
              </a:buClr>
              <a:buSzPts val="1050"/>
              <a:buFont typeface="Inter"/>
              <a:buNone/>
            </a:pPr>
            <a:r>
              <a:rPr b="0" i="0" lang="en-US" sz="1050" u="none" cap="none" strike="noStrike">
                <a:solidFill>
                  <a:srgbClr val="737373"/>
                </a:solidFill>
                <a:latin typeface="Inter"/>
                <a:ea typeface="Inter"/>
                <a:cs typeface="Inter"/>
                <a:sym typeface="Inter"/>
              </a:rPr>
              <a:t>Vote first. Then the answer.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568" name="Shape 2568"/>
        <p:cNvGrpSpPr/>
        <p:nvPr/>
      </p:nvGrpSpPr>
      <p:grpSpPr>
        <a:xfrm>
          <a:off x="0" y="0"/>
          <a:ext cx="0" cy="0"/>
          <a:chOff x="0" y="0"/>
          <a:chExt cx="0" cy="0"/>
        </a:xfrm>
      </p:grpSpPr>
      <p:sp>
        <p:nvSpPr>
          <p:cNvPr id="2569" name="Google Shape;2569;p63"/>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WHAT'S IT REALLY ABOUT? · 5 OF 5</a:t>
            </a:r>
            <a:endParaRPr b="0" i="0" sz="1050" u="none" cap="none" strike="noStrike">
              <a:solidFill>
                <a:schemeClr val="dk1"/>
              </a:solidFill>
              <a:latin typeface="Calibri"/>
              <a:ea typeface="Calibri"/>
              <a:cs typeface="Calibri"/>
              <a:sym typeface="Calibri"/>
            </a:endParaRPr>
          </a:p>
        </p:txBody>
      </p:sp>
      <p:sp>
        <p:nvSpPr>
          <p:cNvPr id="2570" name="Google Shape;2570;p63"/>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Which term is this really about?</a:t>
            </a:r>
            <a:endParaRPr b="0" i="0" sz="3000" u="none" cap="none" strike="noStrike">
              <a:solidFill>
                <a:schemeClr val="dk1"/>
              </a:solidFill>
              <a:latin typeface="Calibri"/>
              <a:ea typeface="Calibri"/>
              <a:cs typeface="Calibri"/>
              <a:sym typeface="Calibri"/>
            </a:endParaRPr>
          </a:p>
        </p:txBody>
      </p:sp>
      <p:pic>
        <p:nvPicPr>
          <p:cNvPr descr="/home/claude/work/renderer/brand/wordmark.png" id="2571" name="Google Shape;2571;p63"/>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572" name="Google Shape;2572;p63"/>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61 / 65</a:t>
            </a:r>
            <a:endParaRPr b="0" i="0" sz="900" u="none" cap="none" strike="noStrike">
              <a:solidFill>
                <a:schemeClr val="dk1"/>
              </a:solidFill>
              <a:latin typeface="Calibri"/>
              <a:ea typeface="Calibri"/>
              <a:cs typeface="Calibri"/>
              <a:sym typeface="Calibri"/>
            </a:endParaRPr>
          </a:p>
        </p:txBody>
      </p:sp>
      <p:sp>
        <p:nvSpPr>
          <p:cNvPr id="2573" name="Google Shape;2573;p63"/>
          <p:cNvSpPr/>
          <p:nvPr/>
        </p:nvSpPr>
        <p:spPr>
          <a:xfrm>
            <a:off x="548640" y="1481328"/>
            <a:ext cx="7406640" cy="3056509"/>
          </a:xfrm>
          <a:prstGeom prst="roundRect">
            <a:avLst>
              <a:gd fmla="val 3590"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63"/>
          <p:cNvSpPr txBox="1"/>
          <p:nvPr/>
        </p:nvSpPr>
        <p:spPr>
          <a:xfrm>
            <a:off x="859536" y="1664208"/>
            <a:ext cx="6784848" cy="310896"/>
          </a:xfrm>
          <a:prstGeom prst="rect">
            <a:avLst/>
          </a:prstGeom>
          <a:noFill/>
          <a:ln>
            <a:noFill/>
          </a:ln>
        </p:spPr>
        <p:txBody>
          <a:bodyPr anchorCtr="0" anchor="t" bIns="0" lIns="0" spcFirstLastPara="1" rIns="0" wrap="square" tIns="0">
            <a:noAutofit/>
          </a:bodyPr>
          <a:lstStyle/>
          <a:p>
            <a:pPr indent="0" lvl="0" marL="0" marR="0" rtl="0" algn="l">
              <a:lnSpc>
                <a:spcPct val="135034"/>
              </a:lnSpc>
              <a:spcBef>
                <a:spcPts val="0"/>
              </a:spcBef>
              <a:spcAft>
                <a:spcPts val="0"/>
              </a:spcAft>
              <a:buClr>
                <a:srgbClr val="171717"/>
              </a:buClr>
              <a:buSzPts val="1450"/>
              <a:buFont typeface="Inter"/>
              <a:buNone/>
            </a:pPr>
            <a:r>
              <a:rPr b="1" i="0" lang="en-US" sz="1450" u="none" cap="none" strike="noStrike">
                <a:solidFill>
                  <a:srgbClr val="171717"/>
                </a:solidFill>
                <a:latin typeface="Inter"/>
                <a:ea typeface="Inter"/>
                <a:cs typeface="Inter"/>
                <a:sym typeface="Inter"/>
              </a:rPr>
              <a:t>Should I worry about October?</a:t>
            </a:r>
            <a:endParaRPr b="0" i="0" sz="1450" u="none" cap="none" strike="noStrike">
              <a:solidFill>
                <a:schemeClr val="dk1"/>
              </a:solidFill>
              <a:latin typeface="Calibri"/>
              <a:ea typeface="Calibri"/>
              <a:cs typeface="Calibri"/>
              <a:sym typeface="Calibri"/>
            </a:endParaRPr>
          </a:p>
        </p:txBody>
      </p:sp>
      <p:sp>
        <p:nvSpPr>
          <p:cNvPr id="2575" name="Google Shape;2575;p63"/>
          <p:cNvSpPr/>
          <p:nvPr/>
        </p:nvSpPr>
        <p:spPr>
          <a:xfrm>
            <a:off x="859536" y="2157984"/>
            <a:ext cx="402336" cy="402336"/>
          </a:xfrm>
          <a:prstGeom prst="ellipse">
            <a:avLst/>
          </a:prstGeom>
          <a:solidFill>
            <a:srgbClr val="E7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63"/>
          <p:cNvSpPr txBox="1"/>
          <p:nvPr/>
        </p:nvSpPr>
        <p:spPr>
          <a:xfrm>
            <a:off x="859536" y="215798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004FAA"/>
              </a:buClr>
              <a:buSzPts val="1200"/>
              <a:buFont typeface="Inter"/>
              <a:buNone/>
            </a:pPr>
            <a:r>
              <a:rPr b="1" i="0" lang="en-US" sz="1200" u="none" cap="none" strike="noStrike">
                <a:solidFill>
                  <a:srgbClr val="004FAA"/>
                </a:solidFill>
                <a:latin typeface="Inter"/>
                <a:ea typeface="Inter"/>
                <a:cs typeface="Inter"/>
                <a:sym typeface="Inter"/>
              </a:rPr>
              <a:t>P</a:t>
            </a:r>
            <a:endParaRPr b="0" i="0" sz="1200" u="none" cap="none" strike="noStrike">
              <a:solidFill>
                <a:schemeClr val="dk1"/>
              </a:solidFill>
              <a:latin typeface="Calibri"/>
              <a:ea typeface="Calibri"/>
              <a:cs typeface="Calibri"/>
              <a:sym typeface="Calibri"/>
            </a:endParaRPr>
          </a:p>
        </p:txBody>
      </p:sp>
      <p:sp>
        <p:nvSpPr>
          <p:cNvPr id="2577" name="Google Shape;2577;p63"/>
          <p:cNvSpPr txBox="1"/>
          <p:nvPr/>
        </p:nvSpPr>
        <p:spPr>
          <a:xfrm>
            <a:off x="1389888" y="2130552"/>
            <a:ext cx="6254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1717"/>
              </a:buClr>
              <a:buSzPts val="1150"/>
              <a:buFont typeface="Inter"/>
              <a:buNone/>
            </a:pPr>
            <a:r>
              <a:rPr b="1" i="0" lang="en-US" sz="1150" u="none" cap="none" strike="noStrike">
                <a:solidFill>
                  <a:srgbClr val="171717"/>
                </a:solidFill>
                <a:latin typeface="Inter"/>
                <a:ea typeface="Inter"/>
                <a:cs typeface="Inter"/>
                <a:sym typeface="Inter"/>
              </a:rPr>
              <a:t>Priya  </a:t>
            </a:r>
            <a:r>
              <a:rPr b="0" i="0" lang="en-US" sz="950" u="none" cap="none" strike="noStrike">
                <a:solidFill>
                  <a:srgbClr val="737373"/>
                </a:solidFill>
                <a:latin typeface="Roboto Mono"/>
                <a:ea typeface="Roboto Mono"/>
                <a:cs typeface="Roboto Mono"/>
                <a:sym typeface="Roboto Mono"/>
              </a:rPr>
              <a:t>&lt;priya@boutique-hotel.example&gt;</a:t>
            </a:r>
            <a:endParaRPr b="0" i="0" sz="1150" u="none" cap="none" strike="noStrike">
              <a:solidFill>
                <a:schemeClr val="dk1"/>
              </a:solidFill>
              <a:latin typeface="Calibri"/>
              <a:ea typeface="Calibri"/>
              <a:cs typeface="Calibri"/>
              <a:sym typeface="Calibri"/>
            </a:endParaRPr>
          </a:p>
        </p:txBody>
      </p:sp>
      <p:sp>
        <p:nvSpPr>
          <p:cNvPr id="2578" name="Google Shape;2578;p63"/>
          <p:cNvSpPr txBox="1"/>
          <p:nvPr/>
        </p:nvSpPr>
        <p:spPr>
          <a:xfrm>
            <a:off x="1389888" y="2359152"/>
            <a:ext cx="2743200" cy="201168"/>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Inter"/>
              <a:buNone/>
            </a:pPr>
            <a:r>
              <a:rPr b="0" i="0" lang="en-US" sz="950" u="none" cap="none" strike="noStrike">
                <a:solidFill>
                  <a:srgbClr val="737373"/>
                </a:solidFill>
                <a:latin typeface="Inter"/>
                <a:ea typeface="Inter"/>
                <a:cs typeface="Inter"/>
                <a:sym typeface="Inter"/>
              </a:rPr>
              <a:t>to: you</a:t>
            </a:r>
            <a:endParaRPr b="0" i="0" sz="950" u="none" cap="none" strike="noStrike">
              <a:solidFill>
                <a:schemeClr val="dk1"/>
              </a:solidFill>
              <a:latin typeface="Calibri"/>
              <a:ea typeface="Calibri"/>
              <a:cs typeface="Calibri"/>
              <a:sym typeface="Calibri"/>
            </a:endParaRPr>
          </a:p>
        </p:txBody>
      </p:sp>
      <p:cxnSp>
        <p:nvCxnSpPr>
          <p:cNvPr id="2579" name="Google Shape;2579;p63"/>
          <p:cNvCxnSpPr/>
          <p:nvPr/>
        </p:nvCxnSpPr>
        <p:spPr>
          <a:xfrm>
            <a:off x="859536" y="2706624"/>
            <a:ext cx="6784848" cy="0"/>
          </a:xfrm>
          <a:prstGeom prst="straightConnector1">
            <a:avLst/>
          </a:prstGeom>
          <a:noFill/>
          <a:ln cap="flat" cmpd="sng" w="12700">
            <a:solidFill>
              <a:srgbClr val="E5E5E5"/>
            </a:solidFill>
            <a:prstDash val="solid"/>
            <a:round/>
            <a:headEnd len="sm" w="sm" type="none"/>
            <a:tailEnd len="sm" w="sm" type="none"/>
          </a:ln>
        </p:spPr>
      </p:cxnSp>
      <p:sp>
        <p:nvSpPr>
          <p:cNvPr id="2580" name="Google Shape;2580;p63"/>
          <p:cNvSpPr txBox="1"/>
          <p:nvPr/>
        </p:nvSpPr>
        <p:spPr>
          <a:xfrm>
            <a:off x="859536" y="2852928"/>
            <a:ext cx="6784848" cy="4368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04040"/>
              </a:buClr>
              <a:buSzPts val="1100"/>
              <a:buFont typeface="Inter"/>
              <a:buNone/>
            </a:pPr>
            <a:r>
              <a:rPr b="0" i="0" lang="en-US" sz="1100" u="none" cap="none" strike="noStrike">
                <a:solidFill>
                  <a:srgbClr val="404040"/>
                </a:solidFill>
                <a:latin typeface="Inter"/>
                <a:ea typeface="Inter"/>
                <a:cs typeface="Inter"/>
                <a:sym typeface="Inter"/>
              </a:rPr>
              <a:t>Three months out, July was already 70% booked. October is three months out now and sitting at 30%. Is October in trouble?</a:t>
            </a:r>
            <a:endParaRPr b="0" i="0" sz="1100" u="none" cap="none" strike="noStrike">
              <a:solidFill>
                <a:schemeClr val="dk1"/>
              </a:solidFill>
              <a:latin typeface="Calibri"/>
              <a:ea typeface="Calibri"/>
              <a:cs typeface="Calibri"/>
              <a:sym typeface="Calibri"/>
            </a:endParaRPr>
          </a:p>
        </p:txBody>
      </p:sp>
      <p:sp>
        <p:nvSpPr>
          <p:cNvPr id="2581" name="Google Shape;2581;p63"/>
          <p:cNvSpPr/>
          <p:nvPr/>
        </p:nvSpPr>
        <p:spPr>
          <a:xfrm>
            <a:off x="548640" y="4720717"/>
            <a:ext cx="7406640" cy="1588643"/>
          </a:xfrm>
          <a:prstGeom prst="roundRect">
            <a:avLst>
              <a:gd fmla="val 6907"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63"/>
          <p:cNvSpPr txBox="1"/>
          <p:nvPr/>
        </p:nvSpPr>
        <p:spPr>
          <a:xfrm>
            <a:off x="859536" y="4903597"/>
            <a:ext cx="6784848" cy="2011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5803D"/>
              </a:buClr>
              <a:buSzPts val="900"/>
              <a:buFont typeface="Roboto Mono"/>
              <a:buNone/>
            </a:pPr>
            <a:r>
              <a:rPr b="0" i="0" lang="en-US" sz="900" u="none" cap="none" strike="noStrike">
                <a:solidFill>
                  <a:srgbClr val="15803D"/>
                </a:solidFill>
                <a:latin typeface="Roboto Mono"/>
                <a:ea typeface="Roboto Mono"/>
                <a:cs typeface="Roboto Mono"/>
                <a:sym typeface="Roboto Mono"/>
              </a:rPr>
              <a:t>WHY</a:t>
            </a:r>
            <a:endParaRPr b="0" i="0" sz="900" u="none" cap="none" strike="noStrike">
              <a:solidFill>
                <a:schemeClr val="dk1"/>
              </a:solidFill>
              <a:latin typeface="Calibri"/>
              <a:ea typeface="Calibri"/>
              <a:cs typeface="Calibri"/>
              <a:sym typeface="Calibri"/>
            </a:endParaRPr>
          </a:p>
        </p:txBody>
      </p:sp>
      <p:sp>
        <p:nvSpPr>
          <p:cNvPr id="2583" name="Google Shape;2583;p63"/>
          <p:cNvSpPr txBox="1"/>
          <p:nvPr/>
        </p:nvSpPr>
        <p:spPr>
          <a:xfrm>
            <a:off x="859536" y="5159629"/>
            <a:ext cx="6784848" cy="65722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04040"/>
              </a:buClr>
              <a:buSzPts val="1100"/>
              <a:buFont typeface="Inter"/>
              <a:buNone/>
            </a:pPr>
            <a:r>
              <a:rPr b="1" i="0" lang="en-US" sz="1100" u="none" cap="none" strike="noStrike">
                <a:solidFill>
                  <a:srgbClr val="404040"/>
                </a:solidFill>
                <a:latin typeface="Inter"/>
                <a:ea typeface="Inter"/>
                <a:cs typeface="Inter"/>
                <a:sym typeface="Inter"/>
              </a:rPr>
              <a:t>Booking curve</a:t>
            </a:r>
            <a:r>
              <a:rPr b="0" i="0" lang="en-US" sz="1100" u="none" cap="none" strike="noStrike">
                <a:solidFill>
                  <a:srgbClr val="404040"/>
                </a:solidFill>
                <a:latin typeface="Inter"/>
                <a:ea typeface="Inter"/>
                <a:cs typeface="Inter"/>
                <a:sym typeface="Inter"/>
              </a:rPr>
              <a:t>: July and October fill on different curves, so 70% and 30% at three months out are two different shapes, not one problem. You cannot call October soft until you compare it with October's own curve. Slow season is her fear, not the diagnosis.</a:t>
            </a:r>
            <a:endParaRPr b="0" i="0" sz="1100" u="none" cap="none" strike="noStrike">
              <a:solidFill>
                <a:schemeClr val="dk1"/>
              </a:solidFill>
              <a:latin typeface="Calibri"/>
              <a:ea typeface="Calibri"/>
              <a:cs typeface="Calibri"/>
              <a:sym typeface="Calibri"/>
            </a:endParaRPr>
          </a:p>
        </p:txBody>
      </p:sp>
      <p:sp>
        <p:nvSpPr>
          <p:cNvPr id="2584" name="Google Shape;2584;p63"/>
          <p:cNvSpPr txBox="1"/>
          <p:nvPr/>
        </p:nvSpPr>
        <p:spPr>
          <a:xfrm>
            <a:off x="859536" y="5853430"/>
            <a:ext cx="6784848" cy="30962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5803D"/>
              </a:buClr>
              <a:buSzPts val="1100"/>
              <a:buFont typeface="Inter"/>
              <a:buNone/>
            </a:pPr>
            <a:r>
              <a:rPr b="1" i="0" lang="en-US" sz="1100" u="none" cap="none" strike="noStrike">
                <a:solidFill>
                  <a:srgbClr val="15803D"/>
                </a:solidFill>
                <a:latin typeface="Inter"/>
                <a:ea typeface="Inter"/>
                <a:cs typeface="Inter"/>
                <a:sym typeface="Inter"/>
              </a:rPr>
              <a:t>Say this: “Let's compare October with how October usually fills.”</a:t>
            </a:r>
            <a:endParaRPr b="0" i="0" sz="1100" u="none" cap="none" strike="noStrike">
              <a:solidFill>
                <a:schemeClr val="dk1"/>
              </a:solidFill>
              <a:latin typeface="Calibri"/>
              <a:ea typeface="Calibri"/>
              <a:cs typeface="Calibri"/>
              <a:sym typeface="Calibri"/>
            </a:endParaRPr>
          </a:p>
        </p:txBody>
      </p:sp>
      <p:sp>
        <p:nvSpPr>
          <p:cNvPr id="2585" name="Google Shape;2585;p63"/>
          <p:cNvSpPr/>
          <p:nvPr/>
        </p:nvSpPr>
        <p:spPr>
          <a:xfrm>
            <a:off x="8275320" y="1481328"/>
            <a:ext cx="3364992" cy="4828032"/>
          </a:xfrm>
          <a:prstGeom prst="roundRect">
            <a:avLst>
              <a:gd fmla="val 326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63"/>
          <p:cNvSpPr/>
          <p:nvPr/>
        </p:nvSpPr>
        <p:spPr>
          <a:xfrm>
            <a:off x="8549640" y="177393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message-question.png" id="2587" name="Google Shape;2587;p63"/>
          <p:cNvPicPr preferRelativeResize="0"/>
          <p:nvPr/>
        </p:nvPicPr>
        <p:blipFill rotWithShape="1">
          <a:blip r:embed="rId4">
            <a:alphaModFix/>
          </a:blip>
          <a:srcRect b="0" l="0" r="0" t="0"/>
          <a:stretch/>
        </p:blipFill>
        <p:spPr>
          <a:xfrm>
            <a:off x="8654247" y="1878543"/>
            <a:ext cx="266273" cy="266273"/>
          </a:xfrm>
          <a:prstGeom prst="rect">
            <a:avLst/>
          </a:prstGeom>
          <a:noFill/>
          <a:ln>
            <a:noFill/>
          </a:ln>
        </p:spPr>
      </p:pic>
      <p:sp>
        <p:nvSpPr>
          <p:cNvPr id="2588" name="Google Shape;2588;p63"/>
          <p:cNvSpPr txBox="1"/>
          <p:nvPr/>
        </p:nvSpPr>
        <p:spPr>
          <a:xfrm>
            <a:off x="8549640" y="2450592"/>
            <a:ext cx="2816352" cy="219456"/>
          </a:xfrm>
          <a:prstGeom prst="rect">
            <a:avLst/>
          </a:prstGeom>
          <a:noFill/>
          <a:ln>
            <a:noFill/>
          </a:ln>
        </p:spPr>
        <p:txBody>
          <a:bodyPr anchorCtr="0" anchor="ctr" bIns="0" lIns="0" spcFirstLastPara="1" rIns="0" wrap="square" tIns="0">
            <a:noAutofit/>
          </a:bodyPr>
          <a:lstStyle/>
          <a:p>
            <a:pPr indent="0" lvl="0" marL="0" marR="0" rtl="0" algn="l">
              <a:lnSpc>
                <a:spcPct val="135052"/>
              </a:lnSpc>
              <a:spcBef>
                <a:spcPts val="0"/>
              </a:spcBef>
              <a:spcAft>
                <a:spcPts val="0"/>
              </a:spcAft>
              <a:buClr>
                <a:srgbClr val="737373"/>
              </a:buClr>
              <a:buSzPts val="950"/>
              <a:buFont typeface="Roboto Mono"/>
              <a:buNone/>
            </a:pPr>
            <a:r>
              <a:rPr b="0" i="0" lang="en-US" sz="950" u="none" cap="none" strike="noStrike">
                <a:solidFill>
                  <a:srgbClr val="737373"/>
                </a:solidFill>
                <a:latin typeface="Roboto Mono"/>
                <a:ea typeface="Roboto Mono"/>
                <a:cs typeface="Roboto Mono"/>
                <a:sym typeface="Roboto Mono"/>
              </a:rPr>
              <a:t>THE ANSWER</a:t>
            </a:r>
            <a:endParaRPr b="0" i="0" sz="950" u="none" cap="none" strike="noStrike">
              <a:solidFill>
                <a:schemeClr val="dk1"/>
              </a:solidFill>
              <a:latin typeface="Calibri"/>
              <a:ea typeface="Calibri"/>
              <a:cs typeface="Calibri"/>
              <a:sym typeface="Calibri"/>
            </a:endParaRPr>
          </a:p>
        </p:txBody>
      </p:sp>
      <p:sp>
        <p:nvSpPr>
          <p:cNvPr id="2589" name="Google Shape;2589;p63"/>
          <p:cNvSpPr txBox="1"/>
          <p:nvPr/>
        </p:nvSpPr>
        <p:spPr>
          <a:xfrm>
            <a:off x="8549640" y="2688336"/>
            <a:ext cx="2816352" cy="3657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800"/>
              <a:buFont typeface="Inter"/>
              <a:buNone/>
            </a:pPr>
            <a:r>
              <a:rPr b="1" i="0" lang="en-US" sz="1800" u="none" cap="none" strike="noStrike">
                <a:solidFill>
                  <a:srgbClr val="171717"/>
                </a:solidFill>
                <a:latin typeface="Inter"/>
                <a:ea typeface="Inter"/>
                <a:cs typeface="Inter"/>
                <a:sym typeface="Inter"/>
              </a:rPr>
              <a:t>The answer</a:t>
            </a:r>
            <a:endParaRPr b="0" i="0" sz="1800" u="none" cap="none" strike="noStrike">
              <a:solidFill>
                <a:schemeClr val="dk1"/>
              </a:solidFill>
              <a:latin typeface="Calibri"/>
              <a:ea typeface="Calibri"/>
              <a:cs typeface="Calibri"/>
              <a:sym typeface="Calibri"/>
            </a:endParaRPr>
          </a:p>
        </p:txBody>
      </p:sp>
      <p:sp>
        <p:nvSpPr>
          <p:cNvPr id="2590" name="Google Shape;2590;p63"/>
          <p:cNvSpPr/>
          <p:nvPr/>
        </p:nvSpPr>
        <p:spPr>
          <a:xfrm>
            <a:off x="8549640" y="3200400"/>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63"/>
          <p:cNvSpPr/>
          <p:nvPr/>
        </p:nvSpPr>
        <p:spPr>
          <a:xfrm>
            <a:off x="8750808" y="3282696"/>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63"/>
          <p:cNvSpPr txBox="1"/>
          <p:nvPr/>
        </p:nvSpPr>
        <p:spPr>
          <a:xfrm>
            <a:off x="8750808" y="328269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593" name="Google Shape;2593;p63"/>
          <p:cNvSpPr txBox="1"/>
          <p:nvPr/>
        </p:nvSpPr>
        <p:spPr>
          <a:xfrm>
            <a:off x="9189720" y="3200400"/>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Soft dates</a:t>
            </a:r>
            <a:endParaRPr b="0" i="0" sz="1250" u="none" cap="none" strike="noStrike">
              <a:solidFill>
                <a:schemeClr val="dk1"/>
              </a:solidFill>
              <a:latin typeface="Calibri"/>
              <a:ea typeface="Calibri"/>
              <a:cs typeface="Calibri"/>
              <a:sym typeface="Calibri"/>
            </a:endParaRPr>
          </a:p>
        </p:txBody>
      </p:sp>
      <p:sp>
        <p:nvSpPr>
          <p:cNvPr id="2594" name="Google Shape;2594;p63"/>
          <p:cNvSpPr/>
          <p:nvPr/>
        </p:nvSpPr>
        <p:spPr>
          <a:xfrm>
            <a:off x="8549640" y="3785616"/>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63"/>
          <p:cNvSpPr/>
          <p:nvPr/>
        </p:nvSpPr>
        <p:spPr>
          <a:xfrm>
            <a:off x="8750808" y="3867912"/>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63"/>
          <p:cNvSpPr txBox="1"/>
          <p:nvPr/>
        </p:nvSpPr>
        <p:spPr>
          <a:xfrm>
            <a:off x="8750808" y="386791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597" name="Google Shape;2597;p63"/>
          <p:cNvSpPr txBox="1"/>
          <p:nvPr/>
        </p:nvSpPr>
        <p:spPr>
          <a:xfrm>
            <a:off x="9189720" y="3785616"/>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Regret</a:t>
            </a:r>
            <a:endParaRPr b="0" i="0" sz="1250" u="none" cap="none" strike="noStrike">
              <a:solidFill>
                <a:schemeClr val="dk1"/>
              </a:solidFill>
              <a:latin typeface="Calibri"/>
              <a:ea typeface="Calibri"/>
              <a:cs typeface="Calibri"/>
              <a:sym typeface="Calibri"/>
            </a:endParaRPr>
          </a:p>
        </p:txBody>
      </p:sp>
      <p:sp>
        <p:nvSpPr>
          <p:cNvPr id="2598" name="Google Shape;2598;p63"/>
          <p:cNvSpPr/>
          <p:nvPr/>
        </p:nvSpPr>
        <p:spPr>
          <a:xfrm>
            <a:off x="8549640" y="4370832"/>
            <a:ext cx="2816352" cy="475488"/>
          </a:xfrm>
          <a:prstGeom prst="roundRect">
            <a:avLst>
              <a:gd fmla="val 19231" name="adj"/>
            </a:avLst>
          </a:prstGeom>
          <a:solidFill>
            <a:srgbClr val="F0FDF4"/>
          </a:solidFill>
          <a:ln cap="flat" cmpd="sng" w="12700">
            <a:solidFill>
              <a:srgbClr val="BBE5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heck-circle.png" id="2599" name="Google Shape;2599;p63"/>
          <p:cNvPicPr preferRelativeResize="0"/>
          <p:nvPr/>
        </p:nvPicPr>
        <p:blipFill rotWithShape="1">
          <a:blip r:embed="rId5">
            <a:alphaModFix/>
          </a:blip>
          <a:srcRect b="0" l="0" r="0" t="0"/>
          <a:stretch/>
        </p:blipFill>
        <p:spPr>
          <a:xfrm>
            <a:off x="8750808" y="4453128"/>
            <a:ext cx="310896" cy="310896"/>
          </a:xfrm>
          <a:prstGeom prst="rect">
            <a:avLst/>
          </a:prstGeom>
          <a:noFill/>
          <a:ln>
            <a:noFill/>
          </a:ln>
        </p:spPr>
      </p:pic>
      <p:sp>
        <p:nvSpPr>
          <p:cNvPr id="2600" name="Google Shape;2600;p63"/>
          <p:cNvSpPr txBox="1"/>
          <p:nvPr/>
        </p:nvSpPr>
        <p:spPr>
          <a:xfrm>
            <a:off x="9189720" y="4370832"/>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50"/>
              <a:buFont typeface="Inter"/>
              <a:buNone/>
            </a:pPr>
            <a:r>
              <a:rPr b="1" i="0" lang="en-US" sz="1250" u="none" cap="none" strike="noStrike">
                <a:solidFill>
                  <a:srgbClr val="15803D"/>
                </a:solidFill>
                <a:latin typeface="Inter"/>
                <a:ea typeface="Inter"/>
                <a:cs typeface="Inter"/>
                <a:sym typeface="Inter"/>
              </a:rPr>
              <a:t>Booking curve</a:t>
            </a:r>
            <a:endParaRPr b="0" i="0" sz="1250" u="none" cap="none" strike="noStrike">
              <a:solidFill>
                <a:schemeClr val="dk1"/>
              </a:solidFill>
              <a:latin typeface="Calibri"/>
              <a:ea typeface="Calibri"/>
              <a:cs typeface="Calibri"/>
              <a:sym typeface="Calibri"/>
            </a:endParaRPr>
          </a:p>
        </p:txBody>
      </p:sp>
      <p:sp>
        <p:nvSpPr>
          <p:cNvPr id="2601" name="Google Shape;2601;p63"/>
          <p:cNvSpPr/>
          <p:nvPr/>
        </p:nvSpPr>
        <p:spPr>
          <a:xfrm>
            <a:off x="8549640" y="4956048"/>
            <a:ext cx="2816352" cy="475488"/>
          </a:xfrm>
          <a:prstGeom prst="roundRect">
            <a:avLst>
              <a:gd fmla="val 1923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63"/>
          <p:cNvSpPr/>
          <p:nvPr/>
        </p:nvSpPr>
        <p:spPr>
          <a:xfrm>
            <a:off x="8750808" y="5038344"/>
            <a:ext cx="310896" cy="310896"/>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63"/>
          <p:cNvSpPr txBox="1"/>
          <p:nvPr/>
        </p:nvSpPr>
        <p:spPr>
          <a:xfrm>
            <a:off x="8750808" y="503834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604" name="Google Shape;2604;p63"/>
          <p:cNvSpPr txBox="1"/>
          <p:nvPr/>
        </p:nvSpPr>
        <p:spPr>
          <a:xfrm>
            <a:off x="9189720" y="4956048"/>
            <a:ext cx="202996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A3A3"/>
              </a:buClr>
              <a:buSzPts val="1250"/>
              <a:buFont typeface="Inter"/>
              <a:buNone/>
            </a:pPr>
            <a:r>
              <a:rPr b="1" i="0" lang="en-US" sz="1250" u="none" cap="none" strike="noStrike">
                <a:solidFill>
                  <a:srgbClr val="A3A3A3"/>
                </a:solidFill>
                <a:latin typeface="Inter"/>
                <a:ea typeface="Inter"/>
                <a:cs typeface="Inter"/>
                <a:sym typeface="Inter"/>
              </a:rPr>
              <a:t>Slow season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609" name="Shape 2609"/>
        <p:cNvGrpSpPr/>
        <p:nvPr/>
      </p:nvGrpSpPr>
      <p:grpSpPr>
        <a:xfrm>
          <a:off x="0" y="0"/>
          <a:ext cx="0" cy="0"/>
          <a:chOff x="0" y="0"/>
          <a:chExt cx="0" cy="0"/>
        </a:xfrm>
      </p:grpSpPr>
      <p:sp>
        <p:nvSpPr>
          <p:cNvPr id="2610" name="Google Shape;2610;p64"/>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05 · A TERM YOU CAN'T PLACE, LIVE ON A CALL</a:t>
            </a:r>
            <a:endParaRPr b="0" i="0" sz="1050" u="none" cap="none" strike="noStrike">
              <a:solidFill>
                <a:schemeClr val="dk1"/>
              </a:solidFill>
              <a:latin typeface="Calibri"/>
              <a:ea typeface="Calibri"/>
              <a:cs typeface="Calibri"/>
              <a:sym typeface="Calibri"/>
            </a:endParaRPr>
          </a:p>
        </p:txBody>
      </p:sp>
      <p:sp>
        <p:nvSpPr>
          <p:cNvPr id="2611" name="Google Shape;2611;p64"/>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Three moves, none of them bluffing</a:t>
            </a:r>
            <a:endParaRPr b="0" i="0" sz="3000" u="none" cap="none" strike="noStrike">
              <a:solidFill>
                <a:schemeClr val="dk1"/>
              </a:solidFill>
              <a:latin typeface="Calibri"/>
              <a:ea typeface="Calibri"/>
              <a:cs typeface="Calibri"/>
              <a:sym typeface="Calibri"/>
            </a:endParaRPr>
          </a:p>
        </p:txBody>
      </p:sp>
      <p:pic>
        <p:nvPicPr>
          <p:cNvPr descr="/home/claude/work/renderer/brand/wordmark.png" id="2612" name="Google Shape;2612;p64"/>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613" name="Google Shape;2613;p64"/>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62 / 65</a:t>
            </a:r>
            <a:endParaRPr b="0" i="0" sz="900" u="none" cap="none" strike="noStrike">
              <a:solidFill>
                <a:schemeClr val="dk1"/>
              </a:solidFill>
              <a:latin typeface="Calibri"/>
              <a:ea typeface="Calibri"/>
              <a:cs typeface="Calibri"/>
              <a:sym typeface="Calibri"/>
            </a:endParaRPr>
          </a:p>
        </p:txBody>
      </p:sp>
      <p:sp>
        <p:nvSpPr>
          <p:cNvPr id="2614" name="Google Shape;2614;p64"/>
          <p:cNvSpPr/>
          <p:nvPr/>
        </p:nvSpPr>
        <p:spPr>
          <a:xfrm>
            <a:off x="548640" y="1783080"/>
            <a:ext cx="11094415" cy="1399032"/>
          </a:xfrm>
          <a:prstGeom prst="roundRect">
            <a:avLst>
              <a:gd fmla="val 784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64"/>
          <p:cNvSpPr/>
          <p:nvPr/>
        </p:nvSpPr>
        <p:spPr>
          <a:xfrm>
            <a:off x="804672" y="2263140"/>
            <a:ext cx="438912" cy="438912"/>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64"/>
          <p:cNvSpPr txBox="1"/>
          <p:nvPr/>
        </p:nvSpPr>
        <p:spPr>
          <a:xfrm>
            <a:off x="804672" y="2263140"/>
            <a:ext cx="438912" cy="438912"/>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2617" name="Google Shape;2617;p64"/>
          <p:cNvSpPr txBox="1"/>
          <p:nvPr/>
        </p:nvSpPr>
        <p:spPr>
          <a:xfrm>
            <a:off x="1444752" y="1901952"/>
            <a:ext cx="4206240" cy="116128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Ask which they mean</a:t>
            </a:r>
            <a:endParaRPr b="0" i="0" sz="1500" u="none" cap="none" strike="noStrike">
              <a:solidFill>
                <a:schemeClr val="dk1"/>
              </a:solidFill>
              <a:latin typeface="Calibri"/>
              <a:ea typeface="Calibri"/>
              <a:cs typeface="Calibri"/>
              <a:sym typeface="Calibri"/>
            </a:endParaRPr>
          </a:p>
        </p:txBody>
      </p:sp>
      <p:sp>
        <p:nvSpPr>
          <p:cNvPr id="2618" name="Google Shape;2618;p64"/>
          <p:cNvSpPr txBox="1"/>
          <p:nvPr/>
        </p:nvSpPr>
        <p:spPr>
          <a:xfrm>
            <a:off x="5742432" y="1901952"/>
            <a:ext cx="5644591" cy="1161288"/>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“Remind me how you're counting that?” is a revenue manager's question, not a beginner's. Owners define their own words differently.</a:t>
            </a:r>
            <a:endParaRPr b="0" i="0" sz="1150" u="none" cap="none" strike="noStrike">
              <a:solidFill>
                <a:schemeClr val="dk1"/>
              </a:solidFill>
              <a:latin typeface="Calibri"/>
              <a:ea typeface="Calibri"/>
              <a:cs typeface="Calibri"/>
              <a:sym typeface="Calibri"/>
            </a:endParaRPr>
          </a:p>
        </p:txBody>
      </p:sp>
      <p:sp>
        <p:nvSpPr>
          <p:cNvPr id="2619" name="Google Shape;2619;p64"/>
          <p:cNvSpPr/>
          <p:nvPr/>
        </p:nvSpPr>
        <p:spPr>
          <a:xfrm>
            <a:off x="548640" y="3364992"/>
            <a:ext cx="11094415" cy="1399032"/>
          </a:xfrm>
          <a:prstGeom prst="roundRect">
            <a:avLst>
              <a:gd fmla="val 784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64"/>
          <p:cNvSpPr/>
          <p:nvPr/>
        </p:nvSpPr>
        <p:spPr>
          <a:xfrm>
            <a:off x="804672" y="3845052"/>
            <a:ext cx="438912" cy="438912"/>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64"/>
          <p:cNvSpPr txBox="1"/>
          <p:nvPr/>
        </p:nvSpPr>
        <p:spPr>
          <a:xfrm>
            <a:off x="804672" y="3845052"/>
            <a:ext cx="438912" cy="438912"/>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2622" name="Google Shape;2622;p64"/>
          <p:cNvSpPr txBox="1"/>
          <p:nvPr/>
        </p:nvSpPr>
        <p:spPr>
          <a:xfrm>
            <a:off x="1444752" y="3483864"/>
            <a:ext cx="4206240" cy="116128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Open the dictionary</a:t>
            </a:r>
            <a:endParaRPr b="0" i="0" sz="1500" u="none" cap="none" strike="noStrike">
              <a:solidFill>
                <a:schemeClr val="dk1"/>
              </a:solidFill>
              <a:latin typeface="Calibri"/>
              <a:ea typeface="Calibri"/>
              <a:cs typeface="Calibri"/>
              <a:sym typeface="Calibri"/>
            </a:endParaRPr>
          </a:p>
        </p:txBody>
      </p:sp>
      <p:sp>
        <p:nvSpPr>
          <p:cNvPr id="2623" name="Google Shape;2623;p64"/>
          <p:cNvSpPr txBox="1"/>
          <p:nvPr/>
        </p:nvSpPr>
        <p:spPr>
          <a:xfrm>
            <a:off x="5742432" y="3483864"/>
            <a:ext cx="5644591" cy="1161288"/>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It is built for the call: the PDF now, and the terms page on the HGM portal. Link to follow.</a:t>
            </a:r>
            <a:endParaRPr b="0" i="0" sz="1150" u="none" cap="none" strike="noStrike">
              <a:solidFill>
                <a:schemeClr val="dk1"/>
              </a:solidFill>
              <a:latin typeface="Calibri"/>
              <a:ea typeface="Calibri"/>
              <a:cs typeface="Calibri"/>
              <a:sym typeface="Calibri"/>
            </a:endParaRPr>
          </a:p>
        </p:txBody>
      </p:sp>
      <p:sp>
        <p:nvSpPr>
          <p:cNvPr id="2624" name="Google Shape;2624;p64"/>
          <p:cNvSpPr/>
          <p:nvPr/>
        </p:nvSpPr>
        <p:spPr>
          <a:xfrm>
            <a:off x="548640" y="4946904"/>
            <a:ext cx="11094415" cy="1399032"/>
          </a:xfrm>
          <a:prstGeom prst="roundRect">
            <a:avLst>
              <a:gd fmla="val 7843"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64"/>
          <p:cNvSpPr/>
          <p:nvPr/>
        </p:nvSpPr>
        <p:spPr>
          <a:xfrm>
            <a:off x="804672" y="5426964"/>
            <a:ext cx="438912" cy="438912"/>
          </a:xfrm>
          <a:prstGeom prst="ellipse">
            <a:avLst/>
          </a:prstGeom>
          <a:solidFill>
            <a:srgbClr val="006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64"/>
          <p:cNvSpPr txBox="1"/>
          <p:nvPr/>
        </p:nvSpPr>
        <p:spPr>
          <a:xfrm>
            <a:off x="804672" y="5426964"/>
            <a:ext cx="438912" cy="438912"/>
          </a:xfrm>
          <a:prstGeom prst="rect">
            <a:avLst/>
          </a:prstGeom>
          <a:noFill/>
          <a:ln>
            <a:noFill/>
          </a:ln>
        </p:spPr>
        <p:txBody>
          <a:bodyPr anchorCtr="0" anchor="ctr" bIns="0" lIns="0" spcFirstLastPara="1" rIns="0" wrap="square" tIns="0">
            <a:noAutofit/>
          </a:bodyPr>
          <a:lstStyle/>
          <a:p>
            <a:pPr indent="0" lvl="0" marL="0" marR="0" rtl="0" algn="ctr">
              <a:lnSpc>
                <a:spcPct val="135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2627" name="Google Shape;2627;p64"/>
          <p:cNvSpPr txBox="1"/>
          <p:nvPr/>
        </p:nvSpPr>
        <p:spPr>
          <a:xfrm>
            <a:off x="1444752" y="5065776"/>
            <a:ext cx="4206240" cy="116128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500"/>
              <a:buFont typeface="Inter"/>
              <a:buNone/>
            </a:pPr>
            <a:r>
              <a:rPr b="1" i="0" lang="en-US" sz="1500" u="none" cap="none" strike="noStrike">
                <a:solidFill>
                  <a:srgbClr val="171717"/>
                </a:solidFill>
                <a:latin typeface="Inter"/>
                <a:ea typeface="Inter"/>
                <a:cs typeface="Inter"/>
                <a:sym typeface="Inter"/>
              </a:rPr>
              <a:t>Come back to it</a:t>
            </a:r>
            <a:endParaRPr b="0" i="0" sz="1500" u="none" cap="none" strike="noStrike">
              <a:solidFill>
                <a:schemeClr val="dk1"/>
              </a:solidFill>
              <a:latin typeface="Calibri"/>
              <a:ea typeface="Calibri"/>
              <a:cs typeface="Calibri"/>
              <a:sym typeface="Calibri"/>
            </a:endParaRPr>
          </a:p>
        </p:txBody>
      </p:sp>
      <p:sp>
        <p:nvSpPr>
          <p:cNvPr id="2628" name="Google Shape;2628;p64"/>
          <p:cNvSpPr txBox="1"/>
          <p:nvPr/>
        </p:nvSpPr>
        <p:spPr>
          <a:xfrm>
            <a:off x="5742432" y="5065776"/>
            <a:ext cx="5644591" cy="1161288"/>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525252"/>
              </a:buClr>
              <a:buSzPts val="1150"/>
              <a:buFont typeface="Inter"/>
              <a:buNone/>
            </a:pPr>
            <a:r>
              <a:rPr b="0" i="0" lang="en-US" sz="1150" u="none" cap="none" strike="noStrike">
                <a:solidFill>
                  <a:srgbClr val="525252"/>
                </a:solidFill>
                <a:latin typeface="Inter"/>
                <a:ea typeface="Inter"/>
                <a:cs typeface="Inter"/>
                <a:sym typeface="Inter"/>
              </a:rPr>
              <a:t>“Let me look at that properly and come back to you” costs nothing. Guessing costs the credibility this session exists to protect.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633" name="Shape 2633"/>
        <p:cNvGrpSpPr/>
        <p:nvPr/>
      </p:nvGrpSpPr>
      <p:grpSpPr>
        <a:xfrm>
          <a:off x="0" y="0"/>
          <a:ext cx="0" cy="0"/>
          <a:chOff x="0" y="0"/>
          <a:chExt cx="0" cy="0"/>
        </a:xfrm>
      </p:grpSpPr>
      <p:sp>
        <p:nvSpPr>
          <p:cNvPr id="2634" name="Google Shape;2634;p65"/>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06 · THE RESOURCES</a:t>
            </a:r>
            <a:endParaRPr b="0" i="0" sz="1050" u="none" cap="none" strike="noStrike">
              <a:solidFill>
                <a:schemeClr val="dk1"/>
              </a:solidFill>
              <a:latin typeface="Calibri"/>
              <a:ea typeface="Calibri"/>
              <a:cs typeface="Calibri"/>
              <a:sym typeface="Calibri"/>
            </a:endParaRPr>
          </a:p>
        </p:txBody>
      </p:sp>
      <p:sp>
        <p:nvSpPr>
          <p:cNvPr id="2635" name="Google Shape;2635;p65"/>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What you have, and where it lives</a:t>
            </a:r>
            <a:endParaRPr b="0" i="0" sz="3000" u="none" cap="none" strike="noStrike">
              <a:solidFill>
                <a:schemeClr val="dk1"/>
              </a:solidFill>
              <a:latin typeface="Calibri"/>
              <a:ea typeface="Calibri"/>
              <a:cs typeface="Calibri"/>
              <a:sym typeface="Calibri"/>
            </a:endParaRPr>
          </a:p>
        </p:txBody>
      </p:sp>
      <p:pic>
        <p:nvPicPr>
          <p:cNvPr descr="/home/claude/work/renderer/brand/wordmark.png" id="2636" name="Google Shape;2636;p65"/>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637" name="Google Shape;2637;p65"/>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63 / 65</a:t>
            </a:r>
            <a:endParaRPr b="0" i="0" sz="900" u="none" cap="none" strike="noStrike">
              <a:solidFill>
                <a:schemeClr val="dk1"/>
              </a:solidFill>
              <a:latin typeface="Calibri"/>
              <a:ea typeface="Calibri"/>
              <a:cs typeface="Calibri"/>
              <a:sym typeface="Calibri"/>
            </a:endParaRPr>
          </a:p>
        </p:txBody>
      </p:sp>
      <p:sp>
        <p:nvSpPr>
          <p:cNvPr id="2638" name="Google Shape;2638;p65"/>
          <p:cNvSpPr/>
          <p:nvPr/>
        </p:nvSpPr>
        <p:spPr>
          <a:xfrm>
            <a:off x="548640" y="1783080"/>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65"/>
          <p:cNvSpPr/>
          <p:nvPr/>
        </p:nvSpPr>
        <p:spPr>
          <a:xfrm>
            <a:off x="841248" y="1977847"/>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closed.png" id="2640" name="Google Shape;2640;p65"/>
          <p:cNvPicPr preferRelativeResize="0"/>
          <p:nvPr/>
        </p:nvPicPr>
        <p:blipFill rotWithShape="1">
          <a:blip r:embed="rId4">
            <a:alphaModFix/>
          </a:blip>
          <a:srcRect b="0" l="0" r="0" t="0"/>
          <a:stretch/>
        </p:blipFill>
        <p:spPr>
          <a:xfrm>
            <a:off x="933785" y="2070384"/>
            <a:ext cx="235549" cy="235549"/>
          </a:xfrm>
          <a:prstGeom prst="rect">
            <a:avLst/>
          </a:prstGeom>
          <a:noFill/>
          <a:ln>
            <a:noFill/>
          </a:ln>
        </p:spPr>
      </p:pic>
      <p:sp>
        <p:nvSpPr>
          <p:cNvPr id="2641" name="Google Shape;2641;p65"/>
          <p:cNvSpPr txBox="1"/>
          <p:nvPr/>
        </p:nvSpPr>
        <p:spPr>
          <a:xfrm>
            <a:off x="1536192" y="1901952"/>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HGM Industry Acumen Dictionary</a:t>
            </a:r>
            <a:endParaRPr b="0" i="0" sz="1400" u="none" cap="none" strike="noStrike">
              <a:solidFill>
                <a:schemeClr val="dk1"/>
              </a:solidFill>
              <a:latin typeface="Calibri"/>
              <a:ea typeface="Calibri"/>
              <a:cs typeface="Calibri"/>
              <a:sym typeface="Calibri"/>
            </a:endParaRPr>
          </a:p>
        </p:txBody>
      </p:sp>
      <p:sp>
        <p:nvSpPr>
          <p:cNvPr id="2642" name="Google Shape;2642;p65"/>
          <p:cNvSpPr txBox="1"/>
          <p:nvPr/>
        </p:nvSpPr>
        <p:spPr>
          <a:xfrm>
            <a:off x="5193792" y="1901952"/>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253 terms in nine sections. You have the PDF; it is the pre-reading. Every term has a plain definition, a formula where there is one, and a line you could say on a call.</a:t>
            </a:r>
            <a:endParaRPr b="0" i="0" sz="1100" u="none" cap="none" strike="noStrike">
              <a:solidFill>
                <a:schemeClr val="dk1"/>
              </a:solidFill>
              <a:latin typeface="Calibri"/>
              <a:ea typeface="Calibri"/>
              <a:cs typeface="Calibri"/>
              <a:sym typeface="Calibri"/>
            </a:endParaRPr>
          </a:p>
        </p:txBody>
      </p:sp>
      <p:sp>
        <p:nvSpPr>
          <p:cNvPr id="2643" name="Google Shape;2643;p65"/>
          <p:cNvSpPr/>
          <p:nvPr/>
        </p:nvSpPr>
        <p:spPr>
          <a:xfrm>
            <a:off x="548640" y="2721254"/>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65"/>
          <p:cNvSpPr/>
          <p:nvPr/>
        </p:nvSpPr>
        <p:spPr>
          <a:xfrm>
            <a:off x="841248" y="2916022"/>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file-check.png" id="2645" name="Google Shape;2645;p65"/>
          <p:cNvPicPr preferRelativeResize="0"/>
          <p:nvPr/>
        </p:nvPicPr>
        <p:blipFill rotWithShape="1">
          <a:blip r:embed="rId5">
            <a:alphaModFix/>
          </a:blip>
          <a:srcRect b="0" l="0" r="0" t="0"/>
          <a:stretch/>
        </p:blipFill>
        <p:spPr>
          <a:xfrm>
            <a:off x="933785" y="3008559"/>
            <a:ext cx="235549" cy="235549"/>
          </a:xfrm>
          <a:prstGeom prst="rect">
            <a:avLst/>
          </a:prstGeom>
          <a:noFill/>
          <a:ln>
            <a:noFill/>
          </a:ln>
        </p:spPr>
      </p:pic>
      <p:sp>
        <p:nvSpPr>
          <p:cNvPr id="2646" name="Google Shape;2646;p65"/>
          <p:cNvSpPr txBox="1"/>
          <p:nvPr/>
        </p:nvSpPr>
        <p:spPr>
          <a:xfrm>
            <a:off x="1536192" y="2840126"/>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call cheat sheet</a:t>
            </a:r>
            <a:endParaRPr b="0" i="0" sz="1400" u="none" cap="none" strike="noStrike">
              <a:solidFill>
                <a:schemeClr val="dk1"/>
              </a:solidFill>
              <a:latin typeface="Calibri"/>
              <a:ea typeface="Calibri"/>
              <a:cs typeface="Calibri"/>
              <a:sym typeface="Calibri"/>
            </a:endParaRPr>
          </a:p>
        </p:txBody>
      </p:sp>
      <p:sp>
        <p:nvSpPr>
          <p:cNvPr id="2647" name="Google Shape;2647;p65"/>
          <p:cNvSpPr txBox="1"/>
          <p:nvPr/>
        </p:nvSpPr>
        <p:spPr>
          <a:xfrm>
            <a:off x="5193792" y="2840126"/>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One page per session: today's 16 terms, session 2's 14. Each as what it is, why the owner cares, say this, ask this.</a:t>
            </a:r>
            <a:endParaRPr b="0" i="0" sz="1100" u="none" cap="none" strike="noStrike">
              <a:solidFill>
                <a:schemeClr val="dk1"/>
              </a:solidFill>
              <a:latin typeface="Calibri"/>
              <a:ea typeface="Calibri"/>
              <a:cs typeface="Calibri"/>
              <a:sym typeface="Calibri"/>
            </a:endParaRPr>
          </a:p>
        </p:txBody>
      </p:sp>
      <p:sp>
        <p:nvSpPr>
          <p:cNvPr id="2648" name="Google Shape;2648;p65"/>
          <p:cNvSpPr/>
          <p:nvPr/>
        </p:nvSpPr>
        <p:spPr>
          <a:xfrm>
            <a:off x="548640" y="3659429"/>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65"/>
          <p:cNvSpPr/>
          <p:nvPr/>
        </p:nvSpPr>
        <p:spPr>
          <a:xfrm>
            <a:off x="841248" y="3854196"/>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ube.png" id="2650" name="Google Shape;2650;p65"/>
          <p:cNvPicPr preferRelativeResize="0"/>
          <p:nvPr/>
        </p:nvPicPr>
        <p:blipFill rotWithShape="1">
          <a:blip r:embed="rId6">
            <a:alphaModFix/>
          </a:blip>
          <a:srcRect b="0" l="0" r="0" t="0"/>
          <a:stretch/>
        </p:blipFill>
        <p:spPr>
          <a:xfrm>
            <a:off x="933785" y="3946733"/>
            <a:ext cx="235549" cy="235549"/>
          </a:xfrm>
          <a:prstGeom prst="rect">
            <a:avLst/>
          </a:prstGeom>
          <a:noFill/>
          <a:ln>
            <a:noFill/>
          </a:ln>
        </p:spPr>
      </p:pic>
      <p:sp>
        <p:nvSpPr>
          <p:cNvPr id="2651" name="Google Shape;2651;p65"/>
          <p:cNvSpPr txBox="1"/>
          <p:nvPr/>
        </p:nvSpPr>
        <p:spPr>
          <a:xfrm>
            <a:off x="1536192" y="3778301"/>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The HGM Client Tech Stack Guide</a:t>
            </a:r>
            <a:endParaRPr b="0" i="0" sz="1400" u="none" cap="none" strike="noStrike">
              <a:solidFill>
                <a:schemeClr val="dk1"/>
              </a:solidFill>
              <a:latin typeface="Calibri"/>
              <a:ea typeface="Calibri"/>
              <a:cs typeface="Calibri"/>
              <a:sym typeface="Calibri"/>
            </a:endParaRPr>
          </a:p>
        </p:txBody>
      </p:sp>
      <p:sp>
        <p:nvSpPr>
          <p:cNvPr id="2652" name="Google Shape;2652;p65"/>
          <p:cNvSpPr txBox="1"/>
          <p:nvPr/>
        </p:nvSpPr>
        <p:spPr>
          <a:xfrm>
            <a:off x="5193792" y="3778301"/>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The tools an owner will name: PMS, channel manager, booking engine, pricing. Session 2's territory; skim it before then.</a:t>
            </a:r>
            <a:endParaRPr b="0" i="0" sz="1100" u="none" cap="none" strike="noStrike">
              <a:solidFill>
                <a:schemeClr val="dk1"/>
              </a:solidFill>
              <a:latin typeface="Calibri"/>
              <a:ea typeface="Calibri"/>
              <a:cs typeface="Calibri"/>
              <a:sym typeface="Calibri"/>
            </a:endParaRPr>
          </a:p>
        </p:txBody>
      </p:sp>
      <p:sp>
        <p:nvSpPr>
          <p:cNvPr id="2653" name="Google Shape;2653;p65"/>
          <p:cNvSpPr/>
          <p:nvPr/>
        </p:nvSpPr>
        <p:spPr>
          <a:xfrm>
            <a:off x="548640" y="4597603"/>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65"/>
          <p:cNvSpPr/>
          <p:nvPr/>
        </p:nvSpPr>
        <p:spPr>
          <a:xfrm>
            <a:off x="841248" y="4792370"/>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ink.png" id="2655" name="Google Shape;2655;p65"/>
          <p:cNvPicPr preferRelativeResize="0"/>
          <p:nvPr/>
        </p:nvPicPr>
        <p:blipFill rotWithShape="1">
          <a:blip r:embed="rId7">
            <a:alphaModFix/>
          </a:blip>
          <a:srcRect b="0" l="0" r="0" t="0"/>
          <a:stretch/>
        </p:blipFill>
        <p:spPr>
          <a:xfrm>
            <a:off x="933785" y="4884908"/>
            <a:ext cx="235549" cy="235549"/>
          </a:xfrm>
          <a:prstGeom prst="rect">
            <a:avLst/>
          </a:prstGeom>
          <a:noFill/>
          <a:ln>
            <a:noFill/>
          </a:ln>
        </p:spPr>
      </p:pic>
      <p:sp>
        <p:nvSpPr>
          <p:cNvPr id="2656" name="Google Shape;2656;p65"/>
          <p:cNvSpPr txBox="1"/>
          <p:nvPr/>
        </p:nvSpPr>
        <p:spPr>
          <a:xfrm>
            <a:off x="1536192" y="4716475"/>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Where they live</a:t>
            </a:r>
            <a:endParaRPr b="0" i="0" sz="1400" u="none" cap="none" strike="noStrike">
              <a:solidFill>
                <a:schemeClr val="dk1"/>
              </a:solidFill>
              <a:latin typeface="Calibri"/>
              <a:ea typeface="Calibri"/>
              <a:cs typeface="Calibri"/>
              <a:sym typeface="Calibri"/>
            </a:endParaRPr>
          </a:p>
        </p:txBody>
      </p:sp>
      <p:sp>
        <p:nvSpPr>
          <p:cNvPr id="2657" name="Google Shape;2657;p65"/>
          <p:cNvSpPr txBox="1"/>
          <p:nvPr/>
        </p:nvSpPr>
        <p:spPr>
          <a:xfrm>
            <a:off x="5193792" y="4716475"/>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All three on the HGM portal. Link to follow.</a:t>
            </a:r>
            <a:endParaRPr b="0" i="0" sz="1100" u="none" cap="none" strike="noStrike">
              <a:solidFill>
                <a:schemeClr val="dk1"/>
              </a:solidFill>
              <a:latin typeface="Calibri"/>
              <a:ea typeface="Calibri"/>
              <a:cs typeface="Calibri"/>
              <a:sym typeface="Calibri"/>
            </a:endParaRPr>
          </a:p>
        </p:txBody>
      </p:sp>
      <p:sp>
        <p:nvSpPr>
          <p:cNvPr id="2658" name="Google Shape;2658;p65"/>
          <p:cNvSpPr/>
          <p:nvPr/>
        </p:nvSpPr>
        <p:spPr>
          <a:xfrm>
            <a:off x="548640" y="5535778"/>
            <a:ext cx="11094415" cy="810158"/>
          </a:xfrm>
          <a:prstGeom prst="roundRect">
            <a:avLst>
              <a:gd fmla="val 13544"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65"/>
          <p:cNvSpPr/>
          <p:nvPr/>
        </p:nvSpPr>
        <p:spPr>
          <a:xfrm>
            <a:off x="841248" y="5730545"/>
            <a:ext cx="420624" cy="420624"/>
          </a:xfrm>
          <a:prstGeom prst="roundRect">
            <a:avLst>
              <a:gd fmla="val 23913"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bookmark.png" id="2660" name="Google Shape;2660;p65"/>
          <p:cNvPicPr preferRelativeResize="0"/>
          <p:nvPr/>
        </p:nvPicPr>
        <p:blipFill rotWithShape="1">
          <a:blip r:embed="rId8">
            <a:alphaModFix/>
          </a:blip>
          <a:srcRect b="0" l="0" r="0" t="0"/>
          <a:stretch/>
        </p:blipFill>
        <p:spPr>
          <a:xfrm>
            <a:off x="933785" y="5823082"/>
            <a:ext cx="235549" cy="235549"/>
          </a:xfrm>
          <a:prstGeom prst="rect">
            <a:avLst/>
          </a:prstGeom>
          <a:noFill/>
          <a:ln>
            <a:noFill/>
          </a:ln>
        </p:spPr>
      </p:pic>
      <p:sp>
        <p:nvSpPr>
          <p:cNvPr id="2661" name="Google Shape;2661;p65"/>
          <p:cNvSpPr txBox="1"/>
          <p:nvPr/>
        </p:nvSpPr>
        <p:spPr>
          <a:xfrm>
            <a:off x="1536192" y="5654650"/>
            <a:ext cx="3566160"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1400"/>
              <a:buFont typeface="Inter"/>
              <a:buNone/>
            </a:pPr>
            <a:r>
              <a:rPr b="1" i="0" lang="en-US" sz="1400" u="none" cap="none" strike="noStrike">
                <a:solidFill>
                  <a:srgbClr val="171717"/>
                </a:solidFill>
                <a:latin typeface="Inter"/>
                <a:ea typeface="Inter"/>
                <a:cs typeface="Inter"/>
                <a:sym typeface="Inter"/>
              </a:rPr>
              <a:t>Pro tip</a:t>
            </a:r>
            <a:endParaRPr b="0" i="0" sz="1400" u="none" cap="none" strike="noStrike">
              <a:solidFill>
                <a:schemeClr val="dk1"/>
              </a:solidFill>
              <a:latin typeface="Calibri"/>
              <a:ea typeface="Calibri"/>
              <a:cs typeface="Calibri"/>
              <a:sym typeface="Calibri"/>
            </a:endParaRPr>
          </a:p>
        </p:txBody>
      </p:sp>
      <p:sp>
        <p:nvSpPr>
          <p:cNvPr id="2662" name="Google Shape;2662;p65"/>
          <p:cNvSpPr txBox="1"/>
          <p:nvPr/>
        </p:nvSpPr>
        <p:spPr>
          <a:xfrm>
            <a:off x="5193792" y="5654650"/>
            <a:ext cx="6193231" cy="57241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525252"/>
              </a:buClr>
              <a:buSzPts val="1100"/>
              <a:buFont typeface="Inter"/>
              <a:buNone/>
            </a:pPr>
            <a:r>
              <a:rPr b="0" i="0" lang="en-US" sz="1100" u="none" cap="none" strike="noStrike">
                <a:solidFill>
                  <a:srgbClr val="525252"/>
                </a:solidFill>
                <a:latin typeface="Inter"/>
                <a:ea typeface="Inter"/>
                <a:cs typeface="Inter"/>
                <a:sym typeface="Inter"/>
              </a:rPr>
              <a:t>Bookmark the dictionary in your browser, so it is one click away when you are on a call.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667" name="Shape 2667"/>
        <p:cNvGrpSpPr/>
        <p:nvPr/>
      </p:nvGrpSpPr>
      <p:grpSpPr>
        <a:xfrm>
          <a:off x="0" y="0"/>
          <a:ext cx="0" cy="0"/>
          <a:chOff x="0" y="0"/>
          <a:chExt cx="0" cy="0"/>
        </a:xfrm>
      </p:grpSpPr>
      <p:sp>
        <p:nvSpPr>
          <p:cNvPr id="2668" name="Google Shape;2668;p66"/>
          <p:cNvSpPr txBox="1"/>
          <p:nvPr/>
        </p:nvSpPr>
        <p:spPr>
          <a:xfrm>
            <a:off x="548640" y="457200"/>
            <a:ext cx="10058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004FAA"/>
              </a:buClr>
              <a:buSzPts val="1050"/>
              <a:buFont typeface="Roboto Mono"/>
              <a:buNone/>
            </a:pPr>
            <a:r>
              <a:rPr b="0" i="0" lang="en-US" sz="1050" u="none" cap="none" strike="noStrike">
                <a:solidFill>
                  <a:srgbClr val="004FAA"/>
                </a:solidFill>
                <a:latin typeface="Roboto Mono"/>
                <a:ea typeface="Roboto Mono"/>
                <a:cs typeface="Roboto Mono"/>
                <a:sym typeface="Roboto Mono"/>
              </a:rPr>
              <a:t>07 · SESSION 2</a:t>
            </a:r>
            <a:endParaRPr b="0" i="0" sz="1050" u="none" cap="none" strike="noStrike">
              <a:solidFill>
                <a:schemeClr val="dk1"/>
              </a:solidFill>
              <a:latin typeface="Calibri"/>
              <a:ea typeface="Calibri"/>
              <a:cs typeface="Calibri"/>
              <a:sym typeface="Calibri"/>
            </a:endParaRPr>
          </a:p>
        </p:txBody>
      </p:sp>
      <p:sp>
        <p:nvSpPr>
          <p:cNvPr id="2669" name="Google Shape;2669;p66"/>
          <p:cNvSpPr txBox="1"/>
          <p:nvPr/>
        </p:nvSpPr>
        <p:spPr>
          <a:xfrm>
            <a:off x="548640" y="749808"/>
            <a:ext cx="10515600" cy="5669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71717"/>
              </a:buClr>
              <a:buSzPts val="3000"/>
              <a:buFont typeface="Inter"/>
              <a:buNone/>
            </a:pPr>
            <a:r>
              <a:rPr b="1" i="0" lang="en-US" sz="3000" u="none" cap="none" strike="noStrike">
                <a:solidFill>
                  <a:srgbClr val="171717"/>
                </a:solidFill>
                <a:latin typeface="Inter"/>
                <a:ea typeface="Inter"/>
                <a:cs typeface="Inter"/>
                <a:sym typeface="Inter"/>
              </a:rPr>
              <a:t>Session 2: what's coming</a:t>
            </a:r>
            <a:endParaRPr b="0" i="0" sz="3000" u="none" cap="none" strike="noStrike">
              <a:solidFill>
                <a:schemeClr val="dk1"/>
              </a:solidFill>
              <a:latin typeface="Calibri"/>
              <a:ea typeface="Calibri"/>
              <a:cs typeface="Calibri"/>
              <a:sym typeface="Calibri"/>
            </a:endParaRPr>
          </a:p>
        </p:txBody>
      </p:sp>
      <p:pic>
        <p:nvPicPr>
          <p:cNvPr descr="/home/claude/work/renderer/brand/wordmark.png" id="2670" name="Google Shape;2670;p66"/>
          <p:cNvPicPr preferRelativeResize="0"/>
          <p:nvPr/>
        </p:nvPicPr>
        <p:blipFill rotWithShape="1">
          <a:blip r:embed="rId3">
            <a:alphaModFix/>
          </a:blip>
          <a:srcRect b="0" l="0" r="0" t="0"/>
          <a:stretch/>
        </p:blipFill>
        <p:spPr>
          <a:xfrm>
            <a:off x="548640" y="6473952"/>
            <a:ext cx="1088136" cy="155448"/>
          </a:xfrm>
          <a:prstGeom prst="rect">
            <a:avLst/>
          </a:prstGeom>
          <a:noFill/>
          <a:ln>
            <a:noFill/>
          </a:ln>
        </p:spPr>
      </p:pic>
      <p:sp>
        <p:nvSpPr>
          <p:cNvPr id="2671" name="Google Shape;2671;p66"/>
          <p:cNvSpPr txBox="1"/>
          <p:nvPr/>
        </p:nvSpPr>
        <p:spPr>
          <a:xfrm>
            <a:off x="10820095" y="6400800"/>
            <a:ext cx="822960" cy="274320"/>
          </a:xfrm>
          <a:prstGeom prst="rect">
            <a:avLst/>
          </a:prstGeom>
          <a:noFill/>
          <a:ln>
            <a:noFill/>
          </a:ln>
        </p:spPr>
        <p:txBody>
          <a:bodyPr anchorCtr="0" anchor="ctr" bIns="0" lIns="0" spcFirstLastPara="1" rIns="0" wrap="square" tIns="0">
            <a:noAutofit/>
          </a:bodyPr>
          <a:lstStyle/>
          <a:p>
            <a:pPr indent="0" lvl="0" marL="0" marR="0" rtl="0" algn="r">
              <a:lnSpc>
                <a:spcPct val="135000"/>
              </a:lnSpc>
              <a:spcBef>
                <a:spcPts val="0"/>
              </a:spcBef>
              <a:spcAft>
                <a:spcPts val="0"/>
              </a:spcAft>
              <a:buClr>
                <a:srgbClr val="A3A3A3"/>
              </a:buClr>
              <a:buSzPts val="900"/>
              <a:buFont typeface="Roboto Mono"/>
              <a:buNone/>
            </a:pPr>
            <a:r>
              <a:rPr b="0" i="0" lang="en-US" sz="900" u="none" cap="none" strike="noStrike">
                <a:solidFill>
                  <a:srgbClr val="A3A3A3"/>
                </a:solidFill>
                <a:latin typeface="Roboto Mono"/>
                <a:ea typeface="Roboto Mono"/>
                <a:cs typeface="Roboto Mono"/>
                <a:sym typeface="Roboto Mono"/>
              </a:rPr>
              <a:t>64 / 65</a:t>
            </a:r>
            <a:endParaRPr b="0" i="0" sz="900" u="none" cap="none" strike="noStrike">
              <a:solidFill>
                <a:schemeClr val="dk1"/>
              </a:solidFill>
              <a:latin typeface="Calibri"/>
              <a:ea typeface="Calibri"/>
              <a:cs typeface="Calibri"/>
              <a:sym typeface="Calibri"/>
            </a:endParaRPr>
          </a:p>
        </p:txBody>
      </p:sp>
      <p:sp>
        <p:nvSpPr>
          <p:cNvPr id="2672" name="Google Shape;2672;p66"/>
          <p:cNvSpPr/>
          <p:nvPr/>
        </p:nvSpPr>
        <p:spPr>
          <a:xfrm>
            <a:off x="548640"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66"/>
          <p:cNvSpPr/>
          <p:nvPr/>
        </p:nvSpPr>
        <p:spPr>
          <a:xfrm>
            <a:off x="822960"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coins-hand.png" id="2674" name="Google Shape;2674;p66"/>
          <p:cNvPicPr preferRelativeResize="0"/>
          <p:nvPr/>
        </p:nvPicPr>
        <p:blipFill rotWithShape="1">
          <a:blip r:embed="rId4">
            <a:alphaModFix/>
          </a:blip>
          <a:srcRect b="0" l="0" r="0" t="0"/>
          <a:stretch/>
        </p:blipFill>
        <p:spPr>
          <a:xfrm>
            <a:off x="927567" y="2198583"/>
            <a:ext cx="266273" cy="266273"/>
          </a:xfrm>
          <a:prstGeom prst="rect">
            <a:avLst/>
          </a:prstGeom>
          <a:noFill/>
          <a:ln>
            <a:noFill/>
          </a:ln>
        </p:spPr>
      </p:pic>
      <p:sp>
        <p:nvSpPr>
          <p:cNvPr id="2675" name="Google Shape;2675;p66"/>
          <p:cNvSpPr txBox="1"/>
          <p:nvPr/>
        </p:nvSpPr>
        <p:spPr>
          <a:xfrm>
            <a:off x="822960"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4: why direct pays</a:t>
            </a:r>
            <a:endParaRPr b="0" i="0" sz="1550" u="none" cap="none" strike="noStrike">
              <a:solidFill>
                <a:schemeClr val="dk1"/>
              </a:solidFill>
              <a:latin typeface="Calibri"/>
              <a:ea typeface="Calibri"/>
              <a:cs typeface="Calibri"/>
              <a:sym typeface="Calibri"/>
            </a:endParaRPr>
          </a:p>
        </p:txBody>
      </p:sp>
      <p:sp>
        <p:nvSpPr>
          <p:cNvPr id="2676" name="Google Shape;2676;p66"/>
          <p:cNvSpPr txBox="1"/>
          <p:nvPr/>
        </p:nvSpPr>
        <p:spPr>
          <a:xfrm>
            <a:off x="822960" y="335584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2677" name="Google Shape;2677;p66"/>
          <p:cNvSpPr txBox="1"/>
          <p:nvPr/>
        </p:nvSpPr>
        <p:spPr>
          <a:xfrm>
            <a:off x="1280160" y="335584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Metasearch</a:t>
            </a:r>
            <a:endParaRPr b="0" i="0" sz="1150" u="none" cap="none" strike="noStrike">
              <a:solidFill>
                <a:schemeClr val="dk1"/>
              </a:solidFill>
              <a:latin typeface="Calibri"/>
              <a:ea typeface="Calibri"/>
              <a:cs typeface="Calibri"/>
              <a:sym typeface="Calibri"/>
            </a:endParaRPr>
          </a:p>
        </p:txBody>
      </p:sp>
      <p:cxnSp>
        <p:nvCxnSpPr>
          <p:cNvPr id="2678" name="Google Shape;2678;p66"/>
          <p:cNvCxnSpPr/>
          <p:nvPr/>
        </p:nvCxnSpPr>
        <p:spPr>
          <a:xfrm>
            <a:off x="822960"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2679" name="Google Shape;2679;p66"/>
          <p:cNvSpPr txBox="1"/>
          <p:nvPr/>
        </p:nvSpPr>
        <p:spPr>
          <a:xfrm>
            <a:off x="822960" y="3758184"/>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2680" name="Google Shape;2680;p66"/>
          <p:cNvSpPr txBox="1"/>
          <p:nvPr/>
        </p:nvSpPr>
        <p:spPr>
          <a:xfrm>
            <a:off x="1280160" y="3758184"/>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Cap rate</a:t>
            </a:r>
            <a:endParaRPr b="0" i="0" sz="1150" u="none" cap="none" strike="noStrike">
              <a:solidFill>
                <a:schemeClr val="dk1"/>
              </a:solidFill>
              <a:latin typeface="Calibri"/>
              <a:ea typeface="Calibri"/>
              <a:cs typeface="Calibri"/>
              <a:sym typeface="Calibri"/>
            </a:endParaRPr>
          </a:p>
        </p:txBody>
      </p:sp>
      <p:cxnSp>
        <p:nvCxnSpPr>
          <p:cNvPr id="2681" name="Google Shape;2681;p66"/>
          <p:cNvCxnSpPr/>
          <p:nvPr/>
        </p:nvCxnSpPr>
        <p:spPr>
          <a:xfrm>
            <a:off x="822960"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2682" name="Google Shape;2682;p66"/>
          <p:cNvSpPr txBox="1"/>
          <p:nvPr/>
        </p:nvSpPr>
        <p:spPr>
          <a:xfrm>
            <a:off x="822960" y="4160520"/>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2683" name="Google Shape;2683;p66"/>
          <p:cNvSpPr txBox="1"/>
          <p:nvPr/>
        </p:nvSpPr>
        <p:spPr>
          <a:xfrm>
            <a:off x="1280160" y="4160520"/>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First-party data</a:t>
            </a:r>
            <a:endParaRPr b="0" i="0" sz="1150" u="none" cap="none" strike="noStrike">
              <a:solidFill>
                <a:schemeClr val="dk1"/>
              </a:solidFill>
              <a:latin typeface="Calibri"/>
              <a:ea typeface="Calibri"/>
              <a:cs typeface="Calibri"/>
              <a:sym typeface="Calibri"/>
            </a:endParaRPr>
          </a:p>
        </p:txBody>
      </p:sp>
      <p:cxnSp>
        <p:nvCxnSpPr>
          <p:cNvPr id="2684" name="Google Shape;2684;p66"/>
          <p:cNvCxnSpPr/>
          <p:nvPr/>
        </p:nvCxnSpPr>
        <p:spPr>
          <a:xfrm>
            <a:off x="822960"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2685" name="Google Shape;2685;p66"/>
          <p:cNvSpPr txBox="1"/>
          <p:nvPr/>
        </p:nvSpPr>
        <p:spPr>
          <a:xfrm>
            <a:off x="822960" y="4562856"/>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2686" name="Google Shape;2686;p66"/>
          <p:cNvSpPr txBox="1"/>
          <p:nvPr/>
        </p:nvSpPr>
        <p:spPr>
          <a:xfrm>
            <a:off x="1280160" y="4562856"/>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Effective commission</a:t>
            </a:r>
            <a:endParaRPr b="0" i="0" sz="1150" u="none" cap="none" strike="noStrike">
              <a:solidFill>
                <a:schemeClr val="dk1"/>
              </a:solidFill>
              <a:latin typeface="Calibri"/>
              <a:ea typeface="Calibri"/>
              <a:cs typeface="Calibri"/>
              <a:sym typeface="Calibri"/>
            </a:endParaRPr>
          </a:p>
        </p:txBody>
      </p:sp>
      <p:sp>
        <p:nvSpPr>
          <p:cNvPr id="2687" name="Google Shape;2687;p66"/>
          <p:cNvSpPr/>
          <p:nvPr/>
        </p:nvSpPr>
        <p:spPr>
          <a:xfrm>
            <a:off x="4375404"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66"/>
          <p:cNvSpPr/>
          <p:nvPr/>
        </p:nvSpPr>
        <p:spPr>
          <a:xfrm>
            <a:off x="4649724"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announcement.png" id="2689" name="Google Shape;2689;p66"/>
          <p:cNvPicPr preferRelativeResize="0"/>
          <p:nvPr/>
        </p:nvPicPr>
        <p:blipFill rotWithShape="1">
          <a:blip r:embed="rId5">
            <a:alphaModFix/>
          </a:blip>
          <a:srcRect b="0" l="0" r="0" t="0"/>
          <a:stretch/>
        </p:blipFill>
        <p:spPr>
          <a:xfrm>
            <a:off x="4754331" y="2198583"/>
            <a:ext cx="266273" cy="266273"/>
          </a:xfrm>
          <a:prstGeom prst="rect">
            <a:avLst/>
          </a:prstGeom>
          <a:noFill/>
          <a:ln>
            <a:noFill/>
          </a:ln>
        </p:spPr>
      </p:pic>
      <p:sp>
        <p:nvSpPr>
          <p:cNvPr id="2690" name="Google Shape;2690;p66"/>
          <p:cNvSpPr txBox="1"/>
          <p:nvPr/>
        </p:nvSpPr>
        <p:spPr>
          <a:xfrm>
            <a:off x="4649724"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5: is it working?</a:t>
            </a:r>
            <a:endParaRPr b="0" i="0" sz="1550" u="none" cap="none" strike="noStrike">
              <a:solidFill>
                <a:schemeClr val="dk1"/>
              </a:solidFill>
              <a:latin typeface="Calibri"/>
              <a:ea typeface="Calibri"/>
              <a:cs typeface="Calibri"/>
              <a:sym typeface="Calibri"/>
            </a:endParaRPr>
          </a:p>
        </p:txBody>
      </p:sp>
      <p:sp>
        <p:nvSpPr>
          <p:cNvPr id="2691" name="Google Shape;2691;p66"/>
          <p:cNvSpPr txBox="1"/>
          <p:nvPr/>
        </p:nvSpPr>
        <p:spPr>
          <a:xfrm>
            <a:off x="4649724" y="335584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2692" name="Google Shape;2692;p66"/>
          <p:cNvSpPr txBox="1"/>
          <p:nvPr/>
        </p:nvSpPr>
        <p:spPr>
          <a:xfrm>
            <a:off x="5106924" y="335584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CPM</a:t>
            </a:r>
            <a:endParaRPr b="0" i="0" sz="1150" u="none" cap="none" strike="noStrike">
              <a:solidFill>
                <a:schemeClr val="dk1"/>
              </a:solidFill>
              <a:latin typeface="Calibri"/>
              <a:ea typeface="Calibri"/>
              <a:cs typeface="Calibri"/>
              <a:sym typeface="Calibri"/>
            </a:endParaRPr>
          </a:p>
        </p:txBody>
      </p:sp>
      <p:cxnSp>
        <p:nvCxnSpPr>
          <p:cNvPr id="2693" name="Google Shape;2693;p66"/>
          <p:cNvCxnSpPr/>
          <p:nvPr/>
        </p:nvCxnSpPr>
        <p:spPr>
          <a:xfrm>
            <a:off x="4649724"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2694" name="Google Shape;2694;p66"/>
          <p:cNvSpPr txBox="1"/>
          <p:nvPr/>
        </p:nvSpPr>
        <p:spPr>
          <a:xfrm>
            <a:off x="4649724" y="3758184"/>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2695" name="Google Shape;2695;p66"/>
          <p:cNvSpPr txBox="1"/>
          <p:nvPr/>
        </p:nvSpPr>
        <p:spPr>
          <a:xfrm>
            <a:off x="5106924" y="3758184"/>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UTM</a:t>
            </a:r>
            <a:endParaRPr b="0" i="0" sz="1150" u="none" cap="none" strike="noStrike">
              <a:solidFill>
                <a:schemeClr val="dk1"/>
              </a:solidFill>
              <a:latin typeface="Calibri"/>
              <a:ea typeface="Calibri"/>
              <a:cs typeface="Calibri"/>
              <a:sym typeface="Calibri"/>
            </a:endParaRPr>
          </a:p>
        </p:txBody>
      </p:sp>
      <p:cxnSp>
        <p:nvCxnSpPr>
          <p:cNvPr id="2696" name="Google Shape;2696;p66"/>
          <p:cNvCxnSpPr/>
          <p:nvPr/>
        </p:nvCxnSpPr>
        <p:spPr>
          <a:xfrm>
            <a:off x="4649724"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2697" name="Google Shape;2697;p66"/>
          <p:cNvSpPr txBox="1"/>
          <p:nvPr/>
        </p:nvSpPr>
        <p:spPr>
          <a:xfrm>
            <a:off x="4649724" y="4160520"/>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2698" name="Google Shape;2698;p66"/>
          <p:cNvSpPr txBox="1"/>
          <p:nvPr/>
        </p:nvSpPr>
        <p:spPr>
          <a:xfrm>
            <a:off x="5106924" y="4160520"/>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CAPI</a:t>
            </a:r>
            <a:endParaRPr b="0" i="0" sz="1150" u="none" cap="none" strike="noStrike">
              <a:solidFill>
                <a:schemeClr val="dk1"/>
              </a:solidFill>
              <a:latin typeface="Calibri"/>
              <a:ea typeface="Calibri"/>
              <a:cs typeface="Calibri"/>
              <a:sym typeface="Calibri"/>
            </a:endParaRPr>
          </a:p>
        </p:txBody>
      </p:sp>
      <p:cxnSp>
        <p:nvCxnSpPr>
          <p:cNvPr id="2699" name="Google Shape;2699;p66"/>
          <p:cNvCxnSpPr/>
          <p:nvPr/>
        </p:nvCxnSpPr>
        <p:spPr>
          <a:xfrm>
            <a:off x="4649724"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2700" name="Google Shape;2700;p66"/>
          <p:cNvSpPr txBox="1"/>
          <p:nvPr/>
        </p:nvSpPr>
        <p:spPr>
          <a:xfrm>
            <a:off x="4649724" y="4562856"/>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2701" name="Google Shape;2701;p66"/>
          <p:cNvSpPr txBox="1"/>
          <p:nvPr/>
        </p:nvSpPr>
        <p:spPr>
          <a:xfrm>
            <a:off x="5106924" y="4562856"/>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Incrementality</a:t>
            </a:r>
            <a:endParaRPr b="0" i="0" sz="1150" u="none" cap="none" strike="noStrike">
              <a:solidFill>
                <a:schemeClr val="dk1"/>
              </a:solidFill>
              <a:latin typeface="Calibri"/>
              <a:ea typeface="Calibri"/>
              <a:cs typeface="Calibri"/>
              <a:sym typeface="Calibri"/>
            </a:endParaRPr>
          </a:p>
        </p:txBody>
      </p:sp>
      <p:cxnSp>
        <p:nvCxnSpPr>
          <p:cNvPr id="2702" name="Google Shape;2702;p66"/>
          <p:cNvCxnSpPr/>
          <p:nvPr/>
        </p:nvCxnSpPr>
        <p:spPr>
          <a:xfrm>
            <a:off x="4649724" y="4928616"/>
            <a:ext cx="2889504" cy="0"/>
          </a:xfrm>
          <a:prstGeom prst="straightConnector1">
            <a:avLst/>
          </a:prstGeom>
          <a:noFill/>
          <a:ln cap="flat" cmpd="sng" w="9525">
            <a:solidFill>
              <a:srgbClr val="E5E5E5"/>
            </a:solidFill>
            <a:prstDash val="solid"/>
            <a:round/>
            <a:headEnd len="sm" w="sm" type="none"/>
            <a:tailEnd len="sm" w="sm" type="none"/>
          </a:ln>
        </p:spPr>
      </p:cxnSp>
      <p:sp>
        <p:nvSpPr>
          <p:cNvPr id="2703" name="Google Shape;2703;p66"/>
          <p:cNvSpPr txBox="1"/>
          <p:nvPr/>
        </p:nvSpPr>
        <p:spPr>
          <a:xfrm>
            <a:off x="4649724" y="4965192"/>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2704" name="Google Shape;2704;p66"/>
          <p:cNvSpPr txBox="1"/>
          <p:nvPr/>
        </p:nvSpPr>
        <p:spPr>
          <a:xfrm>
            <a:off x="5106924" y="4965192"/>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Cannibalization</a:t>
            </a:r>
            <a:endParaRPr b="0" i="0" sz="1150" u="none" cap="none" strike="noStrike">
              <a:solidFill>
                <a:schemeClr val="dk1"/>
              </a:solidFill>
              <a:latin typeface="Calibri"/>
              <a:ea typeface="Calibri"/>
              <a:cs typeface="Calibri"/>
              <a:sym typeface="Calibri"/>
            </a:endParaRPr>
          </a:p>
        </p:txBody>
      </p:sp>
      <p:sp>
        <p:nvSpPr>
          <p:cNvPr id="2705" name="Google Shape;2705;p66"/>
          <p:cNvSpPr/>
          <p:nvPr/>
        </p:nvSpPr>
        <p:spPr>
          <a:xfrm>
            <a:off x="8202168" y="1783080"/>
            <a:ext cx="3438144" cy="4526280"/>
          </a:xfrm>
          <a:prstGeom prst="roundRect">
            <a:avLst>
              <a:gd fmla="val 3191" name="adj"/>
            </a:avLst>
          </a:prstGeom>
          <a:solidFill>
            <a:srgbClr val="FFFFFF"/>
          </a:solidFill>
          <a:ln cap="flat" cmpd="sng" w="12700">
            <a:solidFill>
              <a:srgbClr val="E5E5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66"/>
          <p:cNvSpPr/>
          <p:nvPr/>
        </p:nvSpPr>
        <p:spPr>
          <a:xfrm>
            <a:off x="8476488" y="2093976"/>
            <a:ext cx="475488" cy="475488"/>
          </a:xfrm>
          <a:prstGeom prst="roundRect">
            <a:avLst>
              <a:gd fmla="val 21154" name="adj"/>
            </a:avLst>
          </a:prstGeom>
          <a:solidFill>
            <a:srgbClr val="F6F9FF"/>
          </a:solidFill>
          <a:ln cap="flat" cmpd="sng" w="12700">
            <a:solidFill>
              <a:srgbClr val="E7F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work/renderer/icons/layers.png" id="2707" name="Google Shape;2707;p66"/>
          <p:cNvPicPr preferRelativeResize="0"/>
          <p:nvPr/>
        </p:nvPicPr>
        <p:blipFill rotWithShape="1">
          <a:blip r:embed="rId6">
            <a:alphaModFix/>
          </a:blip>
          <a:srcRect b="0" l="0" r="0" t="0"/>
          <a:stretch/>
        </p:blipFill>
        <p:spPr>
          <a:xfrm>
            <a:off x="8581095" y="2198583"/>
            <a:ext cx="266273" cy="266273"/>
          </a:xfrm>
          <a:prstGeom prst="rect">
            <a:avLst/>
          </a:prstGeom>
          <a:noFill/>
          <a:ln>
            <a:noFill/>
          </a:ln>
        </p:spPr>
      </p:pic>
      <p:sp>
        <p:nvSpPr>
          <p:cNvPr id="2708" name="Google Shape;2708;p66"/>
          <p:cNvSpPr txBox="1"/>
          <p:nvPr/>
        </p:nvSpPr>
        <p:spPr>
          <a:xfrm>
            <a:off x="8476488" y="2715768"/>
            <a:ext cx="2889504" cy="56692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171717"/>
              </a:buClr>
              <a:buSzPts val="1550"/>
              <a:buFont typeface="Inter"/>
              <a:buNone/>
            </a:pPr>
            <a:r>
              <a:rPr b="1" i="0" lang="en-US" sz="1550" u="none" cap="none" strike="noStrike">
                <a:solidFill>
                  <a:srgbClr val="171717"/>
                </a:solidFill>
                <a:latin typeface="Inter"/>
                <a:ea typeface="Inter"/>
                <a:cs typeface="Inter"/>
                <a:sym typeface="Inter"/>
              </a:rPr>
              <a:t>Block 6: the stack</a:t>
            </a:r>
            <a:endParaRPr b="0" i="0" sz="1550" u="none" cap="none" strike="noStrike">
              <a:solidFill>
                <a:schemeClr val="dk1"/>
              </a:solidFill>
              <a:latin typeface="Calibri"/>
              <a:ea typeface="Calibri"/>
              <a:cs typeface="Calibri"/>
              <a:sym typeface="Calibri"/>
            </a:endParaRPr>
          </a:p>
        </p:txBody>
      </p:sp>
      <p:sp>
        <p:nvSpPr>
          <p:cNvPr id="2709" name="Google Shape;2709;p66"/>
          <p:cNvSpPr txBox="1"/>
          <p:nvPr/>
        </p:nvSpPr>
        <p:spPr>
          <a:xfrm>
            <a:off x="8476488" y="3355848"/>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01</a:t>
            </a:r>
            <a:endParaRPr b="0" i="0" sz="1100" u="none" cap="none" strike="noStrike">
              <a:solidFill>
                <a:schemeClr val="dk1"/>
              </a:solidFill>
              <a:latin typeface="Calibri"/>
              <a:ea typeface="Calibri"/>
              <a:cs typeface="Calibri"/>
              <a:sym typeface="Calibri"/>
            </a:endParaRPr>
          </a:p>
        </p:txBody>
      </p:sp>
      <p:sp>
        <p:nvSpPr>
          <p:cNvPr id="2710" name="Google Shape;2710;p66"/>
          <p:cNvSpPr txBox="1"/>
          <p:nvPr/>
        </p:nvSpPr>
        <p:spPr>
          <a:xfrm>
            <a:off x="8933688" y="3355848"/>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The tools map</a:t>
            </a:r>
            <a:endParaRPr b="0" i="0" sz="1150" u="none" cap="none" strike="noStrike">
              <a:solidFill>
                <a:schemeClr val="dk1"/>
              </a:solidFill>
              <a:latin typeface="Calibri"/>
              <a:ea typeface="Calibri"/>
              <a:cs typeface="Calibri"/>
              <a:sym typeface="Calibri"/>
            </a:endParaRPr>
          </a:p>
        </p:txBody>
      </p:sp>
      <p:cxnSp>
        <p:nvCxnSpPr>
          <p:cNvPr id="2711" name="Google Shape;2711;p66"/>
          <p:cNvCxnSpPr/>
          <p:nvPr/>
        </p:nvCxnSpPr>
        <p:spPr>
          <a:xfrm>
            <a:off x="8476488" y="3721608"/>
            <a:ext cx="2889504" cy="0"/>
          </a:xfrm>
          <a:prstGeom prst="straightConnector1">
            <a:avLst/>
          </a:prstGeom>
          <a:noFill/>
          <a:ln cap="flat" cmpd="sng" w="9525">
            <a:solidFill>
              <a:srgbClr val="E5E5E5"/>
            </a:solidFill>
            <a:prstDash val="solid"/>
            <a:round/>
            <a:headEnd len="sm" w="sm" type="none"/>
            <a:tailEnd len="sm" w="sm" type="none"/>
          </a:ln>
        </p:spPr>
      </p:cxnSp>
      <p:sp>
        <p:nvSpPr>
          <p:cNvPr id="2712" name="Google Shape;2712;p66"/>
          <p:cNvSpPr txBox="1"/>
          <p:nvPr/>
        </p:nvSpPr>
        <p:spPr>
          <a:xfrm>
            <a:off x="8476488" y="3758184"/>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02</a:t>
            </a:r>
            <a:endParaRPr b="0" i="0" sz="1100" u="none" cap="none" strike="noStrike">
              <a:solidFill>
                <a:schemeClr val="dk1"/>
              </a:solidFill>
              <a:latin typeface="Calibri"/>
              <a:ea typeface="Calibri"/>
              <a:cs typeface="Calibri"/>
              <a:sym typeface="Calibri"/>
            </a:endParaRPr>
          </a:p>
        </p:txBody>
      </p:sp>
      <p:sp>
        <p:nvSpPr>
          <p:cNvPr id="2713" name="Google Shape;2713;p66"/>
          <p:cNvSpPr txBox="1"/>
          <p:nvPr/>
        </p:nvSpPr>
        <p:spPr>
          <a:xfrm>
            <a:off x="8933688" y="3758184"/>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Rate shopping</a:t>
            </a:r>
            <a:endParaRPr b="0" i="0" sz="1150" u="none" cap="none" strike="noStrike">
              <a:solidFill>
                <a:schemeClr val="dk1"/>
              </a:solidFill>
              <a:latin typeface="Calibri"/>
              <a:ea typeface="Calibri"/>
              <a:cs typeface="Calibri"/>
              <a:sym typeface="Calibri"/>
            </a:endParaRPr>
          </a:p>
        </p:txBody>
      </p:sp>
      <p:cxnSp>
        <p:nvCxnSpPr>
          <p:cNvPr id="2714" name="Google Shape;2714;p66"/>
          <p:cNvCxnSpPr/>
          <p:nvPr/>
        </p:nvCxnSpPr>
        <p:spPr>
          <a:xfrm>
            <a:off x="8476488" y="4123944"/>
            <a:ext cx="2889504" cy="0"/>
          </a:xfrm>
          <a:prstGeom prst="straightConnector1">
            <a:avLst/>
          </a:prstGeom>
          <a:noFill/>
          <a:ln cap="flat" cmpd="sng" w="9525">
            <a:solidFill>
              <a:srgbClr val="E5E5E5"/>
            </a:solidFill>
            <a:prstDash val="solid"/>
            <a:round/>
            <a:headEnd len="sm" w="sm" type="none"/>
            <a:tailEnd len="sm" w="sm" type="none"/>
          </a:ln>
        </p:spPr>
      </p:cxnSp>
      <p:sp>
        <p:nvSpPr>
          <p:cNvPr id="2715" name="Google Shape;2715;p66"/>
          <p:cNvSpPr txBox="1"/>
          <p:nvPr/>
        </p:nvSpPr>
        <p:spPr>
          <a:xfrm>
            <a:off x="8476488" y="4160520"/>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03</a:t>
            </a:r>
            <a:endParaRPr b="0" i="0" sz="1100" u="none" cap="none" strike="noStrike">
              <a:solidFill>
                <a:schemeClr val="dk1"/>
              </a:solidFill>
              <a:latin typeface="Calibri"/>
              <a:ea typeface="Calibri"/>
              <a:cs typeface="Calibri"/>
              <a:sym typeface="Calibri"/>
            </a:endParaRPr>
          </a:p>
        </p:txBody>
      </p:sp>
      <p:sp>
        <p:nvSpPr>
          <p:cNvPr id="2716" name="Google Shape;2716;p66"/>
          <p:cNvSpPr txBox="1"/>
          <p:nvPr/>
        </p:nvSpPr>
        <p:spPr>
          <a:xfrm>
            <a:off x="8933688" y="4160520"/>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CRM</a:t>
            </a:r>
            <a:endParaRPr b="0" i="0" sz="1150" u="none" cap="none" strike="noStrike">
              <a:solidFill>
                <a:schemeClr val="dk1"/>
              </a:solidFill>
              <a:latin typeface="Calibri"/>
              <a:ea typeface="Calibri"/>
              <a:cs typeface="Calibri"/>
              <a:sym typeface="Calibri"/>
            </a:endParaRPr>
          </a:p>
        </p:txBody>
      </p:sp>
      <p:cxnSp>
        <p:nvCxnSpPr>
          <p:cNvPr id="2717" name="Google Shape;2717;p66"/>
          <p:cNvCxnSpPr/>
          <p:nvPr/>
        </p:nvCxnSpPr>
        <p:spPr>
          <a:xfrm>
            <a:off x="8476488" y="4526280"/>
            <a:ext cx="2889504" cy="0"/>
          </a:xfrm>
          <a:prstGeom prst="straightConnector1">
            <a:avLst/>
          </a:prstGeom>
          <a:noFill/>
          <a:ln cap="flat" cmpd="sng" w="9525">
            <a:solidFill>
              <a:srgbClr val="E5E5E5"/>
            </a:solidFill>
            <a:prstDash val="solid"/>
            <a:round/>
            <a:headEnd len="sm" w="sm" type="none"/>
            <a:tailEnd len="sm" w="sm" type="none"/>
          </a:ln>
        </p:spPr>
      </p:cxnSp>
      <p:sp>
        <p:nvSpPr>
          <p:cNvPr id="2718" name="Google Shape;2718;p66"/>
          <p:cNvSpPr txBox="1"/>
          <p:nvPr/>
        </p:nvSpPr>
        <p:spPr>
          <a:xfrm>
            <a:off x="8476488" y="4562856"/>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04</a:t>
            </a:r>
            <a:endParaRPr b="0" i="0" sz="1100" u="none" cap="none" strike="noStrike">
              <a:solidFill>
                <a:schemeClr val="dk1"/>
              </a:solidFill>
              <a:latin typeface="Calibri"/>
              <a:ea typeface="Calibri"/>
              <a:cs typeface="Calibri"/>
              <a:sym typeface="Calibri"/>
            </a:endParaRPr>
          </a:p>
        </p:txBody>
      </p:sp>
      <p:sp>
        <p:nvSpPr>
          <p:cNvPr id="2719" name="Google Shape;2719;p66"/>
          <p:cNvSpPr txBox="1"/>
          <p:nvPr/>
        </p:nvSpPr>
        <p:spPr>
          <a:xfrm>
            <a:off x="8933688" y="4562856"/>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Guest messaging</a:t>
            </a:r>
            <a:endParaRPr b="0" i="0" sz="1150" u="none" cap="none" strike="noStrike">
              <a:solidFill>
                <a:schemeClr val="dk1"/>
              </a:solidFill>
              <a:latin typeface="Calibri"/>
              <a:ea typeface="Calibri"/>
              <a:cs typeface="Calibri"/>
              <a:sym typeface="Calibri"/>
            </a:endParaRPr>
          </a:p>
        </p:txBody>
      </p:sp>
      <p:cxnSp>
        <p:nvCxnSpPr>
          <p:cNvPr id="2720" name="Google Shape;2720;p66"/>
          <p:cNvCxnSpPr/>
          <p:nvPr/>
        </p:nvCxnSpPr>
        <p:spPr>
          <a:xfrm>
            <a:off x="8476488" y="4928616"/>
            <a:ext cx="2889504" cy="0"/>
          </a:xfrm>
          <a:prstGeom prst="straightConnector1">
            <a:avLst/>
          </a:prstGeom>
          <a:noFill/>
          <a:ln cap="flat" cmpd="sng" w="9525">
            <a:solidFill>
              <a:srgbClr val="E5E5E5"/>
            </a:solidFill>
            <a:prstDash val="solid"/>
            <a:round/>
            <a:headEnd len="sm" w="sm" type="none"/>
            <a:tailEnd len="sm" w="sm" type="none"/>
          </a:ln>
        </p:spPr>
      </p:cxnSp>
      <p:sp>
        <p:nvSpPr>
          <p:cNvPr id="2721" name="Google Shape;2721;p66"/>
          <p:cNvSpPr txBox="1"/>
          <p:nvPr/>
        </p:nvSpPr>
        <p:spPr>
          <a:xfrm>
            <a:off x="8476488" y="4965192"/>
            <a:ext cx="384048" cy="32918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66DE"/>
              </a:buClr>
              <a:buSzPts val="1100"/>
              <a:buFont typeface="Roboto Mono"/>
              <a:buNone/>
            </a:pPr>
            <a:r>
              <a:rPr b="1" i="0" lang="en-US" sz="1100" u="none" cap="none" strike="noStrike">
                <a:solidFill>
                  <a:srgbClr val="0066DE"/>
                </a:solidFill>
                <a:latin typeface="Roboto Mono"/>
                <a:ea typeface="Roboto Mono"/>
                <a:cs typeface="Roboto Mono"/>
                <a:sym typeface="Roboto Mono"/>
              </a:rPr>
              <a:t>05</a:t>
            </a:r>
            <a:endParaRPr b="0" i="0" sz="1100" u="none" cap="none" strike="noStrike">
              <a:solidFill>
                <a:schemeClr val="dk1"/>
              </a:solidFill>
              <a:latin typeface="Calibri"/>
              <a:ea typeface="Calibri"/>
              <a:cs typeface="Calibri"/>
              <a:sym typeface="Calibri"/>
            </a:endParaRPr>
          </a:p>
        </p:txBody>
      </p:sp>
      <p:sp>
        <p:nvSpPr>
          <p:cNvPr id="2722" name="Google Shape;2722;p66"/>
          <p:cNvSpPr txBox="1"/>
          <p:nvPr/>
        </p:nvSpPr>
        <p:spPr>
          <a:xfrm>
            <a:off x="8933688" y="4965192"/>
            <a:ext cx="2432304" cy="329184"/>
          </a:xfrm>
          <a:prstGeom prst="rect">
            <a:avLst/>
          </a:prstGeom>
          <a:noFill/>
          <a:ln>
            <a:noFill/>
          </a:ln>
        </p:spPr>
        <p:txBody>
          <a:bodyPr anchorCtr="0" anchor="ctr" bIns="0" lIns="0" spcFirstLastPara="1" rIns="0" wrap="square" tIns="0">
            <a:noAutofit/>
          </a:bodyPr>
          <a:lstStyle/>
          <a:p>
            <a:pPr indent="0" lvl="0" marL="0" marR="0" rtl="0" algn="l">
              <a:lnSpc>
                <a:spcPct val="135043"/>
              </a:lnSpc>
              <a:spcBef>
                <a:spcPts val="0"/>
              </a:spcBef>
              <a:spcAft>
                <a:spcPts val="0"/>
              </a:spcAft>
              <a:buClr>
                <a:srgbClr val="171717"/>
              </a:buClr>
              <a:buSzPts val="1150"/>
              <a:buFont typeface="Inter"/>
              <a:buNone/>
            </a:pPr>
            <a:r>
              <a:rPr b="0" i="0" lang="en-US" sz="1150" u="none" cap="none" strike="noStrike">
                <a:solidFill>
                  <a:srgbClr val="171717"/>
                </a:solidFill>
                <a:latin typeface="Inter"/>
                <a:ea typeface="Inter"/>
                <a:cs typeface="Inter"/>
                <a:sym typeface="Inter"/>
              </a:rPr>
              <a:t>Upsell</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727" name="Shape 2727"/>
        <p:cNvGrpSpPr/>
        <p:nvPr/>
      </p:nvGrpSpPr>
      <p:grpSpPr>
        <a:xfrm>
          <a:off x="0" y="0"/>
          <a:ext cx="0" cy="0"/>
          <a:chOff x="0" y="0"/>
          <a:chExt cx="0" cy="0"/>
        </a:xfrm>
      </p:grpSpPr>
      <p:sp>
        <p:nvSpPr>
          <p:cNvPr id="2728" name="Google Shape;2728;p67"/>
          <p:cNvSpPr txBox="1"/>
          <p:nvPr/>
        </p:nvSpPr>
        <p:spPr>
          <a:xfrm>
            <a:off x="548640" y="50292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35047"/>
              </a:lnSpc>
              <a:spcBef>
                <a:spcPts val="0"/>
              </a:spcBef>
              <a:spcAft>
                <a:spcPts val="0"/>
              </a:spcAft>
              <a:buClr>
                <a:srgbClr val="A9C9FF"/>
              </a:buClr>
              <a:buSzPts val="1050"/>
              <a:buFont typeface="Roboto Mono"/>
              <a:buNone/>
            </a:pPr>
            <a:r>
              <a:rPr b="0" i="0" lang="en-US" sz="1050" u="none" cap="none" strike="noStrike">
                <a:solidFill>
                  <a:srgbClr val="A9C9FF"/>
                </a:solidFill>
                <a:latin typeface="Roboto Mono"/>
                <a:ea typeface="Roboto Mono"/>
                <a:cs typeface="Roboto Mono"/>
                <a:sym typeface="Roboto Mono"/>
              </a:rPr>
              <a:t>08 · CLOSE</a:t>
            </a:r>
            <a:endParaRPr b="0" i="0" sz="1050" u="none" cap="none" strike="noStrike">
              <a:solidFill>
                <a:schemeClr val="dk1"/>
              </a:solidFill>
              <a:latin typeface="Calibri"/>
              <a:ea typeface="Calibri"/>
              <a:cs typeface="Calibri"/>
              <a:sym typeface="Calibri"/>
            </a:endParaRPr>
          </a:p>
        </p:txBody>
      </p:sp>
      <p:sp>
        <p:nvSpPr>
          <p:cNvPr id="2729" name="Google Shape;2729;p67"/>
          <p:cNvSpPr txBox="1"/>
          <p:nvPr/>
        </p:nvSpPr>
        <p:spPr>
          <a:xfrm>
            <a:off x="548640" y="914400"/>
            <a:ext cx="10058400" cy="777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FFFF"/>
              </a:buClr>
              <a:buSzPts val="3600"/>
              <a:buFont typeface="Inter"/>
              <a:buNone/>
            </a:pPr>
            <a:r>
              <a:rPr b="1" i="0" lang="en-US" sz="3600" u="none" cap="none" strike="noStrike">
                <a:solidFill>
                  <a:srgbClr val="FFFFFF"/>
                </a:solidFill>
                <a:latin typeface="Inter"/>
                <a:ea typeface="Inter"/>
                <a:cs typeface="Inter"/>
                <a:sym typeface="Inter"/>
              </a:rPr>
              <a:t>Where this goes from here</a:t>
            </a:r>
            <a:endParaRPr b="0" i="0" sz="3600" u="none" cap="none" strike="noStrike">
              <a:solidFill>
                <a:schemeClr val="dk1"/>
              </a:solidFill>
              <a:latin typeface="Calibri"/>
              <a:ea typeface="Calibri"/>
              <a:cs typeface="Calibri"/>
              <a:sym typeface="Calibri"/>
            </a:endParaRPr>
          </a:p>
        </p:txBody>
      </p:sp>
      <p:sp>
        <p:nvSpPr>
          <p:cNvPr id="2730" name="Google Shape;2730;p67"/>
          <p:cNvSpPr/>
          <p:nvPr/>
        </p:nvSpPr>
        <p:spPr>
          <a:xfrm>
            <a:off x="548640" y="2057400"/>
            <a:ext cx="8595360" cy="868680"/>
          </a:xfrm>
          <a:prstGeom prst="roundRect">
            <a:avLst>
              <a:gd fmla="val 11579" name="adj"/>
            </a:avLst>
          </a:prstGeom>
          <a:solidFill>
            <a:srgbClr val="171717"/>
          </a:solidFill>
          <a:ln cap="flat" cmpd="sng" w="12700">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67"/>
          <p:cNvSpPr txBox="1"/>
          <p:nvPr/>
        </p:nvSpPr>
        <p:spPr>
          <a:xfrm>
            <a:off x="841248" y="2203704"/>
            <a:ext cx="457200" cy="5760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2B7FFF"/>
              </a:buClr>
              <a:buSzPts val="2000"/>
              <a:buFont typeface="Roboto Mono"/>
              <a:buNone/>
            </a:pPr>
            <a:r>
              <a:rPr b="1" i="0" lang="en-US" sz="2000" u="none" cap="none" strike="noStrike">
                <a:solidFill>
                  <a:srgbClr val="2B7FFF"/>
                </a:solidFill>
                <a:latin typeface="Roboto Mono"/>
                <a:ea typeface="Roboto Mono"/>
                <a:cs typeface="Roboto Mono"/>
                <a:sym typeface="Roboto Mono"/>
              </a:rPr>
              <a:t>1</a:t>
            </a:r>
            <a:endParaRPr b="0" i="0" sz="2000" u="none" cap="none" strike="noStrike">
              <a:solidFill>
                <a:schemeClr val="dk1"/>
              </a:solidFill>
              <a:latin typeface="Calibri"/>
              <a:ea typeface="Calibri"/>
              <a:cs typeface="Calibri"/>
              <a:sym typeface="Calibri"/>
            </a:endParaRPr>
          </a:p>
        </p:txBody>
      </p:sp>
      <p:sp>
        <p:nvSpPr>
          <p:cNvPr id="2732" name="Google Shape;2732;p67"/>
          <p:cNvSpPr txBox="1"/>
          <p:nvPr/>
        </p:nvSpPr>
        <p:spPr>
          <a:xfrm>
            <a:off x="1463040" y="2185416"/>
            <a:ext cx="7498080" cy="61264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Don't know a term? Ask which they mean, then open the dictionary.</a:t>
            </a:r>
            <a:endParaRPr b="0" i="0" sz="1550" u="none" cap="none" strike="noStrike">
              <a:solidFill>
                <a:schemeClr val="dk1"/>
              </a:solidFill>
              <a:latin typeface="Calibri"/>
              <a:ea typeface="Calibri"/>
              <a:cs typeface="Calibri"/>
              <a:sym typeface="Calibri"/>
            </a:endParaRPr>
          </a:p>
        </p:txBody>
      </p:sp>
      <p:sp>
        <p:nvSpPr>
          <p:cNvPr id="2733" name="Google Shape;2733;p67"/>
          <p:cNvSpPr/>
          <p:nvPr/>
        </p:nvSpPr>
        <p:spPr>
          <a:xfrm>
            <a:off x="548640" y="3108960"/>
            <a:ext cx="8595360" cy="868680"/>
          </a:xfrm>
          <a:prstGeom prst="roundRect">
            <a:avLst>
              <a:gd fmla="val 11579" name="adj"/>
            </a:avLst>
          </a:prstGeom>
          <a:solidFill>
            <a:srgbClr val="171717"/>
          </a:solidFill>
          <a:ln cap="flat" cmpd="sng" w="12700">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67"/>
          <p:cNvSpPr txBox="1"/>
          <p:nvPr/>
        </p:nvSpPr>
        <p:spPr>
          <a:xfrm>
            <a:off x="841248" y="3255264"/>
            <a:ext cx="457200" cy="5760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2B7FFF"/>
              </a:buClr>
              <a:buSzPts val="2000"/>
              <a:buFont typeface="Roboto Mono"/>
              <a:buNone/>
            </a:pPr>
            <a:r>
              <a:rPr b="1" i="0" lang="en-US" sz="2000" u="none" cap="none" strike="noStrike">
                <a:solidFill>
                  <a:srgbClr val="2B7FFF"/>
                </a:solidFill>
                <a:latin typeface="Roboto Mono"/>
                <a:ea typeface="Roboto Mono"/>
                <a:cs typeface="Roboto Mono"/>
                <a:sym typeface="Roboto Mono"/>
              </a:rPr>
              <a:t>2</a:t>
            </a:r>
            <a:endParaRPr b="0" i="0" sz="2000" u="none" cap="none" strike="noStrike">
              <a:solidFill>
                <a:schemeClr val="dk1"/>
              </a:solidFill>
              <a:latin typeface="Calibri"/>
              <a:ea typeface="Calibri"/>
              <a:cs typeface="Calibri"/>
              <a:sym typeface="Calibri"/>
            </a:endParaRPr>
          </a:p>
        </p:txBody>
      </p:sp>
      <p:sp>
        <p:nvSpPr>
          <p:cNvPr id="2735" name="Google Shape;2735;p67"/>
          <p:cNvSpPr txBox="1"/>
          <p:nvPr/>
        </p:nvSpPr>
        <p:spPr>
          <a:xfrm>
            <a:off x="1463040" y="3236976"/>
            <a:ext cx="7498080" cy="61264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This is phase one. Keep studying: familiarity is what builds confidence on the call.</a:t>
            </a:r>
            <a:endParaRPr b="0" i="0" sz="1550" u="none" cap="none" strike="noStrike">
              <a:solidFill>
                <a:schemeClr val="dk1"/>
              </a:solidFill>
              <a:latin typeface="Calibri"/>
              <a:ea typeface="Calibri"/>
              <a:cs typeface="Calibri"/>
              <a:sym typeface="Calibri"/>
            </a:endParaRPr>
          </a:p>
        </p:txBody>
      </p:sp>
      <p:sp>
        <p:nvSpPr>
          <p:cNvPr id="2736" name="Google Shape;2736;p67"/>
          <p:cNvSpPr/>
          <p:nvPr/>
        </p:nvSpPr>
        <p:spPr>
          <a:xfrm>
            <a:off x="548640" y="4160520"/>
            <a:ext cx="8595360" cy="868680"/>
          </a:xfrm>
          <a:prstGeom prst="roundRect">
            <a:avLst>
              <a:gd fmla="val 11579" name="adj"/>
            </a:avLst>
          </a:prstGeom>
          <a:solidFill>
            <a:srgbClr val="171717"/>
          </a:solidFill>
          <a:ln cap="flat" cmpd="sng" w="12700">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67"/>
          <p:cNvSpPr txBox="1"/>
          <p:nvPr/>
        </p:nvSpPr>
        <p:spPr>
          <a:xfrm>
            <a:off x="841248" y="4306824"/>
            <a:ext cx="457200" cy="5760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2B7FFF"/>
              </a:buClr>
              <a:buSzPts val="2000"/>
              <a:buFont typeface="Roboto Mono"/>
              <a:buNone/>
            </a:pPr>
            <a:r>
              <a:rPr b="1" i="0" lang="en-US" sz="2000" u="none" cap="none" strike="noStrike">
                <a:solidFill>
                  <a:srgbClr val="2B7FFF"/>
                </a:solidFill>
                <a:latin typeface="Roboto Mono"/>
                <a:ea typeface="Roboto Mono"/>
                <a:cs typeface="Roboto Mono"/>
                <a:sym typeface="Roboto Mono"/>
              </a:rPr>
              <a:t>3</a:t>
            </a:r>
            <a:endParaRPr b="0" i="0" sz="2000" u="none" cap="none" strike="noStrike">
              <a:solidFill>
                <a:schemeClr val="dk1"/>
              </a:solidFill>
              <a:latin typeface="Calibri"/>
              <a:ea typeface="Calibri"/>
              <a:cs typeface="Calibri"/>
              <a:sym typeface="Calibri"/>
            </a:endParaRPr>
          </a:p>
        </p:txBody>
      </p:sp>
      <p:sp>
        <p:nvSpPr>
          <p:cNvPr id="2738" name="Google Shape;2738;p67"/>
          <p:cNvSpPr txBox="1"/>
          <p:nvPr/>
        </p:nvSpPr>
        <p:spPr>
          <a:xfrm>
            <a:off x="1463040" y="4288536"/>
            <a:ext cx="7498080" cy="612648"/>
          </a:xfrm>
          <a:prstGeom prst="rect">
            <a:avLst/>
          </a:prstGeom>
          <a:noFill/>
          <a:ln>
            <a:noFill/>
          </a:ln>
        </p:spPr>
        <p:txBody>
          <a:bodyPr anchorCtr="0" anchor="ctr" bIns="0" lIns="0" spcFirstLastPara="1" rIns="0" wrap="square" tIns="0">
            <a:noAutofit/>
          </a:bodyPr>
          <a:lstStyle/>
          <a:p>
            <a:pPr indent="0" lvl="0" marL="0" marR="0" rtl="0" algn="l">
              <a:lnSpc>
                <a:spcPct val="135032"/>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Ask one question from today on your next owner call.</a:t>
            </a:r>
            <a:endParaRPr b="0" i="0" sz="1550" u="none" cap="none" strike="noStrike">
              <a:solidFill>
                <a:schemeClr val="dk1"/>
              </a:solidFill>
              <a:latin typeface="Calibri"/>
              <a:ea typeface="Calibri"/>
              <a:cs typeface="Calibri"/>
              <a:sym typeface="Calibri"/>
            </a:endParaRPr>
          </a:p>
        </p:txBody>
      </p:sp>
      <p:sp>
        <p:nvSpPr>
          <p:cNvPr id="2739" name="Google Shape;2739;p67"/>
          <p:cNvSpPr txBox="1"/>
          <p:nvPr/>
        </p:nvSpPr>
        <p:spPr>
          <a:xfrm>
            <a:off x="548640" y="5486400"/>
            <a:ext cx="9601200" cy="868680"/>
          </a:xfrm>
          <a:prstGeom prst="rect">
            <a:avLst/>
          </a:prstGeom>
          <a:noFill/>
          <a:ln>
            <a:noFill/>
          </a:ln>
        </p:spPr>
        <p:txBody>
          <a:bodyPr anchorCtr="0" anchor="ctr" bIns="0" lIns="0" spcFirstLastPara="1" rIns="0" wrap="square" tIns="0">
            <a:noAutofit/>
          </a:bodyPr>
          <a:lstStyle/>
          <a:p>
            <a:pPr indent="0" lvl="0" marL="0" marR="0" rtl="0" algn="l">
              <a:lnSpc>
                <a:spcPct val="137500"/>
              </a:lnSpc>
              <a:spcBef>
                <a:spcPts val="0"/>
              </a:spcBef>
              <a:spcAft>
                <a:spcPts val="0"/>
              </a:spcAft>
              <a:buClr>
                <a:srgbClr val="A3A3A3"/>
              </a:buClr>
              <a:buSzPts val="1600"/>
              <a:buFont typeface="Inter"/>
              <a:buNone/>
            </a:pPr>
            <a:r>
              <a:rPr b="0" i="0" lang="en-US" sz="1600" u="none" cap="none" strike="noStrike">
                <a:solidFill>
                  <a:srgbClr val="A3A3A3"/>
                </a:solidFill>
                <a:latin typeface="Inter"/>
                <a:ea typeface="Inter"/>
                <a:cs typeface="Inter"/>
                <a:sym typeface="Inter"/>
              </a:rPr>
              <a:t>“This is proactive training: getting ready for our new ICP,</a:t>
            </a:r>
            <a:endParaRPr b="0" i="0" sz="1600" u="none" cap="none" strike="noStrike">
              <a:solidFill>
                <a:schemeClr val="dk1"/>
              </a:solidFill>
              <a:latin typeface="Calibri"/>
              <a:ea typeface="Calibri"/>
              <a:cs typeface="Calibri"/>
              <a:sym typeface="Calibri"/>
            </a:endParaRPr>
          </a:p>
          <a:p>
            <a:pPr indent="0" lvl="0" marL="0" marR="0" rtl="0" algn="l">
              <a:lnSpc>
                <a:spcPct val="137500"/>
              </a:lnSpc>
              <a:spcBef>
                <a:spcPts val="0"/>
              </a:spcBef>
              <a:spcAft>
                <a:spcPts val="0"/>
              </a:spcAft>
              <a:buClr>
                <a:srgbClr val="A3A3A3"/>
              </a:buClr>
              <a:buSzPts val="1600"/>
              <a:buFont typeface="Inter"/>
              <a:buNone/>
            </a:pPr>
            <a:r>
              <a:rPr b="0" i="0" lang="en-US" sz="1600" u="none" cap="none" strike="noStrike">
                <a:solidFill>
                  <a:srgbClr val="A3A3A3"/>
                </a:solidFill>
                <a:latin typeface="Inter"/>
                <a:ea typeface="Inter"/>
                <a:cs typeface="Inter"/>
                <a:sym typeface="Inter"/>
              </a:rPr>
              <a:t>and learning to speak the same language they do.”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